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Net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List $479,900</c:v>
                  </c:pt>
                  <c:pt idx="1">
                    <c:v>List $469,900</c:v>
                  </c:pt>
                  <c:pt idx="2">
                    <c:v>List $459,900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429850</c:v>
                </c:pt>
                <c:pt idx="1">
                  <c:v>428900</c:v>
                </c:pt>
                <c:pt idx="2">
                  <c:v>432000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F8E8E2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goal: a price that gets your home sold for the most money in a reasonable time, and the evidence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answer. The rest of the presentation shows how we got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 sales within a mile since April; we kept the 5 closest in size, pool, age and neighborhood, adjusted each for differences from your home, and the median adjusted value is about $469,800.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features the adjustments credit your home for. The roof and permits need paperwork before buyers and appraisers will pay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bar is what that home would have sold for if it were yours. Adjustment details are in the report and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= April to June sales; summer = July to mid-September. Rates are the Freddie Mac 30-year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homes a buyer will likely tour alongside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sale prices and timelines are estimates from recent sales. The $459,900 option assumes competing offers reduce the seller credit to $5,000.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mortgage payoff. Brokerage is a 2.5% + 2.5% placeholder until we finalize the listing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loan, 5% down, 6.95%, city taxes with homestead, $3,600 insurance, 0.5% PMI.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Low-cost steps that remove the questions that cost sellers money at the negotiating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documents and the launch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640080" cy="6400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97657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517 Hickorywood Ave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60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Presentation · Altamonte Springs, Spring Oaks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22,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PRELIMINARY: some local closing costs are missing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List Price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$469,900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sits at the middle of what recent sales support and gives you the strongest launch, when buyer attention is highest.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234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Value Range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$455K – $480K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recent sales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6974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Sale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Low-to-mid $460,000s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negotiating that is normal now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Priced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the neighborhood's sales to one number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444752" cy="2011680"/>
          </a:xfrm>
          <a:prstGeom prst="roundRect">
            <a:avLst>
              <a:gd name="adj" fmla="val 5063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745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060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sales reviewed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56816" y="2487168"/>
            <a:ext cx="137160" cy="237744"/>
          </a:xfrm>
          <a:prstGeom prst="chevron">
            <a:avLst/>
          </a:prstGeom>
          <a:solidFill>
            <a:srgbClr val="A3ADB6"/>
          </a:solidFill>
          <a:ln w="12700">
            <a:solidFill>
              <a:srgbClr val="A3AD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600200"/>
            <a:ext cx="1444752" cy="2011680"/>
          </a:xfrm>
          <a:prstGeom prst="roundRect">
            <a:avLst>
              <a:gd name="adj" fmla="val 5063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58568" y="18745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6060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matches in size, pool, age and neighborhood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48456" y="2487168"/>
            <a:ext cx="137160" cy="237744"/>
          </a:xfrm>
          <a:prstGeom prst="chevron">
            <a:avLst/>
          </a:prstGeom>
          <a:solidFill>
            <a:srgbClr val="A3ADB6"/>
          </a:solidFill>
          <a:ln w="12700">
            <a:solidFill>
              <a:srgbClr val="A3A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600200"/>
            <a:ext cx="1444752" cy="2011680"/>
          </a:xfrm>
          <a:prstGeom prst="roundRect">
            <a:avLst>
              <a:gd name="adj" fmla="val 5063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8745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$436K–$492K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6060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adjusting each for differences from your home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0096" y="2487168"/>
            <a:ext cx="137160" cy="237744"/>
          </a:xfrm>
          <a:prstGeom prst="chevron">
            <a:avLst/>
          </a:prstGeom>
          <a:solidFill>
            <a:srgbClr val="A3ADB6"/>
          </a:solidFill>
          <a:ln w="12700">
            <a:solidFill>
              <a:srgbClr val="A3A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600200"/>
            <a:ext cx="1444752" cy="2011680"/>
          </a:xfrm>
          <a:prstGeom prst="roundRect">
            <a:avLst>
              <a:gd name="adj" fmla="val 5063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41848" y="18745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$469,800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641848" y="26060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adjusted value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31736" y="2487168"/>
            <a:ext cx="137160" cy="237744"/>
          </a:xfrm>
          <a:prstGeom prst="chevron">
            <a:avLst/>
          </a:prstGeom>
          <a:solidFill>
            <a:srgbClr val="A3ADB6"/>
          </a:solidFill>
          <a:ln w="12700">
            <a:solidFill>
              <a:srgbClr val="A3A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600200"/>
            <a:ext cx="1444752" cy="2011680"/>
          </a:xfrm>
          <a:prstGeom prst="roundRect">
            <a:avLst>
              <a:gd name="adj" fmla="val 506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18745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$469,900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33488" y="260604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list price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Adjustments cover size, pool, condition, lot, seller credits, and how the market has changed since each sale.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Buyers Will Pay For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26370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Renovated Kitchen and Baths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biggest reason your home sells near the top of the neighborhood.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068373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47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Pool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221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about $25,000 against similar homes without one.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752344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87304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752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Bedrooms, No HOA or CDD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0266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space and no monthly association costs.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677717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557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Zone X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8313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insurance isn't required, which keeps buyers' costs down.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0" y="114300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7150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Paperwork to Count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715000" y="1828800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755" y="1927555"/>
            <a:ext cx="213970" cy="21397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263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Roof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2636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and date. Roof age decides whether a buyer can insure the home.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715000" y="2971800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755" y="3070555"/>
            <a:ext cx="213970" cy="21397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2636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Permits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26364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Kitchen, bath, electrical, and plumbing work. Undocumented upgrades count for less.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Comparable Homes Sold For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sale adjusted to what it would have sold for as your home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596128" y="1325880"/>
            <a:ext cx="1188720" cy="2468880"/>
          </a:xfrm>
          <a:prstGeom prst="rect">
            <a:avLst/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$420K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82896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$440K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33872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68112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$460K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84848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35824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0064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0" y="1325880"/>
            <a:ext cx="0" cy="2468880"/>
          </a:xfrm>
          <a:prstGeom prst="line">
            <a:avLst/>
          </a:prstGeom>
          <a:noFill/>
          <a:ln w="9525">
            <a:solidFill>
              <a:srgbClr val="F8E8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$520K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4605" y="1188720"/>
            <a:ext cx="0" cy="2606040"/>
          </a:xfrm>
          <a:prstGeom prst="line">
            <a:avLst/>
          </a:prstGeom>
          <a:noFill/>
          <a:ln w="25400">
            <a:solidFill>
              <a:srgbClr val="1F3A5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298765" y="960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$469,900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417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622 Spring Oaks Blvd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618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Renovated pool home; April, before rates rose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87402" y="153619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9426" y="14904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$492K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8745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516 Oakwood 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075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year and size; systems documented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83237" y="199339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75261" y="19476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$484K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331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745 Little Wekiva Cir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532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recent pool sale; not renovated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554" y="245059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9578" y="2404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$470K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7889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602 Mockingbird Ln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990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floor plan; partly updated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24522" y="290779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16546" y="2862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$438K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2461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621 Little Wekiva Rd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4472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Renovated; bigger canal lot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9915" y="336499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11939" y="33192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$436K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Shaded: supported range $455K–$480K.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highest sold in the spring. The recent sales point to the middle of the range.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Shifted Since Spring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sales, April–June vs. July–mid-September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vs. Original Price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98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160020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75" y="1698955"/>
            <a:ext cx="213970" cy="21397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8892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Contract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788920" y="2898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278892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5488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37760" y="160020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15" y="1698955"/>
            <a:ext cx="213970" cy="21397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3776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with Seller Credits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93776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937760" y="2898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493776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90372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086600" y="160020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355" y="1698955"/>
            <a:ext cx="213970" cy="21397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08660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30-Year Mortgage Rate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08660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~6.3%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08660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7086600" y="2898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6.95%</a:t>
            </a:r>
            <a:endParaRPr lang="en-US" sz="2600" dirty="0"/>
          </a:p>
        </p:txBody>
      </p:sp>
      <p:sp>
        <p:nvSpPr>
          <p:cNvPr id="35" name="Text 29"/>
          <p:cNvSpPr txBox="1"/>
          <p:nvPr/>
        </p:nvSpPr>
        <p:spPr>
          <a:xfrm>
            <a:off x="708660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are negotiating again. Price for the market we have now, not the one from April.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homes buyers will tour alongside yours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8E8E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544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644 Peachwood Dr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$400,000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sale · 91 days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51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Renovated, same size, no pool. The value alternative buyers will tour.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8E8E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93008" y="15544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Majorca Ave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470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$454,900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3317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contract in 9 days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651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Renovated pool home. Priced right, it sold fast.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8E8E2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27648" y="15544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394 Barberry Ln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18470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$565,000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3317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sale · 57 days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651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pool home. Priced above the market, and sitting.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Well-priced renovated pool homes are moving. Overpriced ones sit.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Price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43560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$479,900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Contract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031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days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Sale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1460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$463,000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Credit Assumed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9260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3756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top of the range; likely needs a price cut before an offer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118872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143560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$469,900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Contract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031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weeks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Sale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51460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$462,000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Credit Assumed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9260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333756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at the middle of recent adjusted sales; room to negotiate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05156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27648" y="143560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$459,900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Contract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1031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weeks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Sale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51460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$460,000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Credit Assumed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9260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333756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for competing offers; depends on them materializing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net within a few thousand dollars. The real choice is time and risk.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 Away With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net before mortgage payoff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2588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the Highest and Lowest Net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net within a few thousand dollars. The real choice is time and risk.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Buyers See Your Price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monthly payment for a typical buyer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8E8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$479,900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$4,268/mo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$23,995 down (5%)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4E7EC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$469,900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18745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$4,185/mo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5146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$23,495 down (5%)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8E8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$459,900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8745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$4,102/mo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5146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$22,995 down (5%)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354970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300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shop by payment. Every $10,000 is about $85 a month to them.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go live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2704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625803"/>
            <a:ext cx="213970" cy="2139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27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Roof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39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and date, ready to share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52704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1625803"/>
            <a:ext cx="213970" cy="2139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27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Pre-Listing Inspection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039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4-point and wind-mitigation reports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2704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15" y="1625803"/>
            <a:ext cx="213970" cy="2139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527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Permits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039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Kitchen, baths, electrical, plumbing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03580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34563"/>
            <a:ext cx="213970" cy="21397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Showings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Lockbox access with short notice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2834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03580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475" y="3134563"/>
            <a:ext cx="213970" cy="21397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Seller-Credit Budget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it now, before offers arrive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834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BF2EE"/>
          </a:solidFill>
          <a:ln w="12700">
            <a:solidFill>
              <a:srgbClr val="FBF2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035808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5" y="3134563"/>
            <a:ext cx="213970" cy="21397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3-Week Review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showings but no offer? Revisit the price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from You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permit and date, plus any 4-point or wind-mitigation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of AC, water heater, and pool equipment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Renovation permits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known about leaks, claims, or repairs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estimated mortgage payoff and target closing date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 Go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1508760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listing agreement; order inspections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94560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176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documents, and pricing 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880360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862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081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at $469,900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566160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767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review if no offer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Estimated Net Proceeds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at Closing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$479,900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$469,900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$459,900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Sale 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$463,000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$462,000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Brokerage (2.5%)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Buyer's Agent Compensation (2.5%)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−$11,500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Seller-Paid Buyer Costs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Net Before Mortgage Payoff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$429,850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$428,900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$432,000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054096"/>
            <a:ext cx="8229600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are negotiable and not set by law. Preliminary: not yet included because there is no local figure for transfer tax (or confirmation there is none), who customarily pays the owner's title policy, title company fees. Not included: mortgage payoff, this year's property tax proration, and repairs after inspection. Estimates only; the closing agent provides exact figures.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Comparable Sales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Paid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 Spring Oaks Blvd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$505,500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$492,300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 Oakwood 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$483,800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 Little Wekiva Cir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$427,000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$469,800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 Mockingbird Ln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$429,000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$438,400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 Little Wekiva 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$13,071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$436,200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Home (Recommended List)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$469,900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$455K–$480K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8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10712"/>
            <a:ext cx="8229600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Adjustments: about $75 per sq ft of size difference; $30,000–$45,000 for renovation level; $5,000–$10,000 for larger or better lots; 1–2% for market change since the sale; seller-paid costs subtracted. This is a broker's opinion of value based on comparable sales, not an appraisal. Full detail is in the written analysis.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· PRELIMINARY · 517 Hickorywood Ave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517 Hickorywood Ave</dc:title>
  <dc:subject>PptxGenJS Presentation</dc:subject>
  <dc:creator>PptxGenJS</dc:creator>
  <cp:lastModifiedBy>PptxGenJS</cp:lastModifiedBy>
  <cp:revision>1</cp:revision>
  <dcterms:created xsi:type="dcterms:W3CDTF">2026-09-24T05:03:21Z</dcterms:created>
  <dcterms:modified xsi:type="dcterms:W3CDTF">2026-09-24T05:03:21Z</dcterms:modified>
</cp:coreProperties>
</file>