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
          <c:y val="0.03"/>
          <c:w val="0.85"/>
          <c:h val="0.8"/>
        </c:manualLayout>
      </c:layout>
      <c:scatterChart>
        <c:scatterStyle val="lineMarker"/>
        <c:varyColors val="0"/>
        <c:ser>
          <c:idx val="0"/>
          <c:order val="0"/>
          <c:tx>
            <c:strRef>
              <c:f>Sheet1!$B$1</c:f>
              <c:strCache>
                <c:ptCount val="1"/>
                <c:pt idx="0">
                  <c:v>Other Sales</c:v>
                </c:pt>
              </c:strCache>
            </c:strRef>
          </c:tx>
          <c:spPr>
            <a:solidFill>
              <a:srgbClr val="DBDBDB"/>
            </a:solidFill>
            <a:ln>
              <a:noFill/>
            </a:ln>
            <a:effectLst/>
          </c:spPr>
          <c:marker>
            <c:symbol val="circle"/>
            <c:size val="5"/>
            <c:spPr>
              <a:solidFill>
                <a:srgbClr val="DBDBDB"/>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Sheet1!$B$2:$B$76</c:f>
              <c:numCache>
                <c:formatCode>General</c:formatCode>
                <c:ptCount val="75"/>
                <c:pt idx="0">
                  <c:v>427000</c:v>
                </c:pt>
                <c:pt idx="1">
                  <c:v>435000</c:v>
                </c:pt>
                <c:pt idx="2">
                  <c:v>470000</c:v>
                </c:pt>
                <c:pt idx="3">
                  <c:v>454500</c:v>
                </c:pt>
                <c:pt idx="4">
                  <c:v>559500</c:v>
                </c:pt>
                <c:pt idx="5">
                  <c:v>446000</c:v>
                </c:pt>
                <c:pt idx="6">
                  <c:v>575000</c:v>
                </c:pt>
                <c:pt idx="7">
                  <c:v>529500</c:v>
                </c:pt>
                <c:pt idx="8">
                  <c:v>516000</c:v>
                </c:pt>
                <c:pt idx="9">
                  <c:v>364000</c:v>
                </c:pt>
                <c:pt idx="10">
                  <c:v>429500</c:v>
                </c:pt>
                <c:pt idx="11">
                  <c:v>473000</c:v>
                </c:pt>
                <c:pt idx="12">
                  <c:v>391000</c:v>
                </c:pt>
                <c:pt idx="13">
                  <c:v>325500</c:v>
                </c:pt>
                <c:pt idx="14">
                  <c:v>493000</c:v>
                </c:pt>
                <c:pt idx="15">
                  <c:v>578000</c:v>
                </c:pt>
                <c:pt idx="16">
                  <c:v>549500</c:v>
                </c:pt>
                <c:pt idx="17">
                  <c:v>596500</c:v>
                </c:pt>
                <c:pt idx="18">
                  <c:v>444500</c:v>
                </c:pt>
                <c:pt idx="19">
                  <c:v>361500</c:v>
                </c:pt>
                <c:pt idx="20">
                  <c:v>398000</c:v>
                </c:pt>
                <c:pt idx="21">
                  <c:v>526000</c:v>
                </c:pt>
                <c:pt idx="22">
                  <c:v>396500</c:v>
                </c:pt>
                <c:pt idx="23">
                  <c:v>461000</c:v>
                </c:pt>
                <c:pt idx="24">
                  <c:v>477000</c:v>
                </c:pt>
                <c:pt idx="25">
                  <c:v>535000</c:v>
                </c:pt>
                <c:pt idx="26">
                  <c:v>367000</c:v>
                </c:pt>
                <c:pt idx="27">
                  <c:v>570000</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1"/>
          <c:order val="1"/>
          <c:tx>
            <c:strRef>
              <c:f>Sheet1!$C$1</c:f>
              <c:strCache>
                <c:ptCount val="1"/>
                <c:pt idx="0">
                  <c:v>For Sale Now</c:v>
                </c:pt>
              </c:strCache>
            </c:strRef>
          </c:tx>
          <c:spPr>
            <a:solidFill>
              <a:srgbClr val="A6A6A6"/>
            </a:solidFill>
            <a:ln>
              <a:noFill/>
            </a:ln>
            <a:effectLst/>
          </c:spPr>
          <c:marker>
            <c:symbol val="circle"/>
            <c:size val="7"/>
            <c:spPr>
              <a:solidFill>
                <a:srgbClr val="A6A6A6"/>
              </a:solidFill>
              <a:ln w="15875">
                <a:solidFill>
                  <a:srgbClr val="A6A6A6"/>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Sheet1!$C$2:$C$76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400000</c:v>
                </c:pt>
                <c:pt idx="29">
                  <c:v>565000</c:v>
                </c:pt>
                <c:pt idx="30">
                  <c:v>470000</c:v>
                </c:pt>
                <c:pt idx="31">
                  <c:v>449000</c:v>
                </c:pt>
                <c:pt idx="32">
                  <c:v>490000</c:v>
                </c:pt>
                <c:pt idx="33">
                  <c:v>391900</c:v>
                </c:pt>
                <c:pt idx="34">
                  <c:v>368900</c:v>
                </c:pt>
                <c:pt idx="35">
                  <c:v>390900</c:v>
                </c:pt>
                <c:pt idx="36">
                  <c:v>486900</c:v>
                </c:pt>
                <c:pt idx="37">
                  <c:v>388900</c:v>
                </c:pt>
                <c:pt idx="38">
                  <c:v>464900</c:v>
                </c:pt>
                <c:pt idx="39">
                  <c:v>425900</c:v>
                </c:pt>
                <c:pt idx="40">
                  <c:v>530900</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2"/>
          <c:order val="2"/>
          <c:tx>
            <c:strRef>
              <c:f>Sheet1!$D$1</c:f>
              <c:strCache>
                <c:ptCount val="1"/>
                <c:pt idx="0">
                  <c:v>Size-Only Trend</c:v>
                </c:pt>
              </c:strCache>
            </c:strRef>
          </c:tx>
          <c:spPr>
            <a:solidFill>
              <a:srgbClr val="5E5E5E"/>
            </a:solidFill>
            <a:ln w="15875">
              <a:solidFill>
                <a:srgbClr val="5E5E5E"/>
              </a:solidFill>
              <a:prstDash val="dash"/>
            </a:ln>
            <a:effectLst/>
          </c:spPr>
          <c:marker>
            <c:symbol val="none"/>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Sheet1!$D$2:$D$76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353370.74537409266</c:v>
                </c:pt>
                <c:pt idx="42">
                  <c:v>361279.9692978465</c:v>
                </c:pt>
                <c:pt idx="43">
                  <c:v>369189.1932216004</c:v>
                </c:pt>
                <c:pt idx="44">
                  <c:v>377098.41714535427</c:v>
                </c:pt>
                <c:pt idx="45">
                  <c:v>385007.6410691081</c:v>
                </c:pt>
                <c:pt idx="46">
                  <c:v>392916.864992862</c:v>
                </c:pt>
                <c:pt idx="47">
                  <c:v>400826.0889166159</c:v>
                </c:pt>
                <c:pt idx="48">
                  <c:v>408735.31284036976</c:v>
                </c:pt>
                <c:pt idx="49">
                  <c:v>416644.53676412365</c:v>
                </c:pt>
                <c:pt idx="50">
                  <c:v>424553.7606878775</c:v>
                </c:pt>
                <c:pt idx="51">
                  <c:v>432462.9846116313</c:v>
                </c:pt>
                <c:pt idx="52">
                  <c:v>440372.2085353852</c:v>
                </c:pt>
                <c:pt idx="53">
                  <c:v>448281.4324591391</c:v>
                </c:pt>
                <c:pt idx="54">
                  <c:v>456190.656382893</c:v>
                </c:pt>
                <c:pt idx="55">
                  <c:v>464099.88030664687</c:v>
                </c:pt>
                <c:pt idx="56">
                  <c:v>472009.10423040076</c:v>
                </c:pt>
                <c:pt idx="57">
                  <c:v>479918.32815415465</c:v>
                </c:pt>
                <c:pt idx="58">
                  <c:v>487827.5520779085</c:v>
                </c:pt>
                <c:pt idx="59">
                  <c:v>495736.77600166237</c:v>
                </c:pt>
                <c:pt idx="60">
                  <c:v>503645.99992541614</c:v>
                </c:pt>
                <c:pt idx="61">
                  <c:v>511555.22384917</c:v>
                </c:pt>
                <c:pt idx="62">
                  <c:v>519464.4477729239</c:v>
                </c:pt>
                <c:pt idx="63">
                  <c:v>527373.6716966778</c:v>
                </c:pt>
                <c:pt idx="64">
                  <c:v>535282.8956204318</c:v>
                </c:pt>
                <c:pt idx="65">
                  <c:v>543192.1195441856</c:v>
                </c:pt>
                <c:pt idx="66">
                  <c:v>551101.3434679394</c:v>
                </c:pt>
                <c:pt idx="67">
                  <c:v>559010.5673916934</c:v>
                </c:pt>
                <c:pt idx="68">
                  <c:v>566919.7913154473</c:v>
                </c:pt>
                <c:pt idx="69">
                  <c:v/>
                </c:pt>
                <c:pt idx="70">
                  <c:v/>
                </c:pt>
                <c:pt idx="71">
                  <c:v/>
                </c:pt>
                <c:pt idx="72">
                  <c:v/>
                </c:pt>
                <c:pt idx="73">
                  <c:v/>
                </c:pt>
                <c:pt idx="74">
                  <c:v/>
                </c:pt>
              </c:numCache>
            </c:numRef>
          </c:yVal>
          <c:smooth val="0"/>
        </c:ser>
        <c:ser>
          <c:idx val="3"/>
          <c:order val="3"/>
          <c:tx>
            <c:strRef>
              <c:f>Sheet1!$E$1</c:f>
              <c:strCache>
                <c:ptCount val="1"/>
                <c:pt idx="0">
                  <c:v>Comparable Sales</c:v>
                </c:pt>
              </c:strCache>
            </c:strRef>
          </c:tx>
          <c:spPr>
            <a:solidFill>
              <a:srgbClr val="C2410C"/>
            </a:solidFill>
            <a:ln>
              <a:noFill/>
            </a:ln>
            <a:effectLst/>
          </c:spPr>
          <c:marker>
            <c:symbol val="circle"/>
            <c:size val="8"/>
            <c:spPr>
              <a:solidFill>
                <a:srgbClr val="C2410C"/>
              </a:solidFill>
              <a:ln w="9525">
                <a:solidFill>
                  <a:srgbClr val="C2410C"/>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Sheet1!$E$2:$E$76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505500</c:v>
                </c:pt>
                <c:pt idx="70">
                  <c:v>495000</c:v>
                </c:pt>
                <c:pt idx="71">
                  <c:v>427000</c:v>
                </c:pt>
                <c:pt idx="72">
                  <c:v>429000</c:v>
                </c:pt>
                <c:pt idx="73">
                  <c:v>465000</c:v>
                </c:pt>
                <c:pt idx="74">
                  <c:v/>
                </c:pt>
              </c:numCache>
            </c:numRef>
          </c:yVal>
          <c:smooth val="0"/>
        </c:ser>
        <c:ser>
          <c:idx val="4"/>
          <c:order val="4"/>
          <c:tx>
            <c:strRef>
              <c:f>Sheet1!$F$1</c:f>
              <c:strCache>
                <c:ptCount val="1"/>
                <c:pt idx="0">
                  <c:v>Your Home, Recommended</c:v>
                </c:pt>
              </c:strCache>
            </c:strRef>
          </c:tx>
          <c:spPr>
            <a:solidFill>
              <a:srgbClr val="1A1A1A"/>
            </a:solidFill>
            <a:ln>
              <a:noFill/>
            </a:ln>
            <a:effectLst/>
          </c:spPr>
          <c:marker>
            <c:symbol val="diamond"/>
            <c:size val="14"/>
            <c:spPr>
              <a:solidFill>
                <a:srgbClr val="1A1A1A"/>
              </a:solidFill>
              <a:ln w="12700">
                <a:solidFill>
                  <a:srgbClr val="FFFFFF"/>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Sheet1!$F$2:$F$76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469900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00"/>
          <c:min val="1400"/>
        </c:scaling>
        <c:delete val="0"/>
        <c:axPos val="b"/>
        <c:majorGridlines>
          <c:spPr>
            <a:ln w="6350" cap="flat">
              <a:solidFill>
                <a:srgbClr val="F8E8E2"/>
              </a:solidFill>
              <a:prstDash val="solid"/>
              <a:round/>
            </a:ln>
          </c:spPr>
        </c:majorGridlines>
        <c:title>
          <c:tx>
            <c:rich>
              <a:bodyPr/>
              <a:lstStyle/>
              <a:p>
                <a:pPr>
                  <a:defRPr sz="1000" b="0" i="0" u="none" strike="noStrike">
                    <a:solidFill>
                      <a:srgbClr val="5E5E5E"/>
                    </a:solidFill>
                    <a:latin typeface="Arial"/>
                  </a:defRPr>
                </a:pPr>
                <a:r>
                  <a:rPr sz="1000" b="0" i="0" u="none" strike="noStrike">
                    <a:solidFill>
                      <a:srgbClr val="5E5E5E"/>
                    </a:solidFill>
                    <a:latin typeface="Arial"/>
                  </a:rPr>
                  <a:t>Living Area (Sq Ft)</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E5E5E"/>
                </a:solidFill>
                <a:latin typeface="Arial"/>
              </a:defRPr>
            </a:pPr>
            <a:endParaRPr lang="en-US"/>
          </a:p>
        </c:txPr>
        <c:crossAx val="2094734552"/>
        <c:crosses val="autoZero"/>
        <c:auto val="1"/>
        <c:lblAlgn val="ctr"/>
        <c:noMultiLvlLbl val="1"/>
      </c:valAx>
      <c:valAx>
        <c:axId val="2094734552"/>
        <c:scaling>
          <c:orientation val="minMax"/>
          <c:max val="650000"/>
          <c:min val="300000"/>
        </c:scaling>
        <c:delete val="0"/>
        <c:axPos val="l"/>
        <c:majorGridlines>
          <c:spPr>
            <a:ln w="6350" cap="flat">
              <a:solidFill>
                <a:srgbClr val="F8E8E2"/>
              </a:solidFill>
              <a:prstDash val="solid"/>
              <a:round/>
            </a:ln>
          </c:spPr>
        </c:majorGridlines>
        <c:title>
          <c:tx>
            <c:rich>
              <a:bodyPr/>
              <a:lstStyle/>
              <a:p>
                <a:pPr>
                  <a:defRPr sz="1000" b="0" i="0" u="none" strike="noStrike">
                    <a:solidFill>
                      <a:srgbClr val="5E5E5E"/>
                    </a:solidFill>
                    <a:latin typeface="Arial"/>
                  </a:defRPr>
                </a:pPr>
                <a:r>
                  <a:rPr sz="1000" b="0" i="0" u="none" strike="noStrike">
                    <a:solidFill>
                      <a:srgbClr val="5E5E5E"/>
                    </a:solidFill>
                    <a:latin typeface="Arial"/>
                  </a:rPr>
                  <a:t>Price</a:t>
                </a:r>
              </a:p>
            </c:rich>
          </c:tx>
          <c:layout/>
          <c:overlay val="0"/>
        </c:title>
        <c:numFmt formatCode="$#,##0,&quot;K&quot;"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E5E5E"/>
                </a:solidFill>
                <a:latin typeface="Arial"/>
              </a:defRPr>
            </a:pPr>
            <a:endParaRPr lang="en-US"/>
          </a:p>
        </c:txPr>
        <c:crossAx val="2094734554"/>
        <c:crosses val="autoZero"/>
        <c:crossBetween val="midCat"/>
        <c:majorUnit val="50000"/>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Net</c:v>
                </c:pt>
              </c:strCache>
            </c:strRef>
          </c:tx>
          <c:spPr>
            <a:solidFill>
              <a:srgbClr val="C2410C"/>
            </a:solidFill>
            <a:effectLst/>
          </c:spPr>
          <c:invertIfNegative val="0"/>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List $479,900</c:v>
                  </c:pt>
                  <c:pt idx="1">
                    <c:v>List $469,900</c:v>
                  </c:pt>
                  <c:pt idx="2">
                    <c:v>List $459,900</c:v>
                  </c:pt>
                </c:lvl>
              </c:multiLvlStrCache>
            </c:multiLvlStrRef>
          </c:cat>
          <c:val>
            <c:numRef>
              <c:f>Sheet1!$B$2:$B$4</c:f>
              <c:numCache>
                <c:formatCode>General</c:formatCode>
                <c:ptCount val="3"/>
                <c:pt idx="0">
                  <c:v>409698</c:v>
                </c:pt>
                <c:pt idx="1">
                  <c:v>410742</c:v>
                </c:pt>
                <c:pt idx="2">
                  <c:v>402442</c:v>
                </c:pt>
              </c:numCache>
            </c:numRef>
          </c:val>
        </c:ser>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F8E8E2"/>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E5E5E"/>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goal: a price that gets your home sold for the most money in a reasonable time, and the evidence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The rest of the presentation shows how we got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sales within a mile since April; we kept the 5 closest in size, pool, age and neighborhood, adjusted each for differences from your home, and the median adjusted value is about $469,800.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features the adjustments credit your home for. The roof and permits need paperwork before buyers and appraisers will pay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bar is what that home would have sold for if it were yours. Adjustment details are in the report and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sale and listing within a mile. The dotted line is size alone; renovation and pool push homes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 = April to June sales; summer = July to mid-September. Rates are the Freddie Mac 30-year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homes a buyer will likely tour alongside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 prices and timelines are estimates from recent sales. The $459,900 option assumes competing offers reduce the seller credit to $5,000.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mortgage payoff. Brokerage is a 2.5% + 2.5% placeholder until we finalize the listing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Conventional loan, 5% down, 6.95%, city taxes with homestead, $3,600 insurance, 0.5% PMI.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Low-cost steps that remove the questions that cost sellers money at the negotiating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documents and the launch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Holding costs: about $530 a month (insurance and utilities; no loan interest, since no mortgage payoff was given; property tax is not included) for each option's time to contract plus 1 month to close. Commissions are negotiable and not set by law. Not included: this year's property tax proration. Taxes here are paid in arrears, so the seller credits the buyer from Jan 1; add the tax bill and the expected closing date to include it. Title company fees are typical local charges (settlement fee $700, title search $250, municipal lien search $125, recording $70); the title company's quote replaces them. Estimates only. Not included: mortgage payoff, tax proration and repairs; the closing agent provides exact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Adjustments: about $75 per sq ft of size difference; $30,000–$45,000 for renovation level; $5,000–$10,000 for larger or better lots; 1–2% for market change since the sale; seller-paid costs subtracted. A broker's opinion of value from comparable sales, not an appraisal, and not for lending. Sales data: Stellar MLS as of September 22, 2026. Deemed reliable but not guaranteed. This comparative market analysis is an opinion of price, not an appraisal, and isn't for lending purposes. Payment, tax and cost figures are estimates only, not lending or tax advice. Equal Housing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B2400"/>
        </a:solidFill>
      </p:bgPr>
    </p:bg>
    <p:spTree>
      <p:nvGrpSpPr>
        <p:cNvPr id="1" name=""/>
        <p:cNvGrpSpPr/>
        <p:nvPr/>
      </p:nvGrpSpPr>
      <p:grpSpPr>
        <a:xfrm>
          <a:off x="0" y="0"/>
          <a:ext cx="0" cy="0"/>
          <a:chOff x="0" y="0"/>
          <a:chExt cx="0" cy="0"/>
        </a:xfrm>
      </p:grpSpPr>
      <p:sp>
        <p:nvSpPr>
          <p:cNvPr id="2" name="Shape 0"/>
          <p:cNvSpPr/>
          <p:nvPr/>
        </p:nvSpPr>
        <p:spPr>
          <a:xfrm>
            <a:off x="457200" y="822960"/>
            <a:ext cx="640080" cy="640080"/>
          </a:xfrm>
          <a:prstGeom prst="ellipse">
            <a:avLst/>
          </a:prstGeom>
          <a:solidFill>
            <a:srgbClr val="F8E8E2"/>
          </a:solidFill>
          <a:ln w="12700">
            <a:solidFill>
              <a:srgbClr val="F8E8E2"/>
            </a:solidFill>
            <a:prstDash val="solid"/>
          </a:ln>
        </p:spPr>
      </p:sp>
      <p:pic>
        <p:nvPicPr>
          <p:cNvPr id="3" name="Image 0" descr="preencoded.png">    </p:cNvPr>
          <p:cNvPicPr>
            <a:picLocks noChangeAspect="1"/>
          </p:cNvPicPr>
          <p:nvPr/>
        </p:nvPicPr>
        <p:blipFill>
          <a:blip r:embed="rId1"/>
          <a:stretch>
            <a:fillRect/>
          </a:stretch>
        </p:blipFill>
        <p:spPr>
          <a:xfrm>
            <a:off x="610819" y="976579"/>
            <a:ext cx="332842" cy="332842"/>
          </a:xfrm>
          <a:prstGeom prst="rect">
            <a:avLst/>
          </a:prstGeom>
        </p:spPr>
      </p:pic>
      <p:sp>
        <p:nvSpPr>
          <p:cNvPr id="4" name="Text 1"/>
          <p:cNvSpPr txBox="1"/>
          <p:nvPr/>
        </p:nvSpPr>
        <p:spPr>
          <a:xfrm>
            <a:off x="457200" y="1645920"/>
            <a:ext cx="7772400" cy="914400"/>
          </a:xfrm>
          <a:prstGeom prst="rect">
            <a:avLst/>
          </a:prstGeom>
          <a:noFill/>
          <a:ln/>
        </p:spPr>
        <p:txBody>
          <a:bodyPr wrap="square" lIns="0" tIns="0" rIns="0" bIns="0" rtlCol="0" anchor="b"/>
          <a:lstStyle/>
          <a:p>
            <a:pPr indent="0" marL="0">
              <a:buNone/>
            </a:pPr>
            <a:r>
              <a:rPr lang="en-US" sz="3800" b="1" dirty="0">
                <a:solidFill>
                  <a:srgbClr val="FFFFFF"/>
                </a:solidFill>
                <a:latin typeface="Arial" pitchFamily="34" charset="0"/>
                <a:ea typeface="Arial" pitchFamily="34" charset="-122"/>
                <a:cs typeface="Arial" pitchFamily="34" charset="-120"/>
              </a:rPr>
              <a:t>Pricing 517 Larkwood Ave</a:t>
            </a:r>
            <a:endParaRPr lang="en-US" sz="3800" dirty="0"/>
          </a:p>
        </p:txBody>
      </p:sp>
      <p:sp>
        <p:nvSpPr>
          <p:cNvPr id="5" name="Text 2"/>
          <p:cNvSpPr txBox="1"/>
          <p:nvPr/>
        </p:nvSpPr>
        <p:spPr>
          <a:xfrm>
            <a:off x="457200" y="2606040"/>
            <a:ext cx="7772400" cy="411480"/>
          </a:xfrm>
          <a:prstGeom prst="rect">
            <a:avLst/>
          </a:prstGeom>
          <a:noFill/>
          <a:ln/>
        </p:spPr>
        <p:txBody>
          <a:bodyPr wrap="square" lIns="0" tIns="0" rIns="0" bIns="0" rtlCol="0" anchor="ctr"/>
          <a:lstStyle/>
          <a:p>
            <a:pPr indent="0" marL="0">
              <a:buNone/>
            </a:pPr>
            <a:r>
              <a:rPr lang="en-US" sz="1600" dirty="0">
                <a:solidFill>
                  <a:srgbClr val="F8E8E2"/>
                </a:solidFill>
                <a:latin typeface="Arial" pitchFamily="34" charset="0"/>
                <a:ea typeface="Arial" pitchFamily="34" charset="-122"/>
                <a:cs typeface="Arial" pitchFamily="34" charset="-120"/>
              </a:rPr>
              <a:t>Listing Presentation · Casselberry, Fernwood Park</a:t>
            </a:r>
            <a:endParaRPr lang="en-US" sz="1600" dirty="0"/>
          </a:p>
        </p:txBody>
      </p:sp>
      <p:sp>
        <p:nvSpPr>
          <p:cNvPr id="6" name="Text 3"/>
          <p:cNvSpPr txBox="1"/>
          <p:nvPr/>
        </p:nvSpPr>
        <p:spPr>
          <a:xfrm>
            <a:off x="457200" y="3429000"/>
            <a:ext cx="7772400" cy="1097280"/>
          </a:xfrm>
          <a:prstGeom prst="rect">
            <a:avLst/>
          </a:prstGeom>
          <a:noFill/>
          <a:ln/>
        </p:spPr>
        <p:txBody>
          <a:bodyPr wrap="square" lIns="0" tIns="0" rIns="0" bIns="0" rtlCol="0" anchor="t"/>
          <a:lstStyle/>
          <a:p>
            <a:pPr indent="0" marL="0">
              <a:spcAft>
                <a:spcPts val="200"/>
              </a:spcAft>
              <a:buNone/>
            </a:pPr>
            <a:r>
              <a:rPr lang="en-US" sz="1200" b="1" dirty="0">
                <a:solidFill>
                  <a:srgbClr val="F8E8E2"/>
                </a:solidFill>
                <a:latin typeface="Arial" pitchFamily="34" charset="0"/>
                <a:ea typeface="Arial" pitchFamily="34" charset="-122"/>
                <a:cs typeface="Arial" pitchFamily="34" charset="-120"/>
              </a:rPr>
              <a:t>Jordan Avery, REALTOR®</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The Avery Team · Sample Realty, LLC · License SL0000000</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(407) 555-0142 · jordan@example.com · example.com</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September 22,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Our Recommendation</a:t>
            </a:r>
            <a:endParaRPr lang="en-US" sz="2600" dirty="0"/>
          </a:p>
        </p:txBody>
      </p:sp>
      <p:sp>
        <p:nvSpPr>
          <p:cNvPr id="3" name="Text 1"/>
          <p:cNvSpPr txBox="1"/>
          <p:nvPr/>
        </p:nvSpPr>
        <p:spPr>
          <a:xfrm>
            <a:off x="457200" y="1234440"/>
            <a:ext cx="4206240" cy="320040"/>
          </a:xfrm>
          <a:prstGeom prst="rect">
            <a:avLst/>
          </a:prstGeom>
          <a:noFill/>
          <a:ln/>
        </p:spPr>
        <p:txBody>
          <a:bodyPr wrap="square" lIns="0" tIns="0" rIns="0" bIns="0" rtlCol="0" anchor="ctr"/>
          <a:lstStyle/>
          <a:p>
            <a:pPr indent="0" marL="0">
              <a:buNone/>
            </a:pPr>
            <a:r>
              <a:rPr lang="en-US" sz="1400" dirty="0">
                <a:solidFill>
                  <a:srgbClr val="5E5E5E"/>
                </a:solidFill>
                <a:latin typeface="Arial" pitchFamily="34" charset="0"/>
                <a:ea typeface="Arial" pitchFamily="34" charset="-122"/>
                <a:cs typeface="Arial" pitchFamily="34" charset="-120"/>
              </a:rPr>
              <a:t>Recommended List Price</a:t>
            </a:r>
            <a:endParaRPr lang="en-US" sz="1400" dirty="0"/>
          </a:p>
        </p:txBody>
      </p:sp>
      <p:sp>
        <p:nvSpPr>
          <p:cNvPr id="4" name="Text 2"/>
          <p:cNvSpPr txBox="1"/>
          <p:nvPr/>
        </p:nvSpPr>
        <p:spPr>
          <a:xfrm>
            <a:off x="457200" y="1554480"/>
            <a:ext cx="4389120" cy="1097280"/>
          </a:xfrm>
          <a:prstGeom prst="rect">
            <a:avLst/>
          </a:prstGeom>
          <a:noFill/>
          <a:ln/>
        </p:spPr>
        <p:txBody>
          <a:bodyPr wrap="square" lIns="0" tIns="0" rIns="0" bIns="0" rtlCol="0" anchor="ctr"/>
          <a:lstStyle/>
          <a:p>
            <a:pPr indent="0" marL="0">
              <a:buNone/>
            </a:pPr>
            <a:r>
              <a:rPr lang="en-US" sz="6400" b="1" dirty="0">
                <a:solidFill>
                  <a:srgbClr val="C2410C"/>
                </a:solidFill>
                <a:latin typeface="Arial" pitchFamily="34" charset="0"/>
                <a:ea typeface="Arial" pitchFamily="34" charset="-122"/>
                <a:cs typeface="Arial" pitchFamily="34" charset="-120"/>
              </a:rPr>
              <a:t>$469,900</a:t>
            </a:r>
            <a:endParaRPr lang="en-US" sz="6400" dirty="0"/>
          </a:p>
        </p:txBody>
      </p:sp>
      <p:sp>
        <p:nvSpPr>
          <p:cNvPr id="5" name="Text 3"/>
          <p:cNvSpPr txBox="1"/>
          <p:nvPr/>
        </p:nvSpPr>
        <p:spPr>
          <a:xfrm>
            <a:off x="457200" y="2834640"/>
            <a:ext cx="4206240" cy="128016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It sits at the middle of what recent sales support and gives you the strongest launch, when buyer attention is highest.</a:t>
            </a:r>
            <a:endParaRPr lang="en-US" sz="1500" dirty="0"/>
          </a:p>
        </p:txBody>
      </p:sp>
      <p:sp>
        <p:nvSpPr>
          <p:cNvPr id="6" name="Shape 4"/>
          <p:cNvSpPr/>
          <p:nvPr/>
        </p:nvSpPr>
        <p:spPr>
          <a:xfrm>
            <a:off x="5212080" y="1234440"/>
            <a:ext cx="3474720" cy="1234440"/>
          </a:xfrm>
          <a:prstGeom prst="roundRect">
            <a:avLst>
              <a:gd name="adj" fmla="val 5926"/>
            </a:avLst>
          </a:prstGeom>
          <a:solidFill>
            <a:srgbClr val="FBF2EE"/>
          </a:solidFill>
          <a:ln w="12700">
            <a:solidFill>
              <a:srgbClr val="FBF2EE"/>
            </a:solidFill>
            <a:prstDash val="solid"/>
          </a:ln>
        </p:spPr>
      </p:sp>
      <p:sp>
        <p:nvSpPr>
          <p:cNvPr id="7" name="Text 5"/>
          <p:cNvSpPr txBox="1"/>
          <p:nvPr/>
        </p:nvSpPr>
        <p:spPr>
          <a:xfrm>
            <a:off x="5440680" y="1371600"/>
            <a:ext cx="301752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Supported Value Range</a:t>
            </a:r>
            <a:endParaRPr lang="en-US" sz="1200" dirty="0"/>
          </a:p>
        </p:txBody>
      </p:sp>
      <p:sp>
        <p:nvSpPr>
          <p:cNvPr id="8" name="Text 6"/>
          <p:cNvSpPr txBox="1"/>
          <p:nvPr/>
        </p:nvSpPr>
        <p:spPr>
          <a:xfrm>
            <a:off x="5440680" y="164592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$455K – $480K</a:t>
            </a:r>
            <a:endParaRPr lang="en-US" sz="2400" dirty="0"/>
          </a:p>
        </p:txBody>
      </p:sp>
      <p:sp>
        <p:nvSpPr>
          <p:cNvPr id="9" name="Text 7"/>
          <p:cNvSpPr txBox="1"/>
          <p:nvPr/>
        </p:nvSpPr>
        <p:spPr>
          <a:xfrm>
            <a:off x="5440680" y="2103120"/>
            <a:ext cx="3017520" cy="25603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What recent sales support</a:t>
            </a:r>
            <a:endParaRPr lang="en-US" sz="1100" dirty="0"/>
          </a:p>
        </p:txBody>
      </p:sp>
      <p:sp>
        <p:nvSpPr>
          <p:cNvPr id="10" name="Shape 8"/>
          <p:cNvSpPr/>
          <p:nvPr/>
        </p:nvSpPr>
        <p:spPr>
          <a:xfrm>
            <a:off x="5212080" y="2697480"/>
            <a:ext cx="3474720" cy="1234440"/>
          </a:xfrm>
          <a:prstGeom prst="roundRect">
            <a:avLst>
              <a:gd name="adj" fmla="val 5926"/>
            </a:avLst>
          </a:prstGeom>
          <a:solidFill>
            <a:srgbClr val="FBF2EE"/>
          </a:solidFill>
          <a:ln w="12700">
            <a:solidFill>
              <a:srgbClr val="FBF2EE"/>
            </a:solidFill>
            <a:prstDash val="solid"/>
          </a:ln>
        </p:spPr>
      </p:sp>
      <p:sp>
        <p:nvSpPr>
          <p:cNvPr id="11" name="Text 9"/>
          <p:cNvSpPr txBox="1"/>
          <p:nvPr/>
        </p:nvSpPr>
        <p:spPr>
          <a:xfrm>
            <a:off x="5440680" y="2834640"/>
            <a:ext cx="301752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Expected Sale</a:t>
            </a:r>
            <a:endParaRPr lang="en-US" sz="1200" dirty="0"/>
          </a:p>
        </p:txBody>
      </p:sp>
      <p:sp>
        <p:nvSpPr>
          <p:cNvPr id="12" name="Text 10"/>
          <p:cNvSpPr txBox="1"/>
          <p:nvPr/>
        </p:nvSpPr>
        <p:spPr>
          <a:xfrm>
            <a:off x="5440680" y="310896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About $451,000</a:t>
            </a:r>
            <a:endParaRPr lang="en-US" sz="2400" dirty="0"/>
          </a:p>
        </p:txBody>
      </p:sp>
      <p:sp>
        <p:nvSpPr>
          <p:cNvPr id="13" name="Text 11"/>
          <p:cNvSpPr txBox="1"/>
          <p:nvPr/>
        </p:nvSpPr>
        <p:spPr>
          <a:xfrm>
            <a:off x="5440680" y="3566160"/>
            <a:ext cx="3017520" cy="25603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After the negotiating that is normal now</a:t>
            </a:r>
            <a:endParaRPr lang="en-US" sz="1100" dirty="0"/>
          </a:p>
        </p:txBody>
      </p:sp>
      <p:sp>
        <p:nvSpPr>
          <p:cNvPr id="14" name="Text 1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5" name="Text 1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We Priced It</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From the neighborhood's sales to one number</a:t>
            </a:r>
            <a:endParaRPr lang="en-US" sz="1300" dirty="0"/>
          </a:p>
        </p:txBody>
      </p:sp>
      <p:sp>
        <p:nvSpPr>
          <p:cNvPr id="4" name="Shape 2"/>
          <p:cNvSpPr/>
          <p:nvPr/>
        </p:nvSpPr>
        <p:spPr>
          <a:xfrm>
            <a:off x="612648" y="1481328"/>
            <a:ext cx="0" cy="2029968"/>
          </a:xfrm>
          <a:prstGeom prst="line">
            <a:avLst/>
          </a:prstGeom>
          <a:noFill/>
          <a:ln w="19050">
            <a:solidFill>
              <a:srgbClr val="F8E8E2"/>
            </a:solidFill>
            <a:prstDash val="solid"/>
          </a:ln>
        </p:spPr>
      </p:sp>
      <p:sp>
        <p:nvSpPr>
          <p:cNvPr id="5" name="Shape 3"/>
          <p:cNvSpPr/>
          <p:nvPr/>
        </p:nvSpPr>
        <p:spPr>
          <a:xfrm>
            <a:off x="457200" y="1325880"/>
            <a:ext cx="310896" cy="310896"/>
          </a:xfrm>
          <a:prstGeom prst="ellipse">
            <a:avLst/>
          </a:prstGeom>
          <a:solidFill>
            <a:srgbClr val="FBF2EE"/>
          </a:solidFill>
          <a:ln w="12700">
            <a:solidFill>
              <a:srgbClr val="C2410C"/>
            </a:solidFill>
            <a:prstDash val="solid"/>
          </a:ln>
        </p:spPr>
      </p:sp>
      <p:sp>
        <p:nvSpPr>
          <p:cNvPr id="6" name="Text 4"/>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1</a:t>
            </a:r>
            <a:endParaRPr lang="en-US" sz="1100" dirty="0"/>
          </a:p>
        </p:txBody>
      </p:sp>
      <p:sp>
        <p:nvSpPr>
          <p:cNvPr id="7" name="Text 5"/>
          <p:cNvSpPr txBox="1"/>
          <p:nvPr/>
        </p:nvSpPr>
        <p:spPr>
          <a:xfrm>
            <a:off x="960120" y="1289304"/>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33</a:t>
            </a:r>
            <a:endParaRPr lang="en-US" sz="2200" dirty="0"/>
          </a:p>
        </p:txBody>
      </p:sp>
      <p:sp>
        <p:nvSpPr>
          <p:cNvPr id="8" name="Text 6"/>
          <p:cNvSpPr txBox="1"/>
          <p:nvPr/>
        </p:nvSpPr>
        <p:spPr>
          <a:xfrm>
            <a:off x="960120" y="1636776"/>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sales within a mile since April</a:t>
            </a:r>
            <a:endParaRPr lang="en-US" sz="1200" dirty="0"/>
          </a:p>
        </p:txBody>
      </p:sp>
      <p:sp>
        <p:nvSpPr>
          <p:cNvPr id="9" name="Shape 7"/>
          <p:cNvSpPr/>
          <p:nvPr/>
        </p:nvSpPr>
        <p:spPr>
          <a:xfrm>
            <a:off x="457200" y="2002536"/>
            <a:ext cx="310896" cy="310896"/>
          </a:xfrm>
          <a:prstGeom prst="ellipse">
            <a:avLst/>
          </a:prstGeom>
          <a:solidFill>
            <a:srgbClr val="FBF2EE"/>
          </a:solidFill>
          <a:ln w="12700">
            <a:solidFill>
              <a:srgbClr val="C2410C"/>
            </a:solidFill>
            <a:prstDash val="solid"/>
          </a:ln>
        </p:spPr>
      </p:sp>
      <p:sp>
        <p:nvSpPr>
          <p:cNvPr id="10" name="Text 8"/>
          <p:cNvSpPr txBox="1"/>
          <p:nvPr/>
        </p:nvSpPr>
        <p:spPr>
          <a:xfrm>
            <a:off x="457200" y="2002536"/>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2</a:t>
            </a:r>
            <a:endParaRPr lang="en-US" sz="1100" dirty="0"/>
          </a:p>
        </p:txBody>
      </p:sp>
      <p:sp>
        <p:nvSpPr>
          <p:cNvPr id="11" name="Text 9"/>
          <p:cNvSpPr txBox="1"/>
          <p:nvPr/>
        </p:nvSpPr>
        <p:spPr>
          <a:xfrm>
            <a:off x="960120" y="1965960"/>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5</a:t>
            </a:r>
            <a:endParaRPr lang="en-US" sz="2200" dirty="0"/>
          </a:p>
        </p:txBody>
      </p:sp>
      <p:sp>
        <p:nvSpPr>
          <p:cNvPr id="12" name="Text 10"/>
          <p:cNvSpPr txBox="1"/>
          <p:nvPr/>
        </p:nvSpPr>
        <p:spPr>
          <a:xfrm>
            <a:off x="960120" y="2313432"/>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closest matches in size, pool, age and neighborhood</a:t>
            </a:r>
            <a:endParaRPr lang="en-US" sz="1200" dirty="0"/>
          </a:p>
        </p:txBody>
      </p:sp>
      <p:sp>
        <p:nvSpPr>
          <p:cNvPr id="13" name="Shape 11"/>
          <p:cNvSpPr/>
          <p:nvPr/>
        </p:nvSpPr>
        <p:spPr>
          <a:xfrm>
            <a:off x="457200" y="2679192"/>
            <a:ext cx="310896" cy="310896"/>
          </a:xfrm>
          <a:prstGeom prst="ellipse">
            <a:avLst/>
          </a:prstGeom>
          <a:solidFill>
            <a:srgbClr val="FBF2EE"/>
          </a:solidFill>
          <a:ln w="12700">
            <a:solidFill>
              <a:srgbClr val="C2410C"/>
            </a:solidFill>
            <a:prstDash val="solid"/>
          </a:ln>
        </p:spPr>
      </p:sp>
      <p:sp>
        <p:nvSpPr>
          <p:cNvPr id="14" name="Text 12"/>
          <p:cNvSpPr txBox="1"/>
          <p:nvPr/>
        </p:nvSpPr>
        <p:spPr>
          <a:xfrm>
            <a:off x="457200" y="2679192"/>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3</a:t>
            </a:r>
            <a:endParaRPr lang="en-US" sz="1100" dirty="0"/>
          </a:p>
        </p:txBody>
      </p:sp>
      <p:sp>
        <p:nvSpPr>
          <p:cNvPr id="15" name="Text 13"/>
          <p:cNvSpPr txBox="1"/>
          <p:nvPr/>
        </p:nvSpPr>
        <p:spPr>
          <a:xfrm>
            <a:off x="960120" y="2642616"/>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$436K–$492K</a:t>
            </a:r>
            <a:endParaRPr lang="en-US" sz="2200" dirty="0"/>
          </a:p>
        </p:txBody>
      </p:sp>
      <p:sp>
        <p:nvSpPr>
          <p:cNvPr id="16" name="Text 14"/>
          <p:cNvSpPr txBox="1"/>
          <p:nvPr/>
        </p:nvSpPr>
        <p:spPr>
          <a:xfrm>
            <a:off x="960120" y="2990088"/>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after adjusting each for differences from your home</a:t>
            </a:r>
            <a:endParaRPr lang="en-US" sz="1200" dirty="0"/>
          </a:p>
        </p:txBody>
      </p:sp>
      <p:sp>
        <p:nvSpPr>
          <p:cNvPr id="17" name="Shape 15"/>
          <p:cNvSpPr/>
          <p:nvPr/>
        </p:nvSpPr>
        <p:spPr>
          <a:xfrm>
            <a:off x="457200" y="3355848"/>
            <a:ext cx="310896" cy="310896"/>
          </a:xfrm>
          <a:prstGeom prst="ellipse">
            <a:avLst/>
          </a:prstGeom>
          <a:solidFill>
            <a:srgbClr val="FBF2EE"/>
          </a:solidFill>
          <a:ln w="12700">
            <a:solidFill>
              <a:srgbClr val="C2410C"/>
            </a:solidFill>
            <a:prstDash val="solid"/>
          </a:ln>
        </p:spPr>
      </p:sp>
      <p:sp>
        <p:nvSpPr>
          <p:cNvPr id="18" name="Text 16"/>
          <p:cNvSpPr txBox="1"/>
          <p:nvPr/>
        </p:nvSpPr>
        <p:spPr>
          <a:xfrm>
            <a:off x="457200" y="3355848"/>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4</a:t>
            </a:r>
            <a:endParaRPr lang="en-US" sz="1100" dirty="0"/>
          </a:p>
        </p:txBody>
      </p:sp>
      <p:sp>
        <p:nvSpPr>
          <p:cNvPr id="19" name="Text 17"/>
          <p:cNvSpPr txBox="1"/>
          <p:nvPr/>
        </p:nvSpPr>
        <p:spPr>
          <a:xfrm>
            <a:off x="960120" y="3319272"/>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$469,800</a:t>
            </a:r>
            <a:endParaRPr lang="en-US" sz="2200" dirty="0"/>
          </a:p>
        </p:txBody>
      </p:sp>
      <p:sp>
        <p:nvSpPr>
          <p:cNvPr id="20" name="Text 18"/>
          <p:cNvSpPr txBox="1"/>
          <p:nvPr/>
        </p:nvSpPr>
        <p:spPr>
          <a:xfrm>
            <a:off x="960120" y="3666744"/>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median adjusted value</a:t>
            </a:r>
            <a:endParaRPr lang="en-US" sz="1200" dirty="0"/>
          </a:p>
        </p:txBody>
      </p:sp>
      <p:sp>
        <p:nvSpPr>
          <p:cNvPr id="21" name="Shape 19"/>
          <p:cNvSpPr/>
          <p:nvPr/>
        </p:nvSpPr>
        <p:spPr>
          <a:xfrm>
            <a:off x="5669280" y="1280160"/>
            <a:ext cx="3017520" cy="2651760"/>
          </a:xfrm>
          <a:prstGeom prst="roundRect">
            <a:avLst>
              <a:gd name="adj" fmla="val 2759"/>
            </a:avLst>
          </a:prstGeom>
          <a:solidFill>
            <a:srgbClr val="C2410C"/>
          </a:solidFill>
          <a:ln w="12700">
            <a:solidFill>
              <a:srgbClr val="C2410C"/>
            </a:solidFill>
            <a:prstDash val="solid"/>
          </a:ln>
        </p:spPr>
      </p:sp>
      <p:sp>
        <p:nvSpPr>
          <p:cNvPr id="22" name="Text 20"/>
          <p:cNvSpPr txBox="1"/>
          <p:nvPr/>
        </p:nvSpPr>
        <p:spPr>
          <a:xfrm>
            <a:off x="5943600" y="1554480"/>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Recommended List Price</a:t>
            </a:r>
            <a:endParaRPr lang="en-US" sz="1300" dirty="0"/>
          </a:p>
        </p:txBody>
      </p:sp>
      <p:sp>
        <p:nvSpPr>
          <p:cNvPr id="23" name="Text 21"/>
          <p:cNvSpPr txBox="1"/>
          <p:nvPr/>
        </p:nvSpPr>
        <p:spPr>
          <a:xfrm>
            <a:off x="5943600" y="1874520"/>
            <a:ext cx="246888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$469,900</a:t>
            </a:r>
            <a:endParaRPr lang="en-US" sz="4000" dirty="0"/>
          </a:p>
        </p:txBody>
      </p:sp>
      <p:sp>
        <p:nvSpPr>
          <p:cNvPr id="24" name="Text 22"/>
          <p:cNvSpPr txBox="1"/>
          <p:nvPr/>
        </p:nvSpPr>
        <p:spPr>
          <a:xfrm>
            <a:off x="5943600" y="3154680"/>
            <a:ext cx="2468880" cy="22860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Supported Value Range</a:t>
            </a:r>
            <a:endParaRPr lang="en-US" sz="1100" dirty="0"/>
          </a:p>
        </p:txBody>
      </p:sp>
      <p:sp>
        <p:nvSpPr>
          <p:cNvPr id="25" name="Text 23"/>
          <p:cNvSpPr txBox="1"/>
          <p:nvPr/>
        </p:nvSpPr>
        <p:spPr>
          <a:xfrm>
            <a:off x="5943600" y="3383280"/>
            <a:ext cx="246888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$455K – $480K</a:t>
            </a:r>
            <a:endParaRPr lang="en-US" sz="1800" dirty="0"/>
          </a:p>
        </p:txBody>
      </p:sp>
      <p:sp>
        <p:nvSpPr>
          <p:cNvPr id="26" name="Text 24"/>
          <p:cNvSpPr txBox="1"/>
          <p:nvPr/>
        </p:nvSpPr>
        <p:spPr>
          <a:xfrm>
            <a:off x="457200" y="4160520"/>
            <a:ext cx="8229600" cy="502920"/>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Adjustments cover size, lot, market changes since each sale, roof and systems, condition and updates, view or water and seller credits.</a:t>
            </a:r>
            <a:endParaRPr lang="en-US" sz="1100" dirty="0"/>
          </a:p>
        </p:txBody>
      </p:sp>
      <p:sp>
        <p:nvSpPr>
          <p:cNvPr id="27"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8"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Buyers Will Pay For</a:t>
            </a:r>
            <a:endParaRPr lang="en-US" sz="2600" dirty="0"/>
          </a:p>
        </p:txBody>
      </p:sp>
      <p:sp>
        <p:nvSpPr>
          <p:cNvPr id="3" name="Shape 1"/>
          <p:cNvSpPr/>
          <p:nvPr/>
        </p:nvSpPr>
        <p:spPr>
          <a:xfrm>
            <a:off x="457200" y="1143000"/>
            <a:ext cx="502920" cy="502920"/>
          </a:xfrm>
          <a:prstGeom prst="ellipse">
            <a:avLst/>
          </a:prstGeom>
          <a:solidFill>
            <a:srgbClr val="C2410C"/>
          </a:solidFill>
          <a:ln w="12700">
            <a:solidFill>
              <a:srgbClr val="C2410C"/>
            </a:solidFill>
            <a:prstDash val="solid"/>
          </a:ln>
        </p:spPr>
      </p:sp>
      <p:pic>
        <p:nvPicPr>
          <p:cNvPr id="4" name="Image 0" descr="preencoded.png">    </p:cNvPr>
          <p:cNvPicPr>
            <a:picLocks noChangeAspect="1"/>
          </p:cNvPicPr>
          <p:nvPr/>
        </p:nvPicPr>
        <p:blipFill>
          <a:blip r:embed="rId1"/>
          <a:stretch>
            <a:fillRect/>
          </a:stretch>
        </p:blipFill>
        <p:spPr>
          <a:xfrm>
            <a:off x="577901" y="1263701"/>
            <a:ext cx="261518" cy="261518"/>
          </a:xfrm>
          <a:prstGeom prst="rect">
            <a:avLst/>
          </a:prstGeom>
        </p:spPr>
      </p:pic>
      <p:sp>
        <p:nvSpPr>
          <p:cNvPr id="5" name="Text 2"/>
          <p:cNvSpPr txBox="1"/>
          <p:nvPr/>
        </p:nvSpPr>
        <p:spPr>
          <a:xfrm>
            <a:off x="1143000" y="1143000"/>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Renovated Kitchen and Baths</a:t>
            </a:r>
            <a:endParaRPr lang="en-US" sz="1500" dirty="0"/>
          </a:p>
        </p:txBody>
      </p:sp>
      <p:sp>
        <p:nvSpPr>
          <p:cNvPr id="6" name="Text 3"/>
          <p:cNvSpPr txBox="1"/>
          <p:nvPr/>
        </p:nvSpPr>
        <p:spPr>
          <a:xfrm>
            <a:off x="1143000" y="1426464"/>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The single biggest reason your home sells near the top of the neighborhood.</a:t>
            </a:r>
            <a:endParaRPr lang="en-US" sz="1200" dirty="0"/>
          </a:p>
        </p:txBody>
      </p:sp>
      <p:sp>
        <p:nvSpPr>
          <p:cNvPr id="7" name="Shape 4"/>
          <p:cNvSpPr/>
          <p:nvPr/>
        </p:nvSpPr>
        <p:spPr>
          <a:xfrm>
            <a:off x="457200" y="1947672"/>
            <a:ext cx="502920" cy="502920"/>
          </a:xfrm>
          <a:prstGeom prst="ellipse">
            <a:avLst/>
          </a:prstGeom>
          <a:solidFill>
            <a:srgbClr val="C2410C"/>
          </a:solidFill>
          <a:ln w="12700">
            <a:solidFill>
              <a:srgbClr val="C2410C"/>
            </a:solidFill>
            <a:prstDash val="solid"/>
          </a:ln>
        </p:spPr>
      </p:sp>
      <p:pic>
        <p:nvPicPr>
          <p:cNvPr id="8" name="Image 1" descr="preencoded.png">    </p:cNvPr>
          <p:cNvPicPr>
            <a:picLocks noChangeAspect="1"/>
          </p:cNvPicPr>
          <p:nvPr/>
        </p:nvPicPr>
        <p:blipFill>
          <a:blip r:embed="rId2"/>
          <a:stretch>
            <a:fillRect/>
          </a:stretch>
        </p:blipFill>
        <p:spPr>
          <a:xfrm>
            <a:off x="577901" y="2068373"/>
            <a:ext cx="261518" cy="261518"/>
          </a:xfrm>
          <a:prstGeom prst="rect">
            <a:avLst/>
          </a:prstGeom>
        </p:spPr>
      </p:pic>
      <p:sp>
        <p:nvSpPr>
          <p:cNvPr id="9" name="Text 5"/>
          <p:cNvSpPr txBox="1"/>
          <p:nvPr/>
        </p:nvSpPr>
        <p:spPr>
          <a:xfrm>
            <a:off x="1143000" y="1947672"/>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Private Pool</a:t>
            </a:r>
            <a:endParaRPr lang="en-US" sz="1500" dirty="0"/>
          </a:p>
        </p:txBody>
      </p:sp>
      <p:sp>
        <p:nvSpPr>
          <p:cNvPr id="10" name="Text 6"/>
          <p:cNvSpPr txBox="1"/>
          <p:nvPr/>
        </p:nvSpPr>
        <p:spPr>
          <a:xfrm>
            <a:off x="1143000" y="2231136"/>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Every one of the closest sales had one, so it keeps your home in that group.</a:t>
            </a:r>
            <a:endParaRPr lang="en-US" sz="1200" dirty="0"/>
          </a:p>
        </p:txBody>
      </p:sp>
      <p:sp>
        <p:nvSpPr>
          <p:cNvPr id="11" name="Shape 7"/>
          <p:cNvSpPr/>
          <p:nvPr/>
        </p:nvSpPr>
        <p:spPr>
          <a:xfrm>
            <a:off x="457200" y="2752344"/>
            <a:ext cx="502920" cy="502920"/>
          </a:xfrm>
          <a:prstGeom prst="ellipse">
            <a:avLst/>
          </a:prstGeom>
          <a:solidFill>
            <a:srgbClr val="C2410C"/>
          </a:solidFill>
          <a:ln w="12700">
            <a:solidFill>
              <a:srgbClr val="C2410C"/>
            </a:solidFill>
            <a:prstDash val="solid"/>
          </a:ln>
        </p:spPr>
      </p:sp>
      <p:pic>
        <p:nvPicPr>
          <p:cNvPr id="12" name="Image 2" descr="preencoded.png">    </p:cNvPr>
          <p:cNvPicPr>
            <a:picLocks noChangeAspect="1"/>
          </p:cNvPicPr>
          <p:nvPr/>
        </p:nvPicPr>
        <p:blipFill>
          <a:blip r:embed="rId3"/>
          <a:stretch>
            <a:fillRect/>
          </a:stretch>
        </p:blipFill>
        <p:spPr>
          <a:xfrm>
            <a:off x="577901" y="2873045"/>
            <a:ext cx="261518" cy="261518"/>
          </a:xfrm>
          <a:prstGeom prst="rect">
            <a:avLst/>
          </a:prstGeom>
        </p:spPr>
      </p:pic>
      <p:sp>
        <p:nvSpPr>
          <p:cNvPr id="13" name="Text 8"/>
          <p:cNvSpPr txBox="1"/>
          <p:nvPr/>
        </p:nvSpPr>
        <p:spPr>
          <a:xfrm>
            <a:off x="1143000" y="2752344"/>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Four Bedrooms, No HOA or CDD</a:t>
            </a:r>
            <a:endParaRPr lang="en-US" sz="1500" dirty="0"/>
          </a:p>
        </p:txBody>
      </p:sp>
      <p:sp>
        <p:nvSpPr>
          <p:cNvPr id="14" name="Text 9"/>
          <p:cNvSpPr txBox="1"/>
          <p:nvPr/>
        </p:nvSpPr>
        <p:spPr>
          <a:xfrm>
            <a:off x="1143000" y="3035808"/>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Flexible space and no monthly association costs.</a:t>
            </a:r>
            <a:endParaRPr lang="en-US" sz="1200" dirty="0"/>
          </a:p>
        </p:txBody>
      </p:sp>
      <p:sp>
        <p:nvSpPr>
          <p:cNvPr id="15" name="Shape 10"/>
          <p:cNvSpPr/>
          <p:nvPr/>
        </p:nvSpPr>
        <p:spPr>
          <a:xfrm>
            <a:off x="457200" y="3557016"/>
            <a:ext cx="502920" cy="502920"/>
          </a:xfrm>
          <a:prstGeom prst="ellipse">
            <a:avLst/>
          </a:prstGeom>
          <a:solidFill>
            <a:srgbClr val="C2410C"/>
          </a:solidFill>
          <a:ln w="12700">
            <a:solidFill>
              <a:srgbClr val="C2410C"/>
            </a:solidFill>
            <a:prstDash val="solid"/>
          </a:ln>
        </p:spPr>
      </p:sp>
      <p:pic>
        <p:nvPicPr>
          <p:cNvPr id="16" name="Image 3" descr="preencoded.png">    </p:cNvPr>
          <p:cNvPicPr>
            <a:picLocks noChangeAspect="1"/>
          </p:cNvPicPr>
          <p:nvPr/>
        </p:nvPicPr>
        <p:blipFill>
          <a:blip r:embed="rId4"/>
          <a:stretch>
            <a:fillRect/>
          </a:stretch>
        </p:blipFill>
        <p:spPr>
          <a:xfrm>
            <a:off x="577901" y="3677717"/>
            <a:ext cx="261518" cy="261518"/>
          </a:xfrm>
          <a:prstGeom prst="rect">
            <a:avLst/>
          </a:prstGeom>
        </p:spPr>
      </p:pic>
      <p:sp>
        <p:nvSpPr>
          <p:cNvPr id="17" name="Text 11"/>
          <p:cNvSpPr txBox="1"/>
          <p:nvPr/>
        </p:nvSpPr>
        <p:spPr>
          <a:xfrm>
            <a:off x="1143000" y="3557016"/>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Flood Zone X</a:t>
            </a:r>
            <a:endParaRPr lang="en-US" sz="1500" dirty="0"/>
          </a:p>
        </p:txBody>
      </p:sp>
      <p:sp>
        <p:nvSpPr>
          <p:cNvPr id="18" name="Text 12"/>
          <p:cNvSpPr txBox="1"/>
          <p:nvPr/>
        </p:nvSpPr>
        <p:spPr>
          <a:xfrm>
            <a:off x="1143000" y="3840480"/>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Outside the high-risk flood zones; buyers still get their own flood insurance quote.</a:t>
            </a:r>
            <a:endParaRPr lang="en-US" sz="1200" dirty="0"/>
          </a:p>
        </p:txBody>
      </p:sp>
      <p:sp>
        <p:nvSpPr>
          <p:cNvPr id="19" name="Shape 13"/>
          <p:cNvSpPr/>
          <p:nvPr/>
        </p:nvSpPr>
        <p:spPr>
          <a:xfrm>
            <a:off x="5486400" y="1143000"/>
            <a:ext cx="3200400" cy="3154680"/>
          </a:xfrm>
          <a:prstGeom prst="roundRect">
            <a:avLst>
              <a:gd name="adj" fmla="val 2319"/>
            </a:avLst>
          </a:prstGeom>
          <a:solidFill>
            <a:srgbClr val="F8E8E2"/>
          </a:solidFill>
          <a:ln w="12700">
            <a:solidFill>
              <a:srgbClr val="F8E8E2"/>
            </a:solidFill>
            <a:prstDash val="solid"/>
          </a:ln>
        </p:spPr>
      </p:sp>
      <p:sp>
        <p:nvSpPr>
          <p:cNvPr id="20" name="Text 14"/>
          <p:cNvSpPr txBox="1"/>
          <p:nvPr/>
        </p:nvSpPr>
        <p:spPr>
          <a:xfrm>
            <a:off x="5715000" y="1325880"/>
            <a:ext cx="2788920" cy="320040"/>
          </a:xfrm>
          <a:prstGeom prst="rect">
            <a:avLst/>
          </a:prstGeom>
          <a:noFill/>
          <a:ln/>
        </p:spPr>
        <p:txBody>
          <a:bodyPr wrap="square" lIns="0" tIns="0" rIns="0" bIns="0" rtlCol="0" anchor="ctr"/>
          <a:lstStyle/>
          <a:p>
            <a:pPr indent="0" marL="0">
              <a:buNone/>
            </a:pPr>
            <a:r>
              <a:rPr lang="en-US" sz="1500" b="1" dirty="0">
                <a:solidFill>
                  <a:srgbClr val="A23200"/>
                </a:solidFill>
                <a:latin typeface="Arial" pitchFamily="34" charset="0"/>
                <a:ea typeface="Arial" pitchFamily="34" charset="-122"/>
                <a:cs typeface="Arial" pitchFamily="34" charset="-120"/>
              </a:rPr>
              <a:t>Needs Paperwork to Count</a:t>
            </a:r>
            <a:endParaRPr lang="en-US" sz="1500" dirty="0"/>
          </a:p>
        </p:txBody>
      </p:sp>
      <p:sp>
        <p:nvSpPr>
          <p:cNvPr id="21" name="Shape 15"/>
          <p:cNvSpPr/>
          <p:nvPr/>
        </p:nvSpPr>
        <p:spPr>
          <a:xfrm>
            <a:off x="5715000" y="1828800"/>
            <a:ext cx="411480" cy="411480"/>
          </a:xfrm>
          <a:prstGeom prst="ellipse">
            <a:avLst/>
          </a:prstGeom>
          <a:solidFill>
            <a:srgbClr val="7B2400"/>
          </a:solidFill>
          <a:ln w="12700">
            <a:solidFill>
              <a:srgbClr val="7B2400"/>
            </a:solidFill>
            <a:prstDash val="solid"/>
          </a:ln>
        </p:spPr>
      </p:sp>
      <p:pic>
        <p:nvPicPr>
          <p:cNvPr id="22" name="Image 4" descr="preencoded.png">    </p:cNvPr>
          <p:cNvPicPr>
            <a:picLocks noChangeAspect="1"/>
          </p:cNvPicPr>
          <p:nvPr/>
        </p:nvPicPr>
        <p:blipFill>
          <a:blip r:embed="rId5"/>
          <a:stretch>
            <a:fillRect/>
          </a:stretch>
        </p:blipFill>
        <p:spPr>
          <a:xfrm>
            <a:off x="5813755" y="1927555"/>
            <a:ext cx="213970" cy="213970"/>
          </a:xfrm>
          <a:prstGeom prst="rect">
            <a:avLst/>
          </a:prstGeom>
        </p:spPr>
      </p:pic>
      <p:sp>
        <p:nvSpPr>
          <p:cNvPr id="23" name="Text 16"/>
          <p:cNvSpPr txBox="1"/>
          <p:nvPr/>
        </p:nvSpPr>
        <p:spPr>
          <a:xfrm>
            <a:off x="6263640" y="18288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Roof</a:t>
            </a:r>
            <a:endParaRPr lang="en-US" sz="1300" dirty="0"/>
          </a:p>
        </p:txBody>
      </p:sp>
      <p:sp>
        <p:nvSpPr>
          <p:cNvPr id="24" name="Text 17"/>
          <p:cNvSpPr txBox="1"/>
          <p:nvPr/>
        </p:nvSpPr>
        <p:spPr>
          <a:xfrm>
            <a:off x="6263640" y="212140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Permit and date. Roof age decides whether a buyer can insure the home.</a:t>
            </a:r>
            <a:endParaRPr lang="en-US" sz="1100" dirty="0"/>
          </a:p>
        </p:txBody>
      </p:sp>
      <p:sp>
        <p:nvSpPr>
          <p:cNvPr id="25" name="Shape 18"/>
          <p:cNvSpPr/>
          <p:nvPr/>
        </p:nvSpPr>
        <p:spPr>
          <a:xfrm>
            <a:off x="5715000" y="3017520"/>
            <a:ext cx="411480" cy="411480"/>
          </a:xfrm>
          <a:prstGeom prst="ellipse">
            <a:avLst/>
          </a:prstGeom>
          <a:solidFill>
            <a:srgbClr val="7B2400"/>
          </a:solidFill>
          <a:ln w="12700">
            <a:solidFill>
              <a:srgbClr val="7B2400"/>
            </a:solidFill>
            <a:prstDash val="solid"/>
          </a:ln>
        </p:spPr>
      </p:sp>
      <p:pic>
        <p:nvPicPr>
          <p:cNvPr id="26" name="Image 5" descr="preencoded.png">    </p:cNvPr>
          <p:cNvPicPr>
            <a:picLocks noChangeAspect="1"/>
          </p:cNvPicPr>
          <p:nvPr/>
        </p:nvPicPr>
        <p:blipFill>
          <a:blip r:embed="rId6"/>
          <a:stretch>
            <a:fillRect/>
          </a:stretch>
        </p:blipFill>
        <p:spPr>
          <a:xfrm>
            <a:off x="5813755" y="3116275"/>
            <a:ext cx="213970" cy="213970"/>
          </a:xfrm>
          <a:prstGeom prst="rect">
            <a:avLst/>
          </a:prstGeom>
        </p:spPr>
      </p:pic>
      <p:sp>
        <p:nvSpPr>
          <p:cNvPr id="27" name="Text 19"/>
          <p:cNvSpPr txBox="1"/>
          <p:nvPr/>
        </p:nvSpPr>
        <p:spPr>
          <a:xfrm>
            <a:off x="6263640" y="301752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Permits</a:t>
            </a:r>
            <a:endParaRPr lang="en-US" sz="1300" dirty="0"/>
          </a:p>
        </p:txBody>
      </p:sp>
      <p:sp>
        <p:nvSpPr>
          <p:cNvPr id="28" name="Text 20"/>
          <p:cNvSpPr txBox="1"/>
          <p:nvPr/>
        </p:nvSpPr>
        <p:spPr>
          <a:xfrm>
            <a:off x="6263640" y="331012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Kitchen, bath, electrical, and plumbing work. Undocumented upgrades count for less.</a:t>
            </a:r>
            <a:endParaRPr lang="en-US" sz="1100" dirty="0"/>
          </a:p>
        </p:txBody>
      </p:sp>
      <p:sp>
        <p:nvSpPr>
          <p:cNvPr id="29" name="Text 2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0" name="Text 2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Comparable Homes Sold For</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Each sale adjusted to what it would have sold for as your home</a:t>
            </a:r>
            <a:endParaRPr lang="en-US" sz="1300" dirty="0"/>
          </a:p>
        </p:txBody>
      </p:sp>
      <p:sp>
        <p:nvSpPr>
          <p:cNvPr id="4" name="Shape 2"/>
          <p:cNvSpPr/>
          <p:nvPr/>
        </p:nvSpPr>
        <p:spPr>
          <a:xfrm>
            <a:off x="5532120" y="1325880"/>
            <a:ext cx="1143000" cy="2468880"/>
          </a:xfrm>
          <a:prstGeom prst="rect">
            <a:avLst/>
          </a:prstGeom>
          <a:solidFill>
            <a:srgbClr val="FBF2EE"/>
          </a:solidFill>
          <a:ln w="12700">
            <a:solidFill>
              <a:srgbClr val="FBF2EE"/>
            </a:solidFill>
            <a:prstDash val="solid"/>
          </a:ln>
        </p:spPr>
      </p:sp>
      <p:sp>
        <p:nvSpPr>
          <p:cNvPr id="5" name="Shape 3"/>
          <p:cNvSpPr/>
          <p:nvPr/>
        </p:nvSpPr>
        <p:spPr>
          <a:xfrm>
            <a:off x="3931920" y="1325880"/>
            <a:ext cx="0" cy="2468880"/>
          </a:xfrm>
          <a:prstGeom prst="line">
            <a:avLst/>
          </a:prstGeom>
          <a:noFill/>
          <a:ln w="9525">
            <a:solidFill>
              <a:srgbClr val="F8E8E2"/>
            </a:solidFill>
            <a:prstDash val="solid"/>
          </a:ln>
        </p:spPr>
      </p:sp>
      <p:sp>
        <p:nvSpPr>
          <p:cNvPr id="6" name="Text 4"/>
          <p:cNvSpPr txBox="1"/>
          <p:nvPr/>
        </p:nvSpPr>
        <p:spPr>
          <a:xfrm>
            <a:off x="3566160" y="3840480"/>
            <a:ext cx="73152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$420K</a:t>
            </a:r>
            <a:endParaRPr lang="en-US" sz="1000" dirty="0"/>
          </a:p>
        </p:txBody>
      </p:sp>
      <p:sp>
        <p:nvSpPr>
          <p:cNvPr id="7" name="Shape 5"/>
          <p:cNvSpPr/>
          <p:nvPr/>
        </p:nvSpPr>
        <p:spPr>
          <a:xfrm>
            <a:off x="4846320" y="1325880"/>
            <a:ext cx="0" cy="2468880"/>
          </a:xfrm>
          <a:prstGeom prst="line">
            <a:avLst/>
          </a:prstGeom>
          <a:noFill/>
          <a:ln w="9525">
            <a:solidFill>
              <a:srgbClr val="F8E8E2"/>
            </a:solidFill>
            <a:prstDash val="solid"/>
          </a:ln>
        </p:spPr>
      </p:sp>
      <p:sp>
        <p:nvSpPr>
          <p:cNvPr id="8" name="Text 6"/>
          <p:cNvSpPr txBox="1"/>
          <p:nvPr/>
        </p:nvSpPr>
        <p:spPr>
          <a:xfrm>
            <a:off x="4480560" y="3840480"/>
            <a:ext cx="73152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$440K</a:t>
            </a:r>
            <a:endParaRPr lang="en-US" sz="1000" dirty="0"/>
          </a:p>
        </p:txBody>
      </p:sp>
      <p:sp>
        <p:nvSpPr>
          <p:cNvPr id="9" name="Shape 7"/>
          <p:cNvSpPr/>
          <p:nvPr/>
        </p:nvSpPr>
        <p:spPr>
          <a:xfrm>
            <a:off x="5760720" y="1325880"/>
            <a:ext cx="0" cy="2468880"/>
          </a:xfrm>
          <a:prstGeom prst="line">
            <a:avLst/>
          </a:prstGeom>
          <a:noFill/>
          <a:ln w="9525">
            <a:solidFill>
              <a:srgbClr val="F8E8E2"/>
            </a:solidFill>
            <a:prstDash val="solid"/>
          </a:ln>
        </p:spPr>
      </p:sp>
      <p:sp>
        <p:nvSpPr>
          <p:cNvPr id="10" name="Text 8"/>
          <p:cNvSpPr txBox="1"/>
          <p:nvPr/>
        </p:nvSpPr>
        <p:spPr>
          <a:xfrm>
            <a:off x="5394960" y="3840480"/>
            <a:ext cx="73152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$460K</a:t>
            </a:r>
            <a:endParaRPr lang="en-US" sz="1000" dirty="0"/>
          </a:p>
        </p:txBody>
      </p:sp>
      <p:sp>
        <p:nvSpPr>
          <p:cNvPr id="11" name="Shape 9"/>
          <p:cNvSpPr/>
          <p:nvPr/>
        </p:nvSpPr>
        <p:spPr>
          <a:xfrm>
            <a:off x="6675120" y="1325880"/>
            <a:ext cx="0" cy="2468880"/>
          </a:xfrm>
          <a:prstGeom prst="line">
            <a:avLst/>
          </a:prstGeom>
          <a:noFill/>
          <a:ln w="9525">
            <a:solidFill>
              <a:srgbClr val="F8E8E2"/>
            </a:solidFill>
            <a:prstDash val="solid"/>
          </a:ln>
        </p:spPr>
      </p:sp>
      <p:sp>
        <p:nvSpPr>
          <p:cNvPr id="12" name="Text 10"/>
          <p:cNvSpPr txBox="1"/>
          <p:nvPr/>
        </p:nvSpPr>
        <p:spPr>
          <a:xfrm>
            <a:off x="6309360" y="3840480"/>
            <a:ext cx="73152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$480K</a:t>
            </a:r>
            <a:endParaRPr lang="en-US" sz="1000" dirty="0"/>
          </a:p>
        </p:txBody>
      </p:sp>
      <p:sp>
        <p:nvSpPr>
          <p:cNvPr id="13" name="Shape 11"/>
          <p:cNvSpPr/>
          <p:nvPr/>
        </p:nvSpPr>
        <p:spPr>
          <a:xfrm>
            <a:off x="7589520" y="1325880"/>
            <a:ext cx="0" cy="2468880"/>
          </a:xfrm>
          <a:prstGeom prst="line">
            <a:avLst/>
          </a:prstGeom>
          <a:noFill/>
          <a:ln w="9525">
            <a:solidFill>
              <a:srgbClr val="F8E8E2"/>
            </a:solidFill>
            <a:prstDash val="solid"/>
          </a:ln>
        </p:spPr>
      </p:sp>
      <p:sp>
        <p:nvSpPr>
          <p:cNvPr id="14" name="Text 12"/>
          <p:cNvSpPr txBox="1"/>
          <p:nvPr/>
        </p:nvSpPr>
        <p:spPr>
          <a:xfrm>
            <a:off x="7223760" y="3840480"/>
            <a:ext cx="73152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$500K</a:t>
            </a:r>
            <a:endParaRPr lang="en-US" sz="1000" dirty="0"/>
          </a:p>
        </p:txBody>
      </p:sp>
      <p:sp>
        <p:nvSpPr>
          <p:cNvPr id="15" name="Shape 13"/>
          <p:cNvSpPr/>
          <p:nvPr/>
        </p:nvSpPr>
        <p:spPr>
          <a:xfrm>
            <a:off x="8503920" y="1325880"/>
            <a:ext cx="0" cy="2468880"/>
          </a:xfrm>
          <a:prstGeom prst="line">
            <a:avLst/>
          </a:prstGeom>
          <a:noFill/>
          <a:ln w="9525">
            <a:solidFill>
              <a:srgbClr val="F8E8E2"/>
            </a:solidFill>
            <a:prstDash val="solid"/>
          </a:ln>
        </p:spPr>
      </p:sp>
      <p:sp>
        <p:nvSpPr>
          <p:cNvPr id="16" name="Text 14"/>
          <p:cNvSpPr txBox="1"/>
          <p:nvPr/>
        </p:nvSpPr>
        <p:spPr>
          <a:xfrm>
            <a:off x="8138160" y="3840480"/>
            <a:ext cx="73152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$520K</a:t>
            </a:r>
            <a:endParaRPr lang="en-US" sz="1000" dirty="0"/>
          </a:p>
        </p:txBody>
      </p:sp>
      <p:sp>
        <p:nvSpPr>
          <p:cNvPr id="17" name="Shape 15"/>
          <p:cNvSpPr/>
          <p:nvPr/>
        </p:nvSpPr>
        <p:spPr>
          <a:xfrm>
            <a:off x="6213348" y="1188720"/>
            <a:ext cx="0" cy="2606040"/>
          </a:xfrm>
          <a:prstGeom prst="line">
            <a:avLst/>
          </a:prstGeom>
          <a:noFill/>
          <a:ln w="25400">
            <a:solidFill>
              <a:srgbClr val="1A1A1A"/>
            </a:solidFill>
            <a:prstDash val="dash"/>
          </a:ln>
        </p:spPr>
      </p:sp>
      <p:sp>
        <p:nvSpPr>
          <p:cNvPr id="18" name="Text 16"/>
          <p:cNvSpPr txBox="1"/>
          <p:nvPr/>
        </p:nvSpPr>
        <p:spPr>
          <a:xfrm>
            <a:off x="5207508" y="960120"/>
            <a:ext cx="2011680" cy="228600"/>
          </a:xfrm>
          <a:prstGeom prst="rect">
            <a:avLst/>
          </a:prstGeom>
          <a:noFill/>
          <a:ln/>
        </p:spPr>
        <p:txBody>
          <a:bodyPr wrap="square" lIns="0" tIns="0" rIns="0" bIns="0" rtlCol="0" anchor="ctr"/>
          <a:lstStyle/>
          <a:p>
            <a:pPr algn="ctr" indent="0" marL="0">
              <a:buNone/>
            </a:pPr>
            <a:r>
              <a:rPr lang="en-US" sz="1000" b="1" dirty="0">
                <a:solidFill>
                  <a:srgbClr val="1A1A1A"/>
                </a:solidFill>
                <a:latin typeface="Arial" pitchFamily="34" charset="0"/>
                <a:ea typeface="Arial" pitchFamily="34" charset="-122"/>
                <a:cs typeface="Arial" pitchFamily="34" charset="-120"/>
              </a:rPr>
              <a:t>Recommended $469,900</a:t>
            </a:r>
            <a:endParaRPr lang="en-US" sz="1000" dirty="0"/>
          </a:p>
        </p:txBody>
      </p:sp>
      <p:sp>
        <p:nvSpPr>
          <p:cNvPr id="19" name="Text 17"/>
          <p:cNvSpPr txBox="1"/>
          <p:nvPr/>
        </p:nvSpPr>
        <p:spPr>
          <a:xfrm>
            <a:off x="457200" y="14173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622 Fernwood Park Blvd</a:t>
            </a:r>
            <a:endParaRPr lang="en-US" sz="1200" dirty="0"/>
          </a:p>
        </p:txBody>
      </p:sp>
      <p:sp>
        <p:nvSpPr>
          <p:cNvPr id="20" name="Text 18"/>
          <p:cNvSpPr txBox="1"/>
          <p:nvPr/>
        </p:nvSpPr>
        <p:spPr>
          <a:xfrm>
            <a:off x="457200" y="1618488"/>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Renovated pool home; April, before rates rose</a:t>
            </a:r>
            <a:endParaRPr lang="en-US" sz="950" dirty="0"/>
          </a:p>
        </p:txBody>
      </p:sp>
      <p:sp>
        <p:nvSpPr>
          <p:cNvPr id="21" name="Shape 19"/>
          <p:cNvSpPr/>
          <p:nvPr/>
        </p:nvSpPr>
        <p:spPr>
          <a:xfrm>
            <a:off x="7155180" y="1536192"/>
            <a:ext cx="164592" cy="164592"/>
          </a:xfrm>
          <a:prstGeom prst="ellipse">
            <a:avLst/>
          </a:prstGeom>
          <a:solidFill>
            <a:srgbClr val="C2410C"/>
          </a:solidFill>
          <a:ln w="12700">
            <a:solidFill>
              <a:srgbClr val="FFFFFF"/>
            </a:solidFill>
            <a:prstDash val="solid"/>
          </a:ln>
        </p:spPr>
      </p:sp>
      <p:sp>
        <p:nvSpPr>
          <p:cNvPr id="22" name="Text 20"/>
          <p:cNvSpPr txBox="1"/>
          <p:nvPr/>
        </p:nvSpPr>
        <p:spPr>
          <a:xfrm>
            <a:off x="7347204" y="14904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$492K</a:t>
            </a:r>
            <a:endParaRPr lang="en-US" sz="1000" dirty="0"/>
          </a:p>
        </p:txBody>
      </p:sp>
      <p:sp>
        <p:nvSpPr>
          <p:cNvPr id="23" name="Text 21"/>
          <p:cNvSpPr txBox="1"/>
          <p:nvPr/>
        </p:nvSpPr>
        <p:spPr>
          <a:xfrm>
            <a:off x="457200" y="18745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516 Tallow Ct</a:t>
            </a:r>
            <a:endParaRPr lang="en-US" sz="1200" dirty="0"/>
          </a:p>
        </p:txBody>
      </p:sp>
      <p:sp>
        <p:nvSpPr>
          <p:cNvPr id="24" name="Text 22"/>
          <p:cNvSpPr txBox="1"/>
          <p:nvPr/>
        </p:nvSpPr>
        <p:spPr>
          <a:xfrm>
            <a:off x="457200" y="2075688"/>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Same year and size; systems documented</a:t>
            </a:r>
            <a:endParaRPr lang="en-US" sz="950" dirty="0"/>
          </a:p>
        </p:txBody>
      </p:sp>
      <p:sp>
        <p:nvSpPr>
          <p:cNvPr id="25" name="Shape 23"/>
          <p:cNvSpPr/>
          <p:nvPr/>
        </p:nvSpPr>
        <p:spPr>
          <a:xfrm>
            <a:off x="6766560" y="1993392"/>
            <a:ext cx="164592" cy="164592"/>
          </a:xfrm>
          <a:prstGeom prst="ellipse">
            <a:avLst/>
          </a:prstGeom>
          <a:solidFill>
            <a:srgbClr val="C2410C"/>
          </a:solidFill>
          <a:ln w="12700">
            <a:solidFill>
              <a:srgbClr val="FFFFFF"/>
            </a:solidFill>
            <a:prstDash val="solid"/>
          </a:ln>
        </p:spPr>
      </p:sp>
      <p:sp>
        <p:nvSpPr>
          <p:cNvPr id="26" name="Text 24"/>
          <p:cNvSpPr txBox="1"/>
          <p:nvPr/>
        </p:nvSpPr>
        <p:spPr>
          <a:xfrm>
            <a:off x="6958584" y="19476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$484K</a:t>
            </a:r>
            <a:endParaRPr lang="en-US" sz="1000" dirty="0"/>
          </a:p>
        </p:txBody>
      </p:sp>
      <p:sp>
        <p:nvSpPr>
          <p:cNvPr id="27" name="Text 25"/>
          <p:cNvSpPr txBox="1"/>
          <p:nvPr/>
        </p:nvSpPr>
        <p:spPr>
          <a:xfrm>
            <a:off x="457200" y="23317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745 Little Heron Cir</a:t>
            </a:r>
            <a:endParaRPr lang="en-US" sz="1200" dirty="0"/>
          </a:p>
        </p:txBody>
      </p:sp>
      <p:sp>
        <p:nvSpPr>
          <p:cNvPr id="28" name="Text 26"/>
          <p:cNvSpPr txBox="1"/>
          <p:nvPr/>
        </p:nvSpPr>
        <p:spPr>
          <a:xfrm>
            <a:off x="457200" y="2532888"/>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Most recent pool sale; not renovated</a:t>
            </a:r>
            <a:endParaRPr lang="en-US" sz="950" dirty="0"/>
          </a:p>
        </p:txBody>
      </p:sp>
      <p:sp>
        <p:nvSpPr>
          <p:cNvPr id="29" name="Shape 27"/>
          <p:cNvSpPr/>
          <p:nvPr/>
        </p:nvSpPr>
        <p:spPr>
          <a:xfrm>
            <a:off x="6126480" y="2450592"/>
            <a:ext cx="164592" cy="164592"/>
          </a:xfrm>
          <a:prstGeom prst="ellipse">
            <a:avLst/>
          </a:prstGeom>
          <a:solidFill>
            <a:srgbClr val="C2410C"/>
          </a:solidFill>
          <a:ln w="12700">
            <a:solidFill>
              <a:srgbClr val="FFFFFF"/>
            </a:solidFill>
            <a:prstDash val="solid"/>
          </a:ln>
        </p:spPr>
      </p:sp>
      <p:sp>
        <p:nvSpPr>
          <p:cNvPr id="30" name="Text 28"/>
          <p:cNvSpPr txBox="1"/>
          <p:nvPr/>
        </p:nvSpPr>
        <p:spPr>
          <a:xfrm>
            <a:off x="6318504" y="24048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$470K</a:t>
            </a:r>
            <a:endParaRPr lang="en-US" sz="1000" dirty="0"/>
          </a:p>
        </p:txBody>
      </p:sp>
      <p:sp>
        <p:nvSpPr>
          <p:cNvPr id="31" name="Text 29"/>
          <p:cNvSpPr txBox="1"/>
          <p:nvPr/>
        </p:nvSpPr>
        <p:spPr>
          <a:xfrm>
            <a:off x="457200" y="27889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602 Thrasher Ln</a:t>
            </a:r>
            <a:endParaRPr lang="en-US" sz="1200" dirty="0"/>
          </a:p>
        </p:txBody>
      </p:sp>
      <p:sp>
        <p:nvSpPr>
          <p:cNvPr id="32" name="Text 30"/>
          <p:cNvSpPr txBox="1"/>
          <p:nvPr/>
        </p:nvSpPr>
        <p:spPr>
          <a:xfrm>
            <a:off x="457200" y="2990088"/>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Same floor plan; partly updated</a:t>
            </a:r>
            <a:endParaRPr lang="en-US" sz="950" dirty="0"/>
          </a:p>
        </p:txBody>
      </p:sp>
      <p:sp>
        <p:nvSpPr>
          <p:cNvPr id="33" name="Shape 31"/>
          <p:cNvSpPr/>
          <p:nvPr/>
        </p:nvSpPr>
        <p:spPr>
          <a:xfrm>
            <a:off x="4690872" y="2907792"/>
            <a:ext cx="164592" cy="164592"/>
          </a:xfrm>
          <a:prstGeom prst="ellipse">
            <a:avLst/>
          </a:prstGeom>
          <a:solidFill>
            <a:srgbClr val="C2410C"/>
          </a:solidFill>
          <a:ln w="12700">
            <a:solidFill>
              <a:srgbClr val="FFFFFF"/>
            </a:solidFill>
            <a:prstDash val="solid"/>
          </a:ln>
        </p:spPr>
      </p:sp>
      <p:sp>
        <p:nvSpPr>
          <p:cNvPr id="34" name="Text 32"/>
          <p:cNvSpPr txBox="1"/>
          <p:nvPr/>
        </p:nvSpPr>
        <p:spPr>
          <a:xfrm>
            <a:off x="4882896" y="28620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$438K</a:t>
            </a:r>
            <a:endParaRPr lang="en-US" sz="1000" dirty="0"/>
          </a:p>
        </p:txBody>
      </p:sp>
      <p:sp>
        <p:nvSpPr>
          <p:cNvPr id="35" name="Text 33"/>
          <p:cNvSpPr txBox="1"/>
          <p:nvPr/>
        </p:nvSpPr>
        <p:spPr>
          <a:xfrm>
            <a:off x="457200" y="32461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621 Little Heron Rd</a:t>
            </a:r>
            <a:endParaRPr lang="en-US" sz="1200" dirty="0"/>
          </a:p>
        </p:txBody>
      </p:sp>
      <p:sp>
        <p:nvSpPr>
          <p:cNvPr id="36" name="Text 34"/>
          <p:cNvSpPr txBox="1"/>
          <p:nvPr/>
        </p:nvSpPr>
        <p:spPr>
          <a:xfrm>
            <a:off x="457200" y="3447288"/>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Renovated; bigger canal lot</a:t>
            </a:r>
            <a:endParaRPr lang="en-US" sz="950" dirty="0"/>
          </a:p>
        </p:txBody>
      </p:sp>
      <p:sp>
        <p:nvSpPr>
          <p:cNvPr id="37" name="Shape 35"/>
          <p:cNvSpPr/>
          <p:nvPr/>
        </p:nvSpPr>
        <p:spPr>
          <a:xfrm>
            <a:off x="4590288" y="3364992"/>
            <a:ext cx="164592" cy="164592"/>
          </a:xfrm>
          <a:prstGeom prst="ellipse">
            <a:avLst/>
          </a:prstGeom>
          <a:solidFill>
            <a:srgbClr val="C2410C"/>
          </a:solidFill>
          <a:ln w="12700">
            <a:solidFill>
              <a:srgbClr val="FFFFFF"/>
            </a:solidFill>
            <a:prstDash val="solid"/>
          </a:ln>
        </p:spPr>
      </p:sp>
      <p:sp>
        <p:nvSpPr>
          <p:cNvPr id="38" name="Text 36"/>
          <p:cNvSpPr txBox="1"/>
          <p:nvPr/>
        </p:nvSpPr>
        <p:spPr>
          <a:xfrm>
            <a:off x="4782312" y="33192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$436K</a:t>
            </a:r>
            <a:endParaRPr lang="en-US" sz="1000" dirty="0"/>
          </a:p>
        </p:txBody>
      </p:sp>
      <p:sp>
        <p:nvSpPr>
          <p:cNvPr id="39" name="Text 37"/>
          <p:cNvSpPr txBox="1"/>
          <p:nvPr/>
        </p:nvSpPr>
        <p:spPr>
          <a:xfrm>
            <a:off x="457200" y="4114800"/>
            <a:ext cx="8229600" cy="502920"/>
          </a:xfrm>
          <a:prstGeom prst="rect">
            <a:avLst/>
          </a:prstGeom>
          <a:noFill/>
          <a:ln/>
        </p:spPr>
        <p:txBody>
          <a:bodyPr wrap="square" lIns="0" tIns="0" rIns="0" bIns="0" rtlCol="0" anchor="t"/>
          <a:lstStyle/>
          <a:p>
            <a:pPr indent="0" marL="0">
              <a:buNone/>
            </a:pPr>
            <a:r>
              <a:rPr lang="en-US" sz="1200" b="1" dirty="0">
                <a:solidFill>
                  <a:srgbClr val="C2410C"/>
                </a:solidFill>
                <a:latin typeface="Arial" pitchFamily="34" charset="0"/>
                <a:ea typeface="Arial" pitchFamily="34" charset="-122"/>
                <a:cs typeface="Arial" pitchFamily="34" charset="-120"/>
              </a:rPr>
              <a:t>Shaded: Supported Range $455K–$480K. </a:t>
            </a:r>
            <a:pPr indent="0" marL="0">
              <a:buNone/>
            </a:pPr>
            <a:r>
              <a:rPr lang="en-US" sz="1200" dirty="0">
                <a:solidFill>
                  <a:srgbClr val="1A1A1A"/>
                </a:solidFill>
                <a:latin typeface="Arial" pitchFamily="34" charset="0"/>
                <a:ea typeface="Arial" pitchFamily="34" charset="-122"/>
                <a:cs typeface="Arial" pitchFamily="34" charset="-120"/>
              </a:rPr>
              <a:t>The two highest sold in the spring. The recent sales point to the middle of the range.</a:t>
            </a:r>
            <a:endParaRPr lang="en-US" sz="1200" dirty="0"/>
          </a:p>
        </p:txBody>
      </p:sp>
      <p:sp>
        <p:nvSpPr>
          <p:cNvPr id="40" name="Text 3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41" name="Text 3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Where Your Home Fits in the Neighborhood</a:t>
            </a:r>
            <a:endParaRPr lang="en-US" sz="2600" dirty="0"/>
          </a:p>
        </p:txBody>
      </p:sp>
      <p:sp>
        <p:nvSpPr>
          <p:cNvPr id="3" name="Shape 1"/>
          <p:cNvSpPr/>
          <p:nvPr/>
        </p:nvSpPr>
        <p:spPr>
          <a:xfrm>
            <a:off x="1150315" y="2303961"/>
            <a:ext cx="5557266" cy="195943"/>
          </a:xfrm>
          <a:prstGeom prst="rect">
            <a:avLst/>
          </a:prstGeom>
          <a:solidFill>
            <a:srgbClr val="FBF2EE"/>
          </a:solidFill>
          <a:ln w="12700">
            <a:solidFill>
              <a:srgbClr val="FBF2EE"/>
            </a:solidFill>
            <a:prstDash val="solid"/>
          </a:ln>
        </p:spPr>
      </p:sp>
      <p:sp>
        <p:nvSpPr>
          <p:cNvPr id="4" name="Text 2"/>
          <p:cNvSpPr txBox="1"/>
          <p:nvPr/>
        </p:nvSpPr>
        <p:spPr>
          <a:xfrm>
            <a:off x="1223467" y="2331393"/>
            <a:ext cx="2743200" cy="201168"/>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Supported Range $455K–$480K</a:t>
            </a:r>
            <a:endParaRPr lang="en-US" sz="900" dirty="0"/>
          </a:p>
        </p:txBody>
      </p:sp>
      <p:graphicFrame>
        <p:nvGraphicFramePr>
          <p:cNvPr id="5" name="Chart 0" descr=""/>
          <p:cNvGraphicFramePr/>
          <p:nvPr/>
        </p:nvGraphicFramePr>
        <p:xfrm>
          <a:off x="365760" y="868680"/>
          <a:ext cx="6537960" cy="34290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21792" y="4434840"/>
            <a:ext cx="91440" cy="91440"/>
          </a:xfrm>
          <a:prstGeom prst="ellipse">
            <a:avLst/>
          </a:prstGeom>
          <a:solidFill>
            <a:srgbClr val="DBDBDB"/>
          </a:solidFill>
          <a:ln w="6350">
            <a:solidFill>
              <a:srgbClr val="DBDBDB"/>
            </a:solidFill>
            <a:prstDash val="solid"/>
          </a:ln>
        </p:spPr>
      </p:sp>
      <p:sp>
        <p:nvSpPr>
          <p:cNvPr id="7" name="Text 4"/>
          <p:cNvSpPr txBox="1"/>
          <p:nvPr/>
        </p:nvSpPr>
        <p:spPr>
          <a:xfrm>
            <a:off x="841248" y="4407408"/>
            <a:ext cx="673364"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Other Sales</a:t>
            </a:r>
            <a:endParaRPr lang="en-US" sz="900" dirty="0"/>
          </a:p>
        </p:txBody>
      </p:sp>
      <p:sp>
        <p:nvSpPr>
          <p:cNvPr id="8" name="Shape 5"/>
          <p:cNvSpPr/>
          <p:nvPr/>
        </p:nvSpPr>
        <p:spPr>
          <a:xfrm>
            <a:off x="1756928" y="4421124"/>
            <a:ext cx="118872" cy="118872"/>
          </a:xfrm>
          <a:prstGeom prst="ellipse">
            <a:avLst/>
          </a:prstGeom>
          <a:solidFill>
            <a:srgbClr val="A6A6A6"/>
          </a:solidFill>
          <a:ln w="6350">
            <a:solidFill>
              <a:srgbClr val="A6A6A6"/>
            </a:solidFill>
            <a:prstDash val="solid"/>
          </a:ln>
        </p:spPr>
      </p:sp>
      <p:sp>
        <p:nvSpPr>
          <p:cNvPr id="9" name="Text 6"/>
          <p:cNvSpPr txBox="1"/>
          <p:nvPr/>
        </p:nvSpPr>
        <p:spPr>
          <a:xfrm>
            <a:off x="1990100" y="4407408"/>
            <a:ext cx="765728"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For Sale Now</a:t>
            </a:r>
            <a:endParaRPr lang="en-US" sz="900" dirty="0"/>
          </a:p>
        </p:txBody>
      </p:sp>
      <p:sp>
        <p:nvSpPr>
          <p:cNvPr id="10" name="Shape 7"/>
          <p:cNvSpPr/>
          <p:nvPr/>
        </p:nvSpPr>
        <p:spPr>
          <a:xfrm>
            <a:off x="2938708" y="4480560"/>
            <a:ext cx="237744" cy="0"/>
          </a:xfrm>
          <a:prstGeom prst="line">
            <a:avLst/>
          </a:prstGeom>
          <a:noFill/>
          <a:ln w="15875">
            <a:solidFill>
              <a:srgbClr val="5E5E5E"/>
            </a:solidFill>
            <a:prstDash val="dash"/>
          </a:ln>
        </p:spPr>
      </p:sp>
      <p:sp>
        <p:nvSpPr>
          <p:cNvPr id="11" name="Text 8"/>
          <p:cNvSpPr txBox="1"/>
          <p:nvPr/>
        </p:nvSpPr>
        <p:spPr>
          <a:xfrm>
            <a:off x="3231316" y="4407408"/>
            <a:ext cx="904451"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Size-Only Trend</a:t>
            </a:r>
            <a:endParaRPr lang="en-US" sz="900" dirty="0"/>
          </a:p>
        </p:txBody>
      </p:sp>
      <p:sp>
        <p:nvSpPr>
          <p:cNvPr id="12" name="Shape 9"/>
          <p:cNvSpPr/>
          <p:nvPr/>
        </p:nvSpPr>
        <p:spPr>
          <a:xfrm>
            <a:off x="4378083" y="4421124"/>
            <a:ext cx="118872" cy="118872"/>
          </a:xfrm>
          <a:prstGeom prst="ellipse">
            <a:avLst/>
          </a:prstGeom>
          <a:solidFill>
            <a:srgbClr val="C2410C"/>
          </a:solidFill>
          <a:ln w="6350">
            <a:solidFill>
              <a:srgbClr val="C2410C"/>
            </a:solidFill>
            <a:prstDash val="solid"/>
          </a:ln>
        </p:spPr>
      </p:sp>
      <p:sp>
        <p:nvSpPr>
          <p:cNvPr id="13" name="Text 10"/>
          <p:cNvSpPr txBox="1"/>
          <p:nvPr/>
        </p:nvSpPr>
        <p:spPr>
          <a:xfrm>
            <a:off x="4611255" y="4407408"/>
            <a:ext cx="1023442"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Comparable Sales</a:t>
            </a:r>
            <a:endParaRPr lang="en-US" sz="900" dirty="0"/>
          </a:p>
        </p:txBody>
      </p:sp>
      <p:sp>
        <p:nvSpPr>
          <p:cNvPr id="14" name="Shape 11"/>
          <p:cNvSpPr/>
          <p:nvPr/>
        </p:nvSpPr>
        <p:spPr>
          <a:xfrm>
            <a:off x="5863297" y="4407408"/>
            <a:ext cx="146304" cy="146304"/>
          </a:xfrm>
          <a:prstGeom prst="diamond">
            <a:avLst/>
          </a:prstGeom>
          <a:solidFill>
            <a:srgbClr val="1A1A1A"/>
          </a:solidFill>
          <a:ln w="6350">
            <a:solidFill>
              <a:srgbClr val="1A1A1A"/>
            </a:solidFill>
            <a:prstDash val="solid"/>
          </a:ln>
        </p:spPr>
      </p:sp>
      <p:sp>
        <p:nvSpPr>
          <p:cNvPr id="15" name="Text 12"/>
          <p:cNvSpPr txBox="1"/>
          <p:nvPr/>
        </p:nvSpPr>
        <p:spPr>
          <a:xfrm>
            <a:off x="6110185" y="4407408"/>
            <a:ext cx="1518901"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Your Home, Recommended</a:t>
            </a:r>
            <a:endParaRPr lang="en-US" sz="900" dirty="0"/>
          </a:p>
        </p:txBody>
      </p:sp>
      <p:sp>
        <p:nvSpPr>
          <p:cNvPr id="16" name="Shape 13"/>
          <p:cNvSpPr/>
          <p:nvPr/>
        </p:nvSpPr>
        <p:spPr>
          <a:xfrm>
            <a:off x="6949440" y="1143000"/>
            <a:ext cx="45720" cy="3017520"/>
          </a:xfrm>
          <a:prstGeom prst="rect">
            <a:avLst/>
          </a:prstGeom>
          <a:solidFill>
            <a:srgbClr val="C2410C"/>
          </a:solidFill>
          <a:ln w="12700">
            <a:solidFill>
              <a:srgbClr val="C2410C"/>
            </a:solidFill>
            <a:prstDash val="solid"/>
          </a:ln>
        </p:spPr>
      </p:sp>
      <p:sp>
        <p:nvSpPr>
          <p:cNvPr id="17" name="Text 14"/>
          <p:cNvSpPr txBox="1"/>
          <p:nvPr/>
        </p:nvSpPr>
        <p:spPr>
          <a:xfrm>
            <a:off x="7086600" y="1143000"/>
            <a:ext cx="1600200" cy="201168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renovated comparable sales sit well above the neighborhood trend. At $469,900, yours sits among them without testing the ceiling.</a:t>
            </a:r>
            <a:endParaRPr lang="en-US" sz="1300" dirty="0"/>
          </a:p>
        </p:txBody>
      </p:sp>
      <p:sp>
        <p:nvSpPr>
          <p:cNvPr id="18" name="Text 15"/>
          <p:cNvSpPr txBox="1"/>
          <p:nvPr/>
        </p:nvSpPr>
        <p:spPr>
          <a:xfrm>
            <a:off x="7086600" y="2910840"/>
            <a:ext cx="1600200" cy="1249680"/>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Size alone predicts about $443K at your size. Your price is about $27K above the line.</a:t>
            </a:r>
            <a:endParaRPr lang="en-US" sz="1100" dirty="0"/>
          </a:p>
        </p:txBody>
      </p:sp>
      <p:sp>
        <p:nvSpPr>
          <p:cNvPr id="19" name="Text 1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0" name="Text 1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The Market Shifted Since Spring</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Nearby sales, April–June vs. July–mid-September</a:t>
            </a:r>
            <a:endParaRPr lang="en-US" sz="1300" dirty="0"/>
          </a:p>
        </p:txBody>
      </p:sp>
      <p:sp>
        <p:nvSpPr>
          <p:cNvPr id="4" name="Shape 2"/>
          <p:cNvSpPr/>
          <p:nvPr/>
        </p:nvSpPr>
        <p:spPr>
          <a:xfrm>
            <a:off x="457200" y="1325880"/>
            <a:ext cx="1885950" cy="2423160"/>
          </a:xfrm>
          <a:prstGeom prst="roundRect">
            <a:avLst>
              <a:gd name="adj" fmla="val 3879"/>
            </a:avLst>
          </a:prstGeom>
          <a:solidFill>
            <a:srgbClr val="FBF2EE"/>
          </a:solidFill>
          <a:ln w="12700">
            <a:solidFill>
              <a:srgbClr val="FBF2EE"/>
            </a:solidFill>
            <a:prstDash val="solid"/>
          </a:ln>
        </p:spPr>
      </p:sp>
      <p:sp>
        <p:nvSpPr>
          <p:cNvPr id="5" name="Shape 3"/>
          <p:cNvSpPr/>
          <p:nvPr/>
        </p:nvSpPr>
        <p:spPr>
          <a:xfrm>
            <a:off x="640080"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38835" y="1607515"/>
            <a:ext cx="213970" cy="213970"/>
          </a:xfrm>
          <a:prstGeom prst="rect">
            <a:avLst/>
          </a:prstGeom>
        </p:spPr>
      </p:pic>
      <p:sp>
        <p:nvSpPr>
          <p:cNvPr id="7" name="Text 4"/>
          <p:cNvSpPr txBox="1"/>
          <p:nvPr/>
        </p:nvSpPr>
        <p:spPr>
          <a:xfrm>
            <a:off x="6400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 vs. Original Price</a:t>
            </a:r>
            <a:endParaRPr lang="en-US" sz="1200" dirty="0"/>
          </a:p>
        </p:txBody>
      </p:sp>
      <p:sp>
        <p:nvSpPr>
          <p:cNvPr id="8" name="Text 5"/>
          <p:cNvSpPr txBox="1"/>
          <p:nvPr/>
        </p:nvSpPr>
        <p:spPr>
          <a:xfrm>
            <a:off x="64008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Spring</a:t>
            </a:r>
            <a:endParaRPr lang="en-US" sz="900" dirty="0"/>
          </a:p>
        </p:txBody>
      </p:sp>
      <p:sp>
        <p:nvSpPr>
          <p:cNvPr id="9" name="Text 6"/>
          <p:cNvSpPr txBox="1"/>
          <p:nvPr/>
        </p:nvSpPr>
        <p:spPr>
          <a:xfrm>
            <a:off x="64008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98.7%</a:t>
            </a:r>
            <a:endParaRPr lang="en-US" sz="1500" dirty="0"/>
          </a:p>
        </p:txBody>
      </p:sp>
      <p:sp>
        <p:nvSpPr>
          <p:cNvPr id="10" name="Text 7"/>
          <p:cNvSpPr txBox="1"/>
          <p:nvPr/>
        </p:nvSpPr>
        <p:spPr>
          <a:xfrm>
            <a:off x="6400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1" name="Text 8"/>
          <p:cNvSpPr txBox="1"/>
          <p:nvPr/>
        </p:nvSpPr>
        <p:spPr>
          <a:xfrm>
            <a:off x="6400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93.9%</a:t>
            </a:r>
            <a:endParaRPr lang="en-US" sz="2800" dirty="0"/>
          </a:p>
        </p:txBody>
      </p:sp>
      <p:sp>
        <p:nvSpPr>
          <p:cNvPr id="12" name="Shape 9"/>
          <p:cNvSpPr/>
          <p:nvPr/>
        </p:nvSpPr>
        <p:spPr>
          <a:xfrm>
            <a:off x="2571750" y="1325880"/>
            <a:ext cx="1885950" cy="2423160"/>
          </a:xfrm>
          <a:prstGeom prst="roundRect">
            <a:avLst>
              <a:gd name="adj" fmla="val 3879"/>
            </a:avLst>
          </a:prstGeom>
          <a:solidFill>
            <a:srgbClr val="FBF2EE"/>
          </a:solidFill>
          <a:ln w="12700">
            <a:solidFill>
              <a:srgbClr val="FBF2EE"/>
            </a:solidFill>
            <a:prstDash val="solid"/>
          </a:ln>
        </p:spPr>
      </p:sp>
      <p:sp>
        <p:nvSpPr>
          <p:cNvPr id="13" name="Shape 10"/>
          <p:cNvSpPr/>
          <p:nvPr/>
        </p:nvSpPr>
        <p:spPr>
          <a:xfrm>
            <a:off x="2754630" y="1508760"/>
            <a:ext cx="411480" cy="411480"/>
          </a:xfrm>
          <a:prstGeom prst="ellipse">
            <a:avLst/>
          </a:prstGeom>
          <a:solidFill>
            <a:srgbClr val="C2410C"/>
          </a:solidFill>
          <a:ln w="12700">
            <a:solidFill>
              <a:srgbClr val="C2410C"/>
            </a:solidFill>
            <a:prstDash val="solid"/>
          </a:ln>
        </p:spPr>
      </p:sp>
      <p:pic>
        <p:nvPicPr>
          <p:cNvPr id="14" name="Image 1" descr="preencoded.png">    </p:cNvPr>
          <p:cNvPicPr>
            <a:picLocks noChangeAspect="1"/>
          </p:cNvPicPr>
          <p:nvPr/>
        </p:nvPicPr>
        <p:blipFill>
          <a:blip r:embed="rId2"/>
          <a:stretch>
            <a:fillRect/>
          </a:stretch>
        </p:blipFill>
        <p:spPr>
          <a:xfrm>
            <a:off x="2853385" y="1607515"/>
            <a:ext cx="213970" cy="213970"/>
          </a:xfrm>
          <a:prstGeom prst="rect">
            <a:avLst/>
          </a:prstGeom>
        </p:spPr>
      </p:pic>
      <p:sp>
        <p:nvSpPr>
          <p:cNvPr id="15" name="Text 11"/>
          <p:cNvSpPr txBox="1"/>
          <p:nvPr/>
        </p:nvSpPr>
        <p:spPr>
          <a:xfrm>
            <a:off x="27546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Days to Contract</a:t>
            </a:r>
            <a:endParaRPr lang="en-US" sz="1200" dirty="0"/>
          </a:p>
        </p:txBody>
      </p:sp>
      <p:sp>
        <p:nvSpPr>
          <p:cNvPr id="16" name="Text 12"/>
          <p:cNvSpPr txBox="1"/>
          <p:nvPr/>
        </p:nvSpPr>
        <p:spPr>
          <a:xfrm>
            <a:off x="275463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Spring</a:t>
            </a:r>
            <a:endParaRPr lang="en-US" sz="900" dirty="0"/>
          </a:p>
        </p:txBody>
      </p:sp>
      <p:sp>
        <p:nvSpPr>
          <p:cNvPr id="17" name="Text 13"/>
          <p:cNvSpPr txBox="1"/>
          <p:nvPr/>
        </p:nvSpPr>
        <p:spPr>
          <a:xfrm>
            <a:off x="275463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8</a:t>
            </a:r>
            <a:endParaRPr lang="en-US" sz="1500" dirty="0"/>
          </a:p>
        </p:txBody>
      </p:sp>
      <p:sp>
        <p:nvSpPr>
          <p:cNvPr id="18" name="Text 14"/>
          <p:cNvSpPr txBox="1"/>
          <p:nvPr/>
        </p:nvSpPr>
        <p:spPr>
          <a:xfrm>
            <a:off x="27546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9" name="Text 15"/>
          <p:cNvSpPr txBox="1"/>
          <p:nvPr/>
        </p:nvSpPr>
        <p:spPr>
          <a:xfrm>
            <a:off x="27546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22</a:t>
            </a:r>
            <a:endParaRPr lang="en-US" sz="2800" dirty="0"/>
          </a:p>
        </p:txBody>
      </p:sp>
      <p:sp>
        <p:nvSpPr>
          <p:cNvPr id="20" name="Shape 16"/>
          <p:cNvSpPr/>
          <p:nvPr/>
        </p:nvSpPr>
        <p:spPr>
          <a:xfrm>
            <a:off x="4686300" y="1325880"/>
            <a:ext cx="1885950" cy="2423160"/>
          </a:xfrm>
          <a:prstGeom prst="roundRect">
            <a:avLst>
              <a:gd name="adj" fmla="val 3879"/>
            </a:avLst>
          </a:prstGeom>
          <a:solidFill>
            <a:srgbClr val="FBF2EE"/>
          </a:solidFill>
          <a:ln w="12700">
            <a:solidFill>
              <a:srgbClr val="FBF2EE"/>
            </a:solidFill>
            <a:prstDash val="solid"/>
          </a:ln>
        </p:spPr>
      </p:sp>
      <p:sp>
        <p:nvSpPr>
          <p:cNvPr id="21" name="Shape 17"/>
          <p:cNvSpPr/>
          <p:nvPr/>
        </p:nvSpPr>
        <p:spPr>
          <a:xfrm>
            <a:off x="4869180" y="1508760"/>
            <a:ext cx="411480" cy="411480"/>
          </a:xfrm>
          <a:prstGeom prst="ellipse">
            <a:avLst/>
          </a:prstGeom>
          <a:solidFill>
            <a:srgbClr val="C2410C"/>
          </a:solidFill>
          <a:ln w="12700">
            <a:solidFill>
              <a:srgbClr val="C2410C"/>
            </a:solidFill>
            <a:prstDash val="solid"/>
          </a:ln>
        </p:spPr>
      </p:sp>
      <p:pic>
        <p:nvPicPr>
          <p:cNvPr id="22" name="Image 2" descr="preencoded.png">    </p:cNvPr>
          <p:cNvPicPr>
            <a:picLocks noChangeAspect="1"/>
          </p:cNvPicPr>
          <p:nvPr/>
        </p:nvPicPr>
        <p:blipFill>
          <a:blip r:embed="rId3"/>
          <a:stretch>
            <a:fillRect/>
          </a:stretch>
        </p:blipFill>
        <p:spPr>
          <a:xfrm>
            <a:off x="4967935" y="1607515"/>
            <a:ext cx="213970" cy="213970"/>
          </a:xfrm>
          <a:prstGeom prst="rect">
            <a:avLst/>
          </a:prstGeom>
        </p:spPr>
      </p:pic>
      <p:sp>
        <p:nvSpPr>
          <p:cNvPr id="23" name="Text 18"/>
          <p:cNvSpPr txBox="1"/>
          <p:nvPr/>
        </p:nvSpPr>
        <p:spPr>
          <a:xfrm>
            <a:off x="48691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Sales with Seller Credits</a:t>
            </a:r>
            <a:endParaRPr lang="en-US" sz="1200" dirty="0"/>
          </a:p>
        </p:txBody>
      </p:sp>
      <p:sp>
        <p:nvSpPr>
          <p:cNvPr id="24" name="Text 19"/>
          <p:cNvSpPr txBox="1"/>
          <p:nvPr/>
        </p:nvSpPr>
        <p:spPr>
          <a:xfrm>
            <a:off x="486918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Spring</a:t>
            </a:r>
            <a:endParaRPr lang="en-US" sz="900" dirty="0"/>
          </a:p>
        </p:txBody>
      </p:sp>
      <p:sp>
        <p:nvSpPr>
          <p:cNvPr id="25" name="Text 20"/>
          <p:cNvSpPr txBox="1"/>
          <p:nvPr/>
        </p:nvSpPr>
        <p:spPr>
          <a:xfrm>
            <a:off x="486918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50%</a:t>
            </a:r>
            <a:endParaRPr lang="en-US" sz="1500" dirty="0"/>
          </a:p>
        </p:txBody>
      </p:sp>
      <p:sp>
        <p:nvSpPr>
          <p:cNvPr id="26" name="Text 21"/>
          <p:cNvSpPr txBox="1"/>
          <p:nvPr/>
        </p:nvSpPr>
        <p:spPr>
          <a:xfrm>
            <a:off x="48691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27" name="Text 22"/>
          <p:cNvSpPr txBox="1"/>
          <p:nvPr/>
        </p:nvSpPr>
        <p:spPr>
          <a:xfrm>
            <a:off x="48691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89%</a:t>
            </a:r>
            <a:endParaRPr lang="en-US" sz="2800" dirty="0"/>
          </a:p>
        </p:txBody>
      </p:sp>
      <p:sp>
        <p:nvSpPr>
          <p:cNvPr id="28" name="Shape 23"/>
          <p:cNvSpPr/>
          <p:nvPr/>
        </p:nvSpPr>
        <p:spPr>
          <a:xfrm>
            <a:off x="6800850" y="1325880"/>
            <a:ext cx="1885950" cy="2423160"/>
          </a:xfrm>
          <a:prstGeom prst="roundRect">
            <a:avLst>
              <a:gd name="adj" fmla="val 3879"/>
            </a:avLst>
          </a:prstGeom>
          <a:solidFill>
            <a:srgbClr val="FBF2EE"/>
          </a:solidFill>
          <a:ln w="12700">
            <a:solidFill>
              <a:srgbClr val="FBF2EE"/>
            </a:solidFill>
            <a:prstDash val="solid"/>
          </a:ln>
        </p:spPr>
      </p:sp>
      <p:sp>
        <p:nvSpPr>
          <p:cNvPr id="29" name="Shape 24"/>
          <p:cNvSpPr/>
          <p:nvPr/>
        </p:nvSpPr>
        <p:spPr>
          <a:xfrm>
            <a:off x="6983730" y="1508760"/>
            <a:ext cx="411480" cy="411480"/>
          </a:xfrm>
          <a:prstGeom prst="ellipse">
            <a:avLst/>
          </a:prstGeom>
          <a:solidFill>
            <a:srgbClr val="C2410C"/>
          </a:solidFill>
          <a:ln w="12700">
            <a:solidFill>
              <a:srgbClr val="C2410C"/>
            </a:solidFill>
            <a:prstDash val="solid"/>
          </a:ln>
        </p:spPr>
      </p:sp>
      <p:pic>
        <p:nvPicPr>
          <p:cNvPr id="30" name="Image 3" descr="preencoded.png">    </p:cNvPr>
          <p:cNvPicPr>
            <a:picLocks noChangeAspect="1"/>
          </p:cNvPicPr>
          <p:nvPr/>
        </p:nvPicPr>
        <p:blipFill>
          <a:blip r:embed="rId4"/>
          <a:stretch>
            <a:fillRect/>
          </a:stretch>
        </p:blipFill>
        <p:spPr>
          <a:xfrm>
            <a:off x="7082485" y="1607515"/>
            <a:ext cx="213970" cy="213970"/>
          </a:xfrm>
          <a:prstGeom prst="rect">
            <a:avLst/>
          </a:prstGeom>
        </p:spPr>
      </p:pic>
      <p:sp>
        <p:nvSpPr>
          <p:cNvPr id="31" name="Text 25"/>
          <p:cNvSpPr txBox="1"/>
          <p:nvPr/>
        </p:nvSpPr>
        <p:spPr>
          <a:xfrm>
            <a:off x="69837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30-Year Mortgage Rate</a:t>
            </a:r>
            <a:endParaRPr lang="en-US" sz="1200" dirty="0"/>
          </a:p>
        </p:txBody>
      </p:sp>
      <p:sp>
        <p:nvSpPr>
          <p:cNvPr id="32" name="Text 26"/>
          <p:cNvSpPr txBox="1"/>
          <p:nvPr/>
        </p:nvSpPr>
        <p:spPr>
          <a:xfrm>
            <a:off x="698373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Spring</a:t>
            </a:r>
            <a:endParaRPr lang="en-US" sz="900" dirty="0"/>
          </a:p>
        </p:txBody>
      </p:sp>
      <p:sp>
        <p:nvSpPr>
          <p:cNvPr id="33" name="Text 27"/>
          <p:cNvSpPr txBox="1"/>
          <p:nvPr/>
        </p:nvSpPr>
        <p:spPr>
          <a:xfrm>
            <a:off x="698373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~6.3%</a:t>
            </a:r>
            <a:endParaRPr lang="en-US" sz="1500" dirty="0"/>
          </a:p>
        </p:txBody>
      </p:sp>
      <p:sp>
        <p:nvSpPr>
          <p:cNvPr id="34" name="Text 28"/>
          <p:cNvSpPr txBox="1"/>
          <p:nvPr/>
        </p:nvSpPr>
        <p:spPr>
          <a:xfrm>
            <a:off x="69837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35" name="Text 29"/>
          <p:cNvSpPr txBox="1"/>
          <p:nvPr/>
        </p:nvSpPr>
        <p:spPr>
          <a:xfrm>
            <a:off x="69837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6.95%</a:t>
            </a:r>
            <a:endParaRPr lang="en-US" sz="2800" dirty="0"/>
          </a:p>
        </p:txBody>
      </p:sp>
      <p:sp>
        <p:nvSpPr>
          <p:cNvPr id="36" name="Text 30"/>
          <p:cNvSpPr txBox="1"/>
          <p:nvPr/>
        </p:nvSpPr>
        <p:spPr>
          <a:xfrm>
            <a:off x="457200" y="4005072"/>
            <a:ext cx="8229600" cy="54864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are negotiating again. Price for the market we have now, not the one from April.</a:t>
            </a:r>
            <a:endParaRPr lang="en-US" sz="1400" dirty="0"/>
          </a:p>
        </p:txBody>
      </p:sp>
      <p:sp>
        <p:nvSpPr>
          <p:cNvPr id="37" name="Text 3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8" name="Text 3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Your Competition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The homes buyers will tour alongside yours</a:t>
            </a:r>
            <a:endParaRPr lang="en-US" sz="1300" dirty="0"/>
          </a:p>
        </p:txBody>
      </p:sp>
      <p:sp>
        <p:nvSpPr>
          <p:cNvPr id="4" name="Shape 2"/>
          <p:cNvSpPr/>
          <p:nvPr/>
        </p:nvSpPr>
        <p:spPr>
          <a:xfrm>
            <a:off x="45720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5" name="Text 3"/>
          <p:cNvSpPr txBox="1"/>
          <p:nvPr/>
        </p:nvSpPr>
        <p:spPr>
          <a:xfrm>
            <a:off x="65836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644 Quillwood Dr</a:t>
            </a:r>
            <a:endParaRPr lang="en-US" sz="1400" dirty="0"/>
          </a:p>
        </p:txBody>
      </p:sp>
      <p:sp>
        <p:nvSpPr>
          <p:cNvPr id="6" name="Text 4"/>
          <p:cNvSpPr txBox="1"/>
          <p:nvPr/>
        </p:nvSpPr>
        <p:spPr>
          <a:xfrm>
            <a:off x="65836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$400,000</a:t>
            </a:r>
            <a:endParaRPr lang="en-US" sz="2600" dirty="0"/>
          </a:p>
        </p:txBody>
      </p:sp>
      <p:sp>
        <p:nvSpPr>
          <p:cNvPr id="7" name="Text 5"/>
          <p:cNvSpPr txBox="1"/>
          <p:nvPr/>
        </p:nvSpPr>
        <p:spPr>
          <a:xfrm>
            <a:off x="65836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91 days</a:t>
            </a:r>
            <a:endParaRPr lang="en-US" sz="1100" dirty="0"/>
          </a:p>
        </p:txBody>
      </p:sp>
      <p:sp>
        <p:nvSpPr>
          <p:cNvPr id="8" name="Text 6"/>
          <p:cNvSpPr txBox="1"/>
          <p:nvPr/>
        </p:nvSpPr>
        <p:spPr>
          <a:xfrm>
            <a:off x="65836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same size, no pool. The value alternative buyers will tour.</a:t>
            </a:r>
            <a:endParaRPr lang="en-US" sz="1200" dirty="0"/>
          </a:p>
        </p:txBody>
      </p:sp>
      <p:sp>
        <p:nvSpPr>
          <p:cNvPr id="9" name="Shape 7"/>
          <p:cNvSpPr/>
          <p:nvPr/>
        </p:nvSpPr>
        <p:spPr>
          <a:xfrm>
            <a:off x="329184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0" name="Text 8"/>
          <p:cNvSpPr txBox="1"/>
          <p:nvPr/>
        </p:nvSpPr>
        <p:spPr>
          <a:xfrm>
            <a:off x="349300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412 Calloway Ave</a:t>
            </a:r>
            <a:endParaRPr lang="en-US" sz="1400" dirty="0"/>
          </a:p>
        </p:txBody>
      </p:sp>
      <p:sp>
        <p:nvSpPr>
          <p:cNvPr id="11" name="Text 9"/>
          <p:cNvSpPr txBox="1"/>
          <p:nvPr/>
        </p:nvSpPr>
        <p:spPr>
          <a:xfrm>
            <a:off x="349300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$454,900</a:t>
            </a:r>
            <a:endParaRPr lang="en-US" sz="2600" dirty="0"/>
          </a:p>
        </p:txBody>
      </p:sp>
      <p:sp>
        <p:nvSpPr>
          <p:cNvPr id="12" name="Text 10"/>
          <p:cNvSpPr txBox="1"/>
          <p:nvPr/>
        </p:nvSpPr>
        <p:spPr>
          <a:xfrm>
            <a:off x="349300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Under contract in 9 days</a:t>
            </a:r>
            <a:endParaRPr lang="en-US" sz="1100" dirty="0"/>
          </a:p>
        </p:txBody>
      </p:sp>
      <p:sp>
        <p:nvSpPr>
          <p:cNvPr id="13" name="Text 11"/>
          <p:cNvSpPr txBox="1"/>
          <p:nvPr/>
        </p:nvSpPr>
        <p:spPr>
          <a:xfrm>
            <a:off x="349300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pool home. Priced right, it sold fast.</a:t>
            </a:r>
            <a:endParaRPr lang="en-US" sz="1200" dirty="0"/>
          </a:p>
        </p:txBody>
      </p:sp>
      <p:sp>
        <p:nvSpPr>
          <p:cNvPr id="14" name="Shape 12"/>
          <p:cNvSpPr/>
          <p:nvPr/>
        </p:nvSpPr>
        <p:spPr>
          <a:xfrm>
            <a:off x="612648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5" name="Text 13"/>
          <p:cNvSpPr txBox="1"/>
          <p:nvPr/>
        </p:nvSpPr>
        <p:spPr>
          <a:xfrm>
            <a:off x="632764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394 Tansy Ln</a:t>
            </a:r>
            <a:endParaRPr lang="en-US" sz="1400" dirty="0"/>
          </a:p>
        </p:txBody>
      </p:sp>
      <p:sp>
        <p:nvSpPr>
          <p:cNvPr id="16" name="Text 14"/>
          <p:cNvSpPr txBox="1"/>
          <p:nvPr/>
        </p:nvSpPr>
        <p:spPr>
          <a:xfrm>
            <a:off x="632764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$565,000</a:t>
            </a:r>
            <a:endParaRPr lang="en-US" sz="2600" dirty="0"/>
          </a:p>
        </p:txBody>
      </p:sp>
      <p:sp>
        <p:nvSpPr>
          <p:cNvPr id="17" name="Text 15"/>
          <p:cNvSpPr txBox="1"/>
          <p:nvPr/>
        </p:nvSpPr>
        <p:spPr>
          <a:xfrm>
            <a:off x="632764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57 days</a:t>
            </a:r>
            <a:endParaRPr lang="en-US" sz="1100" dirty="0"/>
          </a:p>
        </p:txBody>
      </p:sp>
      <p:sp>
        <p:nvSpPr>
          <p:cNvPr id="18" name="Text 16"/>
          <p:cNvSpPr txBox="1"/>
          <p:nvPr/>
        </p:nvSpPr>
        <p:spPr>
          <a:xfrm>
            <a:off x="632764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Updated pool home. Priced above the market, and sitting.</a:t>
            </a:r>
            <a:endParaRPr lang="en-US" sz="1200" dirty="0"/>
          </a:p>
        </p:txBody>
      </p:sp>
      <p:sp>
        <p:nvSpPr>
          <p:cNvPr id="19" name="Text 17"/>
          <p:cNvSpPr txBox="1"/>
          <p:nvPr/>
        </p:nvSpPr>
        <p:spPr>
          <a:xfrm>
            <a:off x="457200" y="3977640"/>
            <a:ext cx="8229600" cy="5029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Well-priced renovated pool homes are moving. Overpriced ones sit.</a:t>
            </a:r>
            <a:endParaRPr lang="en-US" sz="1400" dirty="0"/>
          </a:p>
        </p:txBody>
      </p:sp>
      <p:sp>
        <p:nvSpPr>
          <p:cNvPr id="20" name="Text 1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Three Ways to Price It</a:t>
            </a:r>
            <a:endParaRPr lang="en-US" sz="2600" dirty="0"/>
          </a:p>
        </p:txBody>
      </p:sp>
      <p:sp>
        <p:nvSpPr>
          <p:cNvPr id="3" name="Shape 1"/>
          <p:cNvSpPr/>
          <p:nvPr/>
        </p:nvSpPr>
        <p:spPr>
          <a:xfrm>
            <a:off x="457200" y="1051560"/>
            <a:ext cx="2560320" cy="3017520"/>
          </a:xfrm>
          <a:prstGeom prst="roundRect">
            <a:avLst>
              <a:gd name="adj" fmla="val 2857"/>
            </a:avLst>
          </a:prstGeom>
          <a:solidFill>
            <a:srgbClr val="FBF2EE"/>
          </a:solidFill>
          <a:ln w="12700">
            <a:solidFill>
              <a:srgbClr val="FBF2EE"/>
            </a:solidFill>
            <a:prstDash val="solid"/>
          </a:ln>
        </p:spPr>
      </p:sp>
      <p:sp>
        <p:nvSpPr>
          <p:cNvPr id="4" name="Text 2"/>
          <p:cNvSpPr txBox="1"/>
          <p:nvPr/>
        </p:nvSpPr>
        <p:spPr>
          <a:xfrm>
            <a:off x="65836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$479,900</a:t>
            </a:r>
            <a:endParaRPr lang="en-US" sz="3000" dirty="0"/>
          </a:p>
        </p:txBody>
      </p:sp>
      <p:sp>
        <p:nvSpPr>
          <p:cNvPr id="5" name="Text 3"/>
          <p:cNvSpPr txBox="1"/>
          <p:nvPr/>
        </p:nvSpPr>
        <p:spPr>
          <a:xfrm>
            <a:off x="658368" y="2075688"/>
            <a:ext cx="1075809"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Time to Contract</a:t>
            </a:r>
            <a:endParaRPr lang="en-US" sz="1100" dirty="0"/>
          </a:p>
        </p:txBody>
      </p:sp>
      <p:sp>
        <p:nvSpPr>
          <p:cNvPr id="6" name="Text 4"/>
          <p:cNvSpPr txBox="1"/>
          <p:nvPr/>
        </p:nvSpPr>
        <p:spPr>
          <a:xfrm>
            <a:off x="1825617" y="2075688"/>
            <a:ext cx="990735"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2–4 months</a:t>
            </a:r>
            <a:endParaRPr lang="en-US" sz="1300" dirty="0"/>
          </a:p>
        </p:txBody>
      </p:sp>
      <p:sp>
        <p:nvSpPr>
          <p:cNvPr id="7" name="Text 5"/>
          <p:cNvSpPr txBox="1"/>
          <p:nvPr/>
        </p:nvSpPr>
        <p:spPr>
          <a:xfrm>
            <a:off x="658368" y="2459736"/>
            <a:ext cx="1313962"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Expected Sale</a:t>
            </a:r>
            <a:endParaRPr lang="en-US" sz="1100" dirty="0"/>
          </a:p>
        </p:txBody>
      </p:sp>
      <p:sp>
        <p:nvSpPr>
          <p:cNvPr id="8" name="Text 6"/>
          <p:cNvSpPr txBox="1"/>
          <p:nvPr/>
        </p:nvSpPr>
        <p:spPr>
          <a:xfrm>
            <a:off x="206377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$451,000</a:t>
            </a:r>
            <a:endParaRPr lang="en-US" sz="1300" dirty="0"/>
          </a:p>
        </p:txBody>
      </p:sp>
      <p:sp>
        <p:nvSpPr>
          <p:cNvPr id="9" name="Text 7"/>
          <p:cNvSpPr txBox="1"/>
          <p:nvPr/>
        </p:nvSpPr>
        <p:spPr>
          <a:xfrm>
            <a:off x="658368" y="2843784"/>
            <a:ext cx="1409430" cy="347472"/>
          </a:xfrm>
          <a:prstGeom prst="rect">
            <a:avLst/>
          </a:prstGeom>
          <a:noFill/>
          <a:ln/>
        </p:spPr>
        <p:txBody>
          <a:bodyPr wrap="square" lIns="0" tIns="0" rIns="0" bIns="0" rtlCol="0" anchor="ctr"/>
          <a:lstStyle/>
          <a:p>
            <a:pPr indent="0" marL="0">
              <a:buNone/>
            </a:pPr>
            <a:r>
              <a:rPr lang="en-US" sz="1050" dirty="0">
                <a:solidFill>
                  <a:srgbClr val="5E5E5E"/>
                </a:solidFill>
                <a:latin typeface="Arial" pitchFamily="34" charset="0"/>
                <a:ea typeface="Arial" pitchFamily="34" charset="-122"/>
                <a:cs typeface="Arial" pitchFamily="34" charset="-120"/>
              </a:rPr>
              <a:t>Seller Credit Assumed</a:t>
            </a:r>
            <a:endParaRPr lang="en-US" sz="1050" dirty="0"/>
          </a:p>
        </p:txBody>
      </p:sp>
      <p:sp>
        <p:nvSpPr>
          <p:cNvPr id="10" name="Text 8"/>
          <p:cNvSpPr txBox="1"/>
          <p:nvPr/>
        </p:nvSpPr>
        <p:spPr>
          <a:xfrm>
            <a:off x="215923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$10,000</a:t>
            </a:r>
            <a:endParaRPr lang="en-US" sz="1300" dirty="0"/>
          </a:p>
        </p:txBody>
      </p:sp>
      <p:sp>
        <p:nvSpPr>
          <p:cNvPr id="11" name="Text 9"/>
          <p:cNvSpPr txBox="1"/>
          <p:nvPr/>
        </p:nvSpPr>
        <p:spPr>
          <a:xfrm>
            <a:off x="658368" y="3291840"/>
            <a:ext cx="2157984" cy="68580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Tests the top of the range; likely needs a price cut before an offer</a:t>
            </a:r>
            <a:endParaRPr lang="en-US" sz="1100" dirty="0"/>
          </a:p>
        </p:txBody>
      </p:sp>
      <p:sp>
        <p:nvSpPr>
          <p:cNvPr id="12" name="Shape 10"/>
          <p:cNvSpPr/>
          <p:nvPr/>
        </p:nvSpPr>
        <p:spPr>
          <a:xfrm>
            <a:off x="3291840" y="1051560"/>
            <a:ext cx="2560320" cy="3017520"/>
          </a:xfrm>
          <a:prstGeom prst="roundRect">
            <a:avLst>
              <a:gd name="adj" fmla="val 2857"/>
            </a:avLst>
          </a:prstGeom>
          <a:solidFill>
            <a:srgbClr val="C2410C"/>
          </a:solidFill>
          <a:ln w="12700">
            <a:solidFill>
              <a:srgbClr val="C2410C"/>
            </a:solidFill>
            <a:prstDash val="solid"/>
          </a:ln>
        </p:spPr>
      </p:sp>
      <p:sp>
        <p:nvSpPr>
          <p:cNvPr id="13" name="Text 11"/>
          <p:cNvSpPr txBox="1"/>
          <p:nvPr/>
        </p:nvSpPr>
        <p:spPr>
          <a:xfrm>
            <a:off x="3493008" y="1188720"/>
            <a:ext cx="2157984" cy="228600"/>
          </a:xfrm>
          <a:prstGeom prst="rect">
            <a:avLst/>
          </a:prstGeom>
          <a:noFill/>
          <a:ln/>
        </p:spPr>
        <p:txBody>
          <a:bodyPr wrap="square" lIns="0" tIns="0" rIns="0" bIns="0" rtlCol="0" anchor="ctr"/>
          <a:lstStyle/>
          <a:p>
            <a:pPr indent="0" marL="0">
              <a:buNone/>
            </a:pPr>
            <a:r>
              <a:rPr lang="en-US" sz="1000" b="1" spc="200" kern="0" dirty="0">
                <a:solidFill>
                  <a:srgbClr val="FFFFFF"/>
                </a:solidFill>
                <a:latin typeface="Arial" pitchFamily="34" charset="0"/>
                <a:ea typeface="Arial" pitchFamily="34" charset="-122"/>
                <a:cs typeface="Arial" pitchFamily="34" charset="-120"/>
              </a:rPr>
              <a:t>RECOMMENDED</a:t>
            </a:r>
            <a:endParaRPr lang="en-US" sz="1000" dirty="0"/>
          </a:p>
        </p:txBody>
      </p:sp>
      <p:sp>
        <p:nvSpPr>
          <p:cNvPr id="14" name="Text 12"/>
          <p:cNvSpPr txBox="1"/>
          <p:nvPr/>
        </p:nvSpPr>
        <p:spPr>
          <a:xfrm>
            <a:off x="3493008" y="1435608"/>
            <a:ext cx="2157984"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$469,900</a:t>
            </a:r>
            <a:endParaRPr lang="en-US" sz="3000" dirty="0"/>
          </a:p>
        </p:txBody>
      </p:sp>
      <p:sp>
        <p:nvSpPr>
          <p:cNvPr id="15" name="Text 13"/>
          <p:cNvSpPr txBox="1"/>
          <p:nvPr/>
        </p:nvSpPr>
        <p:spPr>
          <a:xfrm>
            <a:off x="3493008" y="2075688"/>
            <a:ext cx="1180377"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Time to Contract</a:t>
            </a:r>
            <a:endParaRPr lang="en-US" sz="1100" dirty="0"/>
          </a:p>
        </p:txBody>
      </p:sp>
      <p:sp>
        <p:nvSpPr>
          <p:cNvPr id="16" name="Text 14"/>
          <p:cNvSpPr txBox="1"/>
          <p:nvPr/>
        </p:nvSpPr>
        <p:spPr>
          <a:xfrm>
            <a:off x="4764825" y="2075688"/>
            <a:ext cx="886167"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3–6 weeks</a:t>
            </a:r>
            <a:endParaRPr lang="en-US" sz="1300" dirty="0"/>
          </a:p>
        </p:txBody>
      </p:sp>
      <p:sp>
        <p:nvSpPr>
          <p:cNvPr id="17" name="Text 15"/>
          <p:cNvSpPr txBox="1"/>
          <p:nvPr/>
        </p:nvSpPr>
        <p:spPr>
          <a:xfrm>
            <a:off x="3493008" y="2459736"/>
            <a:ext cx="1313962"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Expected Sale</a:t>
            </a:r>
            <a:endParaRPr lang="en-US" sz="1100" dirty="0"/>
          </a:p>
        </p:txBody>
      </p:sp>
      <p:sp>
        <p:nvSpPr>
          <p:cNvPr id="18" name="Text 16"/>
          <p:cNvSpPr txBox="1"/>
          <p:nvPr/>
        </p:nvSpPr>
        <p:spPr>
          <a:xfrm>
            <a:off x="4898410" y="2459736"/>
            <a:ext cx="752582"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$451,000</a:t>
            </a:r>
            <a:endParaRPr lang="en-US" sz="1300" dirty="0"/>
          </a:p>
        </p:txBody>
      </p:sp>
      <p:sp>
        <p:nvSpPr>
          <p:cNvPr id="19" name="Text 17"/>
          <p:cNvSpPr txBox="1"/>
          <p:nvPr/>
        </p:nvSpPr>
        <p:spPr>
          <a:xfrm>
            <a:off x="3493008" y="2843784"/>
            <a:ext cx="1409430" cy="347472"/>
          </a:xfrm>
          <a:prstGeom prst="rect">
            <a:avLst/>
          </a:prstGeom>
          <a:noFill/>
          <a:ln/>
        </p:spPr>
        <p:txBody>
          <a:bodyPr wrap="squar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Seller Credit Assumed</a:t>
            </a:r>
            <a:endParaRPr lang="en-US" sz="1050" dirty="0"/>
          </a:p>
        </p:txBody>
      </p:sp>
      <p:sp>
        <p:nvSpPr>
          <p:cNvPr id="20" name="Text 18"/>
          <p:cNvSpPr txBox="1"/>
          <p:nvPr/>
        </p:nvSpPr>
        <p:spPr>
          <a:xfrm>
            <a:off x="4993878" y="2843784"/>
            <a:ext cx="657114"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$10,000</a:t>
            </a:r>
            <a:endParaRPr lang="en-US" sz="1300" dirty="0"/>
          </a:p>
        </p:txBody>
      </p:sp>
      <p:sp>
        <p:nvSpPr>
          <p:cNvPr id="21" name="Text 19"/>
          <p:cNvSpPr txBox="1"/>
          <p:nvPr/>
        </p:nvSpPr>
        <p:spPr>
          <a:xfrm>
            <a:off x="3493008" y="3291840"/>
            <a:ext cx="2157984" cy="6858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Priced at the middle of recent adjusted sales; room to negotiate</a:t>
            </a:r>
            <a:endParaRPr lang="en-US" sz="1100" dirty="0"/>
          </a:p>
        </p:txBody>
      </p:sp>
      <p:sp>
        <p:nvSpPr>
          <p:cNvPr id="22" name="Shape 20"/>
          <p:cNvSpPr/>
          <p:nvPr/>
        </p:nvSpPr>
        <p:spPr>
          <a:xfrm>
            <a:off x="6126480" y="1051560"/>
            <a:ext cx="2560320" cy="3017520"/>
          </a:xfrm>
          <a:prstGeom prst="roundRect">
            <a:avLst>
              <a:gd name="adj" fmla="val 2857"/>
            </a:avLst>
          </a:prstGeom>
          <a:solidFill>
            <a:srgbClr val="FBF2EE"/>
          </a:solidFill>
          <a:ln w="12700">
            <a:solidFill>
              <a:srgbClr val="FBF2EE"/>
            </a:solidFill>
            <a:prstDash val="solid"/>
          </a:ln>
        </p:spPr>
      </p:sp>
      <p:sp>
        <p:nvSpPr>
          <p:cNvPr id="23" name="Text 21"/>
          <p:cNvSpPr txBox="1"/>
          <p:nvPr/>
        </p:nvSpPr>
        <p:spPr>
          <a:xfrm>
            <a:off x="632764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$459,900</a:t>
            </a:r>
            <a:endParaRPr lang="en-US" sz="3000" dirty="0"/>
          </a:p>
        </p:txBody>
      </p:sp>
      <p:sp>
        <p:nvSpPr>
          <p:cNvPr id="24" name="Text 22"/>
          <p:cNvSpPr txBox="1"/>
          <p:nvPr/>
        </p:nvSpPr>
        <p:spPr>
          <a:xfrm>
            <a:off x="6327648" y="2075688"/>
            <a:ext cx="1180377"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Time to Contract</a:t>
            </a:r>
            <a:endParaRPr lang="en-US" sz="1100" dirty="0"/>
          </a:p>
        </p:txBody>
      </p:sp>
      <p:sp>
        <p:nvSpPr>
          <p:cNvPr id="25" name="Text 23"/>
          <p:cNvSpPr txBox="1"/>
          <p:nvPr/>
        </p:nvSpPr>
        <p:spPr>
          <a:xfrm>
            <a:off x="759946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1–3 weeks</a:t>
            </a:r>
            <a:endParaRPr lang="en-US" sz="1300" dirty="0"/>
          </a:p>
        </p:txBody>
      </p:sp>
      <p:sp>
        <p:nvSpPr>
          <p:cNvPr id="26" name="Text 24"/>
          <p:cNvSpPr txBox="1"/>
          <p:nvPr/>
        </p:nvSpPr>
        <p:spPr>
          <a:xfrm>
            <a:off x="6327648" y="2459736"/>
            <a:ext cx="1313962"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Expected Sale</a:t>
            </a:r>
            <a:endParaRPr lang="en-US" sz="1100" dirty="0"/>
          </a:p>
        </p:txBody>
      </p:sp>
      <p:sp>
        <p:nvSpPr>
          <p:cNvPr id="27" name="Text 25"/>
          <p:cNvSpPr txBox="1"/>
          <p:nvPr/>
        </p:nvSpPr>
        <p:spPr>
          <a:xfrm>
            <a:off x="773305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$436,500</a:t>
            </a:r>
            <a:endParaRPr lang="en-US" sz="1300" dirty="0"/>
          </a:p>
        </p:txBody>
      </p:sp>
      <p:sp>
        <p:nvSpPr>
          <p:cNvPr id="28" name="Text 26"/>
          <p:cNvSpPr txBox="1"/>
          <p:nvPr/>
        </p:nvSpPr>
        <p:spPr>
          <a:xfrm>
            <a:off x="6327648" y="2843784"/>
            <a:ext cx="1504897"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Seller Credit Assumed</a:t>
            </a:r>
            <a:endParaRPr lang="en-US" sz="1100" dirty="0"/>
          </a:p>
        </p:txBody>
      </p:sp>
      <p:sp>
        <p:nvSpPr>
          <p:cNvPr id="29" name="Text 27"/>
          <p:cNvSpPr txBox="1"/>
          <p:nvPr/>
        </p:nvSpPr>
        <p:spPr>
          <a:xfrm>
            <a:off x="7923985" y="2843784"/>
            <a:ext cx="56164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$5,000</a:t>
            </a:r>
            <a:endParaRPr lang="en-US" sz="1300" dirty="0"/>
          </a:p>
        </p:txBody>
      </p:sp>
      <p:sp>
        <p:nvSpPr>
          <p:cNvPr id="30" name="Text 28"/>
          <p:cNvSpPr txBox="1"/>
          <p:nvPr/>
        </p:nvSpPr>
        <p:spPr>
          <a:xfrm>
            <a:off x="6327648" y="3291840"/>
            <a:ext cx="2157984" cy="68580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Aims for competing offers; depends on them materializing</a:t>
            </a:r>
            <a:endParaRPr lang="en-US" sz="1100" dirty="0"/>
          </a:p>
        </p:txBody>
      </p:sp>
      <p:sp>
        <p:nvSpPr>
          <p:cNvPr id="31" name="Text 29"/>
          <p:cNvSpPr txBox="1"/>
          <p:nvPr/>
        </p:nvSpPr>
        <p:spPr>
          <a:xfrm>
            <a:off x="457200" y="4206240"/>
            <a:ext cx="8229600" cy="36576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400" dirty="0"/>
          </a:p>
        </p:txBody>
      </p:sp>
      <p:sp>
        <p:nvSpPr>
          <p:cNvPr id="32" name="Text 30"/>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3" name="Text 31"/>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You Walk Away With</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Net after holding costs, before mortgage payoff</a:t>
            </a:r>
            <a:endParaRPr lang="en-US" sz="1300" dirty="0"/>
          </a:p>
        </p:txBody>
      </p:sp>
      <p:graphicFrame>
        <p:nvGraphicFramePr>
          <p:cNvPr id="4" name="Chart 0" descr=""/>
          <p:cNvGraphicFramePr/>
          <p:nvPr/>
        </p:nvGraphicFramePr>
        <p:xfrm>
          <a:off x="457200" y="1234440"/>
          <a:ext cx="5120640" cy="3200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943600" y="1325880"/>
            <a:ext cx="2743200" cy="2926080"/>
          </a:xfrm>
          <a:prstGeom prst="roundRect">
            <a:avLst>
              <a:gd name="adj" fmla="val 2667"/>
            </a:avLst>
          </a:prstGeom>
          <a:solidFill>
            <a:srgbClr val="FBF2EE"/>
          </a:solidFill>
          <a:ln w="12700">
            <a:solidFill>
              <a:srgbClr val="FBF2EE"/>
            </a:solidFill>
            <a:prstDash val="solid"/>
          </a:ln>
        </p:spPr>
      </p:sp>
      <p:sp>
        <p:nvSpPr>
          <p:cNvPr id="6" name="Text 3"/>
          <p:cNvSpPr txBox="1"/>
          <p:nvPr/>
        </p:nvSpPr>
        <p:spPr>
          <a:xfrm>
            <a:off x="6172200" y="1508760"/>
            <a:ext cx="2286000" cy="548640"/>
          </a:xfrm>
          <a:prstGeom prst="rect">
            <a:avLst/>
          </a:prstGeom>
          <a:noFill/>
          <a:ln/>
        </p:spPr>
        <p:txBody>
          <a:bodyPr wrap="square" lIns="0" tIns="0" rIns="0" bIns="0" rtlCol="0" anchor="ctr"/>
          <a:lstStyle/>
          <a:p>
            <a:pPr indent="0" marL="0">
              <a:buNone/>
            </a:pPr>
            <a:r>
              <a:rPr lang="en-US" sz="3200" b="1" dirty="0">
                <a:solidFill>
                  <a:srgbClr val="C2410C"/>
                </a:solidFill>
                <a:latin typeface="Arial" pitchFamily="34" charset="0"/>
                <a:ea typeface="Arial" pitchFamily="34" charset="-122"/>
                <a:cs typeface="Arial" pitchFamily="34" charset="-120"/>
              </a:rPr>
              <a:t>$8,300</a:t>
            </a:r>
            <a:endParaRPr lang="en-US" sz="3200" dirty="0"/>
          </a:p>
        </p:txBody>
      </p:sp>
      <p:sp>
        <p:nvSpPr>
          <p:cNvPr id="7" name="Text 4"/>
          <p:cNvSpPr txBox="1"/>
          <p:nvPr/>
        </p:nvSpPr>
        <p:spPr>
          <a:xfrm>
            <a:off x="6172200" y="2057400"/>
            <a:ext cx="2286000" cy="457200"/>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Difference Between the Highest and Lowest Net</a:t>
            </a:r>
            <a:endParaRPr lang="en-US" sz="1100" dirty="0"/>
          </a:p>
        </p:txBody>
      </p:sp>
      <p:sp>
        <p:nvSpPr>
          <p:cNvPr id="8" name="Text 5"/>
          <p:cNvSpPr txBox="1"/>
          <p:nvPr/>
        </p:nvSpPr>
        <p:spPr>
          <a:xfrm>
            <a:off x="6172200" y="2651760"/>
            <a:ext cx="2286000" cy="146304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300" dirty="0"/>
          </a:p>
        </p:txBody>
      </p:sp>
      <p:sp>
        <p:nvSpPr>
          <p:cNvPr id="9" name="Text 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0" name="Text 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Buyers See Your Price</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Estimated monthly payment, conventional loan with 5% down</a:t>
            </a:r>
            <a:endParaRPr lang="en-US" sz="1300" dirty="0"/>
          </a:p>
        </p:txBody>
      </p:sp>
      <p:sp>
        <p:nvSpPr>
          <p:cNvPr id="4" name="Shape 2"/>
          <p:cNvSpPr/>
          <p:nvPr/>
        </p:nvSpPr>
        <p:spPr>
          <a:xfrm>
            <a:off x="457200" y="1325880"/>
            <a:ext cx="2560320" cy="1737360"/>
          </a:xfrm>
          <a:prstGeom prst="roundRect">
            <a:avLst>
              <a:gd name="adj" fmla="val 4211"/>
            </a:avLst>
          </a:prstGeom>
          <a:solidFill>
            <a:srgbClr val="FFFFFF"/>
          </a:solidFill>
          <a:ln w="12700">
            <a:solidFill>
              <a:srgbClr val="F8E8E2"/>
            </a:solidFill>
            <a:prstDash val="solid"/>
          </a:ln>
        </p:spPr>
      </p:sp>
      <p:sp>
        <p:nvSpPr>
          <p:cNvPr id="5" name="Text 3"/>
          <p:cNvSpPr txBox="1"/>
          <p:nvPr/>
        </p:nvSpPr>
        <p:spPr>
          <a:xfrm>
            <a:off x="65836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$479,900</a:t>
            </a:r>
            <a:endParaRPr lang="en-US" sz="1300" dirty="0"/>
          </a:p>
        </p:txBody>
      </p:sp>
      <p:sp>
        <p:nvSpPr>
          <p:cNvPr id="6" name="Text 4"/>
          <p:cNvSpPr txBox="1"/>
          <p:nvPr/>
        </p:nvSpPr>
        <p:spPr>
          <a:xfrm>
            <a:off x="65836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$4,169/mo</a:t>
            </a:r>
            <a:endParaRPr lang="en-US" sz="2800" dirty="0"/>
          </a:p>
        </p:txBody>
      </p:sp>
      <p:sp>
        <p:nvSpPr>
          <p:cNvPr id="7" name="Text 5"/>
          <p:cNvSpPr txBox="1"/>
          <p:nvPr/>
        </p:nvSpPr>
        <p:spPr>
          <a:xfrm>
            <a:off x="65836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$23,995 down (5%)</a:t>
            </a:r>
            <a:endParaRPr lang="en-US" sz="1100" dirty="0"/>
          </a:p>
        </p:txBody>
      </p:sp>
      <p:sp>
        <p:nvSpPr>
          <p:cNvPr id="8" name="Shape 6"/>
          <p:cNvSpPr/>
          <p:nvPr/>
        </p:nvSpPr>
        <p:spPr>
          <a:xfrm>
            <a:off x="3291840" y="1325880"/>
            <a:ext cx="2560320" cy="1737360"/>
          </a:xfrm>
          <a:prstGeom prst="roundRect">
            <a:avLst>
              <a:gd name="adj" fmla="val 4211"/>
            </a:avLst>
          </a:prstGeom>
          <a:solidFill>
            <a:srgbClr val="FBF2EE"/>
          </a:solidFill>
          <a:ln w="19050">
            <a:solidFill>
              <a:srgbClr val="C2410C"/>
            </a:solidFill>
            <a:prstDash val="solid"/>
          </a:ln>
        </p:spPr>
      </p:sp>
      <p:sp>
        <p:nvSpPr>
          <p:cNvPr id="9" name="Text 7"/>
          <p:cNvSpPr txBox="1"/>
          <p:nvPr/>
        </p:nvSpPr>
        <p:spPr>
          <a:xfrm>
            <a:off x="349300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$469,900</a:t>
            </a:r>
            <a:endParaRPr lang="en-US" sz="1300" dirty="0"/>
          </a:p>
        </p:txBody>
      </p:sp>
      <p:sp>
        <p:nvSpPr>
          <p:cNvPr id="10" name="Text 8"/>
          <p:cNvSpPr txBox="1"/>
          <p:nvPr/>
        </p:nvSpPr>
        <p:spPr>
          <a:xfrm>
            <a:off x="349300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$4,087/mo</a:t>
            </a:r>
            <a:endParaRPr lang="en-US" sz="2800" dirty="0"/>
          </a:p>
        </p:txBody>
      </p:sp>
      <p:sp>
        <p:nvSpPr>
          <p:cNvPr id="11" name="Text 9"/>
          <p:cNvSpPr txBox="1"/>
          <p:nvPr/>
        </p:nvSpPr>
        <p:spPr>
          <a:xfrm>
            <a:off x="349300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$23,495 down (5%)</a:t>
            </a:r>
            <a:endParaRPr lang="en-US" sz="1100" dirty="0"/>
          </a:p>
        </p:txBody>
      </p:sp>
      <p:sp>
        <p:nvSpPr>
          <p:cNvPr id="12" name="Shape 10"/>
          <p:cNvSpPr/>
          <p:nvPr/>
        </p:nvSpPr>
        <p:spPr>
          <a:xfrm>
            <a:off x="6126480" y="1325880"/>
            <a:ext cx="2560320" cy="1737360"/>
          </a:xfrm>
          <a:prstGeom prst="roundRect">
            <a:avLst>
              <a:gd name="adj" fmla="val 4211"/>
            </a:avLst>
          </a:prstGeom>
          <a:solidFill>
            <a:srgbClr val="FFFFFF"/>
          </a:solidFill>
          <a:ln w="12700">
            <a:solidFill>
              <a:srgbClr val="F8E8E2"/>
            </a:solidFill>
            <a:prstDash val="solid"/>
          </a:ln>
        </p:spPr>
      </p:sp>
      <p:sp>
        <p:nvSpPr>
          <p:cNvPr id="13" name="Text 11"/>
          <p:cNvSpPr txBox="1"/>
          <p:nvPr/>
        </p:nvSpPr>
        <p:spPr>
          <a:xfrm>
            <a:off x="632764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$459,900</a:t>
            </a:r>
            <a:endParaRPr lang="en-US" sz="1300" dirty="0"/>
          </a:p>
        </p:txBody>
      </p:sp>
      <p:sp>
        <p:nvSpPr>
          <p:cNvPr id="14" name="Text 12"/>
          <p:cNvSpPr txBox="1"/>
          <p:nvPr/>
        </p:nvSpPr>
        <p:spPr>
          <a:xfrm>
            <a:off x="632764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$4,005/mo</a:t>
            </a:r>
            <a:endParaRPr lang="en-US" sz="2800" dirty="0"/>
          </a:p>
        </p:txBody>
      </p:sp>
      <p:sp>
        <p:nvSpPr>
          <p:cNvPr id="15" name="Text 13"/>
          <p:cNvSpPr txBox="1"/>
          <p:nvPr/>
        </p:nvSpPr>
        <p:spPr>
          <a:xfrm>
            <a:off x="632764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$22,995 down (5%)</a:t>
            </a:r>
            <a:endParaRPr lang="en-US" sz="1100" dirty="0"/>
          </a:p>
        </p:txBody>
      </p:sp>
      <p:sp>
        <p:nvSpPr>
          <p:cNvPr id="16" name="Shape 14"/>
          <p:cNvSpPr/>
          <p:nvPr/>
        </p:nvSpPr>
        <p:spPr>
          <a:xfrm>
            <a:off x="457200" y="3429000"/>
            <a:ext cx="502920" cy="502920"/>
          </a:xfrm>
          <a:prstGeom prst="ellipse">
            <a:avLst/>
          </a:prstGeom>
          <a:solidFill>
            <a:srgbClr val="C2410C"/>
          </a:solidFill>
          <a:ln w="12700">
            <a:solidFill>
              <a:srgbClr val="C2410C"/>
            </a:solidFill>
            <a:prstDash val="solid"/>
          </a:ln>
        </p:spPr>
      </p:sp>
      <p:pic>
        <p:nvPicPr>
          <p:cNvPr id="17" name="Image 0" descr="preencoded.png">    </p:cNvPr>
          <p:cNvPicPr>
            <a:picLocks noChangeAspect="1"/>
          </p:cNvPicPr>
          <p:nvPr/>
        </p:nvPicPr>
        <p:blipFill>
          <a:blip r:embed="rId1"/>
          <a:stretch>
            <a:fillRect/>
          </a:stretch>
        </p:blipFill>
        <p:spPr>
          <a:xfrm>
            <a:off x="577901" y="3549701"/>
            <a:ext cx="261518" cy="261518"/>
          </a:xfrm>
          <a:prstGeom prst="rect">
            <a:avLst/>
          </a:prstGeom>
        </p:spPr>
      </p:pic>
      <p:sp>
        <p:nvSpPr>
          <p:cNvPr id="18" name="Text 15"/>
          <p:cNvSpPr txBox="1"/>
          <p:nvPr/>
        </p:nvSpPr>
        <p:spPr>
          <a:xfrm>
            <a:off x="1143000" y="3383280"/>
            <a:ext cx="7543800" cy="59436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Buyers shop by payment. Every $10,000 is about $80 a month to them.</a:t>
            </a:r>
            <a:endParaRPr lang="en-US" sz="1500" dirty="0"/>
          </a:p>
        </p:txBody>
      </p:sp>
      <p:sp>
        <p:nvSpPr>
          <p:cNvPr id="19" name="Text 1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0" name="Text 1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Launch Plan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Before we go live</a:t>
            </a:r>
            <a:endParaRPr lang="en-US" sz="1300" dirty="0"/>
          </a:p>
        </p:txBody>
      </p:sp>
      <p:sp>
        <p:nvSpPr>
          <p:cNvPr id="4" name="Shape 2"/>
          <p:cNvSpPr/>
          <p:nvPr/>
        </p:nvSpPr>
        <p:spPr>
          <a:xfrm>
            <a:off x="457200" y="1325880"/>
            <a:ext cx="2560320" cy="1280160"/>
          </a:xfrm>
          <a:prstGeom prst="roundRect">
            <a:avLst>
              <a:gd name="adj" fmla="val 5714"/>
            </a:avLst>
          </a:prstGeom>
          <a:solidFill>
            <a:srgbClr val="FBF2EE"/>
          </a:solidFill>
          <a:ln w="12700">
            <a:solidFill>
              <a:srgbClr val="FBF2EE"/>
            </a:solidFill>
            <a:prstDash val="solid"/>
          </a:ln>
        </p:spPr>
      </p:sp>
      <p:sp>
        <p:nvSpPr>
          <p:cNvPr id="5" name="Shape 3"/>
          <p:cNvSpPr/>
          <p:nvPr/>
        </p:nvSpPr>
        <p:spPr>
          <a:xfrm>
            <a:off x="621792"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20547" y="1607515"/>
            <a:ext cx="213970" cy="213970"/>
          </a:xfrm>
          <a:prstGeom prst="rect">
            <a:avLst/>
          </a:prstGeom>
        </p:spPr>
      </p:pic>
      <p:sp>
        <p:nvSpPr>
          <p:cNvPr id="7" name="Text 4"/>
          <p:cNvSpPr txBox="1"/>
          <p:nvPr/>
        </p:nvSpPr>
        <p:spPr>
          <a:xfrm>
            <a:off x="114300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Document the Roof</a:t>
            </a:r>
            <a:endParaRPr lang="en-US" sz="1300" dirty="0"/>
          </a:p>
        </p:txBody>
      </p:sp>
      <p:sp>
        <p:nvSpPr>
          <p:cNvPr id="8" name="Text 5"/>
          <p:cNvSpPr txBox="1"/>
          <p:nvPr/>
        </p:nvSpPr>
        <p:spPr>
          <a:xfrm>
            <a:off x="64008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Permit and date, ready to share</a:t>
            </a:r>
            <a:endParaRPr lang="en-US" sz="1100" dirty="0"/>
          </a:p>
        </p:txBody>
      </p:sp>
      <p:sp>
        <p:nvSpPr>
          <p:cNvPr id="9" name="Shape 6"/>
          <p:cNvSpPr/>
          <p:nvPr/>
        </p:nvSpPr>
        <p:spPr>
          <a:xfrm>
            <a:off x="3291840" y="1325880"/>
            <a:ext cx="2560320" cy="1280160"/>
          </a:xfrm>
          <a:prstGeom prst="roundRect">
            <a:avLst>
              <a:gd name="adj" fmla="val 5714"/>
            </a:avLst>
          </a:prstGeom>
          <a:solidFill>
            <a:srgbClr val="FBF2EE"/>
          </a:solidFill>
          <a:ln w="12700">
            <a:solidFill>
              <a:srgbClr val="FBF2EE"/>
            </a:solidFill>
            <a:prstDash val="solid"/>
          </a:ln>
        </p:spPr>
      </p:sp>
      <p:sp>
        <p:nvSpPr>
          <p:cNvPr id="10" name="Shape 7"/>
          <p:cNvSpPr/>
          <p:nvPr/>
        </p:nvSpPr>
        <p:spPr>
          <a:xfrm>
            <a:off x="3456432" y="1508760"/>
            <a:ext cx="411480" cy="411480"/>
          </a:xfrm>
          <a:prstGeom prst="ellipse">
            <a:avLst/>
          </a:prstGeom>
          <a:solidFill>
            <a:srgbClr val="C2410C"/>
          </a:solidFill>
          <a:ln w="12700">
            <a:solidFill>
              <a:srgbClr val="C2410C"/>
            </a:solidFill>
            <a:prstDash val="solid"/>
          </a:ln>
        </p:spPr>
      </p:sp>
      <p:pic>
        <p:nvPicPr>
          <p:cNvPr id="11" name="Image 1" descr="preencoded.png">    </p:cNvPr>
          <p:cNvPicPr>
            <a:picLocks noChangeAspect="1"/>
          </p:cNvPicPr>
          <p:nvPr/>
        </p:nvPicPr>
        <p:blipFill>
          <a:blip r:embed="rId2"/>
          <a:stretch>
            <a:fillRect/>
          </a:stretch>
        </p:blipFill>
        <p:spPr>
          <a:xfrm>
            <a:off x="3555187" y="1607515"/>
            <a:ext cx="213970" cy="213970"/>
          </a:xfrm>
          <a:prstGeom prst="rect">
            <a:avLst/>
          </a:prstGeom>
        </p:spPr>
      </p:pic>
      <p:sp>
        <p:nvSpPr>
          <p:cNvPr id="12" name="Text 8"/>
          <p:cNvSpPr txBox="1"/>
          <p:nvPr/>
        </p:nvSpPr>
        <p:spPr>
          <a:xfrm>
            <a:off x="3977640" y="1481328"/>
            <a:ext cx="1737360" cy="457200"/>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Pre-Listing Inspection</a:t>
            </a:r>
            <a:endParaRPr lang="en-US" sz="1250" dirty="0"/>
          </a:p>
        </p:txBody>
      </p:sp>
      <p:sp>
        <p:nvSpPr>
          <p:cNvPr id="13" name="Text 9"/>
          <p:cNvSpPr txBox="1"/>
          <p:nvPr/>
        </p:nvSpPr>
        <p:spPr>
          <a:xfrm>
            <a:off x="347472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Plus 4-point and wind-mitigation reports</a:t>
            </a:r>
            <a:endParaRPr lang="en-US" sz="1100" dirty="0"/>
          </a:p>
        </p:txBody>
      </p:sp>
      <p:sp>
        <p:nvSpPr>
          <p:cNvPr id="14" name="Shape 10"/>
          <p:cNvSpPr/>
          <p:nvPr/>
        </p:nvSpPr>
        <p:spPr>
          <a:xfrm>
            <a:off x="6126480" y="1325880"/>
            <a:ext cx="2560320" cy="1280160"/>
          </a:xfrm>
          <a:prstGeom prst="roundRect">
            <a:avLst>
              <a:gd name="adj" fmla="val 5714"/>
            </a:avLst>
          </a:prstGeom>
          <a:solidFill>
            <a:srgbClr val="FBF2EE"/>
          </a:solidFill>
          <a:ln w="12700">
            <a:solidFill>
              <a:srgbClr val="FBF2EE"/>
            </a:solidFill>
            <a:prstDash val="solid"/>
          </a:ln>
        </p:spPr>
      </p:sp>
      <p:sp>
        <p:nvSpPr>
          <p:cNvPr id="15" name="Shape 11"/>
          <p:cNvSpPr/>
          <p:nvPr/>
        </p:nvSpPr>
        <p:spPr>
          <a:xfrm>
            <a:off x="6291072" y="1508760"/>
            <a:ext cx="411480" cy="411480"/>
          </a:xfrm>
          <a:prstGeom prst="ellipse">
            <a:avLst/>
          </a:prstGeom>
          <a:solidFill>
            <a:srgbClr val="C2410C"/>
          </a:solidFill>
          <a:ln w="12700">
            <a:solidFill>
              <a:srgbClr val="C2410C"/>
            </a:solidFill>
            <a:prstDash val="solid"/>
          </a:ln>
        </p:spPr>
      </p:sp>
      <p:pic>
        <p:nvPicPr>
          <p:cNvPr id="16" name="Image 2" descr="preencoded.png">    </p:cNvPr>
          <p:cNvPicPr>
            <a:picLocks noChangeAspect="1"/>
          </p:cNvPicPr>
          <p:nvPr/>
        </p:nvPicPr>
        <p:blipFill>
          <a:blip r:embed="rId3"/>
          <a:stretch>
            <a:fillRect/>
          </a:stretch>
        </p:blipFill>
        <p:spPr>
          <a:xfrm>
            <a:off x="6389827" y="1607515"/>
            <a:ext cx="213970" cy="213970"/>
          </a:xfrm>
          <a:prstGeom prst="rect">
            <a:avLst/>
          </a:prstGeom>
        </p:spPr>
      </p:pic>
      <p:sp>
        <p:nvSpPr>
          <p:cNvPr id="17" name="Text 12"/>
          <p:cNvSpPr txBox="1"/>
          <p:nvPr/>
        </p:nvSpPr>
        <p:spPr>
          <a:xfrm>
            <a:off x="681228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Gather Permits</a:t>
            </a:r>
            <a:endParaRPr lang="en-US" sz="1300" dirty="0"/>
          </a:p>
        </p:txBody>
      </p:sp>
      <p:sp>
        <p:nvSpPr>
          <p:cNvPr id="18" name="Text 13"/>
          <p:cNvSpPr txBox="1"/>
          <p:nvPr/>
        </p:nvSpPr>
        <p:spPr>
          <a:xfrm>
            <a:off x="630936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Kitchen, baths, electrical, plumbing</a:t>
            </a:r>
            <a:endParaRPr lang="en-US" sz="1100" dirty="0"/>
          </a:p>
        </p:txBody>
      </p:sp>
      <p:sp>
        <p:nvSpPr>
          <p:cNvPr id="19" name="Shape 14"/>
          <p:cNvSpPr/>
          <p:nvPr/>
        </p:nvSpPr>
        <p:spPr>
          <a:xfrm>
            <a:off x="457200" y="2834640"/>
            <a:ext cx="2560320" cy="1280160"/>
          </a:xfrm>
          <a:prstGeom prst="roundRect">
            <a:avLst>
              <a:gd name="adj" fmla="val 5714"/>
            </a:avLst>
          </a:prstGeom>
          <a:solidFill>
            <a:srgbClr val="FBF2EE"/>
          </a:solidFill>
          <a:ln w="12700">
            <a:solidFill>
              <a:srgbClr val="FBF2EE"/>
            </a:solidFill>
            <a:prstDash val="solid"/>
          </a:ln>
        </p:spPr>
      </p:sp>
      <p:sp>
        <p:nvSpPr>
          <p:cNvPr id="20" name="Shape 15"/>
          <p:cNvSpPr/>
          <p:nvPr/>
        </p:nvSpPr>
        <p:spPr>
          <a:xfrm>
            <a:off x="621792" y="3017520"/>
            <a:ext cx="411480" cy="411480"/>
          </a:xfrm>
          <a:prstGeom prst="ellipse">
            <a:avLst/>
          </a:prstGeom>
          <a:solidFill>
            <a:srgbClr val="C2410C"/>
          </a:solidFill>
          <a:ln w="12700">
            <a:solidFill>
              <a:srgbClr val="C2410C"/>
            </a:solidFill>
            <a:prstDash val="solid"/>
          </a:ln>
        </p:spPr>
      </p:sp>
      <p:pic>
        <p:nvPicPr>
          <p:cNvPr id="21" name="Image 3" descr="preencoded.png">    </p:cNvPr>
          <p:cNvPicPr>
            <a:picLocks noChangeAspect="1"/>
          </p:cNvPicPr>
          <p:nvPr/>
        </p:nvPicPr>
        <p:blipFill>
          <a:blip r:embed="rId4"/>
          <a:stretch>
            <a:fillRect/>
          </a:stretch>
        </p:blipFill>
        <p:spPr>
          <a:xfrm>
            <a:off x="720547" y="3116275"/>
            <a:ext cx="213970" cy="213970"/>
          </a:xfrm>
          <a:prstGeom prst="rect">
            <a:avLst/>
          </a:prstGeom>
        </p:spPr>
      </p:pic>
      <p:sp>
        <p:nvSpPr>
          <p:cNvPr id="22" name="Text 16"/>
          <p:cNvSpPr txBox="1"/>
          <p:nvPr/>
        </p:nvSpPr>
        <p:spPr>
          <a:xfrm>
            <a:off x="114300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Seller-Credit Budget</a:t>
            </a:r>
            <a:endParaRPr lang="en-US" sz="1300" dirty="0"/>
          </a:p>
        </p:txBody>
      </p:sp>
      <p:sp>
        <p:nvSpPr>
          <p:cNvPr id="23" name="Text 17"/>
          <p:cNvSpPr txBox="1"/>
          <p:nvPr/>
        </p:nvSpPr>
        <p:spPr>
          <a:xfrm>
            <a:off x="64008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Decide it now, before offers arrive</a:t>
            </a:r>
            <a:endParaRPr lang="en-US" sz="1100" dirty="0"/>
          </a:p>
        </p:txBody>
      </p:sp>
      <p:sp>
        <p:nvSpPr>
          <p:cNvPr id="24" name="Shape 18"/>
          <p:cNvSpPr/>
          <p:nvPr/>
        </p:nvSpPr>
        <p:spPr>
          <a:xfrm>
            <a:off x="3291840" y="2834640"/>
            <a:ext cx="2560320" cy="1280160"/>
          </a:xfrm>
          <a:prstGeom prst="roundRect">
            <a:avLst>
              <a:gd name="adj" fmla="val 5714"/>
            </a:avLst>
          </a:prstGeom>
          <a:solidFill>
            <a:srgbClr val="FBF2EE"/>
          </a:solidFill>
          <a:ln w="12700">
            <a:solidFill>
              <a:srgbClr val="FBF2EE"/>
            </a:solidFill>
            <a:prstDash val="solid"/>
          </a:ln>
        </p:spPr>
      </p:sp>
      <p:sp>
        <p:nvSpPr>
          <p:cNvPr id="25" name="Shape 19"/>
          <p:cNvSpPr/>
          <p:nvPr/>
        </p:nvSpPr>
        <p:spPr>
          <a:xfrm>
            <a:off x="3456432" y="3017520"/>
            <a:ext cx="411480" cy="411480"/>
          </a:xfrm>
          <a:prstGeom prst="ellipse">
            <a:avLst/>
          </a:prstGeom>
          <a:solidFill>
            <a:srgbClr val="C2410C"/>
          </a:solidFill>
          <a:ln w="12700">
            <a:solidFill>
              <a:srgbClr val="C2410C"/>
            </a:solidFill>
            <a:prstDash val="solid"/>
          </a:ln>
        </p:spPr>
      </p:sp>
      <p:pic>
        <p:nvPicPr>
          <p:cNvPr id="26" name="Image 4" descr="preencoded.png">    </p:cNvPr>
          <p:cNvPicPr>
            <a:picLocks noChangeAspect="1"/>
          </p:cNvPicPr>
          <p:nvPr/>
        </p:nvPicPr>
        <p:blipFill>
          <a:blip r:embed="rId5"/>
          <a:stretch>
            <a:fillRect/>
          </a:stretch>
        </p:blipFill>
        <p:spPr>
          <a:xfrm>
            <a:off x="3555187" y="3116275"/>
            <a:ext cx="213970" cy="213970"/>
          </a:xfrm>
          <a:prstGeom prst="rect">
            <a:avLst/>
          </a:prstGeom>
        </p:spPr>
      </p:pic>
      <p:sp>
        <p:nvSpPr>
          <p:cNvPr id="27" name="Text 20"/>
          <p:cNvSpPr txBox="1"/>
          <p:nvPr/>
        </p:nvSpPr>
        <p:spPr>
          <a:xfrm>
            <a:off x="397764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3-Week Review</a:t>
            </a:r>
            <a:endParaRPr lang="en-US" sz="1300" dirty="0"/>
          </a:p>
        </p:txBody>
      </p:sp>
      <p:sp>
        <p:nvSpPr>
          <p:cNvPr id="28" name="Text 21"/>
          <p:cNvSpPr txBox="1"/>
          <p:nvPr/>
        </p:nvSpPr>
        <p:spPr>
          <a:xfrm>
            <a:off x="347472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Steady showings but no offer? Revisit the price</a:t>
            </a:r>
            <a:endParaRPr lang="en-US" sz="1100" dirty="0"/>
          </a:p>
        </p:txBody>
      </p:sp>
      <p:sp>
        <p:nvSpPr>
          <p:cNvPr id="29" name="Text 2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0" name="Text 2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B2400"/>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Next Steps</a:t>
            </a:r>
            <a:endParaRPr lang="en-US" sz="2600" dirty="0"/>
          </a:p>
        </p:txBody>
      </p:sp>
      <p:sp>
        <p:nvSpPr>
          <p:cNvPr id="3" name="Text 1"/>
          <p:cNvSpPr txBox="1"/>
          <p:nvPr/>
        </p:nvSpPr>
        <p:spPr>
          <a:xfrm>
            <a:off x="457200" y="1051560"/>
            <a:ext cx="393192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What We Need from You</a:t>
            </a:r>
            <a:endParaRPr lang="en-US" sz="1500" dirty="0"/>
          </a:p>
        </p:txBody>
      </p:sp>
      <p:sp>
        <p:nvSpPr>
          <p:cNvPr id="4" name="Text 2"/>
          <p:cNvSpPr txBox="1"/>
          <p:nvPr/>
        </p:nvSpPr>
        <p:spPr>
          <a:xfrm>
            <a:off x="457200" y="1463040"/>
            <a:ext cx="3931920" cy="28346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Roof permit and date, plus any 4-point or wind-mitigation report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Ages of AC, water heater, and pool equipment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Renovation permits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Anything known about leaks, claims, or repairs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Your estimated mortgage payoff and target closing date</a:t>
            </a:r>
            <a:endParaRPr lang="en-US" sz="1250" dirty="0"/>
          </a:p>
        </p:txBody>
      </p:sp>
      <p:sp>
        <p:nvSpPr>
          <p:cNvPr id="5" name="Text 3"/>
          <p:cNvSpPr txBox="1"/>
          <p:nvPr/>
        </p:nvSpPr>
        <p:spPr>
          <a:xfrm>
            <a:off x="4937760" y="1051560"/>
            <a:ext cx="374904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Timeline to Go Live</a:t>
            </a:r>
            <a:endParaRPr lang="en-US" sz="1500" dirty="0"/>
          </a:p>
        </p:txBody>
      </p:sp>
      <p:sp>
        <p:nvSpPr>
          <p:cNvPr id="6" name="Shape 4"/>
          <p:cNvSpPr/>
          <p:nvPr/>
        </p:nvSpPr>
        <p:spPr>
          <a:xfrm>
            <a:off x="4937760" y="1508760"/>
            <a:ext cx="384048" cy="384048"/>
          </a:xfrm>
          <a:prstGeom prst="ellipse">
            <a:avLst/>
          </a:prstGeom>
          <a:solidFill>
            <a:srgbClr val="F8E8E2"/>
          </a:solidFill>
          <a:ln w="12700">
            <a:solidFill>
              <a:srgbClr val="F8E8E2"/>
            </a:solidFill>
            <a:prstDash val="solid"/>
          </a:ln>
        </p:spPr>
      </p:sp>
      <p:sp>
        <p:nvSpPr>
          <p:cNvPr id="7" name="Text 5"/>
          <p:cNvSpPr txBox="1"/>
          <p:nvPr/>
        </p:nvSpPr>
        <p:spPr>
          <a:xfrm>
            <a:off x="4937760" y="15087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1</a:t>
            </a:r>
            <a:endParaRPr lang="en-US" sz="1300" dirty="0"/>
          </a:p>
        </p:txBody>
      </p:sp>
      <p:sp>
        <p:nvSpPr>
          <p:cNvPr id="8" name="Text 6"/>
          <p:cNvSpPr txBox="1"/>
          <p:nvPr/>
        </p:nvSpPr>
        <p:spPr>
          <a:xfrm>
            <a:off x="5486400" y="14904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This Week</a:t>
            </a:r>
            <a:endParaRPr lang="en-US" sz="1200" dirty="0"/>
          </a:p>
        </p:txBody>
      </p:sp>
      <p:sp>
        <p:nvSpPr>
          <p:cNvPr id="9" name="Text 7"/>
          <p:cNvSpPr txBox="1"/>
          <p:nvPr/>
        </p:nvSpPr>
        <p:spPr>
          <a:xfrm>
            <a:off x="5486400" y="17099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Sign listing agreement; order inspections</a:t>
            </a:r>
            <a:endParaRPr lang="en-US" sz="1100" dirty="0"/>
          </a:p>
        </p:txBody>
      </p:sp>
      <p:sp>
        <p:nvSpPr>
          <p:cNvPr id="10" name="Shape 8"/>
          <p:cNvSpPr/>
          <p:nvPr/>
        </p:nvSpPr>
        <p:spPr>
          <a:xfrm>
            <a:off x="4937760" y="2194560"/>
            <a:ext cx="384048" cy="384048"/>
          </a:xfrm>
          <a:prstGeom prst="ellipse">
            <a:avLst/>
          </a:prstGeom>
          <a:solidFill>
            <a:srgbClr val="F8E8E2"/>
          </a:solidFill>
          <a:ln w="12700">
            <a:solidFill>
              <a:srgbClr val="F8E8E2"/>
            </a:solidFill>
            <a:prstDash val="solid"/>
          </a:ln>
        </p:spPr>
      </p:sp>
      <p:sp>
        <p:nvSpPr>
          <p:cNvPr id="11" name="Text 9"/>
          <p:cNvSpPr txBox="1"/>
          <p:nvPr/>
        </p:nvSpPr>
        <p:spPr>
          <a:xfrm>
            <a:off x="4937760" y="21945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2</a:t>
            </a:r>
            <a:endParaRPr lang="en-US" sz="1300" dirty="0"/>
          </a:p>
        </p:txBody>
      </p:sp>
      <p:sp>
        <p:nvSpPr>
          <p:cNvPr id="12" name="Text 10"/>
          <p:cNvSpPr txBox="1"/>
          <p:nvPr/>
        </p:nvSpPr>
        <p:spPr>
          <a:xfrm>
            <a:off x="5486400" y="21762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2</a:t>
            </a:r>
            <a:endParaRPr lang="en-US" sz="1200" dirty="0"/>
          </a:p>
        </p:txBody>
      </p:sp>
      <p:sp>
        <p:nvSpPr>
          <p:cNvPr id="13" name="Text 11"/>
          <p:cNvSpPr txBox="1"/>
          <p:nvPr/>
        </p:nvSpPr>
        <p:spPr>
          <a:xfrm>
            <a:off x="5486400" y="23957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Photos, documents, and pricing review</a:t>
            </a:r>
            <a:endParaRPr lang="en-US" sz="1100" dirty="0"/>
          </a:p>
        </p:txBody>
      </p:sp>
      <p:sp>
        <p:nvSpPr>
          <p:cNvPr id="14" name="Shape 12"/>
          <p:cNvSpPr/>
          <p:nvPr/>
        </p:nvSpPr>
        <p:spPr>
          <a:xfrm>
            <a:off x="4937760" y="2880360"/>
            <a:ext cx="384048" cy="384048"/>
          </a:xfrm>
          <a:prstGeom prst="ellipse">
            <a:avLst/>
          </a:prstGeom>
          <a:solidFill>
            <a:srgbClr val="F8E8E2"/>
          </a:solidFill>
          <a:ln w="12700">
            <a:solidFill>
              <a:srgbClr val="F8E8E2"/>
            </a:solidFill>
            <a:prstDash val="solid"/>
          </a:ln>
        </p:spPr>
      </p:sp>
      <p:sp>
        <p:nvSpPr>
          <p:cNvPr id="15" name="Text 13"/>
          <p:cNvSpPr txBox="1"/>
          <p:nvPr/>
        </p:nvSpPr>
        <p:spPr>
          <a:xfrm>
            <a:off x="4937760" y="28803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5486400" y="28620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3</a:t>
            </a:r>
            <a:endParaRPr lang="en-US" sz="1200" dirty="0"/>
          </a:p>
        </p:txBody>
      </p:sp>
      <p:sp>
        <p:nvSpPr>
          <p:cNvPr id="17" name="Text 15"/>
          <p:cNvSpPr txBox="1"/>
          <p:nvPr/>
        </p:nvSpPr>
        <p:spPr>
          <a:xfrm>
            <a:off x="5486400" y="30815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Go live at $469,900</a:t>
            </a:r>
            <a:endParaRPr lang="en-US" sz="1100" dirty="0"/>
          </a:p>
        </p:txBody>
      </p:sp>
      <p:sp>
        <p:nvSpPr>
          <p:cNvPr id="18" name="Shape 16"/>
          <p:cNvSpPr/>
          <p:nvPr/>
        </p:nvSpPr>
        <p:spPr>
          <a:xfrm>
            <a:off x="4937760" y="3566160"/>
            <a:ext cx="384048" cy="384048"/>
          </a:xfrm>
          <a:prstGeom prst="ellipse">
            <a:avLst/>
          </a:prstGeom>
          <a:solidFill>
            <a:srgbClr val="F8E8E2"/>
          </a:solidFill>
          <a:ln w="12700">
            <a:solidFill>
              <a:srgbClr val="F8E8E2"/>
            </a:solidFill>
            <a:prstDash val="solid"/>
          </a:ln>
        </p:spPr>
      </p:sp>
      <p:sp>
        <p:nvSpPr>
          <p:cNvPr id="19" name="Text 17"/>
          <p:cNvSpPr txBox="1"/>
          <p:nvPr/>
        </p:nvSpPr>
        <p:spPr>
          <a:xfrm>
            <a:off x="4937760" y="35661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5486400" y="35478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6</a:t>
            </a:r>
            <a:endParaRPr lang="en-US" sz="1200" dirty="0"/>
          </a:p>
        </p:txBody>
      </p:sp>
      <p:sp>
        <p:nvSpPr>
          <p:cNvPr id="21" name="Text 19"/>
          <p:cNvSpPr txBox="1"/>
          <p:nvPr/>
        </p:nvSpPr>
        <p:spPr>
          <a:xfrm>
            <a:off x="5486400" y="37673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Price review if no offer</a:t>
            </a:r>
            <a:endParaRPr lang="en-US" sz="1100" dirty="0"/>
          </a:p>
        </p:txBody>
      </p:sp>
      <p:sp>
        <p:nvSpPr>
          <p:cNvPr id="22" name="Text 20"/>
          <p:cNvSpPr txBox="1"/>
          <p:nvPr/>
        </p:nvSpPr>
        <p:spPr>
          <a:xfrm>
            <a:off x="457200" y="4732020"/>
            <a:ext cx="6400800" cy="274320"/>
          </a:xfrm>
          <a:prstGeom prst="rect">
            <a:avLst/>
          </a:prstGeom>
          <a:noFill/>
          <a:ln/>
        </p:spPr>
        <p:txBody>
          <a:bodyPr wrap="square" lIns="0" tIns="0" rIns="0" bIns="0" rtlCol="0" anchor="ctr"/>
          <a:lstStyle/>
          <a:p>
            <a:pPr indent="0" marL="0">
              <a:buNone/>
            </a:pPr>
            <a:r>
              <a:rPr lang="en-US" sz="1000" dirty="0">
                <a:solidFill>
                  <a:srgbClr val="F8E8E2"/>
                </a:solidFill>
                <a:latin typeface="Arial" pitchFamily="34" charset="0"/>
                <a:ea typeface="Arial" pitchFamily="34" charset="-122"/>
                <a:cs typeface="Arial" pitchFamily="34" charset="-120"/>
              </a:rPr>
              <a:t>Jordan Avery, REALTOR® · (407) 555-0142 · jordan@example.com</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Estimated Net Proceeds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A23200"/>
                          </a:solidFill>
                          <a:latin typeface="Arial" pitchFamily="34" charset="0"/>
                          <a:ea typeface="Arial" pitchFamily="34" charset="-122"/>
                          <a:cs typeface="Arial" pitchFamily="34" charset="-120"/>
                        </a:rPr>
                        <a:t>Estimated at Closing</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List $479,900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List $469,900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List $459,900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Expected Sale Price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$451,000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$451,000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$436,500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Listing Brokerage (2.5%)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−$11,275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−$11,275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−$10,912</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Buyer's Agent Compensation (2.5%)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−$11,275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−$11,275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−$10,912</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Documentary Stamp Tax on the Deed (0.70%)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−$3,157</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−$3,157</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−$3,056</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Owner's Title Insurance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−$2,330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−$2,330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−$2,258</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Title Company Fees (Estimate)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Seller-Paid Buyer Costs</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Estimated Net Before Mortgage Payoff</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$411,818</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$411,818</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$403,216</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Holding Costs Until Closing (Est.)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−$2,120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−$1,076</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−$774</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Net After Holding Costs</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$409,698</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$410,742</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$402,442</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361688"/>
            <a:ext cx="8229600" cy="370332"/>
          </a:xfrm>
          <a:prstGeom prst="rect">
            <a:avLst/>
          </a:prstGeom>
          <a:noFill/>
          <a:ln/>
        </p:spPr>
        <p:txBody>
          <a:bodyPr wrap="square" lIns="0" tIns="0" rIns="0" bIns="0" rtlCol="0" anchor="t"/>
          <a:lstStyle/>
          <a:p>
            <a:pPr indent="0" marL="0">
              <a:buNone/>
            </a:pPr>
            <a:r>
              <a:rPr lang="en-US" sz="1000" dirty="0">
                <a:solidFill>
                  <a:srgbClr val="5E5E5E"/>
                </a:solidFill>
                <a:latin typeface="Arial" pitchFamily="34" charset="0"/>
                <a:ea typeface="Arial" pitchFamily="34" charset="-122"/>
                <a:cs typeface="Arial" pitchFamily="34" charset="-120"/>
              </a:rPr>
              <a:t>Estimates only. Not included: mortgage payoff, tax proration and repairs; the closing agent provides exact figures. Commissions are negotiable and not set by law.</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Comparable Sales</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A23200"/>
                          </a:solidFill>
                          <a:latin typeface="Arial" pitchFamily="34" charset="0"/>
                          <a:ea typeface="Arial" pitchFamily="34" charset="-122"/>
                          <a:cs typeface="Arial" pitchFamily="34" charset="-120"/>
                        </a:rPr>
                        <a:t>Sale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Sold For</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Seller Paid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Adjusted Value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622 Fernwood Park Blvd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$505,500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$492,300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516 Tallow Ct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$483,800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745 Little Heron Cir</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$427,000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$469,800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602 Thrasher Ln</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$429,000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$12,000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$438,400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621 Little Heron Rd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$13,071</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$436,200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Your Home (Recommended List)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$469,900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Range $455K–$480K</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191256"/>
            <a:ext cx="8229600" cy="1540764"/>
          </a:xfrm>
          <a:prstGeom prst="rect">
            <a:avLst/>
          </a:prstGeom>
          <a:noFill/>
          <a:ln/>
        </p:spPr>
        <p:txBody>
          <a:bodyPr wrap="square" lIns="0" tIns="0" rIns="0" bIns="0" rtlCol="0" anchor="t"/>
          <a:lstStyle/>
          <a:p>
            <a:pPr indent="0" marL="0">
              <a:buNone/>
            </a:pPr>
            <a:r>
              <a:rPr lang="en-US" sz="1000" dirty="0">
                <a:solidFill>
                  <a:srgbClr val="5E5E5E"/>
                </a:solidFill>
                <a:latin typeface="Arial" pitchFamily="34" charset="0"/>
                <a:ea typeface="Arial" pitchFamily="34" charset="-122"/>
                <a:cs typeface="Arial" pitchFamily="34" charset="-120"/>
              </a:rPr>
              <a:t>A broker's opinion of value from comparable sales, not an appraisal, and not for lending. Sales data: Stellar MLS as of September 22, 2026. Deemed reliable but not guaranteed. Equal Housing Opportunity.</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Pricing 517 Larkwood Ave</dc:title>
  <dc:subject>PptxGenJS Presentation</dc:subject>
  <dc:creator>Jordan Avery, REALTOR®</dc:creator>
  <cp:lastModifiedBy>Jordan Avery, REALTOR®</cp:lastModifiedBy>
  <cp:revision>1</cp:revision>
  <dcterms:created xsi:type="dcterms:W3CDTF">2026-10-05T01:14:22Z</dcterms:created>
  <dcterms:modified xsi:type="dcterms:W3CDTF">2026-10-05T01:14:22Z</dcterms:modified>
</cp:coreProperties>
</file>