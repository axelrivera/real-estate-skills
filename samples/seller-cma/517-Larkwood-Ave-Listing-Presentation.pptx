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square"/>
            <c:size val="6"/>
            <c:spPr>
              <a:solidFill>
                <a:srgbClr val="5E5E5E"/>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342131.321903495</c:v>
                </c:pt>
                <c:pt idx="42">
                  <c:v>352121.9205440262</c:v>
                </c:pt>
                <c:pt idx="43">
                  <c:v>362112.51918455743</c:v>
                </c:pt>
                <c:pt idx="44">
                  <c:v>372103.1178250886</c:v>
                </c:pt>
                <c:pt idx="45">
                  <c:v>382093.71646561986</c:v>
                </c:pt>
                <c:pt idx="46">
                  <c:v>392084.31510615104</c:v>
                </c:pt>
                <c:pt idx="47">
                  <c:v>402074.9137466823</c:v>
                </c:pt>
                <c:pt idx="48">
                  <c:v>412065.5123872135</c:v>
                </c:pt>
                <c:pt idx="49">
                  <c:v>422056.1110277447</c:v>
                </c:pt>
                <c:pt idx="50">
                  <c:v>432046.7096682759</c:v>
                </c:pt>
                <c:pt idx="51">
                  <c:v>442037.3083088071</c:v>
                </c:pt>
                <c:pt idx="52">
                  <c:v>452027.9069493383</c:v>
                </c:pt>
                <c:pt idx="53">
                  <c:v>462018.5055898696</c:v>
                </c:pt>
                <c:pt idx="54">
                  <c:v>472009.10423040076</c:v>
                </c:pt>
                <c:pt idx="55">
                  <c:v>481999.70287093194</c:v>
                </c:pt>
                <c:pt idx="56">
                  <c:v>491990.3015114631</c:v>
                </c:pt>
                <c:pt idx="57">
                  <c:v>501980.90015199437</c:v>
                </c:pt>
                <c:pt idx="58">
                  <c:v>511971.49879252556</c:v>
                </c:pt>
                <c:pt idx="59">
                  <c:v>521962.09743305674</c:v>
                </c:pt>
                <c:pt idx="60">
                  <c:v>531952.696073588</c:v>
                </c:pt>
                <c:pt idx="61">
                  <c:v>541943.294714119</c:v>
                </c:pt>
                <c:pt idx="62">
                  <c:v>551933.8933546504</c:v>
                </c:pt>
                <c:pt idx="63">
                  <c:v>561924.4919951817</c:v>
                </c:pt>
                <c:pt idx="64">
                  <c:v>571915.0906357127</c:v>
                </c:pt>
                <c:pt idx="65">
                  <c:v>581905.689276244</c:v>
                </c:pt>
                <c:pt idx="66">
                  <c:v>591896.2879167753</c:v>
                </c:pt>
                <c:pt idx="67">
                  <c:v>601886.8865573064</c:v>
                </c:pt>
                <c:pt idx="68">
                  <c:v>611877.4851978377</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19050">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1"/>
            <c:spPr>
              <a:solidFill>
                <a:srgbClr val="1A1A1A"/>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numFmt formatCode=";;;"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at $479,900</c:v>
                  </c:pt>
                  <c:pt idx="1">
                    <c:v>List at $469,900</c:v>
                  </c:pt>
                  <c:pt idx="2">
                    <c:v>List at $459,900</c:v>
                  </c:pt>
                </c:lvl>
              </c:multiLvlStrCache>
            </c:multiLvlStrRef>
          </c:cat>
          <c:val>
            <c:numRef>
              <c:f>Sheet1!$B$2:$B$4</c:f>
              <c:numCache>
                <c:formatCode>General</c:formatCode>
                <c:ptCount val="3"/>
                <c:pt idx="0">
                  <c:v>423519</c:v>
                </c:pt>
                <c:pt idx="1">
                  <c:v>424563</c:v>
                </c:pt>
                <c:pt idx="2">
                  <c:v>419558</c:v>
                </c:pt>
              </c:numCache>
            </c:numRef>
          </c:val>
        </c:ser>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from every nearby sale, kept the closest matches in size, pool, age and neighborhood, and adjusted each for its differences from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nearby. The dashed line is size alone; renovation and a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period is the spring sales; now is the summer sales. The report's market table has every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competing-offer option assumes a smaller seller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every line of the net sheet, and the notes say what each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Buyers shop by payment; the report's notes give the loan and tax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sales are estimates, not guarantees: each option's list price times an assumed 97.0% of its final asking price after seller-paid costs, plus that option's seller credit, to the nearest $500. None is below the supported range (the comps are already net of seller credits) or above its list price or the top of the range. At $479,900 we expect the recommended option's sale: a price above the range usually sells after a cut, so it costs time rather than adding to the sale. Holding costs: about $530 a month (insurance and utilities; no loan interest, since no mortgage payoff was given) from the report date to each option's closing; property tax is in the proration. Title company fees are typical local charges (settlement fee $700, title search $250, municipal lien search $125, recording $70); the title company's quote replaces them. Buyer payments: Conventional loan, 5% down, 6.95% 30-year fixed, property taxes at 18.1808 mills, with homestead, $3,600 a year insurance, and 0.5% a year mortgage insurance. Commissions are negotiable and not set by law. Not included: your mortgage payoff, this year's property tax proration (the tax bill and the expected closing date add it) and any repairs agreed after inspection. The closing agent provides the exact figures. Flood zone X: a lender may not require flood insurance, but a Citizens policy on a home with a dwelling replacement cost of $400,000 or more must carry flood insurance, and from January 1, 2027 every Citizens policy must (s. 627.351(6)(aa)). Get a quote; the total leaves it out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for size ($1,200 to $1,800), lot ($5,000), market changes since each sale (1% a quarter off sales before July), roof and systems ($5,000), condition and updates ($30,000 to $45,000), view or water ($10,000) and seller credits (taken off each sale price). These are the five closest matches, sold Apr 24, 2026 to Aug 20, 2026 (one since July), all within a 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36576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52044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$466,000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$436K–$494K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$455K–$480K</a:t>
            </a:r>
            <a:endParaRPr lang="en-US" sz="1800" dirty="0"/>
          </a:p>
        </p:txBody>
      </p:sp>
      <p:sp>
        <p:nvSpPr>
          <p:cNvPr id="26" name="Text 24"/>
          <p:cNvSpPr txBox="1"/>
          <p:nvPr/>
        </p:nvSpPr>
        <p:spPr>
          <a:xfrm>
            <a:off x="457200" y="4078224"/>
            <a:ext cx="8229600" cy="626364"/>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Adjusted for size ($1,200 to $1,800), lot ($5,000), market changes since each sale (1% a quarter off sales before July), roof and systems ($5,000), condition and updates ($30,000 to $45,000), view or water ($10,000) and seller credits (taken off each sale price).</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204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348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492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2636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1780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092440" y="3840480"/>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sold in the spring</a:t>
            </a:r>
            <a:endParaRPr lang="en-US" sz="950" dirty="0"/>
          </a:p>
        </p:txBody>
      </p:sp>
      <p:sp>
        <p:nvSpPr>
          <p:cNvPr id="21" name="Shape 19"/>
          <p:cNvSpPr/>
          <p:nvPr/>
        </p:nvSpPr>
        <p:spPr>
          <a:xfrm>
            <a:off x="7228332"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20356" y="14904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$494K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era and size; systems documented</a:t>
            </a:r>
            <a:endParaRPr lang="en-US" sz="950" dirty="0"/>
          </a:p>
        </p:txBody>
      </p:sp>
      <p:sp>
        <p:nvSpPr>
          <p:cNvPr id="25" name="Shape 23"/>
          <p:cNvSpPr/>
          <p:nvPr/>
        </p:nvSpPr>
        <p:spPr>
          <a:xfrm>
            <a:off x="6775704"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67728" y="19476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Strongest match · 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73168"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65192" y="28620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$440K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76572"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68596" y="33192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60520"/>
            <a:ext cx="8229600" cy="544068"/>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rot="16200000">
            <a:off x="-175565" y="2233422"/>
            <a:ext cx="1097280" cy="219456"/>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Price</a:t>
            </a:r>
            <a:endParaRPr lang="en-US" sz="1000" dirty="0"/>
          </a:p>
        </p:txBody>
      </p:sp>
      <p:sp>
        <p:nvSpPr>
          <p:cNvPr id="6" name="Text 3"/>
          <p:cNvSpPr txBox="1"/>
          <p:nvPr/>
        </p:nvSpPr>
        <p:spPr>
          <a:xfrm>
            <a:off x="583387" y="36233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$300K</a:t>
            </a:r>
            <a:endParaRPr lang="en-US" sz="900" dirty="0"/>
          </a:p>
        </p:txBody>
      </p:sp>
      <p:sp>
        <p:nvSpPr>
          <p:cNvPr id="7" name="Text 4"/>
          <p:cNvSpPr txBox="1"/>
          <p:nvPr/>
        </p:nvSpPr>
        <p:spPr>
          <a:xfrm>
            <a:off x="583387" y="3231424"/>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$350K</a:t>
            </a:r>
            <a:endParaRPr lang="en-US" sz="900" dirty="0"/>
          </a:p>
        </p:txBody>
      </p:sp>
      <p:sp>
        <p:nvSpPr>
          <p:cNvPr id="8" name="Text 5"/>
          <p:cNvSpPr txBox="1"/>
          <p:nvPr/>
        </p:nvSpPr>
        <p:spPr>
          <a:xfrm>
            <a:off x="583387" y="2839539"/>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$400K</a:t>
            </a:r>
            <a:endParaRPr lang="en-US" sz="900" dirty="0"/>
          </a:p>
        </p:txBody>
      </p:sp>
      <p:sp>
        <p:nvSpPr>
          <p:cNvPr id="9" name="Text 6"/>
          <p:cNvSpPr txBox="1"/>
          <p:nvPr/>
        </p:nvSpPr>
        <p:spPr>
          <a:xfrm>
            <a:off x="583387" y="2447653"/>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$450K</a:t>
            </a:r>
            <a:endParaRPr lang="en-US" sz="900" dirty="0"/>
          </a:p>
        </p:txBody>
      </p:sp>
      <p:sp>
        <p:nvSpPr>
          <p:cNvPr id="10" name="Text 7"/>
          <p:cNvSpPr txBox="1"/>
          <p:nvPr/>
        </p:nvSpPr>
        <p:spPr>
          <a:xfrm>
            <a:off x="583387" y="2055767"/>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$500K</a:t>
            </a:r>
            <a:endParaRPr lang="en-US" sz="900" dirty="0"/>
          </a:p>
        </p:txBody>
      </p:sp>
      <p:sp>
        <p:nvSpPr>
          <p:cNvPr id="11" name="Text 8"/>
          <p:cNvSpPr txBox="1"/>
          <p:nvPr/>
        </p:nvSpPr>
        <p:spPr>
          <a:xfrm>
            <a:off x="583387" y="1663881"/>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$550K</a:t>
            </a:r>
            <a:endParaRPr lang="en-US" sz="900" dirty="0"/>
          </a:p>
        </p:txBody>
      </p:sp>
      <p:sp>
        <p:nvSpPr>
          <p:cNvPr id="12" name="Text 9"/>
          <p:cNvSpPr txBox="1"/>
          <p:nvPr/>
        </p:nvSpPr>
        <p:spPr>
          <a:xfrm>
            <a:off x="583387" y="1271996"/>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$600K</a:t>
            </a:r>
            <a:endParaRPr lang="en-US" sz="900" dirty="0"/>
          </a:p>
        </p:txBody>
      </p:sp>
      <p:sp>
        <p:nvSpPr>
          <p:cNvPr id="13" name="Text 10"/>
          <p:cNvSpPr txBox="1"/>
          <p:nvPr/>
        </p:nvSpPr>
        <p:spPr>
          <a:xfrm>
            <a:off x="583387" y="8801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$650K</a:t>
            </a:r>
            <a:endParaRPr lang="en-US" sz="900" dirty="0"/>
          </a:p>
        </p:txBody>
      </p:sp>
      <p:sp>
        <p:nvSpPr>
          <p:cNvPr id="14" name="Text 11"/>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15" name="Shape 12"/>
          <p:cNvSpPr/>
          <p:nvPr/>
        </p:nvSpPr>
        <p:spPr>
          <a:xfrm>
            <a:off x="626237" y="4439285"/>
            <a:ext cx="82550" cy="82550"/>
          </a:xfrm>
          <a:prstGeom prst="ellipse">
            <a:avLst/>
          </a:prstGeom>
          <a:solidFill>
            <a:srgbClr val="DBDBDB"/>
          </a:solidFill>
          <a:ln w="6350">
            <a:solidFill>
              <a:srgbClr val="DBDBDB"/>
            </a:solidFill>
            <a:prstDash val="solid"/>
          </a:ln>
        </p:spPr>
      </p:sp>
      <p:sp>
        <p:nvSpPr>
          <p:cNvPr id="16" name="Text 13"/>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17" name="Shape 14"/>
          <p:cNvSpPr/>
          <p:nvPr/>
        </p:nvSpPr>
        <p:spPr>
          <a:xfrm>
            <a:off x="1766834" y="4431030"/>
            <a:ext cx="99060" cy="99060"/>
          </a:xfrm>
          <a:prstGeom prst="rect">
            <a:avLst/>
          </a:prstGeom>
          <a:solidFill>
            <a:srgbClr val="5E5E5E"/>
          </a:solidFill>
          <a:ln w="6350">
            <a:solidFill>
              <a:srgbClr val="5E5E5E"/>
            </a:solidFill>
            <a:prstDash val="solid"/>
          </a:ln>
        </p:spPr>
      </p:sp>
      <p:sp>
        <p:nvSpPr>
          <p:cNvPr id="18" name="Text 15"/>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9" name="Shape 16"/>
          <p:cNvSpPr/>
          <p:nvPr/>
        </p:nvSpPr>
        <p:spPr>
          <a:xfrm>
            <a:off x="2938708" y="4480560"/>
            <a:ext cx="237744" cy="0"/>
          </a:xfrm>
          <a:prstGeom prst="line">
            <a:avLst/>
          </a:prstGeom>
          <a:noFill/>
          <a:ln w="15875">
            <a:solidFill>
              <a:srgbClr val="5E5E5E"/>
            </a:solidFill>
            <a:prstDash val="dash"/>
          </a:ln>
        </p:spPr>
      </p:sp>
      <p:sp>
        <p:nvSpPr>
          <p:cNvPr id="20" name="Text 17"/>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21" name="Shape 18"/>
          <p:cNvSpPr/>
          <p:nvPr/>
        </p:nvSpPr>
        <p:spPr>
          <a:xfrm>
            <a:off x="4371479" y="4414520"/>
            <a:ext cx="132080" cy="132080"/>
          </a:xfrm>
          <a:prstGeom prst="ellipse">
            <a:avLst/>
          </a:prstGeom>
          <a:solidFill>
            <a:srgbClr val="C2410C"/>
          </a:solidFill>
          <a:ln w="6350">
            <a:solidFill>
              <a:srgbClr val="C2410C"/>
            </a:solidFill>
            <a:prstDash val="solid"/>
          </a:ln>
        </p:spPr>
      </p:sp>
      <p:sp>
        <p:nvSpPr>
          <p:cNvPr id="22" name="Text 19"/>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23" name="Shape 20"/>
          <p:cNvSpPr/>
          <p:nvPr/>
        </p:nvSpPr>
        <p:spPr>
          <a:xfrm>
            <a:off x="5854153" y="4398264"/>
            <a:ext cx="164592" cy="164592"/>
          </a:xfrm>
          <a:prstGeom prst="diamond">
            <a:avLst/>
          </a:prstGeom>
          <a:solidFill>
            <a:srgbClr val="1A1A1A"/>
          </a:solidFill>
          <a:ln w="6350">
            <a:solidFill>
              <a:srgbClr val="FFFFFF"/>
            </a:solidFill>
            <a:prstDash val="solid"/>
          </a:ln>
        </p:spPr>
      </p:sp>
      <p:sp>
        <p:nvSpPr>
          <p:cNvPr id="24" name="Text 21"/>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25" name="Shape 22"/>
          <p:cNvSpPr/>
          <p:nvPr/>
        </p:nvSpPr>
        <p:spPr>
          <a:xfrm>
            <a:off x="6949440" y="1143000"/>
            <a:ext cx="45720" cy="3017520"/>
          </a:xfrm>
          <a:prstGeom prst="rect">
            <a:avLst/>
          </a:prstGeom>
          <a:solidFill>
            <a:srgbClr val="C2410C"/>
          </a:solidFill>
          <a:ln w="12700">
            <a:solidFill>
              <a:srgbClr val="C2410C"/>
            </a:solidFill>
            <a:prstDash val="solid"/>
          </a:ln>
        </p:spPr>
      </p:sp>
      <p:sp>
        <p:nvSpPr>
          <p:cNvPr id="26" name="Text 23"/>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and yours sits among them without testing the ceiling.</a:t>
            </a:r>
            <a:endParaRPr lang="en-US" sz="1300" dirty="0"/>
          </a:p>
        </p:txBody>
      </p:sp>
      <p:sp>
        <p:nvSpPr>
          <p:cNvPr id="27" name="Text 24"/>
          <p:cNvSpPr txBox="1"/>
          <p:nvPr/>
        </p:nvSpPr>
        <p:spPr>
          <a:xfrm>
            <a:off x="7086600" y="2735834"/>
            <a:ext cx="1600200" cy="1424686"/>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$27,000 above the line.</a:t>
            </a:r>
            <a:endParaRPr lang="en-US" sz="1100" dirty="0"/>
          </a:p>
        </p:txBody>
      </p:sp>
      <p:sp>
        <p:nvSpPr>
          <p:cNvPr id="28"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9"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 days</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 days</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Typical Seller Credit</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$8,250</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$12,100</a:t>
            </a:r>
            <a:endParaRPr lang="en-US" sz="2800" dirty="0"/>
          </a:p>
        </p:txBody>
      </p:sp>
      <p:sp>
        <p:nvSpPr>
          <p:cNvPr id="36" name="Text 30"/>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the spring.</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p:spPr>
      </p:sp>
      <p:sp>
        <p:nvSpPr>
          <p:cNvPr id="5" name="Text 3"/>
          <p:cNvSpPr txBox="1"/>
          <p:nvPr/>
        </p:nvSpPr>
        <p:spPr>
          <a:xfrm>
            <a:off x="65836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p:spPr>
      </p:sp>
      <p:sp>
        <p:nvSpPr>
          <p:cNvPr id="10" name="Text 8"/>
          <p:cNvSpPr txBox="1"/>
          <p:nvPr/>
        </p:nvSpPr>
        <p:spPr>
          <a:xfrm>
            <a:off x="349300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p:spPr>
      </p:sp>
      <p:sp>
        <p:nvSpPr>
          <p:cNvPr id="15" name="Text 13"/>
          <p:cNvSpPr txBox="1"/>
          <p:nvPr/>
        </p:nvSpPr>
        <p:spPr>
          <a:xfrm>
            <a:off x="632764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2608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075809"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5617" y="2075688"/>
            <a:ext cx="990735"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2–4 months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$466,000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292608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$466,000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64408"/>
            <a:ext cx="2157984" cy="6400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292608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$455,000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114800"/>
            <a:ext cx="8229600" cy="589788"/>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The nets are close.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$5,005</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nets are close.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at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at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at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$4,004/mo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38328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03981"/>
            <a:ext cx="261518" cy="261518"/>
          </a:xfrm>
          <a:prstGeom prst="rect">
            <a:avLst/>
          </a:prstGeom>
        </p:spPr>
      </p:pic>
      <p:sp>
        <p:nvSpPr>
          <p:cNvPr id="18" name="Text 15"/>
          <p:cNvSpPr txBox="1"/>
          <p:nvPr/>
        </p:nvSpPr>
        <p:spPr>
          <a:xfrm>
            <a:off x="1143000" y="3310128"/>
            <a:ext cx="7543800" cy="292608"/>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Every $10,000 in price is about $83 a month to a buyer.</a:t>
            </a:r>
            <a:endParaRPr lang="en-US" sz="1400" dirty="0"/>
          </a:p>
        </p:txBody>
      </p:sp>
      <p:sp>
        <p:nvSpPr>
          <p:cNvPr id="19" name="Text 16"/>
          <p:cNvSpPr txBox="1"/>
          <p:nvPr/>
        </p:nvSpPr>
        <p:spPr>
          <a:xfrm>
            <a:off x="1143000" y="3639312"/>
            <a:ext cx="7543800" cy="1065276"/>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shop by payment, so a small change in price moves the number they see.</a:t>
            </a:r>
            <a:endParaRPr lang="en-US" sz="1400" dirty="0"/>
          </a:p>
        </p:txBody>
      </p:sp>
      <p:sp>
        <p:nvSpPr>
          <p:cNvPr id="20" name="Text 17"/>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for buyers and insurers</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Get the Inspections</a:t>
            </a:r>
            <a:endParaRPr lang="en-US" sz="130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Pre-listing, four-point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the Renovation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Make It Easy to Show</a:t>
            </a:r>
            <a:endParaRPr lang="en-US" sz="125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Short-notice showings in the first weeks</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and any inspection reports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the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the listing agreement; order the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Before Launch</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a final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Oct 6</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After Launch</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steady showings bring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70976">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at $479,900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at $469,900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at $459,900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7097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$466,000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$466,000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$455,000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7097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Closing</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Feb 5, 2027</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Dec 7, 2026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Nov 19, 2026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7097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−$11,375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7097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−$11,375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7097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−$3,262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−$3,262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−$3,185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7097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−$2,405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−$2,405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7097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7097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70976">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$425,888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$425,888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$420,570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7097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−$2,369</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−$1,012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70976">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$423,519</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$424,563</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$419,558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94708"/>
            <a:ext cx="8229600" cy="309880"/>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Commissions are negotiable and not set by law. Not included: your mortgage payoff, this year's property tax proration (the tax bill and the expected closing date add it) and any repairs agreed after inspection. The closing agent provides the exact figures.</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$493,900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$484,000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$440,200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$435,900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13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2026-10-05T13:51:18Z</dcterms:created>
  <dcterms:modified xsi:type="dcterms:W3CDTF">2026-10-05T13:51:18Z</dcterms:modified>
</cp:coreProperties>
</file>