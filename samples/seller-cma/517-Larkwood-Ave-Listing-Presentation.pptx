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7B2400"/>
            </a:solidFill>
            <a:ln>
              <a:noFill/>
            </a:ln>
            <a:effectLst/>
          </c:spPr>
          <c:marker>
            <c:symbol val="diamond"/>
            <c:size val="11"/>
            <c:spPr>
              <a:solidFill>
                <a:srgbClr val="7B2400"/>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470000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Premium at $475,000</c:v>
                  </c:pt>
                  <c:pt idx="1">
                    <c:v>Market Price at $470,000</c:v>
                  </c:pt>
                  <c:pt idx="2">
                    <c:v>Draw Offers at $460,000</c:v>
                  </c:pt>
                </c:lvl>
              </c:multiLvlStrCache>
            </c:multiLvlStrRef>
          </c:cat>
          <c:val>
            <c:numRef>
              <c:f>Sheet1!$B$2:$B$4</c:f>
              <c:numCache>
                <c:formatCode>General</c:formatCode>
                <c:ptCount val="3"/>
                <c:pt idx="0">
                  <c:v>424690</c:v>
                </c:pt>
                <c:pt idx="1">
                  <c:v>424636</c:v>
                </c:pt>
                <c:pt idx="2">
                  <c:v>415497</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holds the older sales; now holds the recent ones.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The $475,000 option uses 93.9% instead, what recent nearby sales got against their original asking price after seller-paid costs, since a price above the market usually sells only after a cut. Times to contract are estimates from the recent median of 22 days on market: longer for a higher price, shorter for a price that draws competing offers. Each option assumes a $11,000 seller credit toward the buyer's costs: how often recent sellers paid buyer costs times the typical amount. Holding costs: about $520 a month (insurance at the recommended $470,000 list price and utilities; no loan interest, since no mortgage payoff was given) from the report date to each option's closing.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current tax bill adds it) and any repairs agreed after inspection. The closing agent provides the exact figures. These proceeds are before any income tax on the sale; a CPA can estimate it.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$1,875); lot ($5,000 to $10,000); market changes since each sale (2% a quarter off sales before July); recent systems ($5,000); condition and updates ($30,000 to $45,000, against this home's full renovation); and seller credits (taken off each sale price). These are the five closest matches, sold Apr 24, 2026 to Aug 20, 2026 (one since July), all within a mile. This home's roof age isn't known, so no sale is adjusted for its 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$470,000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$467,000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usual negotiation in today's market</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$431K–$486K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$469,900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$470,000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$1,875); lot ($5,000 to $10,000); market changes since each sale (2% a quarter off sales before July); recent systems ($5,000); condition and updates ($30,000 to $45,000, against this home's full renovation);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932170" y="1463294"/>
            <a:ext cx="1428750" cy="2468880"/>
          </a:xfrm>
          <a:prstGeom prst="rect">
            <a:avLst/>
          </a:prstGeom>
          <a:solidFill>
            <a:srgbClr val="FBF2EE"/>
          </a:solidFill>
          <a:ln w="12700">
            <a:solidFill>
              <a:srgbClr val="FBF2EE"/>
            </a:solidFill>
            <a:prstDash val="solid"/>
          </a:ln>
        </p:spPr>
      </p:sp>
      <p:sp>
        <p:nvSpPr>
          <p:cNvPr id="5" name="Shape 3"/>
          <p:cNvSpPr/>
          <p:nvPr/>
        </p:nvSpPr>
        <p:spPr>
          <a:xfrm>
            <a:off x="3931920" y="1463294"/>
            <a:ext cx="0" cy="2468880"/>
          </a:xfrm>
          <a:prstGeom prst="line">
            <a:avLst/>
          </a:prstGeom>
          <a:noFill/>
          <a:ln w="9525">
            <a:solidFill>
              <a:srgbClr val="F8E8E2"/>
            </a:solidFill>
            <a:prstDash val="solid"/>
          </a:ln>
        </p:spPr>
      </p:sp>
      <p:sp>
        <p:nvSpPr>
          <p:cNvPr id="6" name="Text 4"/>
          <p:cNvSpPr txBox="1"/>
          <p:nvPr/>
        </p:nvSpPr>
        <p:spPr>
          <a:xfrm>
            <a:off x="3520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5074920" y="1463294"/>
            <a:ext cx="0" cy="2468880"/>
          </a:xfrm>
          <a:prstGeom prst="line">
            <a:avLst/>
          </a:prstGeom>
          <a:noFill/>
          <a:ln w="9525">
            <a:solidFill>
              <a:srgbClr val="F8E8E2"/>
            </a:solidFill>
            <a:prstDash val="solid"/>
          </a:ln>
        </p:spPr>
      </p:sp>
      <p:sp>
        <p:nvSpPr>
          <p:cNvPr id="8" name="Text 6"/>
          <p:cNvSpPr txBox="1"/>
          <p:nvPr/>
        </p:nvSpPr>
        <p:spPr>
          <a:xfrm>
            <a:off x="4663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6217920" y="1463294"/>
            <a:ext cx="0" cy="2468880"/>
          </a:xfrm>
          <a:prstGeom prst="line">
            <a:avLst/>
          </a:prstGeom>
          <a:noFill/>
          <a:ln w="9525">
            <a:solidFill>
              <a:srgbClr val="F8E8E2"/>
            </a:solidFill>
            <a:prstDash val="solid"/>
          </a:ln>
        </p:spPr>
      </p:sp>
      <p:sp>
        <p:nvSpPr>
          <p:cNvPr id="10" name="Text 8"/>
          <p:cNvSpPr txBox="1"/>
          <p:nvPr/>
        </p:nvSpPr>
        <p:spPr>
          <a:xfrm>
            <a:off x="5806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7360920" y="1463294"/>
            <a:ext cx="0" cy="2468880"/>
          </a:xfrm>
          <a:prstGeom prst="line">
            <a:avLst/>
          </a:prstGeom>
          <a:noFill/>
          <a:ln w="9525">
            <a:solidFill>
              <a:srgbClr val="F8E8E2"/>
            </a:solidFill>
            <a:prstDash val="solid"/>
          </a:ln>
        </p:spPr>
      </p:sp>
      <p:sp>
        <p:nvSpPr>
          <p:cNvPr id="12" name="Text 10"/>
          <p:cNvSpPr txBox="1"/>
          <p:nvPr/>
        </p:nvSpPr>
        <p:spPr>
          <a:xfrm>
            <a:off x="6949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8503920" y="1463294"/>
            <a:ext cx="0" cy="2468880"/>
          </a:xfrm>
          <a:prstGeom prst="line">
            <a:avLst/>
          </a:prstGeom>
          <a:noFill/>
          <a:ln w="9525">
            <a:solidFill>
              <a:srgbClr val="F8E8E2"/>
            </a:solidFill>
            <a:prstDash val="solid"/>
          </a:ln>
        </p:spPr>
      </p:sp>
      <p:sp>
        <p:nvSpPr>
          <p:cNvPr id="14" name="Text 12"/>
          <p:cNvSpPr txBox="1"/>
          <p:nvPr/>
        </p:nvSpPr>
        <p:spPr>
          <a:xfrm>
            <a:off x="8092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6789420" y="1326134"/>
            <a:ext cx="0" cy="2606040"/>
          </a:xfrm>
          <a:prstGeom prst="line">
            <a:avLst/>
          </a:prstGeom>
          <a:noFill/>
          <a:ln w="25400">
            <a:solidFill>
              <a:srgbClr val="7B2400"/>
            </a:solidFill>
            <a:prstDash val="dash"/>
          </a:ln>
        </p:spPr>
      </p:sp>
      <p:sp>
        <p:nvSpPr>
          <p:cNvPr id="16" name="Text 14"/>
          <p:cNvSpPr txBox="1"/>
          <p:nvPr/>
        </p:nvSpPr>
        <p:spPr>
          <a:xfrm>
            <a:off x="5783580" y="1097534"/>
            <a:ext cx="2011680" cy="228600"/>
          </a:xfrm>
          <a:prstGeom prst="rect">
            <a:avLst/>
          </a:prstGeom>
          <a:noFill/>
          <a:ln/>
        </p:spPr>
        <p:txBody>
          <a:bodyPr wrap="square" lIns="0" tIns="0" rIns="0" bIns="0" rtlCol="0" anchor="ctr"/>
          <a:lstStyle/>
          <a:p>
            <a:pPr algn="ctr" indent="0" marL="0">
              <a:buNone/>
            </a:pPr>
            <a:r>
              <a:rPr lang="en-US" sz="1000" b="1" dirty="0">
                <a:solidFill>
                  <a:srgbClr val="7B2400"/>
                </a:solidFill>
                <a:latin typeface="Arial" pitchFamily="34" charset="0"/>
                <a:ea typeface="Arial" pitchFamily="34" charset="-122"/>
                <a:cs typeface="Arial" pitchFamily="34" charset="-120"/>
              </a:rPr>
              <a:t>Recommended $470,000</a:t>
            </a:r>
            <a:endParaRPr lang="en-US" sz="1000" dirty="0"/>
          </a:p>
        </p:txBody>
      </p:sp>
      <p:sp>
        <p:nvSpPr>
          <p:cNvPr id="17" name="Text 15"/>
          <p:cNvSpPr txBox="1"/>
          <p:nvPr/>
        </p:nvSpPr>
        <p:spPr>
          <a:xfrm>
            <a:off x="457200" y="15547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18" name="Text 16"/>
          <p:cNvSpPr txBox="1"/>
          <p:nvPr/>
        </p:nvSpPr>
        <p:spPr>
          <a:xfrm>
            <a:off x="457200" y="17559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earlier in the year</a:t>
            </a:r>
            <a:endParaRPr lang="en-US" sz="950" dirty="0"/>
          </a:p>
        </p:txBody>
      </p:sp>
      <p:sp>
        <p:nvSpPr>
          <p:cNvPr id="19" name="Shape 17"/>
          <p:cNvSpPr/>
          <p:nvPr/>
        </p:nvSpPr>
        <p:spPr>
          <a:xfrm>
            <a:off x="7602950" y="1673606"/>
            <a:ext cx="164592" cy="164592"/>
          </a:xfrm>
          <a:prstGeom prst="ellipse">
            <a:avLst/>
          </a:prstGeom>
          <a:solidFill>
            <a:srgbClr val="C2410C"/>
          </a:solidFill>
          <a:ln w="12700">
            <a:solidFill>
              <a:srgbClr val="FFFFFF"/>
            </a:solidFill>
            <a:prstDash val="solid"/>
          </a:ln>
        </p:spPr>
      </p:sp>
      <p:sp>
        <p:nvSpPr>
          <p:cNvPr id="20" name="Text 18"/>
          <p:cNvSpPr txBox="1"/>
          <p:nvPr/>
        </p:nvSpPr>
        <p:spPr>
          <a:xfrm>
            <a:off x="7794974" y="16278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$486K</a:t>
            </a:r>
            <a:endParaRPr lang="en-US" sz="1000" dirty="0"/>
          </a:p>
        </p:txBody>
      </p:sp>
      <p:sp>
        <p:nvSpPr>
          <p:cNvPr id="21" name="Text 19"/>
          <p:cNvSpPr txBox="1"/>
          <p:nvPr/>
        </p:nvSpPr>
        <p:spPr>
          <a:xfrm>
            <a:off x="457200" y="20119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2" name="Text 20"/>
          <p:cNvSpPr txBox="1"/>
          <p:nvPr/>
        </p:nvSpPr>
        <p:spPr>
          <a:xfrm>
            <a:off x="457200" y="2213102"/>
            <a:ext cx="3291840" cy="201168"/>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Strongest match · Same era and size; systems documented</a:t>
            </a:r>
            <a:endParaRPr lang="en-US" sz="900" dirty="0"/>
          </a:p>
        </p:txBody>
      </p:sp>
      <p:sp>
        <p:nvSpPr>
          <p:cNvPr id="23" name="Shape 21"/>
          <p:cNvSpPr/>
          <p:nvPr/>
        </p:nvSpPr>
        <p:spPr>
          <a:xfrm>
            <a:off x="7238619" y="2130806"/>
            <a:ext cx="164592" cy="164592"/>
          </a:xfrm>
          <a:prstGeom prst="ellipse">
            <a:avLst/>
          </a:prstGeom>
          <a:solidFill>
            <a:srgbClr val="C2410C"/>
          </a:solidFill>
          <a:ln w="12700">
            <a:solidFill>
              <a:srgbClr val="FFFFFF"/>
            </a:solidFill>
            <a:prstDash val="solid"/>
          </a:ln>
        </p:spPr>
      </p:sp>
      <p:sp>
        <p:nvSpPr>
          <p:cNvPr id="24" name="Text 22"/>
          <p:cNvSpPr txBox="1"/>
          <p:nvPr/>
        </p:nvSpPr>
        <p:spPr>
          <a:xfrm>
            <a:off x="7430643" y="20850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$479K</a:t>
            </a:r>
            <a:endParaRPr lang="en-US" sz="1000" dirty="0"/>
          </a:p>
        </p:txBody>
      </p:sp>
      <p:sp>
        <p:nvSpPr>
          <p:cNvPr id="25" name="Text 23"/>
          <p:cNvSpPr txBox="1"/>
          <p:nvPr/>
        </p:nvSpPr>
        <p:spPr>
          <a:xfrm>
            <a:off x="457200" y="24691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6" name="Text 24"/>
          <p:cNvSpPr txBox="1"/>
          <p:nvPr/>
        </p:nvSpPr>
        <p:spPr>
          <a:xfrm>
            <a:off x="457200" y="26703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Most recent pool sale; not renovated</a:t>
            </a:r>
            <a:endParaRPr lang="en-US" sz="950" dirty="0"/>
          </a:p>
        </p:txBody>
      </p:sp>
      <p:sp>
        <p:nvSpPr>
          <p:cNvPr id="27" name="Shape 25"/>
          <p:cNvSpPr/>
          <p:nvPr/>
        </p:nvSpPr>
        <p:spPr>
          <a:xfrm>
            <a:off x="6698552" y="2588006"/>
            <a:ext cx="164592" cy="164592"/>
          </a:xfrm>
          <a:prstGeom prst="ellipse">
            <a:avLst/>
          </a:prstGeom>
          <a:solidFill>
            <a:srgbClr val="C2410C"/>
          </a:solidFill>
          <a:ln w="12700">
            <a:solidFill>
              <a:srgbClr val="FFFFFF"/>
            </a:solidFill>
            <a:prstDash val="solid"/>
          </a:ln>
        </p:spPr>
      </p:sp>
      <p:sp>
        <p:nvSpPr>
          <p:cNvPr id="28" name="Text 26"/>
          <p:cNvSpPr txBox="1"/>
          <p:nvPr/>
        </p:nvSpPr>
        <p:spPr>
          <a:xfrm>
            <a:off x="6890576" y="25422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29" name="Text 27"/>
          <p:cNvSpPr txBox="1"/>
          <p:nvPr/>
        </p:nvSpPr>
        <p:spPr>
          <a:xfrm>
            <a:off x="457200" y="29263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0" name="Text 28"/>
          <p:cNvSpPr txBox="1"/>
          <p:nvPr/>
        </p:nvSpPr>
        <p:spPr>
          <a:xfrm>
            <a:off x="457200" y="31275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1" name="Shape 29"/>
          <p:cNvSpPr/>
          <p:nvPr/>
        </p:nvSpPr>
        <p:spPr>
          <a:xfrm>
            <a:off x="4621149" y="3045206"/>
            <a:ext cx="164592" cy="164592"/>
          </a:xfrm>
          <a:prstGeom prst="ellipse">
            <a:avLst/>
          </a:prstGeom>
          <a:solidFill>
            <a:srgbClr val="C2410C"/>
          </a:solidFill>
          <a:ln w="12700">
            <a:solidFill>
              <a:srgbClr val="FFFFFF"/>
            </a:solidFill>
            <a:prstDash val="solid"/>
          </a:ln>
        </p:spPr>
      </p:sp>
      <p:sp>
        <p:nvSpPr>
          <p:cNvPr id="32" name="Text 30"/>
          <p:cNvSpPr txBox="1"/>
          <p:nvPr/>
        </p:nvSpPr>
        <p:spPr>
          <a:xfrm>
            <a:off x="4813173" y="29994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$434K</a:t>
            </a:r>
            <a:endParaRPr lang="en-US" sz="1000" dirty="0"/>
          </a:p>
        </p:txBody>
      </p:sp>
      <p:sp>
        <p:nvSpPr>
          <p:cNvPr id="33" name="Text 31"/>
          <p:cNvSpPr txBox="1"/>
          <p:nvPr/>
        </p:nvSpPr>
        <p:spPr>
          <a:xfrm>
            <a:off x="457200" y="33835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4" name="Text 32"/>
          <p:cNvSpPr txBox="1"/>
          <p:nvPr/>
        </p:nvSpPr>
        <p:spPr>
          <a:xfrm>
            <a:off x="457200" y="35847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5" name="Shape 33"/>
          <p:cNvSpPr/>
          <p:nvPr/>
        </p:nvSpPr>
        <p:spPr>
          <a:xfrm>
            <a:off x="4491361" y="3502406"/>
            <a:ext cx="164592" cy="164592"/>
          </a:xfrm>
          <a:prstGeom prst="ellipse">
            <a:avLst/>
          </a:prstGeom>
          <a:solidFill>
            <a:srgbClr val="C2410C"/>
          </a:solidFill>
          <a:ln w="12700">
            <a:solidFill>
              <a:srgbClr val="FFFFFF"/>
            </a:solidFill>
            <a:prstDash val="solid"/>
          </a:ln>
        </p:spPr>
      </p:sp>
      <p:sp>
        <p:nvSpPr>
          <p:cNvPr id="36" name="Text 34"/>
          <p:cNvSpPr txBox="1"/>
          <p:nvPr/>
        </p:nvSpPr>
        <p:spPr>
          <a:xfrm>
            <a:off x="4683385" y="34566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$431K</a:t>
            </a:r>
            <a:endParaRPr lang="en-US" sz="1000" dirty="0"/>
          </a:p>
        </p:txBody>
      </p:sp>
      <p:sp>
        <p:nvSpPr>
          <p:cNvPr id="37" name="Text 35"/>
          <p:cNvSpPr txBox="1"/>
          <p:nvPr/>
        </p:nvSpPr>
        <p:spPr>
          <a:xfrm>
            <a:off x="457200" y="4297934"/>
            <a:ext cx="8229600" cy="406654"/>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earlier in the year. The recent sales point to the middle of the range.</a:t>
            </a:r>
            <a:endParaRPr lang="en-US" sz="1200" dirty="0"/>
          </a:p>
        </p:txBody>
      </p:sp>
      <p:sp>
        <p:nvSpPr>
          <p:cNvPr id="38" name="Text 3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9" name="Text 3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7B2400"/>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Has Shifted</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earlier in the year.</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PREMIUM</a:t>
            </a:r>
            <a:endParaRPr lang="en-US" sz="1000" dirty="0"/>
          </a:p>
        </p:txBody>
      </p:sp>
      <p:sp>
        <p:nvSpPr>
          <p:cNvPr id="5" name="Text 3"/>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$475,000</a:t>
            </a:r>
            <a:endParaRPr lang="en-US" sz="3000" dirty="0"/>
          </a:p>
        </p:txBody>
      </p:sp>
      <p:sp>
        <p:nvSpPr>
          <p:cNvPr id="6" name="Text 4"/>
          <p:cNvSpPr txBox="1"/>
          <p:nvPr/>
        </p:nvSpPr>
        <p:spPr>
          <a:xfrm>
            <a:off x="65836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7" name="Text 5"/>
          <p:cNvSpPr txBox="1"/>
          <p:nvPr/>
        </p:nvSpPr>
        <p:spPr>
          <a:xfrm>
            <a:off x="193018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5–9 weeks</a:t>
            </a:r>
            <a:endParaRPr lang="en-US" sz="1300" dirty="0"/>
          </a:p>
        </p:txBody>
      </p:sp>
      <p:sp>
        <p:nvSpPr>
          <p:cNvPr id="8" name="Text 6"/>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9" name="Text 7"/>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$467,500</a:t>
            </a:r>
            <a:endParaRPr lang="en-US" sz="1300" dirty="0"/>
          </a:p>
        </p:txBody>
      </p:sp>
      <p:sp>
        <p:nvSpPr>
          <p:cNvPr id="10" name="Text 8"/>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1" name="Text 9"/>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12" name="Text 10"/>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upper part of the range; takes longer and may need a price cut before an offer</a:t>
            </a:r>
            <a:endParaRPr lang="en-US" sz="1100" dirty="0"/>
          </a:p>
        </p:txBody>
      </p:sp>
      <p:sp>
        <p:nvSpPr>
          <p:cNvPr id="13" name="Shape 11"/>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4" name="Text 12"/>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MARKET PRICE · RECOMMENDED</a:t>
            </a:r>
            <a:endParaRPr lang="en-US" sz="950" dirty="0"/>
          </a:p>
        </p:txBody>
      </p:sp>
      <p:sp>
        <p:nvSpPr>
          <p:cNvPr id="15" name="Text 13"/>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$470,000</a:t>
            </a:r>
            <a:endParaRPr lang="en-US" sz="3000" dirty="0"/>
          </a:p>
        </p:txBody>
      </p:sp>
      <p:sp>
        <p:nvSpPr>
          <p:cNvPr id="16" name="Text 14"/>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7" name="Text 15"/>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2–5 weeks</a:t>
            </a:r>
            <a:endParaRPr lang="en-US" sz="1300" dirty="0"/>
          </a:p>
        </p:txBody>
      </p:sp>
      <p:sp>
        <p:nvSpPr>
          <p:cNvPr id="18" name="Text 16"/>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9" name="Text 17"/>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$467,000</a:t>
            </a:r>
            <a:endParaRPr lang="en-US" sz="1300" dirty="0"/>
          </a:p>
        </p:txBody>
      </p:sp>
      <p:sp>
        <p:nvSpPr>
          <p:cNvPr id="20" name="Text 18"/>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1" name="Text 19"/>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$11,000</a:t>
            </a:r>
            <a:endParaRPr lang="en-US" sz="1300" dirty="0"/>
          </a:p>
        </p:txBody>
      </p:sp>
      <p:sp>
        <p:nvSpPr>
          <p:cNvPr id="22" name="Text 20"/>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where recent adjusted sales support; room to negotiate</a:t>
            </a:r>
            <a:endParaRPr lang="en-US" sz="1100" dirty="0"/>
          </a:p>
        </p:txBody>
      </p:sp>
      <p:sp>
        <p:nvSpPr>
          <p:cNvPr id="23" name="Shape 21"/>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4" name="Text 22"/>
          <p:cNvSpPr txBox="1"/>
          <p:nvPr/>
        </p:nvSpPr>
        <p:spPr>
          <a:xfrm>
            <a:off x="632764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DRAW OFFERS</a:t>
            </a:r>
            <a:endParaRPr lang="en-US" sz="1000" dirty="0"/>
          </a:p>
        </p:txBody>
      </p:sp>
      <p:sp>
        <p:nvSpPr>
          <p:cNvPr id="25" name="Text 23"/>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$460,000</a:t>
            </a:r>
            <a:endParaRPr lang="en-US" sz="3000" dirty="0"/>
          </a:p>
        </p:txBody>
      </p:sp>
      <p:sp>
        <p:nvSpPr>
          <p:cNvPr id="26" name="Text 24"/>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7" name="Text 25"/>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1–2 weeks</a:t>
            </a:r>
            <a:endParaRPr lang="en-US" sz="1300" dirty="0"/>
          </a:p>
        </p:txBody>
      </p:sp>
      <p:sp>
        <p:nvSpPr>
          <p:cNvPr id="28" name="Text 26"/>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9" name="Text 27"/>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$457,000</a:t>
            </a:r>
            <a:endParaRPr lang="en-US" sz="1300" dirty="0"/>
          </a:p>
        </p:txBody>
      </p:sp>
      <p:sp>
        <p:nvSpPr>
          <p:cNvPr id="30" name="Text 28"/>
          <p:cNvSpPr txBox="1"/>
          <p:nvPr/>
        </p:nvSpPr>
        <p:spPr>
          <a:xfrm>
            <a:off x="632764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31" name="Text 29"/>
          <p:cNvSpPr txBox="1"/>
          <p:nvPr/>
        </p:nvSpPr>
        <p:spPr>
          <a:xfrm>
            <a:off x="782851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32" name="Text 30"/>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Priced to bring the most buyers in early and draw offers; usually the fastest to contract</a:t>
            </a:r>
            <a:endParaRPr lang="en-US" sz="1100" dirty="0"/>
          </a:p>
        </p:txBody>
      </p:sp>
      <p:sp>
        <p:nvSpPr>
          <p:cNvPr id="33" name="Text 31"/>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4" name="Text 3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3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$9,193</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Premium at $475,000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$23,750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Market Price at $470,000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$4,088/mo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$23,500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Draw Offers at $460,000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$4,006/mo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$23,000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$82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$470,000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58064">
                <a:tc>
                  <a:txBody>
                    <a:bodyPr/>
                    <a:lstStyle/>
                    <a:p>
                      <a:pPr algn="l" indent="0" marL="0">
                        <a:buNone/>
                      </a:pPr>
                      <a:r>
                        <a:rPr lang="en-US" sz="1000" b="1" dirty="0">
                          <a:solidFill>
                            <a:srgbClr val="A23200"/>
                          </a:solidFill>
                          <a:latin typeface="Arial" pitchFamily="34" charset="0"/>
                          <a:ea typeface="Arial" pitchFamily="34" charset="-122"/>
                          <a:cs typeface="Arial" pitchFamily="34" charset="-120"/>
                        </a:rPr>
                        <a:t>Estimated at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Premium at $475,000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Market Price at $470,000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Draw Offers at $460,000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Sale Price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$467,500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$457,000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Dec 24,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30,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16,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Listing Brokerage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Buyer's Agent Compensation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Documentary Stamp Tax on the Deed (0.70%)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−$3,273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−$3,199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Owner's Title Insurance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−$2,360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Title Company Fees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Seller-Paid Buyer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Estimated Net Before Mortgage Payoff</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$426,294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$416,446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Holding Costs Until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−$1,604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−$949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Net After Holding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$415,497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6448"/>
            <a:ext cx="8229600" cy="35814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current tax bill adds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$485,700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$479,300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$433,500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$431,200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7B2400"/>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B2400"/>
                          </a:solidFill>
                          <a:latin typeface="Arial" pitchFamily="34" charset="0"/>
                          <a:ea typeface="Arial" pitchFamily="34" charset="-122"/>
                          <a:cs typeface="Arial" pitchFamily="34" charset="-120"/>
                        </a:rPr>
                        <a:t>$470,000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B2400"/>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B2400"/>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2026-10-13T05:34:28Z</dcterms:created>
  <dcterms:modified xsi:type="dcterms:W3CDTF">2026-10-13T05:34:28Z</dcterms:modified>
</cp:coreProperties>
</file>