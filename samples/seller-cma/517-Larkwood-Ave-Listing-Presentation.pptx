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Renovated Pool Home (Sold)</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Sheet1!$B$2:$B$76</c:f>
              <c:numCache>
                <c:formatCode>General</c:formatCode>
                <c:ptCount val="75"/>
                <c:pt idx="0">
                  <c:v>505500</c:v>
                </c:pt>
                <c:pt idx="1">
                  <c:v>495000</c:v>
                </c:pt>
                <c:pt idx="2">
                  <c:v>465000</c:v>
                </c:pt>
                <c:pt idx="3">
                  <c:v>470000</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Other Pool Home (Sold)</c:v>
                </c:pt>
              </c:strCache>
            </c:strRef>
          </c:tx>
          <c:spPr>
            <a:solidFill>
              <a:srgbClr val="DD9577"/>
            </a:solidFill>
            <a:ln>
              <a:noFill/>
            </a:ln>
            <a:effectLst/>
          </c:spPr>
          <c:marker>
            <c:symbol val="triangle"/>
            <c:size val="8"/>
            <c:spPr>
              <a:solidFill>
                <a:srgbClr val="DD9577"/>
              </a:solidFill>
              <a:ln w="9525">
                <a:solidFill>
                  <a:srgbClr val="DD9577"/>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Sheet1!$C$2:$C$76</c:f>
              <c:numCache>
                <c:formatCode>General</c:formatCode>
                <c:ptCount val="75"/>
                <c:pt idx="0">
                  <c:v/>
                </c:pt>
                <c:pt idx="1">
                  <c:v/>
                </c:pt>
                <c:pt idx="2">
                  <c:v/>
                </c:pt>
                <c:pt idx="3">
                  <c:v/>
                </c:pt>
                <c:pt idx="4">
                  <c:v>427000</c:v>
                </c:pt>
                <c:pt idx="5">
                  <c:v>429000</c:v>
                </c:pt>
                <c:pt idx="6">
                  <c:v>427000</c:v>
                </c:pt>
                <c:pt idx="7">
                  <c:v>559500</c:v>
                </c:pt>
                <c:pt idx="8">
                  <c:v>529500</c:v>
                </c:pt>
                <c:pt idx="9">
                  <c:v>429500</c:v>
                </c:pt>
                <c:pt idx="10">
                  <c:v>473000</c:v>
                </c:pt>
                <c:pt idx="11">
                  <c:v>325500</c:v>
                </c:pt>
                <c:pt idx="12">
                  <c:v>493000</c:v>
                </c:pt>
                <c:pt idx="13">
                  <c:v>549500</c:v>
                </c:pt>
                <c:pt idx="14">
                  <c:v>596500</c:v>
                </c:pt>
                <c:pt idx="15">
                  <c:v>444500</c:v>
                </c:pt>
                <c:pt idx="16">
                  <c:v>361500</c:v>
                </c:pt>
                <c:pt idx="17">
                  <c:v>398000</c:v>
                </c:pt>
                <c:pt idx="18">
                  <c:v>396500</c:v>
                </c:pt>
                <c:pt idx="19">
                  <c:v>461000</c:v>
                </c:pt>
                <c:pt idx="20">
                  <c:v>570000</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No Pool (Sold)</c:v>
                </c:pt>
              </c:strCache>
            </c:strRef>
          </c:tx>
          <c:spPr>
            <a:solidFill>
              <a:srgbClr val="A3ADB6"/>
            </a:solidFill>
            <a:ln>
              <a:noFill/>
            </a:ln>
            <a:effectLst/>
          </c:spPr>
          <c:marker>
            <c:symbol val="square"/>
            <c:size val="6"/>
            <c:spPr>
              <a:solidFill>
                <a:srgbClr val="A3ADB6"/>
              </a:solidFill>
              <a:ln w="9525">
                <a:solidFill>
                  <a:srgbClr val="A3ADB6"/>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435000</c:v>
                </c:pt>
                <c:pt idx="22">
                  <c:v>454500</c:v>
                </c:pt>
                <c:pt idx="23">
                  <c:v>446000</c:v>
                </c:pt>
                <c:pt idx="24">
                  <c:v>575000</c:v>
                </c:pt>
                <c:pt idx="25">
                  <c:v>516000</c:v>
                </c:pt>
                <c:pt idx="26">
                  <c:v>364000</c:v>
                </c:pt>
                <c:pt idx="27">
                  <c:v>391000</c:v>
                </c:pt>
                <c:pt idx="28">
                  <c:v>578000</c:v>
                </c:pt>
                <c:pt idx="29">
                  <c:v>526000</c:v>
                </c:pt>
                <c:pt idx="30">
                  <c:v>477000</c:v>
                </c:pt>
                <c:pt idx="31">
                  <c:v>535000</c:v>
                </c:pt>
                <c:pt idx="32">
                  <c:v>367000</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3"/>
          <c:order val="3"/>
          <c:tx>
            <c:strRef>
              <c:f>Sheet1!$E$1</c:f>
              <c:strCache>
                <c:ptCount val="1"/>
                <c:pt idx="0">
                  <c:v>For Sale Now</c:v>
                </c:pt>
              </c:strCache>
            </c:strRef>
          </c:tx>
          <c:spPr>
            <a:solidFill>
              <a:srgbClr val="FFFFFF"/>
            </a:solidFill>
            <a:ln>
              <a:noFill/>
            </a:ln>
            <a:effectLst/>
          </c:spPr>
          <c:marker>
            <c:symbol val="circle"/>
            <c:size val="7"/>
            <c:spPr>
              <a:solidFill>
                <a:srgbClr val="FFFFFF"/>
              </a:solidFill>
              <a:ln w="15875">
                <a:solidFill>
                  <a:srgbClr val="A3ADB6"/>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400000</c:v>
                </c:pt>
                <c:pt idx="34">
                  <c:v>565000</c:v>
                </c:pt>
                <c:pt idx="35">
                  <c:v>470000</c:v>
                </c:pt>
                <c:pt idx="36">
                  <c:v>449000</c:v>
                </c:pt>
                <c:pt idx="37">
                  <c:v>490000</c:v>
                </c:pt>
                <c:pt idx="38">
                  <c:v>391900</c:v>
                </c:pt>
                <c:pt idx="39">
                  <c:v>368900</c:v>
                </c:pt>
                <c:pt idx="40">
                  <c:v>390900</c:v>
                </c:pt>
                <c:pt idx="41">
                  <c:v>486900</c:v>
                </c:pt>
                <c:pt idx="42">
                  <c:v>388900</c:v>
                </c:pt>
                <c:pt idx="43">
                  <c:v>464900</c:v>
                </c:pt>
                <c:pt idx="44">
                  <c:v>425900</c:v>
                </c:pt>
                <c:pt idx="45">
                  <c:v>530900</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4"/>
          <c:order val="4"/>
          <c:tx>
            <c:strRef>
              <c:f>Sheet1!$F$1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353370.74537409266</c:v>
                </c:pt>
                <c:pt idx="47">
                  <c:v>361279.9692978465</c:v>
                </c:pt>
                <c:pt idx="48">
                  <c:v>369189.1932216004</c:v>
                </c:pt>
                <c:pt idx="49">
                  <c:v>377098.41714535427</c:v>
                </c:pt>
                <c:pt idx="50">
                  <c:v>385007.6410691081</c:v>
                </c:pt>
                <c:pt idx="51">
                  <c:v>392916.864992862</c:v>
                </c:pt>
                <c:pt idx="52">
                  <c:v>400826.0889166159</c:v>
                </c:pt>
                <c:pt idx="53">
                  <c:v>408735.31284036976</c:v>
                </c:pt>
                <c:pt idx="54">
                  <c:v>416644.53676412365</c:v>
                </c:pt>
                <c:pt idx="55">
                  <c:v>424553.7606878775</c:v>
                </c:pt>
                <c:pt idx="56">
                  <c:v>432462.9846116313</c:v>
                </c:pt>
                <c:pt idx="57">
                  <c:v>440372.2085353852</c:v>
                </c:pt>
                <c:pt idx="58">
                  <c:v>448281.4324591391</c:v>
                </c:pt>
                <c:pt idx="59">
                  <c:v>456190.656382893</c:v>
                </c:pt>
                <c:pt idx="60">
                  <c:v>464099.88030664687</c:v>
                </c:pt>
                <c:pt idx="61">
                  <c:v>472009.10423040076</c:v>
                </c:pt>
                <c:pt idx="62">
                  <c:v>479918.32815415465</c:v>
                </c:pt>
                <c:pt idx="63">
                  <c:v>487827.5520779085</c:v>
                </c:pt>
                <c:pt idx="64">
                  <c:v>495736.77600166237</c:v>
                </c:pt>
                <c:pt idx="65">
                  <c:v>503645.99992541614</c:v>
                </c:pt>
                <c:pt idx="66">
                  <c:v>511555.22384917</c:v>
                </c:pt>
                <c:pt idx="67">
                  <c:v>519464.4477729239</c:v>
                </c:pt>
                <c:pt idx="68">
                  <c:v>527373.6716966778</c:v>
                </c:pt>
                <c:pt idx="69">
                  <c:v>535282.8956204318</c:v>
                </c:pt>
                <c:pt idx="70">
                  <c:v>543192.1195441856</c:v>
                </c:pt>
                <c:pt idx="71">
                  <c:v>551101.3434679394</c:v>
                </c:pt>
                <c:pt idx="72">
                  <c:v>559010.5673916934</c:v>
                </c:pt>
                <c:pt idx="73">
                  <c:v>566919.7913154473</c:v>
                </c:pt>
                <c:pt idx="74">
                  <c:v/>
                </c:pt>
              </c:numCache>
            </c:numRef>
          </c:yVal>
          <c:smooth val="0"/>
        </c:ser>
        <c:ser>
          <c:idx val="5"/>
          <c:order val="5"/>
          <c:tx>
            <c:strRef>
              <c:f>Sheet1!$G$1</c:f>
              <c:strCache>
                <c:ptCount val="1"/>
                <c:pt idx="0">
                  <c:v>Your Home, Recommended</c:v>
                </c:pt>
              </c:strCache>
            </c:strRef>
          </c:tx>
          <c:spPr>
            <a:solidFill>
              <a:srgbClr val="1F3A5F"/>
            </a:solidFill>
            <a:ln>
              <a:noFill/>
            </a:ln>
            <a:effectLst/>
          </c:spPr>
          <c:marker>
            <c:symbol val="diamond"/>
            <c:size val="14"/>
            <c:spPr>
              <a:solidFill>
                <a:srgbClr val="1F3A5F"/>
              </a:solidFill>
              <a:ln w="12700">
                <a:solidFill>
                  <a:srgbClr val="FFFFFF"/>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Sheet1!$G$2:$G$76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9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423074</c:v>
                </c:pt>
                <c:pt idx="1">
                  <c:v>422136</c:v>
                </c:pt>
                <c:pt idx="2">
                  <c:v>425260</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C2410C"/>
          </a:solidFill>
          <a:ln w="12700">
            <a:solidFill>
              <a:srgbClr val="C2410C"/>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560320"/>
            <a:ext cx="7772400" cy="411480"/>
          </a:xfrm>
          <a:prstGeom prst="rect">
            <a:avLst/>
          </a:prstGeom>
          <a:noFill/>
          <a:ln/>
        </p:spPr>
        <p:txBody>
          <a:bodyPr wrap="square" lIns="0" tIns="0" rIns="0" bIns="0" rtlCol="0" anchor="ctr"/>
          <a:lstStyle/>
          <a:p>
            <a:pPr indent="0" marL="0">
              <a:buNone/>
            </a:pPr>
            <a:r>
              <a:rPr lang="en-US" sz="1600" dirty="0">
                <a:solidFill>
                  <a:srgbClr val="F0D1C5"/>
                </a:solidFill>
                <a:latin typeface="Arial" pitchFamily="34" charset="0"/>
                <a:ea typeface="Arial" pitchFamily="34" charset="-122"/>
                <a:cs typeface="Arial" pitchFamily="34" charset="-120"/>
              </a:rPr>
              <a:t>Listing Presentation · Harrow Springs, Fernwood Park</a:t>
            </a:r>
            <a:endParaRPr lang="en-US" sz="1600" dirty="0"/>
          </a:p>
        </p:txBody>
      </p:sp>
      <p:sp>
        <p:nvSpPr>
          <p:cNvPr id="6" name="Text 3"/>
          <p:cNvSpPr txBox="1"/>
          <p:nvPr/>
        </p:nvSpPr>
        <p:spPr>
          <a:xfrm>
            <a:off x="457200" y="3429000"/>
            <a:ext cx="6400800" cy="1097280"/>
          </a:xfrm>
          <a:prstGeom prst="rect">
            <a:avLst/>
          </a:prstGeom>
          <a:noFill/>
          <a:ln/>
        </p:spPr>
        <p:txBody>
          <a:bodyPr wrap="square" lIns="0" tIns="0" rIns="0" bIns="0" rtlCol="0" anchor="t"/>
          <a:lstStyle/>
          <a:p>
            <a:pPr indent="0" marL="0">
              <a:spcAft>
                <a:spcPts val="200"/>
              </a:spcAft>
              <a:buNone/>
            </a:pPr>
            <a:r>
              <a:rPr lang="en-US" sz="1200" b="1" dirty="0">
                <a:solidFill>
                  <a:srgbClr val="D2D8DF"/>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114800" cy="10972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10896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10896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10896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10896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108960" cy="457200"/>
          </a:xfrm>
          <a:prstGeom prst="rect">
            <a:avLst/>
          </a:prstGeom>
          <a:noFill/>
          <a:ln/>
        </p:spPr>
        <p:txBody>
          <a:bodyPr wrap="square" lIns="0" tIns="0" rIns="0" bIns="0" rtlCol="0" anchor="ctr"/>
          <a:lstStyle/>
          <a:p>
            <a:pPr indent="0" marL="0">
              <a:buNone/>
            </a:pPr>
            <a:r>
              <a:rPr lang="en-US" sz="1900" b="1" dirty="0">
                <a:solidFill>
                  <a:srgbClr val="1A1A1A"/>
                </a:solidFill>
                <a:latin typeface="Arial" pitchFamily="34" charset="0"/>
                <a:ea typeface="Arial" pitchFamily="34" charset="-122"/>
                <a:cs typeface="Arial" pitchFamily="34" charset="-120"/>
              </a:rPr>
              <a:t>Low-to-mid $460,000s</a:t>
            </a:r>
            <a:endParaRPr lang="en-US" sz="1900" dirty="0"/>
          </a:p>
        </p:txBody>
      </p:sp>
      <p:sp>
        <p:nvSpPr>
          <p:cNvPr id="13" name="Text 11"/>
          <p:cNvSpPr txBox="1"/>
          <p:nvPr/>
        </p:nvSpPr>
        <p:spPr>
          <a:xfrm>
            <a:off x="5440680" y="3566160"/>
            <a:ext cx="310896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Five steps from the neighborhood's sales to one number</a:t>
            </a:r>
            <a:endParaRPr lang="en-US" sz="1300" dirty="0"/>
          </a:p>
        </p:txBody>
      </p:sp>
      <p:sp>
        <p:nvSpPr>
          <p:cNvPr id="4" name="Shape 2"/>
          <p:cNvSpPr/>
          <p:nvPr/>
        </p:nvSpPr>
        <p:spPr>
          <a:xfrm>
            <a:off x="457200" y="1600200"/>
            <a:ext cx="1444752" cy="2011680"/>
          </a:xfrm>
          <a:prstGeom prst="roundRect">
            <a:avLst>
              <a:gd name="adj" fmla="val 5063"/>
            </a:avLst>
          </a:prstGeom>
          <a:solidFill>
            <a:srgbClr val="FBF2EE"/>
          </a:solidFill>
          <a:ln w="12700">
            <a:solidFill>
              <a:srgbClr val="FBF2EE"/>
            </a:solidFill>
            <a:prstDash val="solid"/>
          </a:ln>
        </p:spPr>
      </p:sp>
      <p:sp>
        <p:nvSpPr>
          <p:cNvPr id="5" name="Text 3"/>
          <p:cNvSpPr txBox="1"/>
          <p:nvPr/>
        </p:nvSpPr>
        <p:spPr>
          <a:xfrm>
            <a:off x="566928" y="1874520"/>
            <a:ext cx="1225296" cy="640080"/>
          </a:xfrm>
          <a:prstGeom prst="rect">
            <a:avLst/>
          </a:prstGeom>
          <a:noFill/>
          <a:ln/>
        </p:spPr>
        <p:txBody>
          <a:bodyPr wrap="square" lIns="0" tIns="0" rIns="0" bIns="0" rtlCol="0" anchor="ctr"/>
          <a:lstStyle/>
          <a:p>
            <a:pPr algn="ctr" indent="0" marL="0">
              <a:buNone/>
            </a:pPr>
            <a:r>
              <a:rPr lang="en-US" sz="2600" b="1" dirty="0">
                <a:solidFill>
                  <a:srgbClr val="C2410C"/>
                </a:solidFill>
                <a:latin typeface="Arial" pitchFamily="34" charset="0"/>
                <a:ea typeface="Arial" pitchFamily="34" charset="-122"/>
                <a:cs typeface="Arial" pitchFamily="34" charset="-120"/>
              </a:rPr>
              <a:t>33</a:t>
            </a:r>
            <a:endParaRPr lang="en-US" sz="2600" dirty="0"/>
          </a:p>
        </p:txBody>
      </p:sp>
      <p:sp>
        <p:nvSpPr>
          <p:cNvPr id="6" name="Text 4"/>
          <p:cNvSpPr txBox="1"/>
          <p:nvPr/>
        </p:nvSpPr>
        <p:spPr>
          <a:xfrm>
            <a:off x="56692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7" name="Shape 5"/>
          <p:cNvSpPr/>
          <p:nvPr/>
        </p:nvSpPr>
        <p:spPr>
          <a:xfrm>
            <a:off x="1956816" y="2487168"/>
            <a:ext cx="137160" cy="237744"/>
          </a:xfrm>
          <a:prstGeom prst="chevron">
            <a:avLst/>
          </a:prstGeom>
          <a:solidFill>
            <a:srgbClr val="A3ADB6"/>
          </a:solidFill>
          <a:ln w="12700">
            <a:solidFill>
              <a:srgbClr val="A3ADB6"/>
            </a:solidFill>
            <a:prstDash val="solid"/>
          </a:ln>
        </p:spPr>
      </p:sp>
      <p:sp>
        <p:nvSpPr>
          <p:cNvPr id="8" name="Shape 6"/>
          <p:cNvSpPr/>
          <p:nvPr/>
        </p:nvSpPr>
        <p:spPr>
          <a:xfrm>
            <a:off x="2148840" y="1600200"/>
            <a:ext cx="1444752" cy="2011680"/>
          </a:xfrm>
          <a:prstGeom prst="roundRect">
            <a:avLst>
              <a:gd name="adj" fmla="val 5063"/>
            </a:avLst>
          </a:prstGeom>
          <a:solidFill>
            <a:srgbClr val="FBF2EE"/>
          </a:solidFill>
          <a:ln w="12700">
            <a:solidFill>
              <a:srgbClr val="FBF2EE"/>
            </a:solidFill>
            <a:prstDash val="solid"/>
          </a:ln>
        </p:spPr>
      </p:sp>
      <p:sp>
        <p:nvSpPr>
          <p:cNvPr id="9" name="Text 7"/>
          <p:cNvSpPr txBox="1"/>
          <p:nvPr/>
        </p:nvSpPr>
        <p:spPr>
          <a:xfrm>
            <a:off x="2258568" y="1874520"/>
            <a:ext cx="1225296" cy="640080"/>
          </a:xfrm>
          <a:prstGeom prst="rect">
            <a:avLst/>
          </a:prstGeom>
          <a:noFill/>
          <a:ln/>
        </p:spPr>
        <p:txBody>
          <a:bodyPr wrap="square" lIns="0" tIns="0" rIns="0" bIns="0" rtlCol="0" anchor="ctr"/>
          <a:lstStyle/>
          <a:p>
            <a:pPr algn="ctr" indent="0" marL="0">
              <a:buNone/>
            </a:pPr>
            <a:r>
              <a:rPr lang="en-US" sz="2600" b="1" dirty="0">
                <a:solidFill>
                  <a:srgbClr val="C2410C"/>
                </a:solidFill>
                <a:latin typeface="Arial" pitchFamily="34" charset="0"/>
                <a:ea typeface="Arial" pitchFamily="34" charset="-122"/>
                <a:cs typeface="Arial" pitchFamily="34" charset="-120"/>
              </a:rPr>
              <a:t>5</a:t>
            </a:r>
            <a:endParaRPr lang="en-US" sz="2600" dirty="0"/>
          </a:p>
        </p:txBody>
      </p:sp>
      <p:sp>
        <p:nvSpPr>
          <p:cNvPr id="10" name="Text 8"/>
          <p:cNvSpPr txBox="1"/>
          <p:nvPr/>
        </p:nvSpPr>
        <p:spPr>
          <a:xfrm>
            <a:off x="225856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1" name="Shape 9"/>
          <p:cNvSpPr/>
          <p:nvPr/>
        </p:nvSpPr>
        <p:spPr>
          <a:xfrm>
            <a:off x="3648456" y="2487168"/>
            <a:ext cx="137160" cy="237744"/>
          </a:xfrm>
          <a:prstGeom prst="chevron">
            <a:avLst/>
          </a:prstGeom>
          <a:solidFill>
            <a:srgbClr val="A3ADB6"/>
          </a:solidFill>
          <a:ln w="12700">
            <a:solidFill>
              <a:srgbClr val="A3ADB6"/>
            </a:solidFill>
            <a:prstDash val="solid"/>
          </a:ln>
        </p:spPr>
      </p:sp>
      <p:sp>
        <p:nvSpPr>
          <p:cNvPr id="12" name="Shape 10"/>
          <p:cNvSpPr/>
          <p:nvPr/>
        </p:nvSpPr>
        <p:spPr>
          <a:xfrm>
            <a:off x="3840480" y="1600200"/>
            <a:ext cx="1444752" cy="2011680"/>
          </a:xfrm>
          <a:prstGeom prst="roundRect">
            <a:avLst>
              <a:gd name="adj" fmla="val 5063"/>
            </a:avLst>
          </a:prstGeom>
          <a:solidFill>
            <a:srgbClr val="FBF2EE"/>
          </a:solidFill>
          <a:ln w="12700">
            <a:solidFill>
              <a:srgbClr val="FBF2EE"/>
            </a:solidFill>
            <a:prstDash val="solid"/>
          </a:ln>
        </p:spPr>
      </p:sp>
      <p:sp>
        <p:nvSpPr>
          <p:cNvPr id="13" name="Text 11"/>
          <p:cNvSpPr txBox="1"/>
          <p:nvPr/>
        </p:nvSpPr>
        <p:spPr>
          <a:xfrm>
            <a:off x="3950208" y="1874520"/>
            <a:ext cx="1225296" cy="640080"/>
          </a:xfrm>
          <a:prstGeom prst="rect">
            <a:avLst/>
          </a:prstGeom>
          <a:noFill/>
          <a:ln/>
        </p:spPr>
        <p:txBody>
          <a:bodyPr wrap="square" lIns="0" tIns="0" rIns="0" bIns="0" rtlCol="0" anchor="ctr"/>
          <a:lstStyle/>
          <a:p>
            <a:pPr algn="ctr" indent="0" marL="0">
              <a:buNone/>
            </a:pPr>
            <a:r>
              <a:rPr lang="en-US" sz="1700" b="1" dirty="0">
                <a:solidFill>
                  <a:srgbClr val="C2410C"/>
                </a:solidFill>
                <a:latin typeface="Arial" pitchFamily="34" charset="0"/>
                <a:ea typeface="Arial" pitchFamily="34" charset="-122"/>
                <a:cs typeface="Arial" pitchFamily="34" charset="-120"/>
              </a:rPr>
              <a:t>$436K–$492K</a:t>
            </a:r>
            <a:endParaRPr lang="en-US" sz="1700" dirty="0"/>
          </a:p>
        </p:txBody>
      </p:sp>
      <p:sp>
        <p:nvSpPr>
          <p:cNvPr id="14" name="Text 12"/>
          <p:cNvSpPr txBox="1"/>
          <p:nvPr/>
        </p:nvSpPr>
        <p:spPr>
          <a:xfrm>
            <a:off x="395020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5" name="Shape 13"/>
          <p:cNvSpPr/>
          <p:nvPr/>
        </p:nvSpPr>
        <p:spPr>
          <a:xfrm>
            <a:off x="5340096" y="2487168"/>
            <a:ext cx="137160" cy="237744"/>
          </a:xfrm>
          <a:prstGeom prst="chevron">
            <a:avLst/>
          </a:prstGeom>
          <a:solidFill>
            <a:srgbClr val="A3ADB6"/>
          </a:solidFill>
          <a:ln w="12700">
            <a:solidFill>
              <a:srgbClr val="A3ADB6"/>
            </a:solidFill>
            <a:prstDash val="solid"/>
          </a:ln>
        </p:spPr>
      </p:sp>
      <p:sp>
        <p:nvSpPr>
          <p:cNvPr id="16" name="Shape 14"/>
          <p:cNvSpPr/>
          <p:nvPr/>
        </p:nvSpPr>
        <p:spPr>
          <a:xfrm>
            <a:off x="5532120" y="1600200"/>
            <a:ext cx="1444752" cy="2011680"/>
          </a:xfrm>
          <a:prstGeom prst="roundRect">
            <a:avLst>
              <a:gd name="adj" fmla="val 5063"/>
            </a:avLst>
          </a:prstGeom>
          <a:solidFill>
            <a:srgbClr val="FBF2EE"/>
          </a:solidFill>
          <a:ln w="12700">
            <a:solidFill>
              <a:srgbClr val="FBF2EE"/>
            </a:solidFill>
            <a:prstDash val="solid"/>
          </a:ln>
        </p:spPr>
      </p:sp>
      <p:sp>
        <p:nvSpPr>
          <p:cNvPr id="17" name="Text 15"/>
          <p:cNvSpPr txBox="1"/>
          <p:nvPr/>
        </p:nvSpPr>
        <p:spPr>
          <a:xfrm>
            <a:off x="5641848" y="1874520"/>
            <a:ext cx="1225296" cy="640080"/>
          </a:xfrm>
          <a:prstGeom prst="rect">
            <a:avLst/>
          </a:prstGeom>
          <a:noFill/>
          <a:ln/>
        </p:spPr>
        <p:txBody>
          <a:bodyPr wrap="square" lIns="0" tIns="0" rIns="0" bIns="0" rtlCol="0" anchor="ctr"/>
          <a:lstStyle/>
          <a:p>
            <a:pPr algn="ctr" indent="0" marL="0">
              <a:buNone/>
            </a:pPr>
            <a:r>
              <a:rPr lang="en-US" sz="1700" b="1" dirty="0">
                <a:solidFill>
                  <a:srgbClr val="C2410C"/>
                </a:solidFill>
                <a:latin typeface="Arial" pitchFamily="34" charset="0"/>
                <a:ea typeface="Arial" pitchFamily="34" charset="-122"/>
                <a:cs typeface="Arial" pitchFamily="34" charset="-120"/>
              </a:rPr>
              <a:t>$469,800</a:t>
            </a:r>
            <a:endParaRPr lang="en-US" sz="1700" dirty="0"/>
          </a:p>
        </p:txBody>
      </p:sp>
      <p:sp>
        <p:nvSpPr>
          <p:cNvPr id="18" name="Text 16"/>
          <p:cNvSpPr txBox="1"/>
          <p:nvPr/>
        </p:nvSpPr>
        <p:spPr>
          <a:xfrm>
            <a:off x="564184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19" name="Shape 17"/>
          <p:cNvSpPr/>
          <p:nvPr/>
        </p:nvSpPr>
        <p:spPr>
          <a:xfrm>
            <a:off x="7031736" y="2487168"/>
            <a:ext cx="137160" cy="237744"/>
          </a:xfrm>
          <a:prstGeom prst="chevron">
            <a:avLst/>
          </a:prstGeom>
          <a:solidFill>
            <a:srgbClr val="A3ADB6"/>
          </a:solidFill>
          <a:ln w="12700">
            <a:solidFill>
              <a:srgbClr val="A3ADB6"/>
            </a:solidFill>
            <a:prstDash val="solid"/>
          </a:ln>
        </p:spPr>
      </p:sp>
      <p:sp>
        <p:nvSpPr>
          <p:cNvPr id="20" name="Shape 18"/>
          <p:cNvSpPr/>
          <p:nvPr/>
        </p:nvSpPr>
        <p:spPr>
          <a:xfrm>
            <a:off x="7223760" y="1600200"/>
            <a:ext cx="1444752" cy="2011680"/>
          </a:xfrm>
          <a:prstGeom prst="roundRect">
            <a:avLst>
              <a:gd name="adj" fmla="val 5063"/>
            </a:avLst>
          </a:prstGeom>
          <a:solidFill>
            <a:srgbClr val="C2410C"/>
          </a:solidFill>
          <a:ln w="12700">
            <a:solidFill>
              <a:srgbClr val="C2410C"/>
            </a:solidFill>
            <a:prstDash val="solid"/>
          </a:ln>
        </p:spPr>
      </p:sp>
      <p:sp>
        <p:nvSpPr>
          <p:cNvPr id="21" name="Text 19"/>
          <p:cNvSpPr txBox="1"/>
          <p:nvPr/>
        </p:nvSpPr>
        <p:spPr>
          <a:xfrm>
            <a:off x="7333488" y="1874520"/>
            <a:ext cx="1225296"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$469,900</a:t>
            </a:r>
            <a:endParaRPr lang="en-US" sz="1700" dirty="0"/>
          </a:p>
        </p:txBody>
      </p:sp>
      <p:sp>
        <p:nvSpPr>
          <p:cNvPr id="22" name="Text 20"/>
          <p:cNvSpPr txBox="1"/>
          <p:nvPr/>
        </p:nvSpPr>
        <p:spPr>
          <a:xfrm>
            <a:off x="7333488" y="2606040"/>
            <a:ext cx="1225296" cy="868680"/>
          </a:xfrm>
          <a:prstGeom prst="rect">
            <a:avLst/>
          </a:prstGeom>
          <a:noFill/>
          <a:ln/>
        </p:spPr>
        <p:txBody>
          <a:bodyPr wrap="square" lIns="0" tIns="0" rIns="0" bIns="0" rtlCol="0" anchor="t"/>
          <a:lstStyle/>
          <a:p>
            <a:pPr algn="ctr" indent="0" marL="0">
              <a:buNone/>
            </a:pPr>
            <a:r>
              <a:rPr lang="en-US" sz="1200" dirty="0">
                <a:solidFill>
                  <a:srgbClr val="FFFFFF"/>
                </a:solidFill>
                <a:latin typeface="Arial" pitchFamily="34" charset="0"/>
                <a:ea typeface="Arial" pitchFamily="34" charset="-122"/>
                <a:cs typeface="Arial" pitchFamily="34" charset="-120"/>
              </a:rPr>
              <a:t>recommended list price</a:t>
            </a:r>
            <a:endParaRPr lang="en-US" sz="1200" dirty="0"/>
          </a:p>
        </p:txBody>
      </p:sp>
      <p:sp>
        <p:nvSpPr>
          <p:cNvPr id="23" name="Text 21"/>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200" dirty="0"/>
          </a:p>
        </p:txBody>
      </p:sp>
      <p:sp>
        <p:nvSpPr>
          <p:cNvPr id="24" name="Text 2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5" name="Text 2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17320"/>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21992"/>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Worth about $25,000 against similar homes without one.</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26664"/>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31336"/>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 so lenders don't require flood insurance.</a:t>
            </a:r>
            <a:endParaRPr lang="en-US" sz="1200" dirty="0"/>
          </a:p>
        </p:txBody>
      </p:sp>
      <p:sp>
        <p:nvSpPr>
          <p:cNvPr id="19" name="Shape 13"/>
          <p:cNvSpPr/>
          <p:nvPr/>
        </p:nvSpPr>
        <p:spPr>
          <a:xfrm>
            <a:off x="5486400" y="1143000"/>
            <a:ext cx="3200400" cy="3108960"/>
          </a:xfrm>
          <a:prstGeom prst="roundRect">
            <a:avLst>
              <a:gd name="adj" fmla="val 2353"/>
            </a:avLst>
          </a:prstGeom>
          <a:solidFill>
            <a:srgbClr val="E4E7EC"/>
          </a:solidFill>
          <a:ln w="12700">
            <a:solidFill>
              <a:srgbClr val="E4E7EC"/>
            </a:solidFill>
            <a:prstDash val="solid"/>
          </a:ln>
        </p:spPr>
      </p:sp>
      <p:sp>
        <p:nvSpPr>
          <p:cNvPr id="20" name="Text 14"/>
          <p:cNvSpPr txBox="1"/>
          <p:nvPr/>
        </p:nvSpPr>
        <p:spPr>
          <a:xfrm>
            <a:off x="5715000" y="1325880"/>
            <a:ext cx="2834640" cy="320040"/>
          </a:xfrm>
          <a:prstGeom prst="rect">
            <a:avLst/>
          </a:prstGeom>
          <a:noFill/>
          <a:ln/>
        </p:spPr>
        <p:txBody>
          <a:bodyPr wrap="square" lIns="0" tIns="0" rIns="0" bIns="0" rtlCol="0" anchor="ctr"/>
          <a:lstStyle/>
          <a:p>
            <a:pPr indent="0" marL="0">
              <a:buNone/>
            </a:pPr>
            <a:r>
              <a:rPr lang="en-US" sz="1500" b="1" dirty="0">
                <a:solidFill>
                  <a:srgbClr val="1F3A5F"/>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1F3A5F"/>
          </a:solidFill>
          <a:ln w="12700">
            <a:solidFill>
              <a:srgbClr val="1F3A5F"/>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03120"/>
            <a:ext cx="2286000" cy="73152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2971800"/>
            <a:ext cx="411480" cy="411480"/>
          </a:xfrm>
          <a:prstGeom prst="ellipse">
            <a:avLst/>
          </a:prstGeom>
          <a:solidFill>
            <a:srgbClr val="1F3A5F"/>
          </a:solidFill>
          <a:ln w="12700">
            <a:solidFill>
              <a:srgbClr val="1F3A5F"/>
            </a:solidFill>
            <a:prstDash val="solid"/>
          </a:ln>
        </p:spPr>
      </p:sp>
      <p:pic>
        <p:nvPicPr>
          <p:cNvPr id="26" name="Image 5" descr="preencoded.png">    </p:cNvPr>
          <p:cNvPicPr>
            <a:picLocks noChangeAspect="1"/>
          </p:cNvPicPr>
          <p:nvPr/>
        </p:nvPicPr>
        <p:blipFill>
          <a:blip r:embed="rId6"/>
          <a:stretch>
            <a:fillRect/>
          </a:stretch>
        </p:blipFill>
        <p:spPr>
          <a:xfrm>
            <a:off x="5813755" y="3070555"/>
            <a:ext cx="213970" cy="213970"/>
          </a:xfrm>
          <a:prstGeom prst="rect">
            <a:avLst/>
          </a:prstGeom>
        </p:spPr>
      </p:pic>
      <p:sp>
        <p:nvSpPr>
          <p:cNvPr id="27" name="Text 19"/>
          <p:cNvSpPr txBox="1"/>
          <p:nvPr/>
        </p:nvSpPr>
        <p:spPr>
          <a:xfrm>
            <a:off x="6263640" y="2971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246120"/>
            <a:ext cx="2286000" cy="73152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96128" y="1325880"/>
            <a:ext cx="118872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82896" y="1325880"/>
            <a:ext cx="0" cy="2468880"/>
          </a:xfrm>
          <a:prstGeom prst="line">
            <a:avLst/>
          </a:prstGeom>
          <a:noFill/>
          <a:ln w="9525">
            <a:solidFill>
              <a:srgbClr val="F8E8E2"/>
            </a:solidFill>
            <a:prstDash val="solid"/>
          </a:ln>
        </p:spPr>
      </p:sp>
      <p:sp>
        <p:nvSpPr>
          <p:cNvPr id="8" name="Text 6"/>
          <p:cNvSpPr txBox="1"/>
          <p:nvPr/>
        </p:nvSpPr>
        <p:spPr>
          <a:xfrm>
            <a:off x="4517136"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833872" y="1325880"/>
            <a:ext cx="0" cy="2468880"/>
          </a:xfrm>
          <a:prstGeom prst="line">
            <a:avLst/>
          </a:prstGeom>
          <a:noFill/>
          <a:ln w="9525">
            <a:solidFill>
              <a:srgbClr val="F8E8E2"/>
            </a:solidFill>
            <a:prstDash val="solid"/>
          </a:ln>
        </p:spPr>
      </p:sp>
      <p:sp>
        <p:nvSpPr>
          <p:cNvPr id="10" name="Text 8"/>
          <p:cNvSpPr txBox="1"/>
          <p:nvPr/>
        </p:nvSpPr>
        <p:spPr>
          <a:xfrm>
            <a:off x="5468112"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784848" y="1325880"/>
            <a:ext cx="0" cy="2468880"/>
          </a:xfrm>
          <a:prstGeom prst="line">
            <a:avLst/>
          </a:prstGeom>
          <a:noFill/>
          <a:ln w="9525">
            <a:solidFill>
              <a:srgbClr val="F8E8E2"/>
            </a:solidFill>
            <a:prstDash val="solid"/>
          </a:ln>
        </p:spPr>
      </p:sp>
      <p:sp>
        <p:nvSpPr>
          <p:cNvPr id="12" name="Text 10"/>
          <p:cNvSpPr txBox="1"/>
          <p:nvPr/>
        </p:nvSpPr>
        <p:spPr>
          <a:xfrm>
            <a:off x="6419088"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735824" y="1325880"/>
            <a:ext cx="0" cy="2468880"/>
          </a:xfrm>
          <a:prstGeom prst="line">
            <a:avLst/>
          </a:prstGeom>
          <a:noFill/>
          <a:ln w="9525">
            <a:solidFill>
              <a:srgbClr val="F8E8E2"/>
            </a:solidFill>
            <a:prstDash val="solid"/>
          </a:ln>
        </p:spPr>
      </p:sp>
      <p:sp>
        <p:nvSpPr>
          <p:cNvPr id="14" name="Text 12"/>
          <p:cNvSpPr txBox="1"/>
          <p:nvPr/>
        </p:nvSpPr>
        <p:spPr>
          <a:xfrm>
            <a:off x="7370064"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686800" y="1325880"/>
            <a:ext cx="0" cy="2468880"/>
          </a:xfrm>
          <a:prstGeom prst="line">
            <a:avLst/>
          </a:prstGeom>
          <a:noFill/>
          <a:ln w="9525">
            <a:solidFill>
              <a:srgbClr val="F8E8E2"/>
            </a:solidFill>
            <a:prstDash val="solid"/>
          </a:ln>
        </p:spPr>
      </p:sp>
      <p:sp>
        <p:nvSpPr>
          <p:cNvPr id="16" name="Text 14"/>
          <p:cNvSpPr txBox="1"/>
          <p:nvPr/>
        </p:nvSpPr>
        <p:spPr>
          <a:xfrm>
            <a:off x="832104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304605" y="1188720"/>
            <a:ext cx="0" cy="2606040"/>
          </a:xfrm>
          <a:prstGeom prst="line">
            <a:avLst/>
          </a:prstGeom>
          <a:noFill/>
          <a:ln w="25400">
            <a:solidFill>
              <a:srgbClr val="1F3A5F"/>
            </a:solidFill>
            <a:prstDash val="dash"/>
          </a:ln>
        </p:spPr>
      </p:sp>
      <p:sp>
        <p:nvSpPr>
          <p:cNvPr id="18" name="Text 16"/>
          <p:cNvSpPr txBox="1"/>
          <p:nvPr/>
        </p:nvSpPr>
        <p:spPr>
          <a:xfrm>
            <a:off x="5298765" y="960120"/>
            <a:ext cx="2011680" cy="228600"/>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287402"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79426" y="14904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883237"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7075261" y="19476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217554"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409578" y="24048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2452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16546" y="28620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619915"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811939" y="33192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457200" y="960120"/>
          <a:ext cx="5577840" cy="37490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263640" y="1143000"/>
            <a:ext cx="2423160" cy="2514600"/>
          </a:xfrm>
          <a:prstGeom prst="roundRect">
            <a:avLst>
              <a:gd name="adj" fmla="val 3019"/>
            </a:avLst>
          </a:prstGeom>
          <a:solidFill>
            <a:srgbClr val="FBF2EE"/>
          </a:solidFill>
          <a:ln w="12700">
            <a:solidFill>
              <a:srgbClr val="FBF2EE"/>
            </a:solidFill>
            <a:prstDash val="solid"/>
          </a:ln>
        </p:spPr>
      </p:sp>
      <p:sp>
        <p:nvSpPr>
          <p:cNvPr id="5" name="Text 2"/>
          <p:cNvSpPr txBox="1"/>
          <p:nvPr/>
        </p:nvSpPr>
        <p:spPr>
          <a:xfrm>
            <a:off x="6446520" y="1325880"/>
            <a:ext cx="2103120" cy="141732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Renovated pool homes sell well above the neighborhood trend. At $469,900, yours sits among them without testing the ceiling.</a:t>
            </a:r>
            <a:endParaRPr lang="en-US" sz="1300" dirty="0"/>
          </a:p>
        </p:txBody>
      </p:sp>
      <p:sp>
        <p:nvSpPr>
          <p:cNvPr id="6" name="Text 3"/>
          <p:cNvSpPr txBox="1"/>
          <p:nvPr/>
        </p:nvSpPr>
        <p:spPr>
          <a:xfrm>
            <a:off x="6446520" y="2788920"/>
            <a:ext cx="2103120" cy="77724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417320"/>
            <a:ext cx="1874520" cy="2103120"/>
          </a:xfrm>
          <a:prstGeom prst="roundRect">
            <a:avLst>
              <a:gd name="adj" fmla="val 3902"/>
            </a:avLst>
          </a:prstGeom>
          <a:solidFill>
            <a:srgbClr val="FBF2EE"/>
          </a:solidFill>
          <a:ln w="12700">
            <a:solidFill>
              <a:srgbClr val="FBF2EE"/>
            </a:solidFill>
            <a:prstDash val="solid"/>
          </a:ln>
        </p:spPr>
      </p:sp>
      <p:sp>
        <p:nvSpPr>
          <p:cNvPr id="5" name="Shape 3"/>
          <p:cNvSpPr/>
          <p:nvPr/>
        </p:nvSpPr>
        <p:spPr>
          <a:xfrm>
            <a:off x="640080" y="160020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98955"/>
            <a:ext cx="213970" cy="213970"/>
          </a:xfrm>
          <a:prstGeom prst="rect">
            <a:avLst/>
          </a:prstGeom>
        </p:spPr>
      </p:pic>
      <p:sp>
        <p:nvSpPr>
          <p:cNvPr id="7" name="Text 4"/>
          <p:cNvSpPr txBox="1"/>
          <p:nvPr/>
        </p:nvSpPr>
        <p:spPr>
          <a:xfrm>
            <a:off x="64008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100%</a:t>
            </a:r>
            <a:endParaRPr lang="en-US" sz="1300" dirty="0"/>
          </a:p>
        </p:txBody>
      </p:sp>
      <p:sp>
        <p:nvSpPr>
          <p:cNvPr id="9" name="Text 6"/>
          <p:cNvSpPr txBox="1"/>
          <p:nvPr/>
        </p:nvSpPr>
        <p:spPr>
          <a:xfrm>
            <a:off x="64008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0" name="Text 7"/>
          <p:cNvSpPr txBox="1"/>
          <p:nvPr/>
        </p:nvSpPr>
        <p:spPr>
          <a:xfrm>
            <a:off x="64008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95.2%</a:t>
            </a:r>
            <a:endParaRPr lang="en-US" sz="2600" dirty="0"/>
          </a:p>
        </p:txBody>
      </p:sp>
      <p:sp>
        <p:nvSpPr>
          <p:cNvPr id="11" name="Text 8"/>
          <p:cNvSpPr txBox="1"/>
          <p:nvPr/>
        </p:nvSpPr>
        <p:spPr>
          <a:xfrm>
            <a:off x="64008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12" name="Shape 9"/>
          <p:cNvSpPr/>
          <p:nvPr/>
        </p:nvSpPr>
        <p:spPr>
          <a:xfrm>
            <a:off x="2606040" y="1417320"/>
            <a:ext cx="1874520" cy="2103120"/>
          </a:xfrm>
          <a:prstGeom prst="roundRect">
            <a:avLst>
              <a:gd name="adj" fmla="val 3902"/>
            </a:avLst>
          </a:prstGeom>
          <a:solidFill>
            <a:srgbClr val="FBF2EE"/>
          </a:solidFill>
          <a:ln w="12700">
            <a:solidFill>
              <a:srgbClr val="FBF2EE"/>
            </a:solidFill>
            <a:prstDash val="solid"/>
          </a:ln>
        </p:spPr>
      </p:sp>
      <p:sp>
        <p:nvSpPr>
          <p:cNvPr id="13" name="Shape 10"/>
          <p:cNvSpPr/>
          <p:nvPr/>
        </p:nvSpPr>
        <p:spPr>
          <a:xfrm>
            <a:off x="2788920" y="160020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87675" y="1698955"/>
            <a:ext cx="213970" cy="213970"/>
          </a:xfrm>
          <a:prstGeom prst="rect">
            <a:avLst/>
          </a:prstGeom>
        </p:spPr>
      </p:pic>
      <p:sp>
        <p:nvSpPr>
          <p:cNvPr id="15" name="Text 11"/>
          <p:cNvSpPr txBox="1"/>
          <p:nvPr/>
        </p:nvSpPr>
        <p:spPr>
          <a:xfrm>
            <a:off x="278892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8892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8</a:t>
            </a:r>
            <a:endParaRPr lang="en-US" sz="1300" dirty="0"/>
          </a:p>
        </p:txBody>
      </p:sp>
      <p:sp>
        <p:nvSpPr>
          <p:cNvPr id="17" name="Text 13"/>
          <p:cNvSpPr txBox="1"/>
          <p:nvPr/>
        </p:nvSpPr>
        <p:spPr>
          <a:xfrm>
            <a:off x="278892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8" name="Text 14"/>
          <p:cNvSpPr txBox="1"/>
          <p:nvPr/>
        </p:nvSpPr>
        <p:spPr>
          <a:xfrm>
            <a:off x="278892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22</a:t>
            </a:r>
            <a:endParaRPr lang="en-US" sz="2600" dirty="0"/>
          </a:p>
        </p:txBody>
      </p:sp>
      <p:sp>
        <p:nvSpPr>
          <p:cNvPr id="19" name="Text 15"/>
          <p:cNvSpPr txBox="1"/>
          <p:nvPr/>
        </p:nvSpPr>
        <p:spPr>
          <a:xfrm>
            <a:off x="278892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20" name="Shape 16"/>
          <p:cNvSpPr/>
          <p:nvPr/>
        </p:nvSpPr>
        <p:spPr>
          <a:xfrm>
            <a:off x="4754880" y="1417320"/>
            <a:ext cx="1874520" cy="2103120"/>
          </a:xfrm>
          <a:prstGeom prst="roundRect">
            <a:avLst>
              <a:gd name="adj" fmla="val 3902"/>
            </a:avLst>
          </a:prstGeom>
          <a:solidFill>
            <a:srgbClr val="FBF2EE"/>
          </a:solidFill>
          <a:ln w="12700">
            <a:solidFill>
              <a:srgbClr val="FBF2EE"/>
            </a:solidFill>
            <a:prstDash val="solid"/>
          </a:ln>
        </p:spPr>
      </p:sp>
      <p:sp>
        <p:nvSpPr>
          <p:cNvPr id="21" name="Shape 17"/>
          <p:cNvSpPr/>
          <p:nvPr/>
        </p:nvSpPr>
        <p:spPr>
          <a:xfrm>
            <a:off x="4937760" y="160020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5036515" y="1698955"/>
            <a:ext cx="213970" cy="213970"/>
          </a:xfrm>
          <a:prstGeom prst="rect">
            <a:avLst/>
          </a:prstGeom>
        </p:spPr>
      </p:pic>
      <p:sp>
        <p:nvSpPr>
          <p:cNvPr id="23" name="Text 18"/>
          <p:cNvSpPr txBox="1"/>
          <p:nvPr/>
        </p:nvSpPr>
        <p:spPr>
          <a:xfrm>
            <a:off x="493776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93776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50%</a:t>
            </a:r>
            <a:endParaRPr lang="en-US" sz="1300" dirty="0"/>
          </a:p>
        </p:txBody>
      </p:sp>
      <p:sp>
        <p:nvSpPr>
          <p:cNvPr id="25" name="Text 20"/>
          <p:cNvSpPr txBox="1"/>
          <p:nvPr/>
        </p:nvSpPr>
        <p:spPr>
          <a:xfrm>
            <a:off x="493776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6" name="Text 21"/>
          <p:cNvSpPr txBox="1"/>
          <p:nvPr/>
        </p:nvSpPr>
        <p:spPr>
          <a:xfrm>
            <a:off x="493776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89%</a:t>
            </a:r>
            <a:endParaRPr lang="en-US" sz="2600" dirty="0"/>
          </a:p>
        </p:txBody>
      </p:sp>
      <p:sp>
        <p:nvSpPr>
          <p:cNvPr id="27" name="Text 22"/>
          <p:cNvSpPr txBox="1"/>
          <p:nvPr/>
        </p:nvSpPr>
        <p:spPr>
          <a:xfrm>
            <a:off x="493776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28" name="Shape 23"/>
          <p:cNvSpPr/>
          <p:nvPr/>
        </p:nvSpPr>
        <p:spPr>
          <a:xfrm>
            <a:off x="6903720" y="1417320"/>
            <a:ext cx="1874520" cy="2103120"/>
          </a:xfrm>
          <a:prstGeom prst="roundRect">
            <a:avLst>
              <a:gd name="adj" fmla="val 3902"/>
            </a:avLst>
          </a:prstGeom>
          <a:solidFill>
            <a:srgbClr val="FBF2EE"/>
          </a:solidFill>
          <a:ln w="12700">
            <a:solidFill>
              <a:srgbClr val="FBF2EE"/>
            </a:solidFill>
            <a:prstDash val="solid"/>
          </a:ln>
        </p:spPr>
      </p:sp>
      <p:sp>
        <p:nvSpPr>
          <p:cNvPr id="29" name="Shape 24"/>
          <p:cNvSpPr/>
          <p:nvPr/>
        </p:nvSpPr>
        <p:spPr>
          <a:xfrm>
            <a:off x="7086600" y="160020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185355" y="1698955"/>
            <a:ext cx="213970" cy="213970"/>
          </a:xfrm>
          <a:prstGeom prst="rect">
            <a:avLst/>
          </a:prstGeom>
        </p:spPr>
      </p:pic>
      <p:sp>
        <p:nvSpPr>
          <p:cNvPr id="31" name="Text 25"/>
          <p:cNvSpPr txBox="1"/>
          <p:nvPr/>
        </p:nvSpPr>
        <p:spPr>
          <a:xfrm>
            <a:off x="708660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708660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~6.3%</a:t>
            </a:r>
            <a:endParaRPr lang="en-US" sz="1300" dirty="0"/>
          </a:p>
        </p:txBody>
      </p:sp>
      <p:sp>
        <p:nvSpPr>
          <p:cNvPr id="33" name="Text 27"/>
          <p:cNvSpPr txBox="1"/>
          <p:nvPr/>
        </p:nvSpPr>
        <p:spPr>
          <a:xfrm>
            <a:off x="708660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4" name="Text 28"/>
          <p:cNvSpPr txBox="1"/>
          <p:nvPr/>
        </p:nvSpPr>
        <p:spPr>
          <a:xfrm>
            <a:off x="708660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6.95%</a:t>
            </a:r>
            <a:endParaRPr lang="en-US" sz="2600" dirty="0"/>
          </a:p>
        </p:txBody>
      </p:sp>
      <p:sp>
        <p:nvSpPr>
          <p:cNvPr id="35" name="Text 29"/>
          <p:cNvSpPr txBox="1"/>
          <p:nvPr/>
        </p:nvSpPr>
        <p:spPr>
          <a:xfrm>
            <a:off x="708660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36" name="Text 30"/>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7180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10312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28800" y="210312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45–90 days</a:t>
            </a:r>
            <a:endParaRPr lang="en-US" sz="1300" dirty="0"/>
          </a:p>
        </p:txBody>
      </p:sp>
      <p:sp>
        <p:nvSpPr>
          <p:cNvPr id="7" name="Text 5"/>
          <p:cNvSpPr txBox="1"/>
          <p:nvPr/>
        </p:nvSpPr>
        <p:spPr>
          <a:xfrm>
            <a:off x="658368" y="251460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1828800" y="251460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92608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10" name="Text 8"/>
          <p:cNvSpPr txBox="1"/>
          <p:nvPr/>
        </p:nvSpPr>
        <p:spPr>
          <a:xfrm>
            <a:off x="1828800" y="292608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337560"/>
            <a:ext cx="2157984" cy="59436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297180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10312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663440" y="210312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51460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663440" y="251460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92608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 Assumed</a:t>
            </a:r>
            <a:endParaRPr lang="en-US" sz="1100" dirty="0"/>
          </a:p>
        </p:txBody>
      </p:sp>
      <p:sp>
        <p:nvSpPr>
          <p:cNvPr id="20" name="Text 18"/>
          <p:cNvSpPr txBox="1"/>
          <p:nvPr/>
        </p:nvSpPr>
        <p:spPr>
          <a:xfrm>
            <a:off x="4663440" y="292608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337560"/>
            <a:ext cx="2157984" cy="59436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297180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10312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498080" y="210312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51460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498080" y="251460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92608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498080" y="292608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337560"/>
            <a:ext cx="2157984" cy="59436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net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$3,426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0972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for a typical buyer</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$4,228/mo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E4E7EC"/>
          </a:solidFill>
          <a:ln w="19050">
            <a:solidFill>
              <a:srgbClr val="1F3A5F"/>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$4,146/mo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$4,064/mo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429000"/>
            <a:ext cx="7498080" cy="5029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34440"/>
          </a:xfrm>
          <a:prstGeom prst="roundRect">
            <a:avLst>
              <a:gd name="adj" fmla="val 5926"/>
            </a:avLst>
          </a:prstGeom>
          <a:solidFill>
            <a:srgbClr val="FBF2EE"/>
          </a:solidFill>
          <a:ln w="12700">
            <a:solidFill>
              <a:srgbClr val="FBF2EE"/>
            </a:solidFill>
            <a:prstDash val="solid"/>
          </a:ln>
        </p:spPr>
      </p:sp>
      <p:sp>
        <p:nvSpPr>
          <p:cNvPr id="5" name="Shape 3"/>
          <p:cNvSpPr/>
          <p:nvPr/>
        </p:nvSpPr>
        <p:spPr>
          <a:xfrm>
            <a:off x="640080" y="1527048"/>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25803"/>
            <a:ext cx="213970" cy="213970"/>
          </a:xfrm>
          <a:prstGeom prst="rect">
            <a:avLst/>
          </a:prstGeom>
        </p:spPr>
      </p:pic>
      <p:sp>
        <p:nvSpPr>
          <p:cNvPr id="7" name="Text 4"/>
          <p:cNvSpPr txBox="1"/>
          <p:nvPr/>
        </p:nvSpPr>
        <p:spPr>
          <a:xfrm>
            <a:off x="118872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34440"/>
          </a:xfrm>
          <a:prstGeom prst="roundRect">
            <a:avLst>
              <a:gd name="adj" fmla="val 5926"/>
            </a:avLst>
          </a:prstGeom>
          <a:solidFill>
            <a:srgbClr val="FBF2EE"/>
          </a:solidFill>
          <a:ln w="12700">
            <a:solidFill>
              <a:srgbClr val="FBF2EE"/>
            </a:solidFill>
            <a:prstDash val="solid"/>
          </a:ln>
        </p:spPr>
      </p:sp>
      <p:sp>
        <p:nvSpPr>
          <p:cNvPr id="10" name="Shape 7"/>
          <p:cNvSpPr/>
          <p:nvPr/>
        </p:nvSpPr>
        <p:spPr>
          <a:xfrm>
            <a:off x="3474720" y="1527048"/>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73475" y="1625803"/>
            <a:ext cx="213970" cy="213970"/>
          </a:xfrm>
          <a:prstGeom prst="rect">
            <a:avLst/>
          </a:prstGeom>
        </p:spPr>
      </p:pic>
      <p:sp>
        <p:nvSpPr>
          <p:cNvPr id="12" name="Text 8"/>
          <p:cNvSpPr txBox="1"/>
          <p:nvPr/>
        </p:nvSpPr>
        <p:spPr>
          <a:xfrm>
            <a:off x="402336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Pre-Listing Inspection</a:t>
            </a:r>
            <a:endParaRPr lang="en-US" sz="1300" dirty="0"/>
          </a:p>
        </p:txBody>
      </p:sp>
      <p:sp>
        <p:nvSpPr>
          <p:cNvPr id="13" name="Text 9"/>
          <p:cNvSpPr txBox="1"/>
          <p:nvPr/>
        </p:nvSpPr>
        <p:spPr>
          <a:xfrm>
            <a:off x="347472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34440"/>
          </a:xfrm>
          <a:prstGeom prst="roundRect">
            <a:avLst>
              <a:gd name="adj" fmla="val 5926"/>
            </a:avLst>
          </a:prstGeom>
          <a:solidFill>
            <a:srgbClr val="FBF2EE"/>
          </a:solidFill>
          <a:ln w="12700">
            <a:solidFill>
              <a:srgbClr val="FBF2EE"/>
            </a:solidFill>
            <a:prstDash val="solid"/>
          </a:ln>
        </p:spPr>
      </p:sp>
      <p:sp>
        <p:nvSpPr>
          <p:cNvPr id="15" name="Shape 11"/>
          <p:cNvSpPr/>
          <p:nvPr/>
        </p:nvSpPr>
        <p:spPr>
          <a:xfrm>
            <a:off x="6309360" y="1527048"/>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408115" y="1625803"/>
            <a:ext cx="213970" cy="213970"/>
          </a:xfrm>
          <a:prstGeom prst="rect">
            <a:avLst/>
          </a:prstGeom>
        </p:spPr>
      </p:pic>
      <p:sp>
        <p:nvSpPr>
          <p:cNvPr id="17" name="Text 12"/>
          <p:cNvSpPr txBox="1"/>
          <p:nvPr/>
        </p:nvSpPr>
        <p:spPr>
          <a:xfrm>
            <a:off x="685800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34440"/>
          </a:xfrm>
          <a:prstGeom prst="roundRect">
            <a:avLst>
              <a:gd name="adj" fmla="val 5926"/>
            </a:avLst>
          </a:prstGeom>
          <a:solidFill>
            <a:srgbClr val="FBF2EE"/>
          </a:solidFill>
          <a:ln w="12700">
            <a:solidFill>
              <a:srgbClr val="FBF2EE"/>
            </a:solidFill>
            <a:prstDash val="solid"/>
          </a:ln>
        </p:spPr>
      </p:sp>
      <p:sp>
        <p:nvSpPr>
          <p:cNvPr id="20" name="Shape 15"/>
          <p:cNvSpPr/>
          <p:nvPr/>
        </p:nvSpPr>
        <p:spPr>
          <a:xfrm>
            <a:off x="640080" y="3035808"/>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38835" y="3134563"/>
            <a:ext cx="213970" cy="213970"/>
          </a:xfrm>
          <a:prstGeom prst="rect">
            <a:avLst/>
          </a:prstGeom>
        </p:spPr>
      </p:pic>
      <p:sp>
        <p:nvSpPr>
          <p:cNvPr id="22" name="Text 16"/>
          <p:cNvSpPr txBox="1"/>
          <p:nvPr/>
        </p:nvSpPr>
        <p:spPr>
          <a:xfrm>
            <a:off x="118872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34440"/>
          </a:xfrm>
          <a:prstGeom prst="roundRect">
            <a:avLst>
              <a:gd name="adj" fmla="val 5926"/>
            </a:avLst>
          </a:prstGeom>
          <a:solidFill>
            <a:srgbClr val="FBF2EE"/>
          </a:solidFill>
          <a:ln w="12700">
            <a:solidFill>
              <a:srgbClr val="FBF2EE"/>
            </a:solidFill>
            <a:prstDash val="solid"/>
          </a:ln>
        </p:spPr>
      </p:sp>
      <p:sp>
        <p:nvSpPr>
          <p:cNvPr id="25" name="Shape 19"/>
          <p:cNvSpPr/>
          <p:nvPr/>
        </p:nvSpPr>
        <p:spPr>
          <a:xfrm>
            <a:off x="3474720" y="3035808"/>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73475" y="3134563"/>
            <a:ext cx="213970" cy="213970"/>
          </a:xfrm>
          <a:prstGeom prst="rect">
            <a:avLst/>
          </a:prstGeom>
        </p:spPr>
      </p:pic>
      <p:sp>
        <p:nvSpPr>
          <p:cNvPr id="27" name="Text 20"/>
          <p:cNvSpPr txBox="1"/>
          <p:nvPr/>
        </p:nvSpPr>
        <p:spPr>
          <a:xfrm>
            <a:off x="402336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34440"/>
          </a:xfrm>
          <a:prstGeom prst="roundRect">
            <a:avLst>
              <a:gd name="adj" fmla="val 5926"/>
            </a:avLst>
          </a:prstGeom>
          <a:solidFill>
            <a:srgbClr val="FBF2EE"/>
          </a:solidFill>
          <a:ln w="12700">
            <a:solidFill>
              <a:srgbClr val="FBF2EE"/>
            </a:solidFill>
            <a:prstDash val="solid"/>
          </a:ln>
        </p:spPr>
      </p:sp>
      <p:sp>
        <p:nvSpPr>
          <p:cNvPr id="30" name="Shape 23"/>
          <p:cNvSpPr/>
          <p:nvPr/>
        </p:nvSpPr>
        <p:spPr>
          <a:xfrm>
            <a:off x="6309360" y="3035808"/>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408115" y="3134563"/>
            <a:ext cx="213970" cy="213970"/>
          </a:xfrm>
          <a:prstGeom prst="rect">
            <a:avLst/>
          </a:prstGeom>
        </p:spPr>
      </p:pic>
      <p:sp>
        <p:nvSpPr>
          <p:cNvPr id="32" name="Text 24"/>
          <p:cNvSpPr txBox="1"/>
          <p:nvPr/>
        </p:nvSpPr>
        <p:spPr>
          <a:xfrm>
            <a:off x="685800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0D1C5"/>
                </a:solidFill>
                <a:latin typeface="Arial" pitchFamily="34" charset="0"/>
                <a:ea typeface="Arial" pitchFamily="34" charset="-122"/>
                <a:cs typeface="Arial" pitchFamily="34" charset="-120"/>
              </a:rPr>
              <a:t>What I Need from You</a:t>
            </a:r>
            <a:endParaRPr lang="en-US" sz="1500" dirty="0"/>
          </a:p>
        </p:txBody>
      </p:sp>
      <p:sp>
        <p:nvSpPr>
          <p:cNvPr id="4" name="Text 2"/>
          <p:cNvSpPr txBox="1"/>
          <p:nvPr/>
        </p:nvSpPr>
        <p:spPr>
          <a:xfrm>
            <a:off x="457200" y="1463040"/>
            <a:ext cx="3931920" cy="27432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0D1C5"/>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C2410C"/>
          </a:solidFill>
          <a:ln w="12700">
            <a:solidFill>
              <a:srgbClr val="C2410C"/>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C2410C"/>
          </a:solidFill>
          <a:ln w="12700">
            <a:solidFill>
              <a:srgbClr val="C2410C"/>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C2410C"/>
          </a:solidFill>
          <a:ln w="12700">
            <a:solidFill>
              <a:srgbClr val="C2410C"/>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C2410C"/>
          </a:solidFill>
          <a:ln w="12700">
            <a:solidFill>
              <a:srgbClr val="C2410C"/>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D2D8DF"/>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−$1,706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$421,368</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3840480"/>
            <a:ext cx="8229600" cy="845820"/>
          </a:xfrm>
          <a:prstGeom prst="rect">
            <a:avLst/>
          </a:prstGeom>
          <a:noFill/>
          <a:ln/>
        </p:spPr>
        <p:txBody>
          <a:bodyPr wrap="square" lIns="0" tIns="0" rIns="0" bIns="0" rtlCol="0" anchor="t">
            <a:normAutofit/>
          </a:bodyPr>
          <a:lstStyle/>
          <a:p>
            <a:pPr indent="0" marL="0">
              <a:buNone/>
            </a:pPr>
            <a:r>
              <a:rPr lang="en-US" sz="950" dirty="0">
                <a:solidFill>
                  <a:srgbClr val="5A6672"/>
                </a:solidFill>
                <a:latin typeface="Arial" pitchFamily="34" charset="0"/>
                <a:ea typeface="Arial" pitchFamily="34" charset="-122"/>
                <a:cs typeface="Arial" pitchFamily="34" charset="-120"/>
              </a:rPr>
              <a:t>Holding costs: about $530 a month (loan interest, HOA, insurance and utilities; property tax is in the proration)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Not included: mortgage payoff, this year's property tax proration, and repairs after inspection. Estimates only; the closing agent provides exact figures.</a:t>
            </a:r>
            <a:endParaRPr lang="en-US" sz="950" dirty="0"/>
          </a:p>
        </p:txBody>
      </p:sp>
      <p:sp>
        <p:nvSpPr>
          <p:cNvPr id="5"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6"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1F3A5F"/>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b="1" dirty="0">
                          <a:solidFill>
                            <a:srgbClr val="1F3A5F"/>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dirty="0">
                          <a:solidFill>
                            <a:srgbClr val="1F3A5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b="1" dirty="0">
                          <a:solidFill>
                            <a:srgbClr val="1F3A5F"/>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r>
            </a:tbl>
          </a:graphicData>
        </a:graphic>
      </p:graphicFrame>
      <p:sp>
        <p:nvSpPr>
          <p:cNvPr id="4" name="Text 1"/>
          <p:cNvSpPr txBox="1"/>
          <p:nvPr/>
        </p:nvSpPr>
        <p:spPr>
          <a:xfrm>
            <a:off x="457200" y="3410712"/>
            <a:ext cx="8229600" cy="1275588"/>
          </a:xfrm>
          <a:prstGeom prst="rect">
            <a:avLst/>
          </a:prstGeom>
          <a:noFill/>
          <a:ln/>
        </p:spPr>
        <p:txBody>
          <a:bodyPr wrap="square" lIns="0" tIns="0" rIns="0" bIns="0" rtlCol="0" anchor="t">
            <a:normAutofit/>
          </a:bodyPr>
          <a:lstStyle/>
          <a:p>
            <a:pPr indent="0" marL="0">
              <a:buNone/>
            </a:pPr>
            <a:r>
              <a:rPr lang="en-US" sz="1000" dirty="0">
                <a:solidFill>
                  <a:srgbClr val="5A6672"/>
                </a:solidFill>
                <a:latin typeface="Arial" pitchFamily="34" charset="0"/>
                <a:ea typeface="Arial" pitchFamily="34" charset="-122"/>
                <a:cs typeface="Arial" pitchFamily="34" charset="-120"/>
              </a:rPr>
              <a:t>Adjustments: about $75 per sq ft of size difference; $30,000–$45,000 for renovation level; $5,000–$10,000 for larger or better lots; 1–2% for market change since the sale; seller-paid costs subtracted. This is a broker's opinion of value based on comparable sales, not an appraisal. Full detail is in the written analysis. Sales data: Stellar MLS as of 2026-09-22.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5"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6"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2026-09-24T15:05:59Z</dcterms:created>
  <dcterms:modified xsi:type="dcterms:W3CDTF">2026-09-24T15:05:59Z</dcterms:modified>
</cp:coreProperties>
</file>