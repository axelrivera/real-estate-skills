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
          <c:y val="0.03"/>
          <c:w val="0.85"/>
          <c:h val="0.8"/>
        </c:manualLayout>
      </c:layout>
      <c:scatterChart>
        <c:scatterStyle val="lineMarker"/>
        <c:varyColors val="0"/>
        <c:ser>
          <c:idx val="0"/>
          <c:order val="0"/>
          <c:tx>
            <c:strRef>
              <c:f>Sheet1!$B$1</c:f>
              <c:strCache>
                <c:ptCount val="1"/>
                <c:pt idx="0">
                  <c:v>Other Sales</c:v>
                </c:pt>
              </c:strCache>
            </c:strRef>
          </c:tx>
          <c:spPr>
            <a:solidFill>
              <a:srgbClr val="DBDBDB"/>
            </a:solidFill>
            <a:ln>
              <a:noFill/>
            </a:ln>
            <a:effectLst/>
          </c:spPr>
          <c:marker>
            <c:symbol val="circle"/>
            <c:size val="5"/>
            <c:spPr>
              <a:solidFill>
                <a:srgbClr val="DBDBDB"/>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5E5E5E"/>
            </a:solidFill>
            <a:ln>
              <a:noFill/>
            </a:ln>
            <a:effectLst/>
          </c:spPr>
          <c:marker>
            <c:symbol val="square"/>
            <c:size val="6"/>
            <c:spPr>
              <a:solidFill>
                <a:srgbClr val="5E5E5E"/>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E5E5E"/>
            </a:solidFill>
            <a:ln w="15875">
              <a:solidFill>
                <a:srgbClr val="5E5E5E"/>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342131.321903495</c:v>
                </c:pt>
                <c:pt idx="42">
                  <c:v>352121.9205440262</c:v>
                </c:pt>
                <c:pt idx="43">
                  <c:v>362112.51918455743</c:v>
                </c:pt>
                <c:pt idx="44">
                  <c:v>372103.1178250886</c:v>
                </c:pt>
                <c:pt idx="45">
                  <c:v>382093.71646561986</c:v>
                </c:pt>
                <c:pt idx="46">
                  <c:v>392084.31510615104</c:v>
                </c:pt>
                <c:pt idx="47">
                  <c:v>402074.9137466823</c:v>
                </c:pt>
                <c:pt idx="48">
                  <c:v>412065.5123872135</c:v>
                </c:pt>
                <c:pt idx="49">
                  <c:v>422056.1110277447</c:v>
                </c:pt>
                <c:pt idx="50">
                  <c:v>432046.7096682759</c:v>
                </c:pt>
                <c:pt idx="51">
                  <c:v>442037.3083088071</c:v>
                </c:pt>
                <c:pt idx="52">
                  <c:v>452027.9069493383</c:v>
                </c:pt>
                <c:pt idx="53">
                  <c:v>462018.5055898696</c:v>
                </c:pt>
                <c:pt idx="54">
                  <c:v>472009.10423040076</c:v>
                </c:pt>
                <c:pt idx="55">
                  <c:v>481999.70287093194</c:v>
                </c:pt>
                <c:pt idx="56">
                  <c:v>491990.3015114631</c:v>
                </c:pt>
                <c:pt idx="57">
                  <c:v>501980.90015199437</c:v>
                </c:pt>
                <c:pt idx="58">
                  <c:v>511971.49879252556</c:v>
                </c:pt>
                <c:pt idx="59">
                  <c:v>521962.09743305674</c:v>
                </c:pt>
                <c:pt idx="60">
                  <c:v>531952.696073588</c:v>
                </c:pt>
                <c:pt idx="61">
                  <c:v>541943.294714119</c:v>
                </c:pt>
                <c:pt idx="62">
                  <c:v>551933.8933546504</c:v>
                </c:pt>
                <c:pt idx="63">
                  <c:v>561924.4919951817</c:v>
                </c:pt>
                <c:pt idx="64">
                  <c:v>571915.0906357127</c:v>
                </c:pt>
                <c:pt idx="65">
                  <c:v>581905.689276244</c:v>
                </c:pt>
                <c:pt idx="66">
                  <c:v>591896.2879167753</c:v>
                </c:pt>
                <c:pt idx="67">
                  <c:v>601886.8865573064</c:v>
                </c:pt>
                <c:pt idx="68">
                  <c:v>611877.4851978377</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19050">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7B2400"/>
            </a:solidFill>
            <a:ln>
              <a:noFill/>
            </a:ln>
            <a:effectLst/>
          </c:spPr>
          <c:marker>
            <c:symbol val="diamond"/>
            <c:size val="11"/>
            <c:spPr>
              <a:solidFill>
                <a:srgbClr val="7B2400"/>
              </a:solidFill>
              <a:ln w="1905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1400</c:v>
                </c:pt>
                <c:pt idx="42">
                  <c:v>1444.4444444444443</c:v>
                </c:pt>
                <c:pt idx="43">
                  <c:v>1488.888888888889</c:v>
                </c:pt>
                <c:pt idx="44">
                  <c:v>1533.3333333333333</c:v>
                </c:pt>
                <c:pt idx="45">
                  <c:v>1577.7777777777778</c:v>
                </c:pt>
                <c:pt idx="46">
                  <c:v>1622.2222222222222</c:v>
                </c:pt>
                <c:pt idx="47">
                  <c:v>1666.6666666666667</c:v>
                </c:pt>
                <c:pt idx="48">
                  <c:v>1711.111111111111</c:v>
                </c:pt>
                <c:pt idx="49">
                  <c:v>1755.5555555555557</c:v>
                </c:pt>
                <c:pt idx="50">
                  <c:v>1800</c:v>
                </c:pt>
                <c:pt idx="51">
                  <c:v>1844.4444444444443</c:v>
                </c:pt>
                <c:pt idx="52">
                  <c:v>1888.888888888889</c:v>
                </c:pt>
                <c:pt idx="53">
                  <c:v>1933.3333333333335</c:v>
                </c:pt>
                <c:pt idx="54">
                  <c:v>1977.7777777777778</c:v>
                </c:pt>
                <c:pt idx="55">
                  <c:v>2022.2222222222222</c:v>
                </c:pt>
                <c:pt idx="56">
                  <c:v>2066.6666666666665</c:v>
                </c:pt>
                <c:pt idx="57">
                  <c:v>2111.1111111111113</c:v>
                </c:pt>
                <c:pt idx="58">
                  <c:v>2155.5555555555557</c:v>
                </c:pt>
                <c:pt idx="59">
                  <c:v>2200</c:v>
                </c:pt>
                <c:pt idx="60">
                  <c:v>2244.4444444444443</c:v>
                </c:pt>
                <c:pt idx="61">
                  <c:v>2288.8888888888887</c:v>
                </c:pt>
                <c:pt idx="62">
                  <c:v>2333.3333333333335</c:v>
                </c:pt>
                <c:pt idx="63">
                  <c:v>2377.777777777778</c:v>
                </c:pt>
                <c:pt idx="64">
                  <c:v>2422.222222222222</c:v>
                </c:pt>
                <c:pt idx="65">
                  <c:v>2466.666666666667</c:v>
                </c:pt>
                <c:pt idx="66">
                  <c:v>2511.1111111111113</c:v>
                </c:pt>
                <c:pt idx="67">
                  <c:v>2555.5555555555557</c:v>
                </c:pt>
                <c:pt idx="68">
                  <c:v>2600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470000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E5E5E"/>
                    </a:solidFill>
                    <a:latin typeface="Arial"/>
                  </a:defRPr>
                </a:pPr>
                <a:r>
                  <a:rPr sz="1000" b="0" i="0" u="none" strike="noStrike">
                    <a:solidFill>
                      <a:srgbClr val="5E5E5E"/>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numFmt formatCode=";;;"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E5E5E"/>
                </a:solidFill>
                <a:latin typeface="Arial"/>
              </a:defRPr>
            </a:pPr>
            <a:endParaRPr lang="en-US"/>
          </a:p>
        </c:txPr>
        <c:crossAx val="2094734554"/>
        <c:crosses val="autoZero"/>
        <c:crossBetween val="midCat"/>
        <c:majorUnit val="50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Premium at $475,000</c:v>
                  </c:pt>
                  <c:pt idx="1">
                    <c:v>Market Price at $470,000</c:v>
                  </c:pt>
                  <c:pt idx="2">
                    <c:v>Draw Offers at $460,000</c:v>
                  </c:pt>
                </c:lvl>
              </c:multiLvlStrCache>
            </c:multiLvlStrRef>
          </c:cat>
          <c:val>
            <c:numRef>
              <c:f>Sheet1!$B$2:$B$4</c:f>
              <c:numCache>
                <c:formatCode>General</c:formatCode>
                <c:ptCount val="3"/>
                <c:pt idx="0">
                  <c:v>424690</c:v>
                </c:pt>
                <c:pt idx="1">
                  <c:v>424636</c:v>
                </c:pt>
                <c:pt idx="2">
                  <c:v>415497</c:v>
                </c:pt>
              </c:numCache>
            </c:numRef>
          </c:val>
        </c:ser>
        <c:dLbls>
          <c:numFmt formatCode="$#,##0;&quot;−&quot;$#,##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started from every nearby sale, kept the closest matches in size, pool, age and neighborhood, and adjusted each for its differences from your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nearby. The dashed line is size alone; renovation and a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earlier period holds the older sales; now holds the recent ones. The report's market table has every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competing-offer option assumes a smaller seller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has every line of the net sheet, and the notes say what each rests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Buyers shop by payment; the report's notes give the loan and tax basis.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sales are estimates, not guarantees: each option's list price times an assumed 97.0% of its final asking price after seller-paid costs, plus that option's seller credit, to the nearest $500. The $475,000 option uses 93.9% instead, what recent nearby sales got against their original asking price after seller-paid costs, since a price above the market usually sells only after a cut. Times to contract are estimates from the recent median of 22 days on market: longer for a higher price, shorter for a price that draws competing offers. Each option assumes a $11,000 seller credit toward the buyer's costs: how often recent sellers paid buyer costs times the typical amount. Holding costs: about $520 a month (insurance at the recommended $470,000 list price and utilities; no loan interest, since no mortgage payoff was given) from the report date to each option's closing. Title company fees are typical local charges (settlement fee $700, title search $250, municipal lien search $125, recording $70); the title company's quote replaces them. Buyer payments: Conventional loan, 5% down, 6.95% 30-year fixed, property taxes at 18.1808 mills, with homestead, $3,600 a year insurance, and 0.5% a year mortgage insurance. Commissions are negotiable and not set by law. Not included: your mortgage payoff, this year's property tax proration (the current tax bill adds it) and any repairs agreed after inspection. The closing agent provides the exact figures. These proceeds are before any income tax on the sale; a CPA can estimate it. Flood zone X: a lender may not require flood insurance, but a Citizens policy on a home with a dwelling replacement cost of $400,000 or more must carry flood insurance, and from January 1, 2027 every Citizens policy must (s. 627.351(6)(aa)). Get a quote; the total leaves it out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Adjusted for size ($1,200 to $1,875); lot ($5,000 to $10,000); market changes since each sale (2% a quarter off sales before July); recent systems ($5,000); condition and updates ($30,000 to $45,000, against this home's full renovation); and seller credits (taken off each sale price). These are the five closest matches, sold Apr 24, 2026 to Aug 20, 2026 (one since July), all within a mile. This home's roof age isn't known, so no sale is adjusted for its 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36576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Casselberry, Fernwood Park</a:t>
            </a:r>
            <a:endParaRPr lang="en-US" sz="1600" dirty="0"/>
          </a:p>
        </p:txBody>
      </p:sp>
      <p:sp>
        <p:nvSpPr>
          <p:cNvPr id="6" name="Text 3"/>
          <p:cNvSpPr txBox="1"/>
          <p:nvPr/>
        </p:nvSpPr>
        <p:spPr>
          <a:xfrm>
            <a:off x="457200" y="352044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E5E5E"/>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$470,000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E5E5E"/>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About $467,000</a:t>
            </a:r>
            <a:endParaRPr lang="en-US" sz="240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$431K–$486K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$469,900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$470,000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$455K–$480K</a:t>
            </a:r>
            <a:endParaRPr lang="en-US" sz="1800" dirty="0"/>
          </a:p>
        </p:txBody>
      </p:sp>
      <p:sp>
        <p:nvSpPr>
          <p:cNvPr id="26" name="Text 24"/>
          <p:cNvSpPr txBox="1"/>
          <p:nvPr/>
        </p:nvSpPr>
        <p:spPr>
          <a:xfrm>
            <a:off x="457200" y="4078224"/>
            <a:ext cx="8229600" cy="626364"/>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Adjusted for size ($1,200 to $1,875); lot ($5,000 to $10,000); market changes since each sale (2% a quarter off sales before July); recent systems ($5,000); condition and updates ($30,000 to $45,000, against this home's full renovation); and seller credits (taken off each sale price).</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Every one of the closest sales had one, so it keeps your home in that group.</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E5E5E"/>
                </a:solidFill>
                <a:latin typeface="Arial" pitchFamily="34" charset="0"/>
                <a:ea typeface="Arial" pitchFamily="34" charset="-122"/>
                <a:cs typeface="Arial" pitchFamily="34" charset="-120"/>
              </a:rPr>
              <a:t>Outside the high-risk flood zones; buyers still get their own flood insurance quote.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932170" y="1463294"/>
            <a:ext cx="1428750" cy="2468880"/>
          </a:xfrm>
          <a:prstGeom prst="rect">
            <a:avLst/>
          </a:prstGeom>
          <a:solidFill>
            <a:srgbClr val="FBF2EE"/>
          </a:solidFill>
          <a:ln w="12700">
            <a:solidFill>
              <a:srgbClr val="FBF2EE"/>
            </a:solidFill>
            <a:prstDash val="solid"/>
          </a:ln>
        </p:spPr>
      </p:sp>
      <p:sp>
        <p:nvSpPr>
          <p:cNvPr id="5" name="Shape 3"/>
          <p:cNvSpPr/>
          <p:nvPr/>
        </p:nvSpPr>
        <p:spPr>
          <a:xfrm>
            <a:off x="3931920" y="1463294"/>
            <a:ext cx="0" cy="2468880"/>
          </a:xfrm>
          <a:prstGeom prst="line">
            <a:avLst/>
          </a:prstGeom>
          <a:noFill/>
          <a:ln w="9525">
            <a:solidFill>
              <a:srgbClr val="F8E8E2"/>
            </a:solidFill>
            <a:prstDash val="solid"/>
          </a:ln>
        </p:spPr>
      </p:sp>
      <p:sp>
        <p:nvSpPr>
          <p:cNvPr id="6" name="Text 4"/>
          <p:cNvSpPr txBox="1"/>
          <p:nvPr/>
        </p:nvSpPr>
        <p:spPr>
          <a:xfrm>
            <a:off x="3520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5074920" y="1463294"/>
            <a:ext cx="0" cy="2468880"/>
          </a:xfrm>
          <a:prstGeom prst="line">
            <a:avLst/>
          </a:prstGeom>
          <a:noFill/>
          <a:ln w="9525">
            <a:solidFill>
              <a:srgbClr val="F8E8E2"/>
            </a:solidFill>
            <a:prstDash val="solid"/>
          </a:ln>
        </p:spPr>
      </p:sp>
      <p:sp>
        <p:nvSpPr>
          <p:cNvPr id="8" name="Text 6"/>
          <p:cNvSpPr txBox="1"/>
          <p:nvPr/>
        </p:nvSpPr>
        <p:spPr>
          <a:xfrm>
            <a:off x="4663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6217920" y="1463294"/>
            <a:ext cx="0" cy="2468880"/>
          </a:xfrm>
          <a:prstGeom prst="line">
            <a:avLst/>
          </a:prstGeom>
          <a:noFill/>
          <a:ln w="9525">
            <a:solidFill>
              <a:srgbClr val="F8E8E2"/>
            </a:solidFill>
            <a:prstDash val="solid"/>
          </a:ln>
        </p:spPr>
      </p:sp>
      <p:sp>
        <p:nvSpPr>
          <p:cNvPr id="10" name="Text 8"/>
          <p:cNvSpPr txBox="1"/>
          <p:nvPr/>
        </p:nvSpPr>
        <p:spPr>
          <a:xfrm>
            <a:off x="5806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7360920" y="1463294"/>
            <a:ext cx="0" cy="2468880"/>
          </a:xfrm>
          <a:prstGeom prst="line">
            <a:avLst/>
          </a:prstGeom>
          <a:noFill/>
          <a:ln w="9525">
            <a:solidFill>
              <a:srgbClr val="F8E8E2"/>
            </a:solidFill>
            <a:prstDash val="solid"/>
          </a:ln>
        </p:spPr>
      </p:sp>
      <p:sp>
        <p:nvSpPr>
          <p:cNvPr id="12" name="Text 10"/>
          <p:cNvSpPr txBox="1"/>
          <p:nvPr/>
        </p:nvSpPr>
        <p:spPr>
          <a:xfrm>
            <a:off x="6949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8503920" y="1463294"/>
            <a:ext cx="0" cy="2468880"/>
          </a:xfrm>
          <a:prstGeom prst="line">
            <a:avLst/>
          </a:prstGeom>
          <a:noFill/>
          <a:ln w="9525">
            <a:solidFill>
              <a:srgbClr val="F8E8E2"/>
            </a:solidFill>
            <a:prstDash val="solid"/>
          </a:ln>
        </p:spPr>
      </p:sp>
      <p:sp>
        <p:nvSpPr>
          <p:cNvPr id="14" name="Text 12"/>
          <p:cNvSpPr txBox="1"/>
          <p:nvPr/>
        </p:nvSpPr>
        <p:spPr>
          <a:xfrm>
            <a:off x="8092440" y="3977894"/>
            <a:ext cx="822960" cy="228600"/>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6789420" y="1326134"/>
            <a:ext cx="0" cy="2606040"/>
          </a:xfrm>
          <a:prstGeom prst="line">
            <a:avLst/>
          </a:prstGeom>
          <a:noFill/>
          <a:ln w="25400">
            <a:solidFill>
              <a:srgbClr val="7B2400"/>
            </a:solidFill>
            <a:prstDash val="dash"/>
          </a:ln>
        </p:spPr>
      </p:sp>
      <p:sp>
        <p:nvSpPr>
          <p:cNvPr id="16" name="Text 14"/>
          <p:cNvSpPr txBox="1"/>
          <p:nvPr/>
        </p:nvSpPr>
        <p:spPr>
          <a:xfrm>
            <a:off x="5783580" y="1097534"/>
            <a:ext cx="2011680" cy="228600"/>
          </a:xfrm>
          <a:prstGeom prst="rect">
            <a:avLst/>
          </a:prstGeom>
          <a:noFill/>
          <a:ln/>
        </p:spPr>
        <p:txBody>
          <a:bodyPr wrap="square" lIns="0" tIns="0" rIns="0" bIns="0" rtlCol="0" anchor="ctr"/>
          <a:lstStyle/>
          <a:p>
            <a:pPr algn="ctr" indent="0" marL="0">
              <a:buNone/>
            </a:pPr>
            <a:r>
              <a:rPr lang="en-US" sz="1000" b="1" dirty="0">
                <a:solidFill>
                  <a:srgbClr val="7B2400"/>
                </a:solidFill>
                <a:latin typeface="Arial" pitchFamily="34" charset="0"/>
                <a:ea typeface="Arial" pitchFamily="34" charset="-122"/>
                <a:cs typeface="Arial" pitchFamily="34" charset="-120"/>
              </a:rPr>
              <a:t>Recommended $470,000</a:t>
            </a:r>
            <a:endParaRPr lang="en-US" sz="1000" dirty="0"/>
          </a:p>
        </p:txBody>
      </p:sp>
      <p:sp>
        <p:nvSpPr>
          <p:cNvPr id="17" name="Text 15"/>
          <p:cNvSpPr txBox="1"/>
          <p:nvPr/>
        </p:nvSpPr>
        <p:spPr>
          <a:xfrm>
            <a:off x="457200" y="15547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18" name="Text 16"/>
          <p:cNvSpPr txBox="1"/>
          <p:nvPr/>
        </p:nvSpPr>
        <p:spPr>
          <a:xfrm>
            <a:off x="457200" y="17559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pool home; sold earlier in the year</a:t>
            </a:r>
            <a:endParaRPr lang="en-US" sz="950" dirty="0"/>
          </a:p>
        </p:txBody>
      </p:sp>
      <p:sp>
        <p:nvSpPr>
          <p:cNvPr id="19" name="Shape 17"/>
          <p:cNvSpPr/>
          <p:nvPr/>
        </p:nvSpPr>
        <p:spPr>
          <a:xfrm>
            <a:off x="7602950" y="1673606"/>
            <a:ext cx="164592" cy="164592"/>
          </a:xfrm>
          <a:prstGeom prst="ellipse">
            <a:avLst/>
          </a:prstGeom>
          <a:solidFill>
            <a:srgbClr val="C2410C"/>
          </a:solidFill>
          <a:ln w="12700">
            <a:solidFill>
              <a:srgbClr val="FFFFFF"/>
            </a:solidFill>
            <a:prstDash val="solid"/>
          </a:ln>
        </p:spPr>
      </p:sp>
      <p:sp>
        <p:nvSpPr>
          <p:cNvPr id="20" name="Text 18"/>
          <p:cNvSpPr txBox="1"/>
          <p:nvPr/>
        </p:nvSpPr>
        <p:spPr>
          <a:xfrm>
            <a:off x="7794974" y="16278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$486K</a:t>
            </a:r>
            <a:endParaRPr lang="en-US" sz="1000" dirty="0"/>
          </a:p>
        </p:txBody>
      </p:sp>
      <p:sp>
        <p:nvSpPr>
          <p:cNvPr id="21" name="Text 19"/>
          <p:cNvSpPr txBox="1"/>
          <p:nvPr/>
        </p:nvSpPr>
        <p:spPr>
          <a:xfrm>
            <a:off x="457200" y="20119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2" name="Text 20"/>
          <p:cNvSpPr txBox="1"/>
          <p:nvPr/>
        </p:nvSpPr>
        <p:spPr>
          <a:xfrm>
            <a:off x="457200" y="2213102"/>
            <a:ext cx="3291840" cy="201168"/>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Strongest match · Same era and size; systems documented</a:t>
            </a:r>
            <a:endParaRPr lang="en-US" sz="900" dirty="0"/>
          </a:p>
        </p:txBody>
      </p:sp>
      <p:sp>
        <p:nvSpPr>
          <p:cNvPr id="23" name="Shape 21"/>
          <p:cNvSpPr/>
          <p:nvPr/>
        </p:nvSpPr>
        <p:spPr>
          <a:xfrm>
            <a:off x="7238619" y="2130806"/>
            <a:ext cx="164592" cy="164592"/>
          </a:xfrm>
          <a:prstGeom prst="ellipse">
            <a:avLst/>
          </a:prstGeom>
          <a:solidFill>
            <a:srgbClr val="C2410C"/>
          </a:solidFill>
          <a:ln w="12700">
            <a:solidFill>
              <a:srgbClr val="FFFFFF"/>
            </a:solidFill>
            <a:prstDash val="solid"/>
          </a:ln>
        </p:spPr>
      </p:sp>
      <p:sp>
        <p:nvSpPr>
          <p:cNvPr id="24" name="Text 22"/>
          <p:cNvSpPr txBox="1"/>
          <p:nvPr/>
        </p:nvSpPr>
        <p:spPr>
          <a:xfrm>
            <a:off x="7430643" y="20850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$479K</a:t>
            </a:r>
            <a:endParaRPr lang="en-US" sz="1000" dirty="0"/>
          </a:p>
        </p:txBody>
      </p:sp>
      <p:sp>
        <p:nvSpPr>
          <p:cNvPr id="25" name="Text 23"/>
          <p:cNvSpPr txBox="1"/>
          <p:nvPr/>
        </p:nvSpPr>
        <p:spPr>
          <a:xfrm>
            <a:off x="457200" y="24691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6" name="Text 24"/>
          <p:cNvSpPr txBox="1"/>
          <p:nvPr/>
        </p:nvSpPr>
        <p:spPr>
          <a:xfrm>
            <a:off x="457200" y="26703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Most recent pool sale; not renovated</a:t>
            </a:r>
            <a:endParaRPr lang="en-US" sz="950" dirty="0"/>
          </a:p>
        </p:txBody>
      </p:sp>
      <p:sp>
        <p:nvSpPr>
          <p:cNvPr id="27" name="Shape 25"/>
          <p:cNvSpPr/>
          <p:nvPr/>
        </p:nvSpPr>
        <p:spPr>
          <a:xfrm>
            <a:off x="6698552" y="2588006"/>
            <a:ext cx="164592" cy="164592"/>
          </a:xfrm>
          <a:prstGeom prst="ellipse">
            <a:avLst/>
          </a:prstGeom>
          <a:solidFill>
            <a:srgbClr val="C2410C"/>
          </a:solidFill>
          <a:ln w="12700">
            <a:solidFill>
              <a:srgbClr val="FFFFFF"/>
            </a:solidFill>
            <a:prstDash val="solid"/>
          </a:ln>
        </p:spPr>
      </p:sp>
      <p:sp>
        <p:nvSpPr>
          <p:cNvPr id="28" name="Text 26"/>
          <p:cNvSpPr txBox="1"/>
          <p:nvPr/>
        </p:nvSpPr>
        <p:spPr>
          <a:xfrm>
            <a:off x="6890576" y="25422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29" name="Text 27"/>
          <p:cNvSpPr txBox="1"/>
          <p:nvPr/>
        </p:nvSpPr>
        <p:spPr>
          <a:xfrm>
            <a:off x="457200" y="29263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0" name="Text 28"/>
          <p:cNvSpPr txBox="1"/>
          <p:nvPr/>
        </p:nvSpPr>
        <p:spPr>
          <a:xfrm>
            <a:off x="457200" y="31275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Same floor plan; partly updated</a:t>
            </a:r>
            <a:endParaRPr lang="en-US" sz="950" dirty="0"/>
          </a:p>
        </p:txBody>
      </p:sp>
      <p:sp>
        <p:nvSpPr>
          <p:cNvPr id="31" name="Shape 29"/>
          <p:cNvSpPr/>
          <p:nvPr/>
        </p:nvSpPr>
        <p:spPr>
          <a:xfrm>
            <a:off x="4621149" y="3045206"/>
            <a:ext cx="164592" cy="164592"/>
          </a:xfrm>
          <a:prstGeom prst="ellipse">
            <a:avLst/>
          </a:prstGeom>
          <a:solidFill>
            <a:srgbClr val="C2410C"/>
          </a:solidFill>
          <a:ln w="12700">
            <a:solidFill>
              <a:srgbClr val="FFFFFF"/>
            </a:solidFill>
            <a:prstDash val="solid"/>
          </a:ln>
        </p:spPr>
      </p:sp>
      <p:sp>
        <p:nvSpPr>
          <p:cNvPr id="32" name="Text 30"/>
          <p:cNvSpPr txBox="1"/>
          <p:nvPr/>
        </p:nvSpPr>
        <p:spPr>
          <a:xfrm>
            <a:off x="4813173" y="29994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$434K</a:t>
            </a:r>
            <a:endParaRPr lang="en-US" sz="1000" dirty="0"/>
          </a:p>
        </p:txBody>
      </p:sp>
      <p:sp>
        <p:nvSpPr>
          <p:cNvPr id="33" name="Text 31"/>
          <p:cNvSpPr txBox="1"/>
          <p:nvPr/>
        </p:nvSpPr>
        <p:spPr>
          <a:xfrm>
            <a:off x="457200" y="3383534"/>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4" name="Text 32"/>
          <p:cNvSpPr txBox="1"/>
          <p:nvPr/>
        </p:nvSpPr>
        <p:spPr>
          <a:xfrm>
            <a:off x="457200" y="3584702"/>
            <a:ext cx="3291840" cy="201168"/>
          </a:xfrm>
          <a:prstGeom prst="rect">
            <a:avLst/>
          </a:prstGeom>
          <a:noFill/>
          <a:ln/>
        </p:spPr>
        <p:txBody>
          <a:bodyPr wrap="square" lIns="0" tIns="0" rIns="0" bIns="0" rtlCol="0" anchor="ctr"/>
          <a:lstStyle/>
          <a:p>
            <a:pPr indent="0" marL="0">
              <a:buNone/>
            </a:pPr>
            <a:r>
              <a:rPr lang="en-US" sz="950" dirty="0">
                <a:solidFill>
                  <a:srgbClr val="5E5E5E"/>
                </a:solidFill>
                <a:latin typeface="Arial" pitchFamily="34" charset="0"/>
                <a:ea typeface="Arial" pitchFamily="34" charset="-122"/>
                <a:cs typeface="Arial" pitchFamily="34" charset="-120"/>
              </a:rPr>
              <a:t>Renovated; bigger canal lot</a:t>
            </a:r>
            <a:endParaRPr lang="en-US" sz="950" dirty="0"/>
          </a:p>
        </p:txBody>
      </p:sp>
      <p:sp>
        <p:nvSpPr>
          <p:cNvPr id="35" name="Shape 33"/>
          <p:cNvSpPr/>
          <p:nvPr/>
        </p:nvSpPr>
        <p:spPr>
          <a:xfrm>
            <a:off x="4491361" y="3502406"/>
            <a:ext cx="164592" cy="164592"/>
          </a:xfrm>
          <a:prstGeom prst="ellipse">
            <a:avLst/>
          </a:prstGeom>
          <a:solidFill>
            <a:srgbClr val="C2410C"/>
          </a:solidFill>
          <a:ln w="12700">
            <a:solidFill>
              <a:srgbClr val="FFFFFF"/>
            </a:solidFill>
            <a:prstDash val="solid"/>
          </a:ln>
        </p:spPr>
      </p:sp>
      <p:sp>
        <p:nvSpPr>
          <p:cNvPr id="36" name="Text 34"/>
          <p:cNvSpPr txBox="1"/>
          <p:nvPr/>
        </p:nvSpPr>
        <p:spPr>
          <a:xfrm>
            <a:off x="4683385" y="3456686"/>
            <a:ext cx="640080" cy="237744"/>
          </a:xfrm>
          <a:prstGeom prst="rect">
            <a:avLst/>
          </a:prstGeom>
          <a:noFill/>
          <a:ln/>
        </p:spPr>
        <p:txBody>
          <a:bodyPr wrap="square" lIns="0" tIns="0" rIns="0" bIns="0" rtlCol="0" anchor="ctr"/>
          <a:lstStyle/>
          <a:p>
            <a:pPr algn="l" indent="0" marL="0">
              <a:buNone/>
            </a:pPr>
            <a:r>
              <a:rPr lang="en-US" sz="1000" dirty="0">
                <a:solidFill>
                  <a:srgbClr val="1A1A1A"/>
                </a:solidFill>
                <a:latin typeface="Arial" pitchFamily="34" charset="0"/>
                <a:ea typeface="Arial" pitchFamily="34" charset="-122"/>
                <a:cs typeface="Arial" pitchFamily="34" charset="-120"/>
              </a:rPr>
              <a:t>$431K</a:t>
            </a:r>
            <a:endParaRPr lang="en-US" sz="1000" dirty="0"/>
          </a:p>
        </p:txBody>
      </p:sp>
      <p:sp>
        <p:nvSpPr>
          <p:cNvPr id="37" name="Text 35"/>
          <p:cNvSpPr txBox="1"/>
          <p:nvPr/>
        </p:nvSpPr>
        <p:spPr>
          <a:xfrm>
            <a:off x="457200" y="4297934"/>
            <a:ext cx="8229600" cy="406654"/>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earlier in the year. The recent sales point to the middle of the range.</a:t>
            </a:r>
            <a:endParaRPr lang="en-US" sz="1200" dirty="0"/>
          </a:p>
        </p:txBody>
      </p:sp>
      <p:sp>
        <p:nvSpPr>
          <p:cNvPr id="38" name="Text 3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9" name="Text 3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sp>
        <p:nvSpPr>
          <p:cNvPr id="3" name="Shape 1"/>
          <p:cNvSpPr/>
          <p:nvPr/>
        </p:nvSpPr>
        <p:spPr>
          <a:xfrm>
            <a:off x="1150315" y="2303961"/>
            <a:ext cx="5557266" cy="195943"/>
          </a:xfrm>
          <a:prstGeom prst="rect">
            <a:avLst/>
          </a:prstGeom>
          <a:solidFill>
            <a:srgbClr val="FBF2EE"/>
          </a:solidFill>
          <a:ln w="12700">
            <a:solidFill>
              <a:srgbClr val="FBF2EE"/>
            </a:solidFill>
            <a:prstDash val="solid"/>
          </a:ln>
        </p:spPr>
      </p:sp>
      <p:graphicFrame>
        <p:nvGraphicFramePr>
          <p:cNvPr id="4" name="Chart 0" descr=""/>
          <p:cNvGraphicFramePr/>
          <p:nvPr/>
        </p:nvGraphicFramePr>
        <p:xfrm>
          <a:off x="365760" y="868680"/>
          <a:ext cx="6537960" cy="34290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rot="16200000">
            <a:off x="-175565" y="2233422"/>
            <a:ext cx="1097280" cy="219456"/>
          </a:xfrm>
          <a:prstGeom prst="rect">
            <a:avLst/>
          </a:prstGeom>
          <a:noFill/>
          <a:ln/>
        </p:spPr>
        <p:txBody>
          <a:bodyPr wrap="square" lIns="0" tIns="0" rIns="0" bIns="0" rtlCol="0" anchor="ctr"/>
          <a:lstStyle/>
          <a:p>
            <a:pPr algn="ctr" indent="0" marL="0">
              <a:buNone/>
            </a:pPr>
            <a:r>
              <a:rPr lang="en-US" sz="1000" dirty="0">
                <a:solidFill>
                  <a:srgbClr val="5E5E5E"/>
                </a:solidFill>
                <a:latin typeface="Arial" pitchFamily="34" charset="0"/>
                <a:ea typeface="Arial" pitchFamily="34" charset="-122"/>
                <a:cs typeface="Arial" pitchFamily="34" charset="-120"/>
              </a:rPr>
              <a:t>Price</a:t>
            </a:r>
            <a:endParaRPr lang="en-US" sz="1000" dirty="0"/>
          </a:p>
        </p:txBody>
      </p:sp>
      <p:sp>
        <p:nvSpPr>
          <p:cNvPr id="6" name="Text 3"/>
          <p:cNvSpPr txBox="1"/>
          <p:nvPr/>
        </p:nvSpPr>
        <p:spPr>
          <a:xfrm>
            <a:off x="583387" y="36233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$300K</a:t>
            </a:r>
            <a:endParaRPr lang="en-US" sz="900" dirty="0"/>
          </a:p>
        </p:txBody>
      </p:sp>
      <p:sp>
        <p:nvSpPr>
          <p:cNvPr id="7" name="Text 4"/>
          <p:cNvSpPr txBox="1"/>
          <p:nvPr/>
        </p:nvSpPr>
        <p:spPr>
          <a:xfrm>
            <a:off x="583387" y="3231424"/>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$350K</a:t>
            </a:r>
            <a:endParaRPr lang="en-US" sz="900" dirty="0"/>
          </a:p>
        </p:txBody>
      </p:sp>
      <p:sp>
        <p:nvSpPr>
          <p:cNvPr id="8" name="Text 5"/>
          <p:cNvSpPr txBox="1"/>
          <p:nvPr/>
        </p:nvSpPr>
        <p:spPr>
          <a:xfrm>
            <a:off x="583387" y="2839539"/>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$400K</a:t>
            </a:r>
            <a:endParaRPr lang="en-US" sz="900" dirty="0"/>
          </a:p>
        </p:txBody>
      </p:sp>
      <p:sp>
        <p:nvSpPr>
          <p:cNvPr id="9" name="Text 6"/>
          <p:cNvSpPr txBox="1"/>
          <p:nvPr/>
        </p:nvSpPr>
        <p:spPr>
          <a:xfrm>
            <a:off x="583387" y="2447653"/>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$450K</a:t>
            </a:r>
            <a:endParaRPr lang="en-US" sz="900" dirty="0"/>
          </a:p>
        </p:txBody>
      </p:sp>
      <p:sp>
        <p:nvSpPr>
          <p:cNvPr id="10" name="Text 7"/>
          <p:cNvSpPr txBox="1"/>
          <p:nvPr/>
        </p:nvSpPr>
        <p:spPr>
          <a:xfrm>
            <a:off x="583387" y="2055767"/>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$500K</a:t>
            </a:r>
            <a:endParaRPr lang="en-US" sz="900" dirty="0"/>
          </a:p>
        </p:txBody>
      </p:sp>
      <p:sp>
        <p:nvSpPr>
          <p:cNvPr id="11" name="Text 8"/>
          <p:cNvSpPr txBox="1"/>
          <p:nvPr/>
        </p:nvSpPr>
        <p:spPr>
          <a:xfrm>
            <a:off x="583387" y="1663881"/>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$550K</a:t>
            </a:r>
            <a:endParaRPr lang="en-US" sz="900" dirty="0"/>
          </a:p>
        </p:txBody>
      </p:sp>
      <p:sp>
        <p:nvSpPr>
          <p:cNvPr id="12" name="Text 9"/>
          <p:cNvSpPr txBox="1"/>
          <p:nvPr/>
        </p:nvSpPr>
        <p:spPr>
          <a:xfrm>
            <a:off x="583387" y="1271996"/>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$600K</a:t>
            </a:r>
            <a:endParaRPr lang="en-US" sz="900" dirty="0"/>
          </a:p>
        </p:txBody>
      </p:sp>
      <p:sp>
        <p:nvSpPr>
          <p:cNvPr id="13" name="Text 10"/>
          <p:cNvSpPr txBox="1"/>
          <p:nvPr/>
        </p:nvSpPr>
        <p:spPr>
          <a:xfrm>
            <a:off x="583387" y="880110"/>
            <a:ext cx="512064" cy="182880"/>
          </a:xfrm>
          <a:prstGeom prst="rect">
            <a:avLst/>
          </a:prstGeom>
          <a:noFill/>
          <a:ln/>
        </p:spPr>
        <p:txBody>
          <a:bodyPr wrap="square" lIns="0" tIns="0" rIns="0" bIns="0" rtlCol="0" anchor="ctr"/>
          <a:lstStyle/>
          <a:p>
            <a:pPr algn="r" indent="0" marL="0">
              <a:buNone/>
            </a:pPr>
            <a:r>
              <a:rPr lang="en-US" sz="900" dirty="0">
                <a:solidFill>
                  <a:srgbClr val="5E5E5E"/>
                </a:solidFill>
                <a:latin typeface="Arial" pitchFamily="34" charset="0"/>
                <a:ea typeface="Arial" pitchFamily="34" charset="-122"/>
                <a:cs typeface="Arial" pitchFamily="34" charset="-120"/>
              </a:rPr>
              <a:t>$650K</a:t>
            </a:r>
            <a:endParaRPr lang="en-US" sz="900" dirty="0"/>
          </a:p>
        </p:txBody>
      </p:sp>
      <p:sp>
        <p:nvSpPr>
          <p:cNvPr id="14" name="Text 11"/>
          <p:cNvSpPr txBox="1"/>
          <p:nvPr/>
        </p:nvSpPr>
        <p:spPr>
          <a:xfrm>
            <a:off x="1205179" y="2331393"/>
            <a:ext cx="1899940" cy="182880"/>
          </a:xfrm>
          <a:prstGeom prst="rect">
            <a:avLst/>
          </a:prstGeom>
          <a:solidFill>
            <a:srgbClr val="FBF2EE"/>
          </a:solidFill>
          <a:ln/>
        </p:spPr>
        <p:txBody>
          <a:bodyPr wrap="square" lIns="0" tIns="762" rIns="762"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Supported Range $455K–$480K</a:t>
            </a:r>
            <a:endParaRPr lang="en-US" sz="900" dirty="0"/>
          </a:p>
        </p:txBody>
      </p:sp>
      <p:sp>
        <p:nvSpPr>
          <p:cNvPr id="15" name="Shape 12"/>
          <p:cNvSpPr/>
          <p:nvPr/>
        </p:nvSpPr>
        <p:spPr>
          <a:xfrm>
            <a:off x="626237" y="4439285"/>
            <a:ext cx="82550" cy="82550"/>
          </a:xfrm>
          <a:prstGeom prst="ellipse">
            <a:avLst/>
          </a:prstGeom>
          <a:solidFill>
            <a:srgbClr val="DBDBDB"/>
          </a:solidFill>
          <a:ln w="6350">
            <a:solidFill>
              <a:srgbClr val="DBDBDB"/>
            </a:solidFill>
            <a:prstDash val="solid"/>
          </a:ln>
        </p:spPr>
      </p:sp>
      <p:sp>
        <p:nvSpPr>
          <p:cNvPr id="16" name="Text 13"/>
          <p:cNvSpPr txBox="1"/>
          <p:nvPr/>
        </p:nvSpPr>
        <p:spPr>
          <a:xfrm>
            <a:off x="841248" y="4407408"/>
            <a:ext cx="673364"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Other Sales</a:t>
            </a:r>
            <a:endParaRPr lang="en-US" sz="900" dirty="0"/>
          </a:p>
        </p:txBody>
      </p:sp>
      <p:sp>
        <p:nvSpPr>
          <p:cNvPr id="17" name="Shape 14"/>
          <p:cNvSpPr/>
          <p:nvPr/>
        </p:nvSpPr>
        <p:spPr>
          <a:xfrm>
            <a:off x="1766834" y="4431030"/>
            <a:ext cx="99060" cy="99060"/>
          </a:xfrm>
          <a:prstGeom prst="rect">
            <a:avLst/>
          </a:prstGeom>
          <a:solidFill>
            <a:srgbClr val="5E5E5E"/>
          </a:solidFill>
          <a:ln w="6350">
            <a:solidFill>
              <a:srgbClr val="5E5E5E"/>
            </a:solidFill>
            <a:prstDash val="solid"/>
          </a:ln>
        </p:spPr>
      </p:sp>
      <p:sp>
        <p:nvSpPr>
          <p:cNvPr id="18" name="Text 15"/>
          <p:cNvSpPr txBox="1"/>
          <p:nvPr/>
        </p:nvSpPr>
        <p:spPr>
          <a:xfrm>
            <a:off x="1990100" y="4407408"/>
            <a:ext cx="765728"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For Sale Now</a:t>
            </a:r>
            <a:endParaRPr lang="en-US" sz="900" dirty="0"/>
          </a:p>
        </p:txBody>
      </p:sp>
      <p:sp>
        <p:nvSpPr>
          <p:cNvPr id="19" name="Shape 16"/>
          <p:cNvSpPr/>
          <p:nvPr/>
        </p:nvSpPr>
        <p:spPr>
          <a:xfrm>
            <a:off x="2938708" y="4480560"/>
            <a:ext cx="237744" cy="0"/>
          </a:xfrm>
          <a:prstGeom prst="line">
            <a:avLst/>
          </a:prstGeom>
          <a:noFill/>
          <a:ln w="15875">
            <a:solidFill>
              <a:srgbClr val="5E5E5E"/>
            </a:solidFill>
            <a:prstDash val="dash"/>
          </a:ln>
        </p:spPr>
      </p:sp>
      <p:sp>
        <p:nvSpPr>
          <p:cNvPr id="20" name="Text 17"/>
          <p:cNvSpPr txBox="1"/>
          <p:nvPr/>
        </p:nvSpPr>
        <p:spPr>
          <a:xfrm>
            <a:off x="3231316" y="4407408"/>
            <a:ext cx="90445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Size-Only Trend</a:t>
            </a:r>
            <a:endParaRPr lang="en-US" sz="900" dirty="0"/>
          </a:p>
        </p:txBody>
      </p:sp>
      <p:sp>
        <p:nvSpPr>
          <p:cNvPr id="21" name="Shape 18"/>
          <p:cNvSpPr/>
          <p:nvPr/>
        </p:nvSpPr>
        <p:spPr>
          <a:xfrm>
            <a:off x="4371479" y="4414520"/>
            <a:ext cx="132080" cy="132080"/>
          </a:xfrm>
          <a:prstGeom prst="ellipse">
            <a:avLst/>
          </a:prstGeom>
          <a:solidFill>
            <a:srgbClr val="C2410C"/>
          </a:solidFill>
          <a:ln w="6350">
            <a:solidFill>
              <a:srgbClr val="C2410C"/>
            </a:solidFill>
            <a:prstDash val="solid"/>
          </a:ln>
        </p:spPr>
      </p:sp>
      <p:sp>
        <p:nvSpPr>
          <p:cNvPr id="22" name="Text 19"/>
          <p:cNvSpPr txBox="1"/>
          <p:nvPr/>
        </p:nvSpPr>
        <p:spPr>
          <a:xfrm>
            <a:off x="4611255" y="4407408"/>
            <a:ext cx="1023442"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Comparable Sales</a:t>
            </a:r>
            <a:endParaRPr lang="en-US" sz="900" dirty="0"/>
          </a:p>
        </p:txBody>
      </p:sp>
      <p:sp>
        <p:nvSpPr>
          <p:cNvPr id="23" name="Shape 20"/>
          <p:cNvSpPr/>
          <p:nvPr/>
        </p:nvSpPr>
        <p:spPr>
          <a:xfrm>
            <a:off x="5854153" y="4398264"/>
            <a:ext cx="164592" cy="164592"/>
          </a:xfrm>
          <a:prstGeom prst="diamond">
            <a:avLst/>
          </a:prstGeom>
          <a:solidFill>
            <a:srgbClr val="7B2400"/>
          </a:solidFill>
          <a:ln w="6350">
            <a:solidFill>
              <a:srgbClr val="FFFFFF"/>
            </a:solidFill>
            <a:prstDash val="solid"/>
          </a:ln>
        </p:spPr>
      </p:sp>
      <p:sp>
        <p:nvSpPr>
          <p:cNvPr id="24" name="Text 21"/>
          <p:cNvSpPr txBox="1"/>
          <p:nvPr/>
        </p:nvSpPr>
        <p:spPr>
          <a:xfrm>
            <a:off x="6110185" y="4407408"/>
            <a:ext cx="1518901" cy="164592"/>
          </a:xfrm>
          <a:prstGeom prst="rect">
            <a:avLst/>
          </a:prstGeom>
          <a:noFill/>
          <a:ln/>
        </p:spPr>
        <p:txBody>
          <a:bodyPr wrap="square" lIns="0" tIns="0" rIns="0" bIns="0" rtlCol="0" anchor="ctr"/>
          <a:lstStyle/>
          <a:p>
            <a:pPr indent="0" marL="0">
              <a:buNone/>
            </a:pPr>
            <a:r>
              <a:rPr lang="en-US" sz="900" dirty="0">
                <a:solidFill>
                  <a:srgbClr val="1A1A1A"/>
                </a:solidFill>
                <a:latin typeface="Arial" pitchFamily="34" charset="0"/>
                <a:ea typeface="Arial" pitchFamily="34" charset="-122"/>
                <a:cs typeface="Arial" pitchFamily="34" charset="-120"/>
              </a:rPr>
              <a:t>Your Home, Recommended</a:t>
            </a:r>
            <a:endParaRPr lang="en-US" sz="900" dirty="0"/>
          </a:p>
        </p:txBody>
      </p:sp>
      <p:sp>
        <p:nvSpPr>
          <p:cNvPr id="25" name="Shape 22"/>
          <p:cNvSpPr/>
          <p:nvPr/>
        </p:nvSpPr>
        <p:spPr>
          <a:xfrm>
            <a:off x="6949440" y="1143000"/>
            <a:ext cx="45720" cy="3017520"/>
          </a:xfrm>
          <a:prstGeom prst="rect">
            <a:avLst/>
          </a:prstGeom>
          <a:solidFill>
            <a:srgbClr val="C2410C"/>
          </a:solidFill>
          <a:ln w="12700">
            <a:solidFill>
              <a:srgbClr val="C2410C"/>
            </a:solidFill>
            <a:prstDash val="solid"/>
          </a:ln>
        </p:spPr>
      </p:sp>
      <p:sp>
        <p:nvSpPr>
          <p:cNvPr id="26" name="Text 23"/>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and yours sits among them without testing the ceiling.</a:t>
            </a:r>
            <a:endParaRPr lang="en-US" sz="1300" dirty="0"/>
          </a:p>
        </p:txBody>
      </p:sp>
      <p:sp>
        <p:nvSpPr>
          <p:cNvPr id="27" name="Text 24"/>
          <p:cNvSpPr txBox="1"/>
          <p:nvPr/>
        </p:nvSpPr>
        <p:spPr>
          <a:xfrm>
            <a:off x="7086600" y="2735834"/>
            <a:ext cx="1600200" cy="1424686"/>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Size alone predicts about $443K at your size. Your price is about $27,000 above the line.</a:t>
            </a:r>
            <a:endParaRPr lang="en-US" sz="1100" dirty="0"/>
          </a:p>
        </p:txBody>
      </p:sp>
      <p:sp>
        <p:nvSpPr>
          <p:cNvPr id="28"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9"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Has Shifted</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Nearby sales, April–June vs. July–September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98.7%</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93.9%</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 days</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 days</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Typical Seller Credit</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E5E5E"/>
                </a:solidFill>
                <a:latin typeface="Arial" pitchFamily="34" charset="0"/>
                <a:ea typeface="Arial" pitchFamily="34" charset="-122"/>
                <a:cs typeface="Arial" pitchFamily="34" charset="-120"/>
              </a:rPr>
              <a:t>Earlier</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E5E5E"/>
                </a:solidFill>
                <a:latin typeface="Arial" pitchFamily="34" charset="0"/>
                <a:ea typeface="Arial" pitchFamily="34" charset="-122"/>
                <a:cs typeface="Arial" pitchFamily="34" charset="-120"/>
              </a:rPr>
              <a:t>$8,250</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$12,100</a:t>
            </a:r>
            <a:endParaRPr lang="en-US" sz="2800" dirty="0"/>
          </a:p>
        </p:txBody>
      </p:sp>
      <p:sp>
        <p:nvSpPr>
          <p:cNvPr id="36" name="Text 30"/>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earlier in the year.</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p:spPr>
      </p:sp>
      <p:sp>
        <p:nvSpPr>
          <p:cNvPr id="5" name="Text 3"/>
          <p:cNvSpPr txBox="1"/>
          <p:nvPr/>
        </p:nvSpPr>
        <p:spPr>
          <a:xfrm>
            <a:off x="65836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p:spPr>
      </p:sp>
      <p:sp>
        <p:nvSpPr>
          <p:cNvPr id="10" name="Text 8"/>
          <p:cNvSpPr txBox="1"/>
          <p:nvPr/>
        </p:nvSpPr>
        <p:spPr>
          <a:xfrm>
            <a:off x="349300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p:spPr>
      </p:sp>
      <p:sp>
        <p:nvSpPr>
          <p:cNvPr id="15" name="Text 13"/>
          <p:cNvSpPr txBox="1"/>
          <p:nvPr/>
        </p:nvSpPr>
        <p:spPr>
          <a:xfrm>
            <a:off x="6327648" y="1554480"/>
            <a:ext cx="2157984" cy="2743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31920"/>
            <a:ext cx="8229600" cy="772668"/>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292608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PREMIUM</a:t>
            </a:r>
            <a:endParaRPr lang="en-US" sz="1000" dirty="0"/>
          </a:p>
        </p:txBody>
      </p:sp>
      <p:sp>
        <p:nvSpPr>
          <p:cNvPr id="5" name="Text 3"/>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$475,000</a:t>
            </a:r>
            <a:endParaRPr lang="en-US" sz="3000" dirty="0"/>
          </a:p>
        </p:txBody>
      </p:sp>
      <p:sp>
        <p:nvSpPr>
          <p:cNvPr id="6" name="Text 4"/>
          <p:cNvSpPr txBox="1"/>
          <p:nvPr/>
        </p:nvSpPr>
        <p:spPr>
          <a:xfrm>
            <a:off x="65836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7" name="Text 5"/>
          <p:cNvSpPr txBox="1"/>
          <p:nvPr/>
        </p:nvSpPr>
        <p:spPr>
          <a:xfrm>
            <a:off x="193018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5–9 weeks</a:t>
            </a:r>
            <a:endParaRPr lang="en-US" sz="1300" dirty="0"/>
          </a:p>
        </p:txBody>
      </p:sp>
      <p:sp>
        <p:nvSpPr>
          <p:cNvPr id="8" name="Text 6"/>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9" name="Text 7"/>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$467,500</a:t>
            </a:r>
            <a:endParaRPr lang="en-US" sz="1300" dirty="0"/>
          </a:p>
        </p:txBody>
      </p:sp>
      <p:sp>
        <p:nvSpPr>
          <p:cNvPr id="10" name="Text 8"/>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11" name="Text 9"/>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12" name="Text 10"/>
          <p:cNvSpPr txBox="1"/>
          <p:nvPr/>
        </p:nvSpPr>
        <p:spPr>
          <a:xfrm>
            <a:off x="65836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upper part of the range; takes longer and may need a price cut before an offer</a:t>
            </a:r>
            <a:endParaRPr lang="en-US" sz="1100" dirty="0"/>
          </a:p>
        </p:txBody>
      </p:sp>
      <p:sp>
        <p:nvSpPr>
          <p:cNvPr id="13" name="Shape 11"/>
          <p:cNvSpPr/>
          <p:nvPr/>
        </p:nvSpPr>
        <p:spPr>
          <a:xfrm>
            <a:off x="3291840" y="1051560"/>
            <a:ext cx="2560320" cy="2926080"/>
          </a:xfrm>
          <a:prstGeom prst="roundRect">
            <a:avLst>
              <a:gd name="adj" fmla="val 2857"/>
            </a:avLst>
          </a:prstGeom>
          <a:solidFill>
            <a:srgbClr val="C2410C"/>
          </a:solidFill>
          <a:ln w="12700">
            <a:solidFill>
              <a:srgbClr val="C2410C"/>
            </a:solidFill>
            <a:prstDash val="solid"/>
          </a:ln>
        </p:spPr>
      </p:sp>
      <p:sp>
        <p:nvSpPr>
          <p:cNvPr id="14" name="Text 12"/>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950" b="1" dirty="0">
                <a:solidFill>
                  <a:srgbClr val="FFFFFF"/>
                </a:solidFill>
                <a:latin typeface="Arial" pitchFamily="34" charset="0"/>
                <a:ea typeface="Arial" pitchFamily="34" charset="-122"/>
                <a:cs typeface="Arial" pitchFamily="34" charset="-120"/>
              </a:rPr>
              <a:t>MARKET PRICE · RECOMMENDED</a:t>
            </a:r>
            <a:endParaRPr lang="en-US" sz="950" dirty="0"/>
          </a:p>
        </p:txBody>
      </p:sp>
      <p:sp>
        <p:nvSpPr>
          <p:cNvPr id="15" name="Text 13"/>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$470,000</a:t>
            </a:r>
            <a:endParaRPr lang="en-US" sz="3000" dirty="0"/>
          </a:p>
        </p:txBody>
      </p:sp>
      <p:sp>
        <p:nvSpPr>
          <p:cNvPr id="16" name="Text 14"/>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7" name="Text 15"/>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2–5 weeks</a:t>
            </a:r>
            <a:endParaRPr lang="en-US" sz="1300" dirty="0"/>
          </a:p>
        </p:txBody>
      </p:sp>
      <p:sp>
        <p:nvSpPr>
          <p:cNvPr id="18" name="Text 16"/>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9" name="Text 17"/>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$467,000</a:t>
            </a:r>
            <a:endParaRPr lang="en-US" sz="1300" dirty="0"/>
          </a:p>
        </p:txBody>
      </p:sp>
      <p:sp>
        <p:nvSpPr>
          <p:cNvPr id="20" name="Text 18"/>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Seller Credit</a:t>
            </a:r>
            <a:endParaRPr lang="en-US" sz="1100" dirty="0"/>
          </a:p>
        </p:txBody>
      </p:sp>
      <p:sp>
        <p:nvSpPr>
          <p:cNvPr id="21" name="Text 19"/>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$11,000</a:t>
            </a:r>
            <a:endParaRPr lang="en-US" sz="1300" dirty="0"/>
          </a:p>
        </p:txBody>
      </p:sp>
      <p:sp>
        <p:nvSpPr>
          <p:cNvPr id="22" name="Text 20"/>
          <p:cNvSpPr txBox="1"/>
          <p:nvPr/>
        </p:nvSpPr>
        <p:spPr>
          <a:xfrm>
            <a:off x="3493008" y="3264408"/>
            <a:ext cx="2157984" cy="64008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where recent adjusted sales support; room to negotiate</a:t>
            </a:r>
            <a:endParaRPr lang="en-US" sz="1100" dirty="0"/>
          </a:p>
        </p:txBody>
      </p:sp>
      <p:sp>
        <p:nvSpPr>
          <p:cNvPr id="23" name="Shape 21"/>
          <p:cNvSpPr/>
          <p:nvPr/>
        </p:nvSpPr>
        <p:spPr>
          <a:xfrm>
            <a:off x="6126480" y="1051560"/>
            <a:ext cx="2560320" cy="2926080"/>
          </a:xfrm>
          <a:prstGeom prst="roundRect">
            <a:avLst>
              <a:gd name="adj" fmla="val 2857"/>
            </a:avLst>
          </a:prstGeom>
          <a:solidFill>
            <a:srgbClr val="FBF2EE"/>
          </a:solidFill>
          <a:ln w="12700">
            <a:solidFill>
              <a:srgbClr val="FBF2EE"/>
            </a:solidFill>
            <a:prstDash val="solid"/>
          </a:ln>
        </p:spPr>
      </p:sp>
      <p:sp>
        <p:nvSpPr>
          <p:cNvPr id="24" name="Text 22"/>
          <p:cNvSpPr txBox="1"/>
          <p:nvPr/>
        </p:nvSpPr>
        <p:spPr>
          <a:xfrm>
            <a:off x="6327648" y="1188720"/>
            <a:ext cx="2157984" cy="228600"/>
          </a:xfrm>
          <a:prstGeom prst="rect">
            <a:avLst/>
          </a:prstGeom>
          <a:noFill/>
          <a:ln/>
        </p:spPr>
        <p:txBody>
          <a:bodyPr wrap="square" lIns="0" tIns="0" rIns="0" bIns="0" rtlCol="0" anchor="ctr"/>
          <a:lstStyle/>
          <a:p>
            <a:pPr indent="0" marL="0">
              <a:buNone/>
            </a:pPr>
            <a:r>
              <a:rPr lang="en-US" sz="1000" b="1" dirty="0">
                <a:solidFill>
                  <a:srgbClr val="C2410C"/>
                </a:solidFill>
                <a:latin typeface="Arial" pitchFamily="34" charset="0"/>
                <a:ea typeface="Arial" pitchFamily="34" charset="-122"/>
                <a:cs typeface="Arial" pitchFamily="34" charset="-120"/>
              </a:rPr>
              <a:t>DRAW OFFERS</a:t>
            </a:r>
            <a:endParaRPr lang="en-US" sz="1000" dirty="0"/>
          </a:p>
        </p:txBody>
      </p:sp>
      <p:sp>
        <p:nvSpPr>
          <p:cNvPr id="25" name="Text 23"/>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$460,000</a:t>
            </a:r>
            <a:endParaRPr lang="en-US" sz="3000" dirty="0"/>
          </a:p>
        </p:txBody>
      </p:sp>
      <p:sp>
        <p:nvSpPr>
          <p:cNvPr id="26" name="Text 24"/>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Time to Contract</a:t>
            </a:r>
            <a:endParaRPr lang="en-US" sz="1100" dirty="0"/>
          </a:p>
        </p:txBody>
      </p:sp>
      <p:sp>
        <p:nvSpPr>
          <p:cNvPr id="27" name="Text 25"/>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1–2 weeks</a:t>
            </a:r>
            <a:endParaRPr lang="en-US" sz="1300" dirty="0"/>
          </a:p>
        </p:txBody>
      </p:sp>
      <p:sp>
        <p:nvSpPr>
          <p:cNvPr id="28" name="Text 26"/>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Expected Sale</a:t>
            </a:r>
            <a:endParaRPr lang="en-US" sz="1100" dirty="0"/>
          </a:p>
        </p:txBody>
      </p:sp>
      <p:sp>
        <p:nvSpPr>
          <p:cNvPr id="29" name="Text 27"/>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$457,000</a:t>
            </a:r>
            <a:endParaRPr lang="en-US" sz="1300" dirty="0"/>
          </a:p>
        </p:txBody>
      </p:sp>
      <p:sp>
        <p:nvSpPr>
          <p:cNvPr id="30" name="Text 28"/>
          <p:cNvSpPr txBox="1"/>
          <p:nvPr/>
        </p:nvSpPr>
        <p:spPr>
          <a:xfrm>
            <a:off x="6327648" y="2843784"/>
            <a:ext cx="1409430" cy="347472"/>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Seller Credit</a:t>
            </a:r>
            <a:endParaRPr lang="en-US" sz="1100" dirty="0"/>
          </a:p>
        </p:txBody>
      </p:sp>
      <p:sp>
        <p:nvSpPr>
          <p:cNvPr id="31" name="Text 29"/>
          <p:cNvSpPr txBox="1"/>
          <p:nvPr/>
        </p:nvSpPr>
        <p:spPr>
          <a:xfrm>
            <a:off x="782851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$11,000</a:t>
            </a:r>
            <a:endParaRPr lang="en-US" sz="1300" dirty="0"/>
          </a:p>
        </p:txBody>
      </p:sp>
      <p:sp>
        <p:nvSpPr>
          <p:cNvPr id="32" name="Text 30"/>
          <p:cNvSpPr txBox="1"/>
          <p:nvPr/>
        </p:nvSpPr>
        <p:spPr>
          <a:xfrm>
            <a:off x="6327648" y="3264408"/>
            <a:ext cx="2157984" cy="64008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Priced to bring the most buyers in early and draw offers; usually the fastest to contract</a:t>
            </a:r>
            <a:endParaRPr lang="en-US" sz="1100" dirty="0"/>
          </a:p>
        </p:txBody>
      </p:sp>
      <p:sp>
        <p:nvSpPr>
          <p:cNvPr id="33" name="Text 31"/>
          <p:cNvSpPr txBox="1"/>
          <p:nvPr/>
        </p:nvSpPr>
        <p:spPr>
          <a:xfrm>
            <a:off x="457200" y="4114800"/>
            <a:ext cx="8229600" cy="589788"/>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The nets are close. The real choice is time and risk.</a:t>
            </a:r>
            <a:endParaRPr lang="en-US" sz="1400" dirty="0"/>
          </a:p>
        </p:txBody>
      </p:sp>
      <p:sp>
        <p:nvSpPr>
          <p:cNvPr id="34" name="Text 3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3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Net after holding costs, before mortgage payoff</a:t>
            </a:r>
            <a:endParaRPr lang="en-US" sz="1300" dirty="0"/>
          </a:p>
        </p:txBody>
      </p:sp>
      <p:graphicFrame>
        <p:nvGraphicFramePr>
          <p:cNvPr id="4" name="Chart 0" descr=""/>
          <p:cNvGraphicFramePr/>
          <p:nvPr/>
        </p:nvGraphicFramePr>
        <p:xfrm>
          <a:off x="457200" y="1234440"/>
          <a:ext cx="512064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$9,193</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nets are close.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Premium at $475,000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$23,750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Market Price at $470,000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$4,088/mo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$23,500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Draw Offers at $460,000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$4,006/mo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E5E5E"/>
                </a:solidFill>
                <a:latin typeface="Arial" pitchFamily="34" charset="0"/>
                <a:ea typeface="Arial" pitchFamily="34" charset="-122"/>
                <a:cs typeface="Arial" pitchFamily="34" charset="-120"/>
              </a:rPr>
              <a:t>$23,000 down (5%)</a:t>
            </a:r>
            <a:endParaRPr lang="en-US" sz="1100" dirty="0"/>
          </a:p>
        </p:txBody>
      </p:sp>
      <p:sp>
        <p:nvSpPr>
          <p:cNvPr id="16" name="Shape 14"/>
          <p:cNvSpPr/>
          <p:nvPr/>
        </p:nvSpPr>
        <p:spPr>
          <a:xfrm>
            <a:off x="457200" y="338328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03981"/>
            <a:ext cx="261518" cy="261518"/>
          </a:xfrm>
          <a:prstGeom prst="rect">
            <a:avLst/>
          </a:prstGeom>
        </p:spPr>
      </p:pic>
      <p:sp>
        <p:nvSpPr>
          <p:cNvPr id="18" name="Text 15"/>
          <p:cNvSpPr txBox="1"/>
          <p:nvPr/>
        </p:nvSpPr>
        <p:spPr>
          <a:xfrm>
            <a:off x="1143000" y="3310128"/>
            <a:ext cx="7543800" cy="292608"/>
          </a:xfrm>
          <a:prstGeom prst="rect">
            <a:avLst/>
          </a:prstGeom>
          <a:noFill/>
          <a:ln/>
        </p:spPr>
        <p:txBody>
          <a:bodyPr wrap="square" lIns="0" tIns="0" rIns="0" bIns="0" rtlCol="0" anchor="ctr"/>
          <a:lstStyle/>
          <a:p>
            <a:pPr indent="0" marL="0">
              <a:buNone/>
            </a:pPr>
            <a:r>
              <a:rPr lang="en-US" sz="1400" b="1" dirty="0">
                <a:solidFill>
                  <a:srgbClr val="C2410C"/>
                </a:solidFill>
                <a:latin typeface="Arial" pitchFamily="34" charset="0"/>
                <a:ea typeface="Arial" pitchFamily="34" charset="-122"/>
                <a:cs typeface="Arial" pitchFamily="34" charset="-120"/>
              </a:rPr>
              <a:t>Every $10,000 in price is about $82 a month to a buyer.</a:t>
            </a:r>
            <a:endParaRPr lang="en-US" sz="1400" dirty="0"/>
          </a:p>
        </p:txBody>
      </p:sp>
      <p:sp>
        <p:nvSpPr>
          <p:cNvPr id="19" name="Text 16"/>
          <p:cNvSpPr txBox="1"/>
          <p:nvPr/>
        </p:nvSpPr>
        <p:spPr>
          <a:xfrm>
            <a:off x="1143000" y="3639312"/>
            <a:ext cx="7543800" cy="1065276"/>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shop by payment, so a small change in price moves the number they see.</a:t>
            </a:r>
            <a:endParaRPr lang="en-US" sz="1400" dirty="0"/>
          </a:p>
        </p:txBody>
      </p:sp>
      <p:sp>
        <p:nvSpPr>
          <p:cNvPr id="20" name="Text 17"/>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8"/>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201422"/>
          </a:xfrm>
          <a:prstGeom prst="rect">
            <a:avLst/>
          </a:prstGeom>
          <a:noFill/>
          <a:ln/>
        </p:spPr>
        <p:txBody>
          <a:bodyPr wrap="square" lIns="0" tIns="0" rIns="0" bIns="0" rtlCol="0" anchor="t"/>
          <a:lstStyle/>
          <a:p>
            <a:pPr indent="0" marL="0">
              <a:buNone/>
            </a:pPr>
            <a:r>
              <a:rPr lang="en-US" sz="1300" dirty="0">
                <a:solidFill>
                  <a:srgbClr val="5E5E5E"/>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Permit and date, ready for buyers and insurers</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Get the Inspections</a:t>
            </a:r>
            <a:endParaRPr lang="en-US" sz="130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Pre-listing, four-point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the Renovation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Make It Easy to Show</a:t>
            </a:r>
            <a:endParaRPr lang="en-US" sz="125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Short-notice showings in the first weeks</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Decide on a 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Agree on a Review Point</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E5E5E"/>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and any inspection reports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the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the listing agreement; order the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Before Launch</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a final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Oct 6</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$470,000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After Launch</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steady showings bring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58064">
                <a:tc>
                  <a:txBody>
                    <a:bodyPr/>
                    <a:lstStyle/>
                    <a:p>
                      <a:pPr algn="l" indent="0" marL="0">
                        <a:buNone/>
                      </a:pPr>
                      <a:r>
                        <a:rPr lang="en-US" sz="1000" b="1" dirty="0">
                          <a:solidFill>
                            <a:srgbClr val="A23200"/>
                          </a:solidFill>
                          <a:latin typeface="Arial" pitchFamily="34" charset="0"/>
                          <a:ea typeface="Arial" pitchFamily="34" charset="-122"/>
                          <a:cs typeface="Arial" pitchFamily="34" charset="-120"/>
                        </a:rPr>
                        <a:t>Estimated at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Premium at $475,000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Market Price at $470,000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A23200"/>
                          </a:solidFill>
                          <a:latin typeface="Arial" pitchFamily="34" charset="0"/>
                          <a:ea typeface="Arial" pitchFamily="34" charset="-122"/>
                          <a:cs typeface="Arial" pitchFamily="34" charset="-120"/>
                        </a:rPr>
                        <a:t>Draw Offers at $460,000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Sale Price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$467,500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$467,000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$457,000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Expected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Dec 24,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30,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Nov 16, 2026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Listing Brokerage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Buyer's Agent Compensation (2.5%)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−$11,688</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−$11,675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−$11,425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Documentary Stamp Tax on the Deed (0.70%)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−$3,273</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−$3,269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−$3,199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Owner's Title Insurance</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−$2,412</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−$2,410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−$2,360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Title Company Fees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−$1,145</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Seller-Paid Buyer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−$11,000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Estimated Net Before Mortgage Payoff</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$426,294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$425,826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$416,446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dirty="0">
                          <a:solidFill>
                            <a:srgbClr val="1A1A1A"/>
                          </a:solidFill>
                          <a:latin typeface="Arial" pitchFamily="34" charset="0"/>
                          <a:ea typeface="Arial" pitchFamily="34" charset="-122"/>
                          <a:cs typeface="Arial" pitchFamily="34" charset="-120"/>
                        </a:rPr>
                        <a:t>Holding Costs Until Closing</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−$1,604</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−$1,190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A1A1A"/>
                          </a:solidFill>
                          <a:latin typeface="Arial" pitchFamily="34" charset="0"/>
                          <a:ea typeface="Arial" pitchFamily="34" charset="-122"/>
                          <a:cs typeface="Arial" pitchFamily="34" charset="-120"/>
                        </a:rPr>
                        <a:t>−$949</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58064">
                <a:tc>
                  <a:txBody>
                    <a:bodyPr/>
                    <a:lstStyle/>
                    <a:p>
                      <a:pPr algn="l" indent="0" marL="0">
                        <a:buNone/>
                      </a:pPr>
                      <a:r>
                        <a:rPr lang="en-US" sz="1000" b="1" dirty="0">
                          <a:solidFill>
                            <a:srgbClr val="1A1A1A"/>
                          </a:solidFill>
                          <a:latin typeface="Arial" pitchFamily="34" charset="0"/>
                          <a:ea typeface="Arial" pitchFamily="34" charset="-122"/>
                          <a:cs typeface="Arial" pitchFamily="34" charset="-120"/>
                        </a:rPr>
                        <a:t>Net After Holding Costs</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$424,690</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$424,636</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A1A1A"/>
                          </a:solidFill>
                          <a:latin typeface="Arial" pitchFamily="34" charset="0"/>
                          <a:ea typeface="Arial" pitchFamily="34" charset="-122"/>
                          <a:cs typeface="Arial" pitchFamily="34" charset="-120"/>
                        </a:rPr>
                        <a:t>$415,497</a:t>
                      </a:r>
                      <a:endParaRPr lang="en-US" sz="10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346448"/>
            <a:ext cx="8229600" cy="358140"/>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Commissions are negotiable and not set by law. Not included: your mortgage payoff, this year's property tax proration (the current tax bill adds it) and any repairs agreed after inspection. The closing agent provides the exact figures.</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A23200"/>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A23200"/>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19050" cap="flat" cmpd="sng" algn="ctr">
                      <a:solidFill>
                        <a:srgbClr val="C2410C"/>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$485,700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$479,300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$433,500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$431,200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0" cap="flat" cmpd="sng" algn="ctr">
                      <a:noFill/>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7B2400"/>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B2400"/>
                          </a:solidFill>
                          <a:latin typeface="Arial" pitchFamily="34" charset="0"/>
                          <a:ea typeface="Arial" pitchFamily="34" charset="-122"/>
                          <a:cs typeface="Arial" pitchFamily="34" charset="-120"/>
                        </a:rPr>
                        <a:t>$470,000</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B2400"/>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b="1" dirty="0">
                          <a:solidFill>
                            <a:srgbClr val="7B2400"/>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0" cap="flat" cmpd="sng" algn="ctr">
                      <a:noFill/>
                    </a:lnL>
                    <a:lnR w="0" cap="flat" cmpd="sng" algn="ctr">
                      <a:noFill/>
                    </a:lnR>
                    <a:lnT w="15875" cap="flat" cmpd="sng" algn="ctr">
                      <a:solidFill>
                        <a:srgbClr val="C2410C"/>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3191256"/>
            <a:ext cx="8229600" cy="1513332"/>
          </a:xfrm>
          <a:prstGeom prst="rect">
            <a:avLst/>
          </a:prstGeom>
          <a:noFill/>
          <a:ln/>
        </p:spPr>
        <p:txBody>
          <a:bodyPr wrap="square" lIns="0" tIns="0" rIns="0" bIns="0" rtlCol="0" anchor="t"/>
          <a:lstStyle/>
          <a:p>
            <a:pPr indent="0" marL="0">
              <a:buNone/>
            </a:pPr>
            <a:r>
              <a:rPr lang="en-US" sz="1000" dirty="0">
                <a:solidFill>
                  <a:srgbClr val="5E5E5E"/>
                </a:solidFill>
                <a:latin typeface="Arial" pitchFamily="34" charset="0"/>
                <a:ea typeface="Arial" pitchFamily="34" charset="-122"/>
                <a:cs typeface="Arial" pitchFamily="34" charset="-120"/>
              </a:rPr>
              <a:t>Sales data: Stellar MLS as of September 22, 2026. Deemed reliable but not guaranteed. This comparative market analysis is an opinion of price, not an appraisal, and isn't for lending purposes. Payment, tax and cost figures are estimates only, not lending or tax advice.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E5E5E"/>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E5E5E"/>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2026-10-13T05:27:19Z</dcterms:created>
  <dcterms:modified xsi:type="dcterms:W3CDTF">2026-10-13T05:27:19Z</dcterms:modified>
</cp:coreProperties>
</file>