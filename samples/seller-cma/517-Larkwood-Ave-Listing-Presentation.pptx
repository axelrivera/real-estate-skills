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Renovated Pool Home (Sold)</c:v>
                </c:pt>
              </c:strCache>
            </c:strRef>
          </c:tx>
          <c:spPr>
            <a:solidFill>
              <a:srgbClr val="C2410C"/>
            </a:solidFill>
            <a:ln>
              <a:noFill/>
            </a:ln>
            <a:effectLst/>
          </c:spPr>
          <c:marker>
            <c:symbol val="circle"/>
            <c:size val="8"/>
            <c:spPr>
              <a:solidFill>
                <a:srgbClr val="C2410C"/>
              </a:solidFill>
              <a:ln w="9525">
                <a:solidFill>
                  <a:srgbClr val="C2410C"/>
                </a:solidFill>
              </a:ln>
            </c:spPr>
          </c:marker>
          <c:xVal>
            <c:numRef>
              <c:f>Sheet1!$A$2:$A$76</c:f>
              <c:numCache>
                <c:formatCode>General</c:formatCode>
                <c:ptCount val="75"/>
                <c:pt idx="0">
                  <c:v>1824</c:v>
                </c:pt>
                <c:pt idx="1">
                  <c:v>1865</c:v>
                </c:pt>
                <c:pt idx="2">
                  <c:v>1865</c:v>
                </c:pt>
                <c:pt idx="3">
                  <c:v>1702</c:v>
                </c:pt>
                <c:pt idx="4">
                  <c:v>1871</c:v>
                </c:pt>
                <c:pt idx="5">
                  <c:v>1849</c:v>
                </c:pt>
                <c:pt idx="6">
                  <c:v>1790</c:v>
                </c:pt>
                <c:pt idx="7">
                  <c:v>2260</c:v>
                </c:pt>
                <c:pt idx="8">
                  <c:v>2150</c:v>
                </c:pt>
                <c:pt idx="9">
                  <c:v>1880</c:v>
                </c:pt>
                <c:pt idx="10">
                  <c:v>1950</c:v>
                </c:pt>
                <c:pt idx="11">
                  <c:v>1450</c:v>
                </c:pt>
                <c:pt idx="12">
                  <c:v>2150</c:v>
                </c:pt>
                <c:pt idx="13">
                  <c:v>2260</c:v>
                </c:pt>
                <c:pt idx="14">
                  <c:v>2380</c:v>
                </c:pt>
                <c:pt idx="15">
                  <c:v>1740</c:v>
                </c:pt>
                <c:pt idx="16">
                  <c:v>1450</c:v>
                </c:pt>
                <c:pt idx="17">
                  <c:v>1610</c:v>
                </c:pt>
                <c:pt idx="18">
                  <c:v>1820</c:v>
                </c:pt>
                <c:pt idx="19">
                  <c:v>1880</c:v>
                </c:pt>
                <c:pt idx="20">
                  <c:v>2380</c:v>
                </c:pt>
                <c:pt idx="21">
                  <c:v>1810</c:v>
                </c:pt>
                <c:pt idx="22">
                  <c:v>1880</c:v>
                </c:pt>
                <c:pt idx="23">
                  <c:v>1950</c:v>
                </c:pt>
                <c:pt idx="24">
                  <c:v>2380</c:v>
                </c:pt>
                <c:pt idx="25">
                  <c:v>2380</c:v>
                </c:pt>
                <c:pt idx="26">
                  <c:v>1740</c:v>
                </c:pt>
                <c:pt idx="27">
                  <c:v>1740</c:v>
                </c:pt>
                <c:pt idx="28">
                  <c:v>2380</c:v>
                </c:pt>
                <c:pt idx="29">
                  <c:v>2380</c:v>
                </c:pt>
                <c:pt idx="30">
                  <c:v>2040</c:v>
                </c:pt>
                <c:pt idx="31">
                  <c:v>2380</c:v>
                </c:pt>
                <c:pt idx="32">
                  <c:v>1610</c:v>
                </c:pt>
                <c:pt idx="33">
                  <c:v>1849</c:v>
                </c:pt>
                <c:pt idx="34">
                  <c:v>1943</c:v>
                </c:pt>
                <c:pt idx="35">
                  <c:v>2400</c:v>
                </c:pt>
                <c:pt idx="36">
                  <c:v>2400</c:v>
                </c:pt>
                <c:pt idx="37">
                  <c:v>2400</c:v>
                </c:pt>
                <c:pt idx="38">
                  <c:v>1650</c:v>
                </c:pt>
                <c:pt idx="39">
                  <c:v>1500</c:v>
                </c:pt>
                <c:pt idx="40">
                  <c:v>1650</c:v>
                </c:pt>
                <c:pt idx="41">
                  <c:v>1900</c:v>
                </c:pt>
                <c:pt idx="42">
                  <c:v>1650</c:v>
                </c:pt>
                <c:pt idx="43">
                  <c:v>1900</c:v>
                </c:pt>
                <c:pt idx="44">
                  <c:v>1650</c:v>
                </c:pt>
                <c:pt idx="45">
                  <c:v>2100</c:v>
                </c:pt>
                <c:pt idx="46">
                  <c:v>1450</c:v>
                </c:pt>
                <c:pt idx="47">
                  <c:v>1485.1851851851852</c:v>
                </c:pt>
                <c:pt idx="48">
                  <c:v>1520.3703703703704</c:v>
                </c:pt>
                <c:pt idx="49">
                  <c:v>1555.5555555555557</c:v>
                </c:pt>
                <c:pt idx="50">
                  <c:v>1590.7407407407406</c:v>
                </c:pt>
                <c:pt idx="51">
                  <c:v>1625.9259259259259</c:v>
                </c:pt>
                <c:pt idx="52">
                  <c:v>1661.111111111111</c:v>
                </c:pt>
                <c:pt idx="53">
                  <c:v>1696.2962962962963</c:v>
                </c:pt>
                <c:pt idx="54">
                  <c:v>1731.4814814814815</c:v>
                </c:pt>
                <c:pt idx="55">
                  <c:v>1766.6666666666667</c:v>
                </c:pt>
                <c:pt idx="56">
                  <c:v>1801.8518518518517</c:v>
                </c:pt>
                <c:pt idx="57">
                  <c:v>1837.037037037037</c:v>
                </c:pt>
                <c:pt idx="58">
                  <c:v>1872.2222222222222</c:v>
                </c:pt>
                <c:pt idx="59">
                  <c:v>1907.4074074074074</c:v>
                </c:pt>
                <c:pt idx="60">
                  <c:v>1942.5925925925926</c:v>
                </c:pt>
                <c:pt idx="61">
                  <c:v>1977.7777777777778</c:v>
                </c:pt>
                <c:pt idx="62">
                  <c:v>2012.962962962963</c:v>
                </c:pt>
                <c:pt idx="63">
                  <c:v>2048.1481481481483</c:v>
                </c:pt>
                <c:pt idx="64">
                  <c:v>2083.3333333333335</c:v>
                </c:pt>
                <c:pt idx="65">
                  <c:v>2118.5185185185182</c:v>
                </c:pt>
                <c:pt idx="66">
                  <c:v>2153.7037037037035</c:v>
                </c:pt>
                <c:pt idx="67">
                  <c:v>2188.8888888888887</c:v>
                </c:pt>
                <c:pt idx="68">
                  <c:v>2224.074074074074</c:v>
                </c:pt>
                <c:pt idx="69">
                  <c:v>2259.259259259259</c:v>
                </c:pt>
                <c:pt idx="70">
                  <c:v>2294.4444444444443</c:v>
                </c:pt>
                <c:pt idx="71">
                  <c:v>2329.6296296296296</c:v>
                </c:pt>
                <c:pt idx="72">
                  <c:v>2364.814814814815</c:v>
                </c:pt>
                <c:pt idx="73">
                  <c:v>2400</c:v>
                </c:pt>
                <c:pt idx="74">
                  <c:v>1849</c:v>
                </c:pt>
              </c:numCache>
            </c:numRef>
          </c:xVal>
          <c:yVal>
            <c:numRef>
              <c:f>Sheet1!$B$2:$B$76</c:f>
              <c:numCache>
                <c:formatCode>General</c:formatCode>
                <c:ptCount val="75"/>
                <c:pt idx="0">
                  <c:v>505500</c:v>
                </c:pt>
                <c:pt idx="1">
                  <c:v>495000</c:v>
                </c:pt>
                <c:pt idx="2">
                  <c:v>465000</c:v>
                </c:pt>
                <c:pt idx="3">
                  <c:v>470000</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
                </c:pt>
              </c:numCache>
            </c:numRef>
          </c:yVal>
          <c:smooth val="0"/>
        </c:ser>
        <c:ser>
          <c:idx val="1"/>
          <c:order val="1"/>
          <c:tx>
            <c:strRef>
              <c:f>Sheet1!$C$1</c:f>
              <c:strCache>
                <c:ptCount val="1"/>
                <c:pt idx="0">
                  <c:v>Other Pool Home (Sold)</c:v>
                </c:pt>
              </c:strCache>
            </c:strRef>
          </c:tx>
          <c:spPr>
            <a:solidFill>
              <a:srgbClr val="DD9577"/>
            </a:solidFill>
            <a:ln>
              <a:noFill/>
            </a:ln>
            <a:effectLst/>
          </c:spPr>
          <c:marker>
            <c:symbol val="triangle"/>
            <c:size val="8"/>
            <c:spPr>
              <a:solidFill>
                <a:srgbClr val="DD9577"/>
              </a:solidFill>
              <a:ln w="9525">
                <a:solidFill>
                  <a:srgbClr val="DD9577"/>
                </a:solidFill>
              </a:ln>
            </c:spPr>
          </c:marker>
          <c:xVal>
            <c:numRef>
              <c:f>Sheet1!$A$2:$A$76</c:f>
              <c:numCache>
                <c:formatCode>General</c:formatCode>
                <c:ptCount val="75"/>
                <c:pt idx="0">
                  <c:v>1824</c:v>
                </c:pt>
                <c:pt idx="1">
                  <c:v>1865</c:v>
                </c:pt>
                <c:pt idx="2">
                  <c:v>1865</c:v>
                </c:pt>
                <c:pt idx="3">
                  <c:v>1702</c:v>
                </c:pt>
                <c:pt idx="4">
                  <c:v>1871</c:v>
                </c:pt>
                <c:pt idx="5">
                  <c:v>1849</c:v>
                </c:pt>
                <c:pt idx="6">
                  <c:v>1790</c:v>
                </c:pt>
                <c:pt idx="7">
                  <c:v>2260</c:v>
                </c:pt>
                <c:pt idx="8">
                  <c:v>2150</c:v>
                </c:pt>
                <c:pt idx="9">
                  <c:v>1880</c:v>
                </c:pt>
                <c:pt idx="10">
                  <c:v>1950</c:v>
                </c:pt>
                <c:pt idx="11">
                  <c:v>1450</c:v>
                </c:pt>
                <c:pt idx="12">
                  <c:v>2150</c:v>
                </c:pt>
                <c:pt idx="13">
                  <c:v>2260</c:v>
                </c:pt>
                <c:pt idx="14">
                  <c:v>2380</c:v>
                </c:pt>
                <c:pt idx="15">
                  <c:v>1740</c:v>
                </c:pt>
                <c:pt idx="16">
                  <c:v>1450</c:v>
                </c:pt>
                <c:pt idx="17">
                  <c:v>1610</c:v>
                </c:pt>
                <c:pt idx="18">
                  <c:v>1820</c:v>
                </c:pt>
                <c:pt idx="19">
                  <c:v>1880</c:v>
                </c:pt>
                <c:pt idx="20">
                  <c:v>2380</c:v>
                </c:pt>
                <c:pt idx="21">
                  <c:v>1810</c:v>
                </c:pt>
                <c:pt idx="22">
                  <c:v>1880</c:v>
                </c:pt>
                <c:pt idx="23">
                  <c:v>1950</c:v>
                </c:pt>
                <c:pt idx="24">
                  <c:v>2380</c:v>
                </c:pt>
                <c:pt idx="25">
                  <c:v>2380</c:v>
                </c:pt>
                <c:pt idx="26">
                  <c:v>1740</c:v>
                </c:pt>
                <c:pt idx="27">
                  <c:v>1740</c:v>
                </c:pt>
                <c:pt idx="28">
                  <c:v>2380</c:v>
                </c:pt>
                <c:pt idx="29">
                  <c:v>2380</c:v>
                </c:pt>
                <c:pt idx="30">
                  <c:v>2040</c:v>
                </c:pt>
                <c:pt idx="31">
                  <c:v>2380</c:v>
                </c:pt>
                <c:pt idx="32">
                  <c:v>1610</c:v>
                </c:pt>
                <c:pt idx="33">
                  <c:v>1849</c:v>
                </c:pt>
                <c:pt idx="34">
                  <c:v>1943</c:v>
                </c:pt>
                <c:pt idx="35">
                  <c:v>2400</c:v>
                </c:pt>
                <c:pt idx="36">
                  <c:v>2400</c:v>
                </c:pt>
                <c:pt idx="37">
                  <c:v>2400</c:v>
                </c:pt>
                <c:pt idx="38">
                  <c:v>1650</c:v>
                </c:pt>
                <c:pt idx="39">
                  <c:v>1500</c:v>
                </c:pt>
                <c:pt idx="40">
                  <c:v>1650</c:v>
                </c:pt>
                <c:pt idx="41">
                  <c:v>1900</c:v>
                </c:pt>
                <c:pt idx="42">
                  <c:v>1650</c:v>
                </c:pt>
                <c:pt idx="43">
                  <c:v>1900</c:v>
                </c:pt>
                <c:pt idx="44">
                  <c:v>1650</c:v>
                </c:pt>
                <c:pt idx="45">
                  <c:v>2100</c:v>
                </c:pt>
                <c:pt idx="46">
                  <c:v>1450</c:v>
                </c:pt>
                <c:pt idx="47">
                  <c:v>1485.1851851851852</c:v>
                </c:pt>
                <c:pt idx="48">
                  <c:v>1520.3703703703704</c:v>
                </c:pt>
                <c:pt idx="49">
                  <c:v>1555.5555555555557</c:v>
                </c:pt>
                <c:pt idx="50">
                  <c:v>1590.7407407407406</c:v>
                </c:pt>
                <c:pt idx="51">
                  <c:v>1625.9259259259259</c:v>
                </c:pt>
                <c:pt idx="52">
                  <c:v>1661.111111111111</c:v>
                </c:pt>
                <c:pt idx="53">
                  <c:v>1696.2962962962963</c:v>
                </c:pt>
                <c:pt idx="54">
                  <c:v>1731.4814814814815</c:v>
                </c:pt>
                <c:pt idx="55">
                  <c:v>1766.6666666666667</c:v>
                </c:pt>
                <c:pt idx="56">
                  <c:v>1801.8518518518517</c:v>
                </c:pt>
                <c:pt idx="57">
                  <c:v>1837.037037037037</c:v>
                </c:pt>
                <c:pt idx="58">
                  <c:v>1872.2222222222222</c:v>
                </c:pt>
                <c:pt idx="59">
                  <c:v>1907.4074074074074</c:v>
                </c:pt>
                <c:pt idx="60">
                  <c:v>1942.5925925925926</c:v>
                </c:pt>
                <c:pt idx="61">
                  <c:v>1977.7777777777778</c:v>
                </c:pt>
                <c:pt idx="62">
                  <c:v>2012.962962962963</c:v>
                </c:pt>
                <c:pt idx="63">
                  <c:v>2048.1481481481483</c:v>
                </c:pt>
                <c:pt idx="64">
                  <c:v>2083.3333333333335</c:v>
                </c:pt>
                <c:pt idx="65">
                  <c:v>2118.5185185185182</c:v>
                </c:pt>
                <c:pt idx="66">
                  <c:v>2153.7037037037035</c:v>
                </c:pt>
                <c:pt idx="67">
                  <c:v>2188.8888888888887</c:v>
                </c:pt>
                <c:pt idx="68">
                  <c:v>2224.074074074074</c:v>
                </c:pt>
                <c:pt idx="69">
                  <c:v>2259.259259259259</c:v>
                </c:pt>
                <c:pt idx="70">
                  <c:v>2294.4444444444443</c:v>
                </c:pt>
                <c:pt idx="71">
                  <c:v>2329.6296296296296</c:v>
                </c:pt>
                <c:pt idx="72">
                  <c:v>2364.814814814815</c:v>
                </c:pt>
                <c:pt idx="73">
                  <c:v>2400</c:v>
                </c:pt>
                <c:pt idx="74">
                  <c:v>1849</c:v>
                </c:pt>
              </c:numCache>
            </c:numRef>
          </c:xVal>
          <c:yVal>
            <c:numRef>
              <c:f>Sheet1!$C$2:$C$76</c:f>
              <c:numCache>
                <c:formatCode>General</c:formatCode>
                <c:ptCount val="75"/>
                <c:pt idx="0">
                  <c:v/>
                </c:pt>
                <c:pt idx="1">
                  <c:v/>
                </c:pt>
                <c:pt idx="2">
                  <c:v/>
                </c:pt>
                <c:pt idx="3">
                  <c:v/>
                </c:pt>
                <c:pt idx="4">
                  <c:v>427000</c:v>
                </c:pt>
                <c:pt idx="5">
                  <c:v>429000</c:v>
                </c:pt>
                <c:pt idx="6">
                  <c:v>427000</c:v>
                </c:pt>
                <c:pt idx="7">
                  <c:v>559500</c:v>
                </c:pt>
                <c:pt idx="8">
                  <c:v>529500</c:v>
                </c:pt>
                <c:pt idx="9">
                  <c:v>429500</c:v>
                </c:pt>
                <c:pt idx="10">
                  <c:v>473000</c:v>
                </c:pt>
                <c:pt idx="11">
                  <c:v>325500</c:v>
                </c:pt>
                <c:pt idx="12">
                  <c:v>493000</c:v>
                </c:pt>
                <c:pt idx="13">
                  <c:v>549500</c:v>
                </c:pt>
                <c:pt idx="14">
                  <c:v>596500</c:v>
                </c:pt>
                <c:pt idx="15">
                  <c:v>444500</c:v>
                </c:pt>
                <c:pt idx="16">
                  <c:v>361500</c:v>
                </c:pt>
                <c:pt idx="17">
                  <c:v>398000</c:v>
                </c:pt>
                <c:pt idx="18">
                  <c:v>396500</c:v>
                </c:pt>
                <c:pt idx="19">
                  <c:v>461000</c:v>
                </c:pt>
                <c:pt idx="20">
                  <c:v>570000</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
                </c:pt>
              </c:numCache>
            </c:numRef>
          </c:yVal>
          <c:smooth val="0"/>
        </c:ser>
        <c:ser>
          <c:idx val="2"/>
          <c:order val="2"/>
          <c:tx>
            <c:strRef>
              <c:f>Sheet1!$D$1</c:f>
              <c:strCache>
                <c:ptCount val="1"/>
                <c:pt idx="0">
                  <c:v>No Pool (Sold)</c:v>
                </c:pt>
              </c:strCache>
            </c:strRef>
          </c:tx>
          <c:spPr>
            <a:solidFill>
              <a:srgbClr val="A3ADB6"/>
            </a:solidFill>
            <a:ln>
              <a:noFill/>
            </a:ln>
            <a:effectLst/>
          </c:spPr>
          <c:marker>
            <c:symbol val="square"/>
            <c:size val="6"/>
            <c:spPr>
              <a:solidFill>
                <a:srgbClr val="A3ADB6"/>
              </a:solidFill>
              <a:ln w="9525">
                <a:solidFill>
                  <a:srgbClr val="A3ADB6"/>
                </a:solidFill>
              </a:ln>
            </c:spPr>
          </c:marker>
          <c:xVal>
            <c:numRef>
              <c:f>Sheet1!$A$2:$A$76</c:f>
              <c:numCache>
                <c:formatCode>General</c:formatCode>
                <c:ptCount val="75"/>
                <c:pt idx="0">
                  <c:v>1824</c:v>
                </c:pt>
                <c:pt idx="1">
                  <c:v>1865</c:v>
                </c:pt>
                <c:pt idx="2">
                  <c:v>1865</c:v>
                </c:pt>
                <c:pt idx="3">
                  <c:v>1702</c:v>
                </c:pt>
                <c:pt idx="4">
                  <c:v>1871</c:v>
                </c:pt>
                <c:pt idx="5">
                  <c:v>1849</c:v>
                </c:pt>
                <c:pt idx="6">
                  <c:v>1790</c:v>
                </c:pt>
                <c:pt idx="7">
                  <c:v>2260</c:v>
                </c:pt>
                <c:pt idx="8">
                  <c:v>2150</c:v>
                </c:pt>
                <c:pt idx="9">
                  <c:v>1880</c:v>
                </c:pt>
                <c:pt idx="10">
                  <c:v>1950</c:v>
                </c:pt>
                <c:pt idx="11">
                  <c:v>1450</c:v>
                </c:pt>
                <c:pt idx="12">
                  <c:v>2150</c:v>
                </c:pt>
                <c:pt idx="13">
                  <c:v>2260</c:v>
                </c:pt>
                <c:pt idx="14">
                  <c:v>2380</c:v>
                </c:pt>
                <c:pt idx="15">
                  <c:v>1740</c:v>
                </c:pt>
                <c:pt idx="16">
                  <c:v>1450</c:v>
                </c:pt>
                <c:pt idx="17">
                  <c:v>1610</c:v>
                </c:pt>
                <c:pt idx="18">
                  <c:v>1820</c:v>
                </c:pt>
                <c:pt idx="19">
                  <c:v>1880</c:v>
                </c:pt>
                <c:pt idx="20">
                  <c:v>2380</c:v>
                </c:pt>
                <c:pt idx="21">
                  <c:v>1810</c:v>
                </c:pt>
                <c:pt idx="22">
                  <c:v>1880</c:v>
                </c:pt>
                <c:pt idx="23">
                  <c:v>1950</c:v>
                </c:pt>
                <c:pt idx="24">
                  <c:v>2380</c:v>
                </c:pt>
                <c:pt idx="25">
                  <c:v>2380</c:v>
                </c:pt>
                <c:pt idx="26">
                  <c:v>1740</c:v>
                </c:pt>
                <c:pt idx="27">
                  <c:v>1740</c:v>
                </c:pt>
                <c:pt idx="28">
                  <c:v>2380</c:v>
                </c:pt>
                <c:pt idx="29">
                  <c:v>2380</c:v>
                </c:pt>
                <c:pt idx="30">
                  <c:v>2040</c:v>
                </c:pt>
                <c:pt idx="31">
                  <c:v>2380</c:v>
                </c:pt>
                <c:pt idx="32">
                  <c:v>1610</c:v>
                </c:pt>
                <c:pt idx="33">
                  <c:v>1849</c:v>
                </c:pt>
                <c:pt idx="34">
                  <c:v>1943</c:v>
                </c:pt>
                <c:pt idx="35">
                  <c:v>2400</c:v>
                </c:pt>
                <c:pt idx="36">
                  <c:v>2400</c:v>
                </c:pt>
                <c:pt idx="37">
                  <c:v>2400</c:v>
                </c:pt>
                <c:pt idx="38">
                  <c:v>1650</c:v>
                </c:pt>
                <c:pt idx="39">
                  <c:v>1500</c:v>
                </c:pt>
                <c:pt idx="40">
                  <c:v>1650</c:v>
                </c:pt>
                <c:pt idx="41">
                  <c:v>1900</c:v>
                </c:pt>
                <c:pt idx="42">
                  <c:v>1650</c:v>
                </c:pt>
                <c:pt idx="43">
                  <c:v>1900</c:v>
                </c:pt>
                <c:pt idx="44">
                  <c:v>1650</c:v>
                </c:pt>
                <c:pt idx="45">
                  <c:v>2100</c:v>
                </c:pt>
                <c:pt idx="46">
                  <c:v>1450</c:v>
                </c:pt>
                <c:pt idx="47">
                  <c:v>1485.1851851851852</c:v>
                </c:pt>
                <c:pt idx="48">
                  <c:v>1520.3703703703704</c:v>
                </c:pt>
                <c:pt idx="49">
                  <c:v>1555.5555555555557</c:v>
                </c:pt>
                <c:pt idx="50">
                  <c:v>1590.7407407407406</c:v>
                </c:pt>
                <c:pt idx="51">
                  <c:v>1625.9259259259259</c:v>
                </c:pt>
                <c:pt idx="52">
                  <c:v>1661.111111111111</c:v>
                </c:pt>
                <c:pt idx="53">
                  <c:v>1696.2962962962963</c:v>
                </c:pt>
                <c:pt idx="54">
                  <c:v>1731.4814814814815</c:v>
                </c:pt>
                <c:pt idx="55">
                  <c:v>1766.6666666666667</c:v>
                </c:pt>
                <c:pt idx="56">
                  <c:v>1801.8518518518517</c:v>
                </c:pt>
                <c:pt idx="57">
                  <c:v>1837.037037037037</c:v>
                </c:pt>
                <c:pt idx="58">
                  <c:v>1872.2222222222222</c:v>
                </c:pt>
                <c:pt idx="59">
                  <c:v>1907.4074074074074</c:v>
                </c:pt>
                <c:pt idx="60">
                  <c:v>1942.5925925925926</c:v>
                </c:pt>
                <c:pt idx="61">
                  <c:v>1977.7777777777778</c:v>
                </c:pt>
                <c:pt idx="62">
                  <c:v>2012.962962962963</c:v>
                </c:pt>
                <c:pt idx="63">
                  <c:v>2048.1481481481483</c:v>
                </c:pt>
                <c:pt idx="64">
                  <c:v>2083.3333333333335</c:v>
                </c:pt>
                <c:pt idx="65">
                  <c:v>2118.5185185185182</c:v>
                </c:pt>
                <c:pt idx="66">
                  <c:v>2153.7037037037035</c:v>
                </c:pt>
                <c:pt idx="67">
                  <c:v>2188.8888888888887</c:v>
                </c:pt>
                <c:pt idx="68">
                  <c:v>2224.074074074074</c:v>
                </c:pt>
                <c:pt idx="69">
                  <c:v>2259.259259259259</c:v>
                </c:pt>
                <c:pt idx="70">
                  <c:v>2294.4444444444443</c:v>
                </c:pt>
                <c:pt idx="71">
                  <c:v>2329.6296296296296</c:v>
                </c:pt>
                <c:pt idx="72">
                  <c:v>2364.814814814815</c:v>
                </c:pt>
                <c:pt idx="73">
                  <c:v>2400</c:v>
                </c:pt>
                <c:pt idx="74">
                  <c:v>1849</c:v>
                </c:pt>
              </c:numCache>
            </c:numRef>
          </c:xVal>
          <c:yVal>
            <c:numRef>
              <c:f>Sheet1!$D$2:$D$76</c:f>
              <c:numCache>
                <c:formatCode>General</c:formatCode>
                <c:ptCount val="75"/>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435000</c:v>
                </c:pt>
                <c:pt idx="22">
                  <c:v>454500</c:v>
                </c:pt>
                <c:pt idx="23">
                  <c:v>446000</c:v>
                </c:pt>
                <c:pt idx="24">
                  <c:v>575000</c:v>
                </c:pt>
                <c:pt idx="25">
                  <c:v>516000</c:v>
                </c:pt>
                <c:pt idx="26">
                  <c:v>364000</c:v>
                </c:pt>
                <c:pt idx="27">
                  <c:v>391000</c:v>
                </c:pt>
                <c:pt idx="28">
                  <c:v>578000</c:v>
                </c:pt>
                <c:pt idx="29">
                  <c:v>526000</c:v>
                </c:pt>
                <c:pt idx="30">
                  <c:v>477000</c:v>
                </c:pt>
                <c:pt idx="31">
                  <c:v>535000</c:v>
                </c:pt>
                <c:pt idx="32">
                  <c:v>367000</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
                </c:pt>
              </c:numCache>
            </c:numRef>
          </c:yVal>
          <c:smooth val="0"/>
        </c:ser>
        <c:ser>
          <c:idx val="3"/>
          <c:order val="3"/>
          <c:tx>
            <c:strRef>
              <c:f>Sheet1!$E$1</c:f>
              <c:strCache>
                <c:ptCount val="1"/>
                <c:pt idx="0">
                  <c:v>For Sale Now</c:v>
                </c:pt>
              </c:strCache>
            </c:strRef>
          </c:tx>
          <c:spPr>
            <a:solidFill>
              <a:srgbClr val="FFFFFF"/>
            </a:solidFill>
            <a:ln>
              <a:noFill/>
            </a:ln>
            <a:effectLst/>
          </c:spPr>
          <c:marker>
            <c:symbol val="circle"/>
            <c:size val="7"/>
            <c:spPr>
              <a:solidFill>
                <a:srgbClr val="FFFFFF"/>
              </a:solidFill>
              <a:ln w="15875">
                <a:solidFill>
                  <a:srgbClr val="A3ADB6"/>
                </a:solidFill>
              </a:ln>
            </c:spPr>
          </c:marker>
          <c:xVal>
            <c:numRef>
              <c:f>Sheet1!$A$2:$A$76</c:f>
              <c:numCache>
                <c:formatCode>General</c:formatCode>
                <c:ptCount val="75"/>
                <c:pt idx="0">
                  <c:v>1824</c:v>
                </c:pt>
                <c:pt idx="1">
                  <c:v>1865</c:v>
                </c:pt>
                <c:pt idx="2">
                  <c:v>1865</c:v>
                </c:pt>
                <c:pt idx="3">
                  <c:v>1702</c:v>
                </c:pt>
                <c:pt idx="4">
                  <c:v>1871</c:v>
                </c:pt>
                <c:pt idx="5">
                  <c:v>1849</c:v>
                </c:pt>
                <c:pt idx="6">
                  <c:v>1790</c:v>
                </c:pt>
                <c:pt idx="7">
                  <c:v>2260</c:v>
                </c:pt>
                <c:pt idx="8">
                  <c:v>2150</c:v>
                </c:pt>
                <c:pt idx="9">
                  <c:v>1880</c:v>
                </c:pt>
                <c:pt idx="10">
                  <c:v>1950</c:v>
                </c:pt>
                <c:pt idx="11">
                  <c:v>1450</c:v>
                </c:pt>
                <c:pt idx="12">
                  <c:v>2150</c:v>
                </c:pt>
                <c:pt idx="13">
                  <c:v>2260</c:v>
                </c:pt>
                <c:pt idx="14">
                  <c:v>2380</c:v>
                </c:pt>
                <c:pt idx="15">
                  <c:v>1740</c:v>
                </c:pt>
                <c:pt idx="16">
                  <c:v>1450</c:v>
                </c:pt>
                <c:pt idx="17">
                  <c:v>1610</c:v>
                </c:pt>
                <c:pt idx="18">
                  <c:v>1820</c:v>
                </c:pt>
                <c:pt idx="19">
                  <c:v>1880</c:v>
                </c:pt>
                <c:pt idx="20">
                  <c:v>2380</c:v>
                </c:pt>
                <c:pt idx="21">
                  <c:v>1810</c:v>
                </c:pt>
                <c:pt idx="22">
                  <c:v>1880</c:v>
                </c:pt>
                <c:pt idx="23">
                  <c:v>1950</c:v>
                </c:pt>
                <c:pt idx="24">
                  <c:v>2380</c:v>
                </c:pt>
                <c:pt idx="25">
                  <c:v>2380</c:v>
                </c:pt>
                <c:pt idx="26">
                  <c:v>1740</c:v>
                </c:pt>
                <c:pt idx="27">
                  <c:v>1740</c:v>
                </c:pt>
                <c:pt idx="28">
                  <c:v>2380</c:v>
                </c:pt>
                <c:pt idx="29">
                  <c:v>2380</c:v>
                </c:pt>
                <c:pt idx="30">
                  <c:v>2040</c:v>
                </c:pt>
                <c:pt idx="31">
                  <c:v>2380</c:v>
                </c:pt>
                <c:pt idx="32">
                  <c:v>1610</c:v>
                </c:pt>
                <c:pt idx="33">
                  <c:v>1849</c:v>
                </c:pt>
                <c:pt idx="34">
                  <c:v>1943</c:v>
                </c:pt>
                <c:pt idx="35">
                  <c:v>2400</c:v>
                </c:pt>
                <c:pt idx="36">
                  <c:v>2400</c:v>
                </c:pt>
                <c:pt idx="37">
                  <c:v>2400</c:v>
                </c:pt>
                <c:pt idx="38">
                  <c:v>1650</c:v>
                </c:pt>
                <c:pt idx="39">
                  <c:v>1500</c:v>
                </c:pt>
                <c:pt idx="40">
                  <c:v>1650</c:v>
                </c:pt>
                <c:pt idx="41">
                  <c:v>1900</c:v>
                </c:pt>
                <c:pt idx="42">
                  <c:v>1650</c:v>
                </c:pt>
                <c:pt idx="43">
                  <c:v>1900</c:v>
                </c:pt>
                <c:pt idx="44">
                  <c:v>1650</c:v>
                </c:pt>
                <c:pt idx="45">
                  <c:v>2100</c:v>
                </c:pt>
                <c:pt idx="46">
                  <c:v>1450</c:v>
                </c:pt>
                <c:pt idx="47">
                  <c:v>1485.1851851851852</c:v>
                </c:pt>
                <c:pt idx="48">
                  <c:v>1520.3703703703704</c:v>
                </c:pt>
                <c:pt idx="49">
                  <c:v>1555.5555555555557</c:v>
                </c:pt>
                <c:pt idx="50">
                  <c:v>1590.7407407407406</c:v>
                </c:pt>
                <c:pt idx="51">
                  <c:v>1625.9259259259259</c:v>
                </c:pt>
                <c:pt idx="52">
                  <c:v>1661.111111111111</c:v>
                </c:pt>
                <c:pt idx="53">
                  <c:v>1696.2962962962963</c:v>
                </c:pt>
                <c:pt idx="54">
                  <c:v>1731.4814814814815</c:v>
                </c:pt>
                <c:pt idx="55">
                  <c:v>1766.6666666666667</c:v>
                </c:pt>
                <c:pt idx="56">
                  <c:v>1801.8518518518517</c:v>
                </c:pt>
                <c:pt idx="57">
                  <c:v>1837.037037037037</c:v>
                </c:pt>
                <c:pt idx="58">
                  <c:v>1872.2222222222222</c:v>
                </c:pt>
                <c:pt idx="59">
                  <c:v>1907.4074074074074</c:v>
                </c:pt>
                <c:pt idx="60">
                  <c:v>1942.5925925925926</c:v>
                </c:pt>
                <c:pt idx="61">
                  <c:v>1977.7777777777778</c:v>
                </c:pt>
                <c:pt idx="62">
                  <c:v>2012.962962962963</c:v>
                </c:pt>
                <c:pt idx="63">
                  <c:v>2048.1481481481483</c:v>
                </c:pt>
                <c:pt idx="64">
                  <c:v>2083.3333333333335</c:v>
                </c:pt>
                <c:pt idx="65">
                  <c:v>2118.5185185185182</c:v>
                </c:pt>
                <c:pt idx="66">
                  <c:v>2153.7037037037035</c:v>
                </c:pt>
                <c:pt idx="67">
                  <c:v>2188.8888888888887</c:v>
                </c:pt>
                <c:pt idx="68">
                  <c:v>2224.074074074074</c:v>
                </c:pt>
                <c:pt idx="69">
                  <c:v>2259.259259259259</c:v>
                </c:pt>
                <c:pt idx="70">
                  <c:v>2294.4444444444443</c:v>
                </c:pt>
                <c:pt idx="71">
                  <c:v>2329.6296296296296</c:v>
                </c:pt>
                <c:pt idx="72">
                  <c:v>2364.814814814815</c:v>
                </c:pt>
                <c:pt idx="73">
                  <c:v>2400</c:v>
                </c:pt>
                <c:pt idx="74">
                  <c:v>1849</c:v>
                </c:pt>
              </c:numCache>
            </c:numRef>
          </c:xVal>
          <c:yVal>
            <c:numRef>
              <c:f>Sheet1!$E$2:$E$76</c:f>
              <c:numCache>
                <c:formatCode>General</c:formatCode>
                <c:ptCount val="75"/>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400000</c:v>
                </c:pt>
                <c:pt idx="34">
                  <c:v>565000</c:v>
                </c:pt>
                <c:pt idx="35">
                  <c:v>470000</c:v>
                </c:pt>
                <c:pt idx="36">
                  <c:v>449000</c:v>
                </c:pt>
                <c:pt idx="37">
                  <c:v>490000</c:v>
                </c:pt>
                <c:pt idx="38">
                  <c:v>391900</c:v>
                </c:pt>
                <c:pt idx="39">
                  <c:v>368900</c:v>
                </c:pt>
                <c:pt idx="40">
                  <c:v>390900</c:v>
                </c:pt>
                <c:pt idx="41">
                  <c:v>486900</c:v>
                </c:pt>
                <c:pt idx="42">
                  <c:v>388900</c:v>
                </c:pt>
                <c:pt idx="43">
                  <c:v>464900</c:v>
                </c:pt>
                <c:pt idx="44">
                  <c:v>425900</c:v>
                </c:pt>
                <c:pt idx="45">
                  <c:v>530900</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
                </c:pt>
              </c:numCache>
            </c:numRef>
          </c:yVal>
          <c:smooth val="0"/>
        </c:ser>
        <c:ser>
          <c:idx val="4"/>
          <c:order val="4"/>
          <c:tx>
            <c:strRef>
              <c:f>Sheet1!$F$1</c:f>
              <c:strCache>
                <c:ptCount val="1"/>
                <c:pt idx="0">
                  <c:v>Size-Only Trend</c:v>
                </c:pt>
              </c:strCache>
            </c:strRef>
          </c:tx>
          <c:spPr>
            <a:solidFill>
              <a:srgbClr val="5A6672"/>
            </a:solidFill>
            <a:ln w="15875">
              <a:solidFill>
                <a:srgbClr val="5A6672"/>
              </a:solidFill>
              <a:prstDash val="dash"/>
            </a:ln>
            <a:effectLst/>
          </c:spPr>
          <c:marker>
            <c:symbol val="none"/>
          </c:marker>
          <c:xVal>
            <c:numRef>
              <c:f>Sheet1!$A$2:$A$76</c:f>
              <c:numCache>
                <c:formatCode>General</c:formatCode>
                <c:ptCount val="75"/>
                <c:pt idx="0">
                  <c:v>1824</c:v>
                </c:pt>
                <c:pt idx="1">
                  <c:v>1865</c:v>
                </c:pt>
                <c:pt idx="2">
                  <c:v>1865</c:v>
                </c:pt>
                <c:pt idx="3">
                  <c:v>1702</c:v>
                </c:pt>
                <c:pt idx="4">
                  <c:v>1871</c:v>
                </c:pt>
                <c:pt idx="5">
                  <c:v>1849</c:v>
                </c:pt>
                <c:pt idx="6">
                  <c:v>1790</c:v>
                </c:pt>
                <c:pt idx="7">
                  <c:v>2260</c:v>
                </c:pt>
                <c:pt idx="8">
                  <c:v>2150</c:v>
                </c:pt>
                <c:pt idx="9">
                  <c:v>1880</c:v>
                </c:pt>
                <c:pt idx="10">
                  <c:v>1950</c:v>
                </c:pt>
                <c:pt idx="11">
                  <c:v>1450</c:v>
                </c:pt>
                <c:pt idx="12">
                  <c:v>2150</c:v>
                </c:pt>
                <c:pt idx="13">
                  <c:v>2260</c:v>
                </c:pt>
                <c:pt idx="14">
                  <c:v>2380</c:v>
                </c:pt>
                <c:pt idx="15">
                  <c:v>1740</c:v>
                </c:pt>
                <c:pt idx="16">
                  <c:v>1450</c:v>
                </c:pt>
                <c:pt idx="17">
                  <c:v>1610</c:v>
                </c:pt>
                <c:pt idx="18">
                  <c:v>1820</c:v>
                </c:pt>
                <c:pt idx="19">
                  <c:v>1880</c:v>
                </c:pt>
                <c:pt idx="20">
                  <c:v>2380</c:v>
                </c:pt>
                <c:pt idx="21">
                  <c:v>1810</c:v>
                </c:pt>
                <c:pt idx="22">
                  <c:v>1880</c:v>
                </c:pt>
                <c:pt idx="23">
                  <c:v>1950</c:v>
                </c:pt>
                <c:pt idx="24">
                  <c:v>2380</c:v>
                </c:pt>
                <c:pt idx="25">
                  <c:v>2380</c:v>
                </c:pt>
                <c:pt idx="26">
                  <c:v>1740</c:v>
                </c:pt>
                <c:pt idx="27">
                  <c:v>1740</c:v>
                </c:pt>
                <c:pt idx="28">
                  <c:v>2380</c:v>
                </c:pt>
                <c:pt idx="29">
                  <c:v>2380</c:v>
                </c:pt>
                <c:pt idx="30">
                  <c:v>2040</c:v>
                </c:pt>
                <c:pt idx="31">
                  <c:v>2380</c:v>
                </c:pt>
                <c:pt idx="32">
                  <c:v>1610</c:v>
                </c:pt>
                <c:pt idx="33">
                  <c:v>1849</c:v>
                </c:pt>
                <c:pt idx="34">
                  <c:v>1943</c:v>
                </c:pt>
                <c:pt idx="35">
                  <c:v>2400</c:v>
                </c:pt>
                <c:pt idx="36">
                  <c:v>2400</c:v>
                </c:pt>
                <c:pt idx="37">
                  <c:v>2400</c:v>
                </c:pt>
                <c:pt idx="38">
                  <c:v>1650</c:v>
                </c:pt>
                <c:pt idx="39">
                  <c:v>1500</c:v>
                </c:pt>
                <c:pt idx="40">
                  <c:v>1650</c:v>
                </c:pt>
                <c:pt idx="41">
                  <c:v>1900</c:v>
                </c:pt>
                <c:pt idx="42">
                  <c:v>1650</c:v>
                </c:pt>
                <c:pt idx="43">
                  <c:v>1900</c:v>
                </c:pt>
                <c:pt idx="44">
                  <c:v>1650</c:v>
                </c:pt>
                <c:pt idx="45">
                  <c:v>2100</c:v>
                </c:pt>
                <c:pt idx="46">
                  <c:v>1450</c:v>
                </c:pt>
                <c:pt idx="47">
                  <c:v>1485.1851851851852</c:v>
                </c:pt>
                <c:pt idx="48">
                  <c:v>1520.3703703703704</c:v>
                </c:pt>
                <c:pt idx="49">
                  <c:v>1555.5555555555557</c:v>
                </c:pt>
                <c:pt idx="50">
                  <c:v>1590.7407407407406</c:v>
                </c:pt>
                <c:pt idx="51">
                  <c:v>1625.9259259259259</c:v>
                </c:pt>
                <c:pt idx="52">
                  <c:v>1661.111111111111</c:v>
                </c:pt>
                <c:pt idx="53">
                  <c:v>1696.2962962962963</c:v>
                </c:pt>
                <c:pt idx="54">
                  <c:v>1731.4814814814815</c:v>
                </c:pt>
                <c:pt idx="55">
                  <c:v>1766.6666666666667</c:v>
                </c:pt>
                <c:pt idx="56">
                  <c:v>1801.8518518518517</c:v>
                </c:pt>
                <c:pt idx="57">
                  <c:v>1837.037037037037</c:v>
                </c:pt>
                <c:pt idx="58">
                  <c:v>1872.2222222222222</c:v>
                </c:pt>
                <c:pt idx="59">
                  <c:v>1907.4074074074074</c:v>
                </c:pt>
                <c:pt idx="60">
                  <c:v>1942.5925925925926</c:v>
                </c:pt>
                <c:pt idx="61">
                  <c:v>1977.7777777777778</c:v>
                </c:pt>
                <c:pt idx="62">
                  <c:v>2012.962962962963</c:v>
                </c:pt>
                <c:pt idx="63">
                  <c:v>2048.1481481481483</c:v>
                </c:pt>
                <c:pt idx="64">
                  <c:v>2083.3333333333335</c:v>
                </c:pt>
                <c:pt idx="65">
                  <c:v>2118.5185185185182</c:v>
                </c:pt>
                <c:pt idx="66">
                  <c:v>2153.7037037037035</c:v>
                </c:pt>
                <c:pt idx="67">
                  <c:v>2188.8888888888887</c:v>
                </c:pt>
                <c:pt idx="68">
                  <c:v>2224.074074074074</c:v>
                </c:pt>
                <c:pt idx="69">
                  <c:v>2259.259259259259</c:v>
                </c:pt>
                <c:pt idx="70">
                  <c:v>2294.4444444444443</c:v>
                </c:pt>
                <c:pt idx="71">
                  <c:v>2329.6296296296296</c:v>
                </c:pt>
                <c:pt idx="72">
                  <c:v>2364.814814814815</c:v>
                </c:pt>
                <c:pt idx="73">
                  <c:v>2400</c:v>
                </c:pt>
                <c:pt idx="74">
                  <c:v>1849</c:v>
                </c:pt>
              </c:numCache>
            </c:numRef>
          </c:xVal>
          <c:yVal>
            <c:numRef>
              <c:f>Sheet1!$F$2:$F$76</c:f>
              <c:numCache>
                <c:formatCode>General</c:formatCode>
                <c:ptCount val="75"/>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353370.74537409266</c:v>
                </c:pt>
                <c:pt idx="47">
                  <c:v>361279.9692978465</c:v>
                </c:pt>
                <c:pt idx="48">
                  <c:v>369189.1932216004</c:v>
                </c:pt>
                <c:pt idx="49">
                  <c:v>377098.41714535427</c:v>
                </c:pt>
                <c:pt idx="50">
                  <c:v>385007.6410691081</c:v>
                </c:pt>
                <c:pt idx="51">
                  <c:v>392916.864992862</c:v>
                </c:pt>
                <c:pt idx="52">
                  <c:v>400826.0889166159</c:v>
                </c:pt>
                <c:pt idx="53">
                  <c:v>408735.31284036976</c:v>
                </c:pt>
                <c:pt idx="54">
                  <c:v>416644.53676412365</c:v>
                </c:pt>
                <c:pt idx="55">
                  <c:v>424553.7606878775</c:v>
                </c:pt>
                <c:pt idx="56">
                  <c:v>432462.9846116313</c:v>
                </c:pt>
                <c:pt idx="57">
                  <c:v>440372.2085353852</c:v>
                </c:pt>
                <c:pt idx="58">
                  <c:v>448281.4324591391</c:v>
                </c:pt>
                <c:pt idx="59">
                  <c:v>456190.656382893</c:v>
                </c:pt>
                <c:pt idx="60">
                  <c:v>464099.88030664687</c:v>
                </c:pt>
                <c:pt idx="61">
                  <c:v>472009.10423040076</c:v>
                </c:pt>
                <c:pt idx="62">
                  <c:v>479918.32815415465</c:v>
                </c:pt>
                <c:pt idx="63">
                  <c:v>487827.5520779085</c:v>
                </c:pt>
                <c:pt idx="64">
                  <c:v>495736.77600166237</c:v>
                </c:pt>
                <c:pt idx="65">
                  <c:v>503645.99992541614</c:v>
                </c:pt>
                <c:pt idx="66">
                  <c:v>511555.22384917</c:v>
                </c:pt>
                <c:pt idx="67">
                  <c:v>519464.4477729239</c:v>
                </c:pt>
                <c:pt idx="68">
                  <c:v>527373.6716966778</c:v>
                </c:pt>
                <c:pt idx="69">
                  <c:v>535282.8956204318</c:v>
                </c:pt>
                <c:pt idx="70">
                  <c:v>543192.1195441856</c:v>
                </c:pt>
                <c:pt idx="71">
                  <c:v>551101.3434679394</c:v>
                </c:pt>
                <c:pt idx="72">
                  <c:v>559010.5673916934</c:v>
                </c:pt>
                <c:pt idx="73">
                  <c:v>566919.7913154473</c:v>
                </c:pt>
                <c:pt idx="74">
                  <c:v/>
                </c:pt>
              </c:numCache>
            </c:numRef>
          </c:yVal>
          <c:smooth val="0"/>
        </c:ser>
        <c:ser>
          <c:idx val="5"/>
          <c:order val="5"/>
          <c:tx>
            <c:strRef>
              <c:f>Sheet1!$G$1</c:f>
              <c:strCache>
                <c:ptCount val="1"/>
                <c:pt idx="0">
                  <c:v>Your Home, Recommended</c:v>
                </c:pt>
              </c:strCache>
            </c:strRef>
          </c:tx>
          <c:spPr>
            <a:solidFill>
              <a:srgbClr val="1F3A5F"/>
            </a:solidFill>
            <a:ln>
              <a:noFill/>
            </a:ln>
            <a:effectLst/>
          </c:spPr>
          <c:marker>
            <c:symbol val="diamond"/>
            <c:size val="14"/>
            <c:spPr>
              <a:solidFill>
                <a:srgbClr val="1F3A5F"/>
              </a:solidFill>
              <a:ln w="12700">
                <a:solidFill>
                  <a:srgbClr val="FFFFFF"/>
                </a:solidFill>
              </a:ln>
            </c:spPr>
          </c:marker>
          <c:xVal>
            <c:numRef>
              <c:f>Sheet1!$A$2:$A$76</c:f>
              <c:numCache>
                <c:formatCode>General</c:formatCode>
                <c:ptCount val="75"/>
                <c:pt idx="0">
                  <c:v>1824</c:v>
                </c:pt>
                <c:pt idx="1">
                  <c:v>1865</c:v>
                </c:pt>
                <c:pt idx="2">
                  <c:v>1865</c:v>
                </c:pt>
                <c:pt idx="3">
                  <c:v>1702</c:v>
                </c:pt>
                <c:pt idx="4">
                  <c:v>1871</c:v>
                </c:pt>
                <c:pt idx="5">
                  <c:v>1849</c:v>
                </c:pt>
                <c:pt idx="6">
                  <c:v>1790</c:v>
                </c:pt>
                <c:pt idx="7">
                  <c:v>2260</c:v>
                </c:pt>
                <c:pt idx="8">
                  <c:v>2150</c:v>
                </c:pt>
                <c:pt idx="9">
                  <c:v>1880</c:v>
                </c:pt>
                <c:pt idx="10">
                  <c:v>1950</c:v>
                </c:pt>
                <c:pt idx="11">
                  <c:v>1450</c:v>
                </c:pt>
                <c:pt idx="12">
                  <c:v>2150</c:v>
                </c:pt>
                <c:pt idx="13">
                  <c:v>2260</c:v>
                </c:pt>
                <c:pt idx="14">
                  <c:v>2380</c:v>
                </c:pt>
                <c:pt idx="15">
                  <c:v>1740</c:v>
                </c:pt>
                <c:pt idx="16">
                  <c:v>1450</c:v>
                </c:pt>
                <c:pt idx="17">
                  <c:v>1610</c:v>
                </c:pt>
                <c:pt idx="18">
                  <c:v>1820</c:v>
                </c:pt>
                <c:pt idx="19">
                  <c:v>1880</c:v>
                </c:pt>
                <c:pt idx="20">
                  <c:v>2380</c:v>
                </c:pt>
                <c:pt idx="21">
                  <c:v>1810</c:v>
                </c:pt>
                <c:pt idx="22">
                  <c:v>1880</c:v>
                </c:pt>
                <c:pt idx="23">
                  <c:v>1950</c:v>
                </c:pt>
                <c:pt idx="24">
                  <c:v>2380</c:v>
                </c:pt>
                <c:pt idx="25">
                  <c:v>2380</c:v>
                </c:pt>
                <c:pt idx="26">
                  <c:v>1740</c:v>
                </c:pt>
                <c:pt idx="27">
                  <c:v>1740</c:v>
                </c:pt>
                <c:pt idx="28">
                  <c:v>2380</c:v>
                </c:pt>
                <c:pt idx="29">
                  <c:v>2380</c:v>
                </c:pt>
                <c:pt idx="30">
                  <c:v>2040</c:v>
                </c:pt>
                <c:pt idx="31">
                  <c:v>2380</c:v>
                </c:pt>
                <c:pt idx="32">
                  <c:v>1610</c:v>
                </c:pt>
                <c:pt idx="33">
                  <c:v>1849</c:v>
                </c:pt>
                <c:pt idx="34">
                  <c:v>1943</c:v>
                </c:pt>
                <c:pt idx="35">
                  <c:v>2400</c:v>
                </c:pt>
                <c:pt idx="36">
                  <c:v>2400</c:v>
                </c:pt>
                <c:pt idx="37">
                  <c:v>2400</c:v>
                </c:pt>
                <c:pt idx="38">
                  <c:v>1650</c:v>
                </c:pt>
                <c:pt idx="39">
                  <c:v>1500</c:v>
                </c:pt>
                <c:pt idx="40">
                  <c:v>1650</c:v>
                </c:pt>
                <c:pt idx="41">
                  <c:v>1900</c:v>
                </c:pt>
                <c:pt idx="42">
                  <c:v>1650</c:v>
                </c:pt>
                <c:pt idx="43">
                  <c:v>1900</c:v>
                </c:pt>
                <c:pt idx="44">
                  <c:v>1650</c:v>
                </c:pt>
                <c:pt idx="45">
                  <c:v>2100</c:v>
                </c:pt>
                <c:pt idx="46">
                  <c:v>1450</c:v>
                </c:pt>
                <c:pt idx="47">
                  <c:v>1485.1851851851852</c:v>
                </c:pt>
                <c:pt idx="48">
                  <c:v>1520.3703703703704</c:v>
                </c:pt>
                <c:pt idx="49">
                  <c:v>1555.5555555555557</c:v>
                </c:pt>
                <c:pt idx="50">
                  <c:v>1590.7407407407406</c:v>
                </c:pt>
                <c:pt idx="51">
                  <c:v>1625.9259259259259</c:v>
                </c:pt>
                <c:pt idx="52">
                  <c:v>1661.111111111111</c:v>
                </c:pt>
                <c:pt idx="53">
                  <c:v>1696.2962962962963</c:v>
                </c:pt>
                <c:pt idx="54">
                  <c:v>1731.4814814814815</c:v>
                </c:pt>
                <c:pt idx="55">
                  <c:v>1766.6666666666667</c:v>
                </c:pt>
                <c:pt idx="56">
                  <c:v>1801.8518518518517</c:v>
                </c:pt>
                <c:pt idx="57">
                  <c:v>1837.037037037037</c:v>
                </c:pt>
                <c:pt idx="58">
                  <c:v>1872.2222222222222</c:v>
                </c:pt>
                <c:pt idx="59">
                  <c:v>1907.4074074074074</c:v>
                </c:pt>
                <c:pt idx="60">
                  <c:v>1942.5925925925926</c:v>
                </c:pt>
                <c:pt idx="61">
                  <c:v>1977.7777777777778</c:v>
                </c:pt>
                <c:pt idx="62">
                  <c:v>2012.962962962963</c:v>
                </c:pt>
                <c:pt idx="63">
                  <c:v>2048.1481481481483</c:v>
                </c:pt>
                <c:pt idx="64">
                  <c:v>2083.3333333333335</c:v>
                </c:pt>
                <c:pt idx="65">
                  <c:v>2118.5185185185182</c:v>
                </c:pt>
                <c:pt idx="66">
                  <c:v>2153.7037037037035</c:v>
                </c:pt>
                <c:pt idx="67">
                  <c:v>2188.8888888888887</c:v>
                </c:pt>
                <c:pt idx="68">
                  <c:v>2224.074074074074</c:v>
                </c:pt>
                <c:pt idx="69">
                  <c:v>2259.259259259259</c:v>
                </c:pt>
                <c:pt idx="70">
                  <c:v>2294.4444444444443</c:v>
                </c:pt>
                <c:pt idx="71">
                  <c:v>2329.6296296296296</c:v>
                </c:pt>
                <c:pt idx="72">
                  <c:v>2364.814814814815</c:v>
                </c:pt>
                <c:pt idx="73">
                  <c:v>2400</c:v>
                </c:pt>
                <c:pt idx="74">
                  <c:v>1849</c:v>
                </c:pt>
              </c:numCache>
            </c:numRef>
          </c:xVal>
          <c:yVal>
            <c:numRef>
              <c:f>Sheet1!$G$2:$G$76</c:f>
              <c:numCache>
                <c:formatCode>General</c:formatCode>
                <c:ptCount val="75"/>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469900</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2600"/>
          <c:min val="1400"/>
        </c:scaling>
        <c:delete val="0"/>
        <c:axPos val="b"/>
        <c:majorGridlines>
          <c:spPr>
            <a:ln w="6350" cap="flat">
              <a:solidFill>
                <a:srgbClr val="F8E8E2"/>
              </a:solidFill>
              <a:prstDash val="solid"/>
              <a:round/>
            </a:ln>
          </c:spPr>
        </c:majorGridlines>
        <c:title>
          <c:tx>
            <c:rich>
              <a:bodyPr/>
              <a:lstStyle/>
              <a:p>
                <a:pPr>
                  <a:defRPr sz="1000" b="0" i="0" u="none" strike="noStrike">
                    <a:solidFill>
                      <a:srgbClr val="5A6672"/>
                    </a:solidFill>
                    <a:latin typeface="Arial"/>
                  </a:defRPr>
                </a:pPr>
                <a:r>
                  <a:rPr sz="1000" b="0" i="0" u="none" strike="noStrike">
                    <a:solidFill>
                      <a:srgbClr val="5A6672"/>
                    </a:solidFill>
                    <a:latin typeface="Arial"/>
                  </a:rPr>
                  <a:t>Living Area (Sq Ft)</a:t>
                </a:r>
              </a:p>
            </c:rich>
          </c:tx>
          <c:layout/>
          <c:overlay val="0"/>
        </c:title>
        <c:numFmt formatCode="#,##0" sourceLinked="0"/>
        <c:majorTickMark val="none"/>
        <c:minorTickMark val="none"/>
        <c:tickLblPos val="nextTo"/>
        <c:spPr>
          <a:ln w="12700" cap="flat">
            <a:solidFill>
              <a:srgbClr val="888888"/>
            </a:solidFill>
            <a:prstDash val="solid"/>
            <a:round/>
          </a:ln>
        </c:spPr>
        <c:txPr>
          <a:bodyPr/>
          <a:lstStyle/>
          <a:p>
            <a:pPr>
              <a:defRPr sz="900" b="0" i="0" u="none" strike="noStrike">
                <a:solidFill>
                  <a:srgbClr val="5A6672"/>
                </a:solidFill>
                <a:latin typeface="Arial"/>
              </a:defRPr>
            </a:pPr>
            <a:endParaRPr lang="en-US"/>
          </a:p>
        </c:txPr>
        <c:crossAx val="2094734552"/>
        <c:crosses val="autoZero"/>
        <c:auto val="1"/>
        <c:lblAlgn val="ctr"/>
        <c:noMultiLvlLbl val="1"/>
      </c:valAx>
      <c:valAx>
        <c:axId val="2094734552"/>
        <c:scaling>
          <c:orientation val="minMax"/>
          <c:max val="650000"/>
          <c:min val="300000"/>
        </c:scaling>
        <c:delete val="0"/>
        <c:axPos val="l"/>
        <c:majorGridlines>
          <c:spPr>
            <a:ln w="6350" cap="flat">
              <a:solidFill>
                <a:srgbClr val="F8E8E2"/>
              </a:solidFill>
              <a:prstDash val="solid"/>
              <a:round/>
            </a:ln>
          </c:spPr>
        </c:majorGridlines>
        <c:title>
          <c:tx>
            <c:rich>
              <a:bodyPr/>
              <a:lstStyle/>
              <a:p>
                <a:pPr>
                  <a:defRPr sz="1000" b="0" i="0" u="none" strike="noStrike">
                    <a:solidFill>
                      <a:srgbClr val="5A6672"/>
                    </a:solidFill>
                    <a:latin typeface="Arial"/>
                  </a:defRPr>
                </a:pPr>
                <a:r>
                  <a:rPr sz="1000" b="0" i="0" u="none" strike="noStrike">
                    <a:solidFill>
                      <a:srgbClr val="5A6672"/>
                    </a:solidFill>
                    <a:latin typeface="Arial"/>
                  </a:rPr>
                  <a:t>Price</a:t>
                </a:r>
              </a:p>
            </c:rich>
          </c:tx>
          <c:layout/>
          <c:overlay val="0"/>
        </c:title>
        <c:numFmt formatCode="$#,##0,&quot;K&quot;" sourceLinked="0"/>
        <c:majorTickMark val="none"/>
        <c:minorTickMark val="none"/>
        <c:tickLblPos val="nextTo"/>
        <c:spPr>
          <a:ln w="12700" cap="flat">
            <a:solidFill>
              <a:srgbClr val="888888"/>
            </a:solidFill>
            <a:prstDash val="solid"/>
            <a:round/>
          </a:ln>
        </c:spPr>
        <c:txPr>
          <a:bodyPr/>
          <a:lstStyle/>
          <a:p>
            <a:pPr>
              <a:defRPr sz="900" b="0" i="0" u="none" strike="noStrike">
                <a:solidFill>
                  <a:srgbClr val="5A6672"/>
                </a:solidFill>
                <a:latin typeface="Arial"/>
              </a:defRPr>
            </a:pPr>
            <a:endParaRPr lang="en-US"/>
          </a:p>
        </c:txPr>
        <c:crossAx val="2094734554"/>
        <c:crosses val="autoZero"/>
        <c:crossBetween val="midCat"/>
      </c:valAx>
      <c:spPr>
        <a:noFill/>
        <a:ln>
          <a:noFill/>
        </a:ln>
        <a:effectLst/>
      </c:spPr>
    </c:plotArea>
    <c:legend>
      <c:legendPos val="b"/>
      <c:overlay val="0"/>
      <c:txPr>
        <a:bodyPr/>
        <a:lstStyle/>
        <a:p>
          <a:pPr>
            <a:defRPr sz="900">
              <a:solidFill>
                <a:srgbClr val="1A1A1A"/>
              </a:solidFill>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Estimated Net</c:v>
                </c:pt>
              </c:strCache>
            </c:strRef>
          </c:tx>
          <c:spPr>
            <a:solidFill>
              <a:srgbClr val="C2410C"/>
            </a:solidFill>
            <a:effectLst/>
          </c:spPr>
          <c:invertIfNegative val="0"/>
          <c:dLbls>
            <c:numFmt formatCode="$#,##0" sourceLinked="0"/>
            <c:txPr>
              <a:bodyPr/>
              <a:lstStyle/>
              <a:p>
                <a:pPr>
                  <a:defRPr b="1" i="0" strike="noStrike" sz="1300" u="none">
                    <a:solidFill>
                      <a:srgbClr val="1A1A1A"/>
                    </a:solidFill>
                    <a:latin typeface="Arial"/>
                  </a:defRPr>
                </a:pPr>
              </a:p>
            </c:txPr>
            <c:showLegendKey val="0"/>
            <c:showVal val="1"/>
            <c:showCatName val="0"/>
            <c:showSerName val="0"/>
            <c:showPercent val="0"/>
            <c:showBubbleSize val="0"/>
            <c:showLeaderLines val="0"/>
          </c:dLbls>
          <c:cat>
            <c:multiLvlStrRef>
              <c:f>Sheet1!$A$2:$A$4</c:f>
              <c:multiLvlStrCache>
                <c:ptCount val="3"/>
                <c:lvl>
                  <c:pt idx="0">
                    <c:v>List $479,900</c:v>
                  </c:pt>
                  <c:pt idx="1">
                    <c:v>List $469,900</c:v>
                  </c:pt>
                  <c:pt idx="2">
                    <c:v>List $459,900</c:v>
                  </c:pt>
                </c:lvl>
              </c:multiLvlStrCache>
            </c:multiLvlStrRef>
          </c:cat>
          <c:val>
            <c:numRef>
              <c:f>Sheet1!$B$2:$B$4</c:f>
              <c:numCache>
                <c:formatCode>General</c:formatCode>
                <c:ptCount val="3"/>
                <c:pt idx="0">
                  <c:v>423074</c:v>
                </c:pt>
                <c:pt idx="1">
                  <c:v>422136</c:v>
                </c:pt>
                <c:pt idx="2">
                  <c:v>425260</c:v>
                </c:pt>
              </c:numCache>
            </c:numRef>
          </c:val>
        </c:ser>
        <c:dLbls>
          <c:numFmt formatCode="$#,##0" sourceLinked="0"/>
          <c:txPr>
            <a:bodyPr/>
            <a:lstStyle/>
            <a:p>
              <a:pPr>
                <a:defRPr b="1" i="0" strike="noStrike" sz="1300" u="none">
                  <a:solidFill>
                    <a:srgbClr val="1A1A1A"/>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A1A1A"/>
                </a:solidFill>
                <a:latin typeface="Arial"/>
              </a:defRPr>
            </a:pPr>
            <a:endParaRPr lang="en-US"/>
          </a:p>
        </c:txPr>
        <c:crossAx val="2094734552"/>
        <c:crosses val="autoZero"/>
        <c:auto val="1"/>
        <c:lblAlgn val="ctr"/>
        <c:noMultiLvlLbl val="1"/>
      </c:catAx>
      <c:valAx>
        <c:axId val="2094734552"/>
        <c:scaling>
          <c:orientation val="minMax"/>
          <c:min val="0"/>
        </c:scaling>
        <c:delete val="0"/>
        <c:axPos val="l"/>
        <c:majorGridlines>
          <c:spPr>
            <a:ln w="6350" cap="flat">
              <a:solidFill>
                <a:srgbClr val="F8E8E2"/>
              </a:solidFill>
              <a:prstDash val="solid"/>
              <a:round/>
            </a:ln>
          </c:spPr>
        </c:majorGridlines>
        <c:numFmt formatCode="$#,##0,&quot;K&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A6672"/>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goal: a price that gets your home sold for the most money in a reasonable time, and the evidence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answer. The rest of the presentation shows how we got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 sales within a mile since April; we kept the 5 closest in size, pool, age and neighborhood, adjusted each for differences from your home, and the median adjusted value is about $469,800.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features the adjustments credit your home for. The roof and permits need paperwork before buyers and appraisers will pay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bar is what that home would have sold for if it were yours. Adjustment details are in the report and the appendix.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sale and listing within a mile. The dotted line is size alone; renovation and pool push homes above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Spring = April to June sales; summer = July to mid-September. Rates are the Freddie Mac 30-year average.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homes a buyer will likely tour alongside yours.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sale prices and timelines are estimates from recent sales. The $459,900 option assumes competing offers reduce the seller credit to $5,000.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mortgage payoff. Brokerage is a 2.5% + 2.5% placeholder until we finalize the listing agreement.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Conventional loan, 5% down, 6.95%, city taxes with homestead, $3,600 insurance, 0.5% PMI.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Low-cost steps that remove the questions that cost sellers money at the negotiating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 the documents and the launch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A5F"/>
        </a:solidFill>
      </p:bgPr>
    </p:bg>
    <p:spTree>
      <p:nvGrpSpPr>
        <p:cNvPr id="1" name=""/>
        <p:cNvGrpSpPr/>
        <p:nvPr/>
      </p:nvGrpSpPr>
      <p:grpSpPr>
        <a:xfrm>
          <a:off x="0" y="0"/>
          <a:ext cx="0" cy="0"/>
          <a:chOff x="0" y="0"/>
          <a:chExt cx="0" cy="0"/>
        </a:xfrm>
      </p:grpSpPr>
      <p:sp>
        <p:nvSpPr>
          <p:cNvPr id="2" name="Shape 0"/>
          <p:cNvSpPr/>
          <p:nvPr/>
        </p:nvSpPr>
        <p:spPr>
          <a:xfrm>
            <a:off x="457200" y="822960"/>
            <a:ext cx="640080" cy="640080"/>
          </a:xfrm>
          <a:prstGeom prst="ellipse">
            <a:avLst/>
          </a:prstGeom>
          <a:solidFill>
            <a:srgbClr val="C2410C"/>
          </a:solidFill>
          <a:ln w="12700">
            <a:solidFill>
              <a:srgbClr val="C2410C"/>
            </a:solidFill>
            <a:prstDash val="solid"/>
          </a:ln>
        </p:spPr>
      </p:sp>
      <p:pic>
        <p:nvPicPr>
          <p:cNvPr id="3" name="Image 0" descr="preencoded.png">    </p:cNvPr>
          <p:cNvPicPr>
            <a:picLocks noChangeAspect="1"/>
          </p:cNvPicPr>
          <p:nvPr/>
        </p:nvPicPr>
        <p:blipFill>
          <a:blip r:embed="rId1"/>
          <a:stretch>
            <a:fillRect/>
          </a:stretch>
        </p:blipFill>
        <p:spPr>
          <a:xfrm>
            <a:off x="610819" y="976579"/>
            <a:ext cx="332842" cy="332842"/>
          </a:xfrm>
          <a:prstGeom prst="rect">
            <a:avLst/>
          </a:prstGeom>
        </p:spPr>
      </p:pic>
      <p:sp>
        <p:nvSpPr>
          <p:cNvPr id="4" name="Text 1"/>
          <p:cNvSpPr txBox="1"/>
          <p:nvPr/>
        </p:nvSpPr>
        <p:spPr>
          <a:xfrm>
            <a:off x="457200" y="1645920"/>
            <a:ext cx="7772400" cy="914400"/>
          </a:xfrm>
          <a:prstGeom prst="rect">
            <a:avLst/>
          </a:prstGeom>
          <a:noFill/>
          <a:ln/>
        </p:spPr>
        <p:txBody>
          <a:bodyPr wrap="square" lIns="0" tIns="0" rIns="0" bIns="0" rtlCol="0" anchor="ctr">
            <a:normAutofit/>
          </a:bodyPr>
          <a:lstStyle/>
          <a:p>
            <a:pPr indent="0" marL="0">
              <a:buNone/>
            </a:pPr>
            <a:r>
              <a:rPr lang="en-US" sz="3800" b="1" dirty="0">
                <a:solidFill>
                  <a:srgbClr val="FFFFFF"/>
                </a:solidFill>
                <a:latin typeface="Arial" pitchFamily="34" charset="0"/>
                <a:ea typeface="Arial" pitchFamily="34" charset="-122"/>
                <a:cs typeface="Arial" pitchFamily="34" charset="-120"/>
              </a:rPr>
              <a:t>Pricing 517 Larkwood Ave</a:t>
            </a:r>
            <a:endParaRPr lang="en-US" sz="3800" dirty="0"/>
          </a:p>
        </p:txBody>
      </p:sp>
      <p:sp>
        <p:nvSpPr>
          <p:cNvPr id="5" name="Text 2"/>
          <p:cNvSpPr txBox="1"/>
          <p:nvPr/>
        </p:nvSpPr>
        <p:spPr>
          <a:xfrm>
            <a:off x="457200" y="2560320"/>
            <a:ext cx="7772400" cy="411480"/>
          </a:xfrm>
          <a:prstGeom prst="rect">
            <a:avLst/>
          </a:prstGeom>
          <a:noFill/>
          <a:ln/>
        </p:spPr>
        <p:txBody>
          <a:bodyPr wrap="square" lIns="0" tIns="0" rIns="0" bIns="0" rtlCol="0" anchor="ctr"/>
          <a:lstStyle/>
          <a:p>
            <a:pPr indent="0" marL="0">
              <a:buNone/>
            </a:pPr>
            <a:r>
              <a:rPr lang="en-US" sz="1600" dirty="0">
                <a:solidFill>
                  <a:srgbClr val="F0D1C5"/>
                </a:solidFill>
                <a:latin typeface="Arial" pitchFamily="34" charset="0"/>
                <a:ea typeface="Arial" pitchFamily="34" charset="-122"/>
                <a:cs typeface="Arial" pitchFamily="34" charset="-120"/>
              </a:rPr>
              <a:t>Listing Presentation · Harrow Springs, Fernwood Park</a:t>
            </a:r>
            <a:endParaRPr lang="en-US" sz="1600" dirty="0"/>
          </a:p>
        </p:txBody>
      </p:sp>
      <p:sp>
        <p:nvSpPr>
          <p:cNvPr id="6" name="Text 3"/>
          <p:cNvSpPr txBox="1"/>
          <p:nvPr/>
        </p:nvSpPr>
        <p:spPr>
          <a:xfrm>
            <a:off x="457200" y="3429000"/>
            <a:ext cx="6400800" cy="1097280"/>
          </a:xfrm>
          <a:prstGeom prst="rect">
            <a:avLst/>
          </a:prstGeom>
          <a:noFill/>
          <a:ln/>
        </p:spPr>
        <p:txBody>
          <a:bodyPr wrap="square" lIns="0" tIns="0" rIns="0" bIns="0" rtlCol="0" anchor="t"/>
          <a:lstStyle/>
          <a:p>
            <a:pPr indent="0" marL="0">
              <a:spcAft>
                <a:spcPts val="200"/>
              </a:spcAft>
              <a:buNone/>
            </a:pPr>
            <a:r>
              <a:rPr lang="en-US" sz="1200" b="1" dirty="0">
                <a:solidFill>
                  <a:srgbClr val="D2D8DF"/>
                </a:solidFill>
                <a:latin typeface="Arial" pitchFamily="34" charset="0"/>
                <a:ea typeface="Arial" pitchFamily="34" charset="-122"/>
                <a:cs typeface="Arial" pitchFamily="34" charset="-120"/>
              </a:rPr>
              <a:t>Jordan Avery, REALTOR®</a:t>
            </a:r>
            <a:endParaRPr lang="en-US" sz="1200" dirty="0"/>
          </a:p>
          <a:p>
            <a:pPr indent="0" marL="0">
              <a:spcAft>
                <a:spcPts val="200"/>
              </a:spcAft>
              <a:buNone/>
            </a:pPr>
            <a:r>
              <a:rPr lang="en-US" sz="1200" dirty="0">
                <a:solidFill>
                  <a:srgbClr val="D2D8DF"/>
                </a:solidFill>
                <a:latin typeface="Arial" pitchFamily="34" charset="0"/>
                <a:ea typeface="Arial" pitchFamily="34" charset="-122"/>
                <a:cs typeface="Arial" pitchFamily="34" charset="-120"/>
              </a:rPr>
              <a:t>The Avery Team · Sample Realty, LLC · License SL0000000</a:t>
            </a:r>
            <a:endParaRPr lang="en-US" sz="1200" dirty="0"/>
          </a:p>
          <a:p>
            <a:pPr indent="0" marL="0">
              <a:spcAft>
                <a:spcPts val="200"/>
              </a:spcAft>
              <a:buNone/>
            </a:pPr>
            <a:r>
              <a:rPr lang="en-US" sz="1200" dirty="0">
                <a:solidFill>
                  <a:srgbClr val="D2D8DF"/>
                </a:solidFill>
                <a:latin typeface="Arial" pitchFamily="34" charset="0"/>
                <a:ea typeface="Arial" pitchFamily="34" charset="-122"/>
                <a:cs typeface="Arial" pitchFamily="34" charset="-120"/>
              </a:rPr>
              <a:t>(407) 555-0142 · jordan@example.com · example.com</a:t>
            </a:r>
            <a:endParaRPr lang="en-US" sz="1200" dirty="0"/>
          </a:p>
          <a:p>
            <a:pPr indent="0" marL="0">
              <a:spcAft>
                <a:spcPts val="200"/>
              </a:spcAft>
              <a:buNone/>
            </a:pPr>
            <a:r>
              <a:rPr lang="en-US" sz="1200" dirty="0">
                <a:solidFill>
                  <a:srgbClr val="D2D8DF"/>
                </a:solidFill>
                <a:latin typeface="Arial" pitchFamily="34" charset="0"/>
                <a:ea typeface="Arial" pitchFamily="34" charset="-122"/>
                <a:cs typeface="Arial" pitchFamily="34" charset="-120"/>
              </a:rPr>
              <a:t>September 22,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Our Recommendation</a:t>
            </a:r>
            <a:endParaRPr lang="en-US" sz="2600" dirty="0"/>
          </a:p>
        </p:txBody>
      </p:sp>
      <p:sp>
        <p:nvSpPr>
          <p:cNvPr id="3" name="Text 1"/>
          <p:cNvSpPr txBox="1"/>
          <p:nvPr/>
        </p:nvSpPr>
        <p:spPr>
          <a:xfrm>
            <a:off x="457200" y="1234440"/>
            <a:ext cx="4206240" cy="320040"/>
          </a:xfrm>
          <a:prstGeom prst="rect">
            <a:avLst/>
          </a:prstGeom>
          <a:noFill/>
          <a:ln/>
        </p:spPr>
        <p:txBody>
          <a:bodyPr wrap="square" lIns="0" tIns="0" rIns="0" bIns="0" rtlCol="0" anchor="ctr"/>
          <a:lstStyle/>
          <a:p>
            <a:pPr indent="0" marL="0">
              <a:buNone/>
            </a:pPr>
            <a:r>
              <a:rPr lang="en-US" sz="1400" dirty="0">
                <a:solidFill>
                  <a:srgbClr val="5A6672"/>
                </a:solidFill>
                <a:latin typeface="Arial" pitchFamily="34" charset="0"/>
                <a:ea typeface="Arial" pitchFamily="34" charset="-122"/>
                <a:cs typeface="Arial" pitchFamily="34" charset="-120"/>
              </a:rPr>
              <a:t>Recommended List Price</a:t>
            </a:r>
            <a:endParaRPr lang="en-US" sz="1400" dirty="0"/>
          </a:p>
        </p:txBody>
      </p:sp>
      <p:sp>
        <p:nvSpPr>
          <p:cNvPr id="4" name="Text 2"/>
          <p:cNvSpPr txBox="1"/>
          <p:nvPr/>
        </p:nvSpPr>
        <p:spPr>
          <a:xfrm>
            <a:off x="457200" y="1554480"/>
            <a:ext cx="4389120" cy="1097280"/>
          </a:xfrm>
          <a:prstGeom prst="rect">
            <a:avLst/>
          </a:prstGeom>
          <a:noFill/>
          <a:ln/>
        </p:spPr>
        <p:txBody>
          <a:bodyPr wrap="square" lIns="0" tIns="0" rIns="0" bIns="0" rtlCol="0" anchor="ctr"/>
          <a:lstStyle/>
          <a:p>
            <a:pPr indent="0" marL="0">
              <a:buNone/>
            </a:pPr>
            <a:r>
              <a:rPr lang="en-US" sz="6400" b="1" dirty="0">
                <a:solidFill>
                  <a:srgbClr val="C2410C"/>
                </a:solidFill>
                <a:latin typeface="Arial" pitchFamily="34" charset="0"/>
                <a:ea typeface="Arial" pitchFamily="34" charset="-122"/>
                <a:cs typeface="Arial" pitchFamily="34" charset="-120"/>
              </a:rPr>
              <a:t>$469,900</a:t>
            </a:r>
            <a:endParaRPr lang="en-US" sz="6400" dirty="0"/>
          </a:p>
        </p:txBody>
      </p:sp>
      <p:sp>
        <p:nvSpPr>
          <p:cNvPr id="5" name="Text 3"/>
          <p:cNvSpPr txBox="1"/>
          <p:nvPr/>
        </p:nvSpPr>
        <p:spPr>
          <a:xfrm>
            <a:off x="457200" y="2834640"/>
            <a:ext cx="4114800" cy="1097280"/>
          </a:xfrm>
          <a:prstGeom prst="rect">
            <a:avLst/>
          </a:prstGeom>
          <a:noFill/>
          <a:ln/>
        </p:spPr>
        <p:txBody>
          <a:bodyPr wrap="square" lIns="0" tIns="0" rIns="0" bIns="0" rtlCol="0" anchor="t"/>
          <a:lstStyle/>
          <a:p>
            <a:pPr indent="0" marL="0">
              <a:buNone/>
            </a:pPr>
            <a:r>
              <a:rPr lang="en-US" sz="1500" dirty="0">
                <a:solidFill>
                  <a:srgbClr val="1A1A1A"/>
                </a:solidFill>
                <a:latin typeface="Arial" pitchFamily="34" charset="0"/>
                <a:ea typeface="Arial" pitchFamily="34" charset="-122"/>
                <a:cs typeface="Arial" pitchFamily="34" charset="-120"/>
              </a:rPr>
              <a:t>It sits at the middle of what recent sales support and gives you the strongest launch, when buyer attention is highest.</a:t>
            </a:r>
            <a:endParaRPr lang="en-US" sz="1500" dirty="0"/>
          </a:p>
        </p:txBody>
      </p:sp>
      <p:sp>
        <p:nvSpPr>
          <p:cNvPr id="6" name="Shape 4"/>
          <p:cNvSpPr/>
          <p:nvPr/>
        </p:nvSpPr>
        <p:spPr>
          <a:xfrm>
            <a:off x="5212080" y="1234440"/>
            <a:ext cx="3474720" cy="1234440"/>
          </a:xfrm>
          <a:prstGeom prst="roundRect">
            <a:avLst>
              <a:gd name="adj" fmla="val 5926"/>
            </a:avLst>
          </a:prstGeom>
          <a:solidFill>
            <a:srgbClr val="FBF2EE"/>
          </a:solidFill>
          <a:ln w="12700">
            <a:solidFill>
              <a:srgbClr val="FBF2EE"/>
            </a:solidFill>
            <a:prstDash val="solid"/>
          </a:ln>
        </p:spPr>
      </p:sp>
      <p:sp>
        <p:nvSpPr>
          <p:cNvPr id="7" name="Text 5"/>
          <p:cNvSpPr txBox="1"/>
          <p:nvPr/>
        </p:nvSpPr>
        <p:spPr>
          <a:xfrm>
            <a:off x="5440680" y="1371600"/>
            <a:ext cx="3108960" cy="274320"/>
          </a:xfrm>
          <a:prstGeom prst="rect">
            <a:avLst/>
          </a:prstGeom>
          <a:noFill/>
          <a:ln/>
        </p:spPr>
        <p:txBody>
          <a:bodyPr wrap="square" lIns="0" tIns="0" rIns="0" bIns="0" rtlCol="0" anchor="ctr"/>
          <a:lstStyle/>
          <a:p>
            <a:pPr indent="0" marL="0">
              <a:buNone/>
            </a:pPr>
            <a:r>
              <a:rPr lang="en-US" sz="1200" dirty="0">
                <a:solidFill>
                  <a:srgbClr val="5A6672"/>
                </a:solidFill>
                <a:latin typeface="Arial" pitchFamily="34" charset="0"/>
                <a:ea typeface="Arial" pitchFamily="34" charset="-122"/>
                <a:cs typeface="Arial" pitchFamily="34" charset="-120"/>
              </a:rPr>
              <a:t>Supported Value Range</a:t>
            </a:r>
            <a:endParaRPr lang="en-US" sz="1200" dirty="0"/>
          </a:p>
        </p:txBody>
      </p:sp>
      <p:sp>
        <p:nvSpPr>
          <p:cNvPr id="8" name="Text 6"/>
          <p:cNvSpPr txBox="1"/>
          <p:nvPr/>
        </p:nvSpPr>
        <p:spPr>
          <a:xfrm>
            <a:off x="5440680" y="1645920"/>
            <a:ext cx="3108960" cy="45720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$455K – $480K</a:t>
            </a:r>
            <a:endParaRPr lang="en-US" sz="2400" dirty="0"/>
          </a:p>
        </p:txBody>
      </p:sp>
      <p:sp>
        <p:nvSpPr>
          <p:cNvPr id="9" name="Text 7"/>
          <p:cNvSpPr txBox="1"/>
          <p:nvPr/>
        </p:nvSpPr>
        <p:spPr>
          <a:xfrm>
            <a:off x="5440680" y="2103120"/>
            <a:ext cx="3108960" cy="256032"/>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What recent sales support</a:t>
            </a:r>
            <a:endParaRPr lang="en-US" sz="1100" dirty="0"/>
          </a:p>
        </p:txBody>
      </p:sp>
      <p:sp>
        <p:nvSpPr>
          <p:cNvPr id="10" name="Shape 8"/>
          <p:cNvSpPr/>
          <p:nvPr/>
        </p:nvSpPr>
        <p:spPr>
          <a:xfrm>
            <a:off x="5212080" y="2697480"/>
            <a:ext cx="3474720" cy="1234440"/>
          </a:xfrm>
          <a:prstGeom prst="roundRect">
            <a:avLst>
              <a:gd name="adj" fmla="val 5926"/>
            </a:avLst>
          </a:prstGeom>
          <a:solidFill>
            <a:srgbClr val="FBF2EE"/>
          </a:solidFill>
          <a:ln w="12700">
            <a:solidFill>
              <a:srgbClr val="FBF2EE"/>
            </a:solidFill>
            <a:prstDash val="solid"/>
          </a:ln>
        </p:spPr>
      </p:sp>
      <p:sp>
        <p:nvSpPr>
          <p:cNvPr id="11" name="Text 9"/>
          <p:cNvSpPr txBox="1"/>
          <p:nvPr/>
        </p:nvSpPr>
        <p:spPr>
          <a:xfrm>
            <a:off x="5440680" y="2834640"/>
            <a:ext cx="3108960" cy="274320"/>
          </a:xfrm>
          <a:prstGeom prst="rect">
            <a:avLst/>
          </a:prstGeom>
          <a:noFill/>
          <a:ln/>
        </p:spPr>
        <p:txBody>
          <a:bodyPr wrap="square" lIns="0" tIns="0" rIns="0" bIns="0" rtlCol="0" anchor="ctr"/>
          <a:lstStyle/>
          <a:p>
            <a:pPr indent="0" marL="0">
              <a:buNone/>
            </a:pPr>
            <a:r>
              <a:rPr lang="en-US" sz="1200" dirty="0">
                <a:solidFill>
                  <a:srgbClr val="5A6672"/>
                </a:solidFill>
                <a:latin typeface="Arial" pitchFamily="34" charset="0"/>
                <a:ea typeface="Arial" pitchFamily="34" charset="-122"/>
                <a:cs typeface="Arial" pitchFamily="34" charset="-120"/>
              </a:rPr>
              <a:t>Expected Sale</a:t>
            </a:r>
            <a:endParaRPr lang="en-US" sz="1200" dirty="0"/>
          </a:p>
        </p:txBody>
      </p:sp>
      <p:sp>
        <p:nvSpPr>
          <p:cNvPr id="12" name="Text 10"/>
          <p:cNvSpPr txBox="1"/>
          <p:nvPr/>
        </p:nvSpPr>
        <p:spPr>
          <a:xfrm>
            <a:off x="5440680" y="3108960"/>
            <a:ext cx="3108960" cy="457200"/>
          </a:xfrm>
          <a:prstGeom prst="rect">
            <a:avLst/>
          </a:prstGeom>
          <a:noFill/>
          <a:ln/>
        </p:spPr>
        <p:txBody>
          <a:bodyPr wrap="square" lIns="0" tIns="0" rIns="0" bIns="0" rtlCol="0" anchor="ctr"/>
          <a:lstStyle/>
          <a:p>
            <a:pPr indent="0" marL="0">
              <a:buNone/>
            </a:pPr>
            <a:r>
              <a:rPr lang="en-US" sz="1900" b="1" dirty="0">
                <a:solidFill>
                  <a:srgbClr val="1A1A1A"/>
                </a:solidFill>
                <a:latin typeface="Arial" pitchFamily="34" charset="0"/>
                <a:ea typeface="Arial" pitchFamily="34" charset="-122"/>
                <a:cs typeface="Arial" pitchFamily="34" charset="-120"/>
              </a:rPr>
              <a:t>Low-to-mid $460,000s</a:t>
            </a:r>
            <a:endParaRPr lang="en-US" sz="1900" dirty="0"/>
          </a:p>
        </p:txBody>
      </p:sp>
      <p:sp>
        <p:nvSpPr>
          <p:cNvPr id="13" name="Text 11"/>
          <p:cNvSpPr txBox="1"/>
          <p:nvPr/>
        </p:nvSpPr>
        <p:spPr>
          <a:xfrm>
            <a:off x="5440680" y="3566160"/>
            <a:ext cx="3108960" cy="256032"/>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After the negotiating that is normal now</a:t>
            </a:r>
            <a:endParaRPr lang="en-US" sz="1100" dirty="0"/>
          </a:p>
        </p:txBody>
      </p:sp>
      <p:sp>
        <p:nvSpPr>
          <p:cNvPr id="14" name="Text 12"/>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15" name="Text 13"/>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How We Priced It</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A6672"/>
                </a:solidFill>
                <a:latin typeface="Arial" pitchFamily="34" charset="0"/>
                <a:ea typeface="Arial" pitchFamily="34" charset="-122"/>
                <a:cs typeface="Arial" pitchFamily="34" charset="-120"/>
              </a:rPr>
              <a:t>Five steps from the neighborhood's sales to one number</a:t>
            </a:r>
            <a:endParaRPr lang="en-US" sz="1300" dirty="0"/>
          </a:p>
        </p:txBody>
      </p:sp>
      <p:sp>
        <p:nvSpPr>
          <p:cNvPr id="4" name="Shape 2"/>
          <p:cNvSpPr/>
          <p:nvPr/>
        </p:nvSpPr>
        <p:spPr>
          <a:xfrm>
            <a:off x="457200" y="1600200"/>
            <a:ext cx="1444752" cy="2011680"/>
          </a:xfrm>
          <a:prstGeom prst="roundRect">
            <a:avLst>
              <a:gd name="adj" fmla="val 5063"/>
            </a:avLst>
          </a:prstGeom>
          <a:solidFill>
            <a:srgbClr val="FBF2EE"/>
          </a:solidFill>
          <a:ln w="12700">
            <a:solidFill>
              <a:srgbClr val="FBF2EE"/>
            </a:solidFill>
            <a:prstDash val="solid"/>
          </a:ln>
        </p:spPr>
      </p:sp>
      <p:sp>
        <p:nvSpPr>
          <p:cNvPr id="5" name="Text 3"/>
          <p:cNvSpPr txBox="1"/>
          <p:nvPr/>
        </p:nvSpPr>
        <p:spPr>
          <a:xfrm>
            <a:off x="566928" y="1874520"/>
            <a:ext cx="1225296" cy="640080"/>
          </a:xfrm>
          <a:prstGeom prst="rect">
            <a:avLst/>
          </a:prstGeom>
          <a:noFill/>
          <a:ln/>
        </p:spPr>
        <p:txBody>
          <a:bodyPr wrap="square" lIns="0" tIns="0" rIns="0" bIns="0" rtlCol="0" anchor="ctr"/>
          <a:lstStyle/>
          <a:p>
            <a:pPr algn="ctr" indent="0" marL="0">
              <a:buNone/>
            </a:pPr>
            <a:r>
              <a:rPr lang="en-US" sz="2600" b="1" dirty="0">
                <a:solidFill>
                  <a:srgbClr val="C2410C"/>
                </a:solidFill>
                <a:latin typeface="Arial" pitchFamily="34" charset="0"/>
                <a:ea typeface="Arial" pitchFamily="34" charset="-122"/>
                <a:cs typeface="Arial" pitchFamily="34" charset="-120"/>
              </a:rPr>
              <a:t>33</a:t>
            </a:r>
            <a:endParaRPr lang="en-US" sz="2600" dirty="0"/>
          </a:p>
        </p:txBody>
      </p:sp>
      <p:sp>
        <p:nvSpPr>
          <p:cNvPr id="6" name="Text 4"/>
          <p:cNvSpPr txBox="1"/>
          <p:nvPr/>
        </p:nvSpPr>
        <p:spPr>
          <a:xfrm>
            <a:off x="566928" y="2606040"/>
            <a:ext cx="1225296" cy="868680"/>
          </a:xfrm>
          <a:prstGeom prst="rect">
            <a:avLst/>
          </a:prstGeom>
          <a:noFill/>
          <a:ln/>
        </p:spPr>
        <p:txBody>
          <a:bodyPr wrap="square" lIns="0" tIns="0" rIns="0" bIns="0" rtlCol="0" anchor="t"/>
          <a:lstStyle/>
          <a:p>
            <a:pPr algn="ctr" indent="0" marL="0">
              <a:buNone/>
            </a:pPr>
            <a:r>
              <a:rPr lang="en-US" sz="1200" dirty="0">
                <a:solidFill>
                  <a:srgbClr val="1A1A1A"/>
                </a:solidFill>
                <a:latin typeface="Arial" pitchFamily="34" charset="0"/>
                <a:ea typeface="Arial" pitchFamily="34" charset="-122"/>
                <a:cs typeface="Arial" pitchFamily="34" charset="-120"/>
              </a:rPr>
              <a:t>sales within a mile since April</a:t>
            </a:r>
            <a:endParaRPr lang="en-US" sz="1200" dirty="0"/>
          </a:p>
        </p:txBody>
      </p:sp>
      <p:sp>
        <p:nvSpPr>
          <p:cNvPr id="7" name="Shape 5"/>
          <p:cNvSpPr/>
          <p:nvPr/>
        </p:nvSpPr>
        <p:spPr>
          <a:xfrm>
            <a:off x="1956816" y="2487168"/>
            <a:ext cx="137160" cy="237744"/>
          </a:xfrm>
          <a:prstGeom prst="chevron">
            <a:avLst/>
          </a:prstGeom>
          <a:solidFill>
            <a:srgbClr val="A3ADB6"/>
          </a:solidFill>
          <a:ln w="12700">
            <a:solidFill>
              <a:srgbClr val="A3ADB6"/>
            </a:solidFill>
            <a:prstDash val="solid"/>
          </a:ln>
        </p:spPr>
      </p:sp>
      <p:sp>
        <p:nvSpPr>
          <p:cNvPr id="8" name="Shape 6"/>
          <p:cNvSpPr/>
          <p:nvPr/>
        </p:nvSpPr>
        <p:spPr>
          <a:xfrm>
            <a:off x="2148840" y="1600200"/>
            <a:ext cx="1444752" cy="2011680"/>
          </a:xfrm>
          <a:prstGeom prst="roundRect">
            <a:avLst>
              <a:gd name="adj" fmla="val 5063"/>
            </a:avLst>
          </a:prstGeom>
          <a:solidFill>
            <a:srgbClr val="FBF2EE"/>
          </a:solidFill>
          <a:ln w="12700">
            <a:solidFill>
              <a:srgbClr val="FBF2EE"/>
            </a:solidFill>
            <a:prstDash val="solid"/>
          </a:ln>
        </p:spPr>
      </p:sp>
      <p:sp>
        <p:nvSpPr>
          <p:cNvPr id="9" name="Text 7"/>
          <p:cNvSpPr txBox="1"/>
          <p:nvPr/>
        </p:nvSpPr>
        <p:spPr>
          <a:xfrm>
            <a:off x="2258568" y="1874520"/>
            <a:ext cx="1225296" cy="640080"/>
          </a:xfrm>
          <a:prstGeom prst="rect">
            <a:avLst/>
          </a:prstGeom>
          <a:noFill/>
          <a:ln/>
        </p:spPr>
        <p:txBody>
          <a:bodyPr wrap="square" lIns="0" tIns="0" rIns="0" bIns="0" rtlCol="0" anchor="ctr"/>
          <a:lstStyle/>
          <a:p>
            <a:pPr algn="ctr" indent="0" marL="0">
              <a:buNone/>
            </a:pPr>
            <a:r>
              <a:rPr lang="en-US" sz="2600" b="1" dirty="0">
                <a:solidFill>
                  <a:srgbClr val="C2410C"/>
                </a:solidFill>
                <a:latin typeface="Arial" pitchFamily="34" charset="0"/>
                <a:ea typeface="Arial" pitchFamily="34" charset="-122"/>
                <a:cs typeface="Arial" pitchFamily="34" charset="-120"/>
              </a:rPr>
              <a:t>5</a:t>
            </a:r>
            <a:endParaRPr lang="en-US" sz="2600" dirty="0"/>
          </a:p>
        </p:txBody>
      </p:sp>
      <p:sp>
        <p:nvSpPr>
          <p:cNvPr id="10" name="Text 8"/>
          <p:cNvSpPr txBox="1"/>
          <p:nvPr/>
        </p:nvSpPr>
        <p:spPr>
          <a:xfrm>
            <a:off x="2258568" y="2606040"/>
            <a:ext cx="1225296" cy="868680"/>
          </a:xfrm>
          <a:prstGeom prst="rect">
            <a:avLst/>
          </a:prstGeom>
          <a:noFill/>
          <a:ln/>
        </p:spPr>
        <p:txBody>
          <a:bodyPr wrap="square" lIns="0" tIns="0" rIns="0" bIns="0" rtlCol="0" anchor="t"/>
          <a:lstStyle/>
          <a:p>
            <a:pPr algn="ctr" indent="0" marL="0">
              <a:buNone/>
            </a:pPr>
            <a:r>
              <a:rPr lang="en-US" sz="1200" dirty="0">
                <a:solidFill>
                  <a:srgbClr val="1A1A1A"/>
                </a:solidFill>
                <a:latin typeface="Arial" pitchFamily="34" charset="0"/>
                <a:ea typeface="Arial" pitchFamily="34" charset="-122"/>
                <a:cs typeface="Arial" pitchFamily="34" charset="-120"/>
              </a:rPr>
              <a:t>closest matches in size, pool, age and neighborhood</a:t>
            </a:r>
            <a:endParaRPr lang="en-US" sz="1200" dirty="0"/>
          </a:p>
        </p:txBody>
      </p:sp>
      <p:sp>
        <p:nvSpPr>
          <p:cNvPr id="11" name="Shape 9"/>
          <p:cNvSpPr/>
          <p:nvPr/>
        </p:nvSpPr>
        <p:spPr>
          <a:xfrm>
            <a:off x="3648456" y="2487168"/>
            <a:ext cx="137160" cy="237744"/>
          </a:xfrm>
          <a:prstGeom prst="chevron">
            <a:avLst/>
          </a:prstGeom>
          <a:solidFill>
            <a:srgbClr val="A3ADB6"/>
          </a:solidFill>
          <a:ln w="12700">
            <a:solidFill>
              <a:srgbClr val="A3ADB6"/>
            </a:solidFill>
            <a:prstDash val="solid"/>
          </a:ln>
        </p:spPr>
      </p:sp>
      <p:sp>
        <p:nvSpPr>
          <p:cNvPr id="12" name="Shape 10"/>
          <p:cNvSpPr/>
          <p:nvPr/>
        </p:nvSpPr>
        <p:spPr>
          <a:xfrm>
            <a:off x="3840480" y="1600200"/>
            <a:ext cx="1444752" cy="2011680"/>
          </a:xfrm>
          <a:prstGeom prst="roundRect">
            <a:avLst>
              <a:gd name="adj" fmla="val 5063"/>
            </a:avLst>
          </a:prstGeom>
          <a:solidFill>
            <a:srgbClr val="FBF2EE"/>
          </a:solidFill>
          <a:ln w="12700">
            <a:solidFill>
              <a:srgbClr val="FBF2EE"/>
            </a:solidFill>
            <a:prstDash val="solid"/>
          </a:ln>
        </p:spPr>
      </p:sp>
      <p:sp>
        <p:nvSpPr>
          <p:cNvPr id="13" name="Text 11"/>
          <p:cNvSpPr txBox="1"/>
          <p:nvPr/>
        </p:nvSpPr>
        <p:spPr>
          <a:xfrm>
            <a:off x="3950208" y="1874520"/>
            <a:ext cx="1225296" cy="640080"/>
          </a:xfrm>
          <a:prstGeom prst="rect">
            <a:avLst/>
          </a:prstGeom>
          <a:noFill/>
          <a:ln/>
        </p:spPr>
        <p:txBody>
          <a:bodyPr wrap="square" lIns="0" tIns="0" rIns="0" bIns="0" rtlCol="0" anchor="ctr"/>
          <a:lstStyle/>
          <a:p>
            <a:pPr algn="ctr" indent="0" marL="0">
              <a:buNone/>
            </a:pPr>
            <a:r>
              <a:rPr lang="en-US" sz="1700" b="1" dirty="0">
                <a:solidFill>
                  <a:srgbClr val="C2410C"/>
                </a:solidFill>
                <a:latin typeface="Arial" pitchFamily="34" charset="0"/>
                <a:ea typeface="Arial" pitchFamily="34" charset="-122"/>
                <a:cs typeface="Arial" pitchFamily="34" charset="-120"/>
              </a:rPr>
              <a:t>$436K–$492K</a:t>
            </a:r>
            <a:endParaRPr lang="en-US" sz="1700" dirty="0"/>
          </a:p>
        </p:txBody>
      </p:sp>
      <p:sp>
        <p:nvSpPr>
          <p:cNvPr id="14" name="Text 12"/>
          <p:cNvSpPr txBox="1"/>
          <p:nvPr/>
        </p:nvSpPr>
        <p:spPr>
          <a:xfrm>
            <a:off x="3950208" y="2606040"/>
            <a:ext cx="1225296" cy="868680"/>
          </a:xfrm>
          <a:prstGeom prst="rect">
            <a:avLst/>
          </a:prstGeom>
          <a:noFill/>
          <a:ln/>
        </p:spPr>
        <p:txBody>
          <a:bodyPr wrap="square" lIns="0" tIns="0" rIns="0" bIns="0" rtlCol="0" anchor="t"/>
          <a:lstStyle/>
          <a:p>
            <a:pPr algn="ctr" indent="0" marL="0">
              <a:buNone/>
            </a:pPr>
            <a:r>
              <a:rPr lang="en-US" sz="1200" dirty="0">
                <a:solidFill>
                  <a:srgbClr val="1A1A1A"/>
                </a:solidFill>
                <a:latin typeface="Arial" pitchFamily="34" charset="0"/>
                <a:ea typeface="Arial" pitchFamily="34" charset="-122"/>
                <a:cs typeface="Arial" pitchFamily="34" charset="-120"/>
              </a:rPr>
              <a:t>after adjusting each for differences from your home</a:t>
            </a:r>
            <a:endParaRPr lang="en-US" sz="1200" dirty="0"/>
          </a:p>
        </p:txBody>
      </p:sp>
      <p:sp>
        <p:nvSpPr>
          <p:cNvPr id="15" name="Shape 13"/>
          <p:cNvSpPr/>
          <p:nvPr/>
        </p:nvSpPr>
        <p:spPr>
          <a:xfrm>
            <a:off x="5340096" y="2487168"/>
            <a:ext cx="137160" cy="237744"/>
          </a:xfrm>
          <a:prstGeom prst="chevron">
            <a:avLst/>
          </a:prstGeom>
          <a:solidFill>
            <a:srgbClr val="A3ADB6"/>
          </a:solidFill>
          <a:ln w="12700">
            <a:solidFill>
              <a:srgbClr val="A3ADB6"/>
            </a:solidFill>
            <a:prstDash val="solid"/>
          </a:ln>
        </p:spPr>
      </p:sp>
      <p:sp>
        <p:nvSpPr>
          <p:cNvPr id="16" name="Shape 14"/>
          <p:cNvSpPr/>
          <p:nvPr/>
        </p:nvSpPr>
        <p:spPr>
          <a:xfrm>
            <a:off x="5532120" y="1600200"/>
            <a:ext cx="1444752" cy="2011680"/>
          </a:xfrm>
          <a:prstGeom prst="roundRect">
            <a:avLst>
              <a:gd name="adj" fmla="val 5063"/>
            </a:avLst>
          </a:prstGeom>
          <a:solidFill>
            <a:srgbClr val="FBF2EE"/>
          </a:solidFill>
          <a:ln w="12700">
            <a:solidFill>
              <a:srgbClr val="FBF2EE"/>
            </a:solidFill>
            <a:prstDash val="solid"/>
          </a:ln>
        </p:spPr>
      </p:sp>
      <p:sp>
        <p:nvSpPr>
          <p:cNvPr id="17" name="Text 15"/>
          <p:cNvSpPr txBox="1"/>
          <p:nvPr/>
        </p:nvSpPr>
        <p:spPr>
          <a:xfrm>
            <a:off x="5641848" y="1874520"/>
            <a:ext cx="1225296" cy="640080"/>
          </a:xfrm>
          <a:prstGeom prst="rect">
            <a:avLst/>
          </a:prstGeom>
          <a:noFill/>
          <a:ln/>
        </p:spPr>
        <p:txBody>
          <a:bodyPr wrap="square" lIns="0" tIns="0" rIns="0" bIns="0" rtlCol="0" anchor="ctr"/>
          <a:lstStyle/>
          <a:p>
            <a:pPr algn="ctr" indent="0" marL="0">
              <a:buNone/>
            </a:pPr>
            <a:r>
              <a:rPr lang="en-US" sz="1700" b="1" dirty="0">
                <a:solidFill>
                  <a:srgbClr val="C2410C"/>
                </a:solidFill>
                <a:latin typeface="Arial" pitchFamily="34" charset="0"/>
                <a:ea typeface="Arial" pitchFamily="34" charset="-122"/>
                <a:cs typeface="Arial" pitchFamily="34" charset="-120"/>
              </a:rPr>
              <a:t>$469,800</a:t>
            </a:r>
            <a:endParaRPr lang="en-US" sz="1700" dirty="0"/>
          </a:p>
        </p:txBody>
      </p:sp>
      <p:sp>
        <p:nvSpPr>
          <p:cNvPr id="18" name="Text 16"/>
          <p:cNvSpPr txBox="1"/>
          <p:nvPr/>
        </p:nvSpPr>
        <p:spPr>
          <a:xfrm>
            <a:off x="5641848" y="2606040"/>
            <a:ext cx="1225296" cy="868680"/>
          </a:xfrm>
          <a:prstGeom prst="rect">
            <a:avLst/>
          </a:prstGeom>
          <a:noFill/>
          <a:ln/>
        </p:spPr>
        <p:txBody>
          <a:bodyPr wrap="square" lIns="0" tIns="0" rIns="0" bIns="0" rtlCol="0" anchor="t"/>
          <a:lstStyle/>
          <a:p>
            <a:pPr algn="ctr" indent="0" marL="0">
              <a:buNone/>
            </a:pPr>
            <a:r>
              <a:rPr lang="en-US" sz="1200" dirty="0">
                <a:solidFill>
                  <a:srgbClr val="1A1A1A"/>
                </a:solidFill>
                <a:latin typeface="Arial" pitchFamily="34" charset="0"/>
                <a:ea typeface="Arial" pitchFamily="34" charset="-122"/>
                <a:cs typeface="Arial" pitchFamily="34" charset="-120"/>
              </a:rPr>
              <a:t>median adjusted value</a:t>
            </a:r>
            <a:endParaRPr lang="en-US" sz="1200" dirty="0"/>
          </a:p>
        </p:txBody>
      </p:sp>
      <p:sp>
        <p:nvSpPr>
          <p:cNvPr id="19" name="Shape 17"/>
          <p:cNvSpPr/>
          <p:nvPr/>
        </p:nvSpPr>
        <p:spPr>
          <a:xfrm>
            <a:off x="7031736" y="2487168"/>
            <a:ext cx="137160" cy="237744"/>
          </a:xfrm>
          <a:prstGeom prst="chevron">
            <a:avLst/>
          </a:prstGeom>
          <a:solidFill>
            <a:srgbClr val="A3ADB6"/>
          </a:solidFill>
          <a:ln w="12700">
            <a:solidFill>
              <a:srgbClr val="A3ADB6"/>
            </a:solidFill>
            <a:prstDash val="solid"/>
          </a:ln>
        </p:spPr>
      </p:sp>
      <p:sp>
        <p:nvSpPr>
          <p:cNvPr id="20" name="Shape 18"/>
          <p:cNvSpPr/>
          <p:nvPr/>
        </p:nvSpPr>
        <p:spPr>
          <a:xfrm>
            <a:off x="7223760" y="1600200"/>
            <a:ext cx="1444752" cy="2011680"/>
          </a:xfrm>
          <a:prstGeom prst="roundRect">
            <a:avLst>
              <a:gd name="adj" fmla="val 5063"/>
            </a:avLst>
          </a:prstGeom>
          <a:solidFill>
            <a:srgbClr val="C2410C"/>
          </a:solidFill>
          <a:ln w="12700">
            <a:solidFill>
              <a:srgbClr val="C2410C"/>
            </a:solidFill>
            <a:prstDash val="solid"/>
          </a:ln>
        </p:spPr>
      </p:sp>
      <p:sp>
        <p:nvSpPr>
          <p:cNvPr id="21" name="Text 19"/>
          <p:cNvSpPr txBox="1"/>
          <p:nvPr/>
        </p:nvSpPr>
        <p:spPr>
          <a:xfrm>
            <a:off x="7333488" y="1874520"/>
            <a:ext cx="1225296" cy="640080"/>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$469,900</a:t>
            </a:r>
            <a:endParaRPr lang="en-US" sz="1700" dirty="0"/>
          </a:p>
        </p:txBody>
      </p:sp>
      <p:sp>
        <p:nvSpPr>
          <p:cNvPr id="22" name="Text 20"/>
          <p:cNvSpPr txBox="1"/>
          <p:nvPr/>
        </p:nvSpPr>
        <p:spPr>
          <a:xfrm>
            <a:off x="7333488" y="2606040"/>
            <a:ext cx="1225296" cy="868680"/>
          </a:xfrm>
          <a:prstGeom prst="rect">
            <a:avLst/>
          </a:prstGeom>
          <a:noFill/>
          <a:ln/>
        </p:spPr>
        <p:txBody>
          <a:bodyPr wrap="square" lIns="0" tIns="0" rIns="0" bIns="0" rtlCol="0" anchor="t"/>
          <a:lstStyle/>
          <a:p>
            <a:pPr algn="ctr" indent="0" marL="0">
              <a:buNone/>
            </a:pPr>
            <a:r>
              <a:rPr lang="en-US" sz="1200" dirty="0">
                <a:solidFill>
                  <a:srgbClr val="FFFFFF"/>
                </a:solidFill>
                <a:latin typeface="Arial" pitchFamily="34" charset="0"/>
                <a:ea typeface="Arial" pitchFamily="34" charset="-122"/>
                <a:cs typeface="Arial" pitchFamily="34" charset="-120"/>
              </a:rPr>
              <a:t>recommended list price</a:t>
            </a:r>
            <a:endParaRPr lang="en-US" sz="1200" dirty="0"/>
          </a:p>
        </p:txBody>
      </p:sp>
      <p:sp>
        <p:nvSpPr>
          <p:cNvPr id="23" name="Text 21"/>
          <p:cNvSpPr txBox="1"/>
          <p:nvPr/>
        </p:nvSpPr>
        <p:spPr>
          <a:xfrm>
            <a:off x="457200" y="3931920"/>
            <a:ext cx="8229600" cy="457200"/>
          </a:xfrm>
          <a:prstGeom prst="rect">
            <a:avLst/>
          </a:prstGeom>
          <a:noFill/>
          <a:ln/>
        </p:spPr>
        <p:txBody>
          <a:bodyPr wrap="square" lIns="0" tIns="0" rIns="0" bIns="0" rtlCol="0" anchor="ctr"/>
          <a:lstStyle/>
          <a:p>
            <a:pPr indent="0" marL="0">
              <a:buNone/>
            </a:pPr>
            <a:r>
              <a:rPr lang="en-US" sz="1200" dirty="0">
                <a:solidFill>
                  <a:srgbClr val="5A6672"/>
                </a:solidFill>
                <a:latin typeface="Arial" pitchFamily="34" charset="0"/>
                <a:ea typeface="Arial" pitchFamily="34" charset="-122"/>
                <a:cs typeface="Arial" pitchFamily="34" charset="-120"/>
              </a:rPr>
              <a:t>Adjustments cover size, larger corner lot, market since the sale, documented recent systems, renovation, partial update vs. full renovation, larger canal lot and seller credits.</a:t>
            </a:r>
            <a:endParaRPr lang="en-US" sz="1200" dirty="0"/>
          </a:p>
        </p:txBody>
      </p:sp>
      <p:sp>
        <p:nvSpPr>
          <p:cNvPr id="24" name="Text 22"/>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25" name="Text 23"/>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What Buyers Will Pay For</a:t>
            </a:r>
            <a:endParaRPr lang="en-US" sz="2600" dirty="0"/>
          </a:p>
        </p:txBody>
      </p:sp>
      <p:sp>
        <p:nvSpPr>
          <p:cNvPr id="3" name="Shape 1"/>
          <p:cNvSpPr/>
          <p:nvPr/>
        </p:nvSpPr>
        <p:spPr>
          <a:xfrm>
            <a:off x="457200" y="1143000"/>
            <a:ext cx="502920" cy="502920"/>
          </a:xfrm>
          <a:prstGeom prst="ellipse">
            <a:avLst/>
          </a:prstGeom>
          <a:solidFill>
            <a:srgbClr val="C2410C"/>
          </a:solidFill>
          <a:ln w="12700">
            <a:solidFill>
              <a:srgbClr val="C2410C"/>
            </a:solidFill>
            <a:prstDash val="solid"/>
          </a:ln>
        </p:spPr>
      </p:sp>
      <p:pic>
        <p:nvPicPr>
          <p:cNvPr id="4" name="Image 0" descr="preencoded.png">    </p:cNvPr>
          <p:cNvPicPr>
            <a:picLocks noChangeAspect="1"/>
          </p:cNvPicPr>
          <p:nvPr/>
        </p:nvPicPr>
        <p:blipFill>
          <a:blip r:embed="rId1"/>
          <a:stretch>
            <a:fillRect/>
          </a:stretch>
        </p:blipFill>
        <p:spPr>
          <a:xfrm>
            <a:off x="577901" y="1263701"/>
            <a:ext cx="261518" cy="261518"/>
          </a:xfrm>
          <a:prstGeom prst="rect">
            <a:avLst/>
          </a:prstGeom>
        </p:spPr>
      </p:pic>
      <p:sp>
        <p:nvSpPr>
          <p:cNvPr id="5" name="Text 2"/>
          <p:cNvSpPr txBox="1"/>
          <p:nvPr/>
        </p:nvSpPr>
        <p:spPr>
          <a:xfrm>
            <a:off x="1143000" y="1143000"/>
            <a:ext cx="4023360" cy="27432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Renovated Kitchen and Baths</a:t>
            </a:r>
            <a:endParaRPr lang="en-US" sz="1500" dirty="0"/>
          </a:p>
        </p:txBody>
      </p:sp>
      <p:sp>
        <p:nvSpPr>
          <p:cNvPr id="6" name="Text 3"/>
          <p:cNvSpPr txBox="1"/>
          <p:nvPr/>
        </p:nvSpPr>
        <p:spPr>
          <a:xfrm>
            <a:off x="1143000" y="1417320"/>
            <a:ext cx="4023360" cy="411480"/>
          </a:xfrm>
          <a:prstGeom prst="rect">
            <a:avLst/>
          </a:prstGeom>
          <a:noFill/>
          <a:ln/>
        </p:spPr>
        <p:txBody>
          <a:bodyPr wrap="square" lIns="0" tIns="0" rIns="0" bIns="0" rtlCol="0" anchor="t"/>
          <a:lstStyle/>
          <a:p>
            <a:pPr indent="0" marL="0">
              <a:buNone/>
            </a:pPr>
            <a:r>
              <a:rPr lang="en-US" sz="1200" dirty="0">
                <a:solidFill>
                  <a:srgbClr val="5A6672"/>
                </a:solidFill>
                <a:latin typeface="Arial" pitchFamily="34" charset="0"/>
                <a:ea typeface="Arial" pitchFamily="34" charset="-122"/>
                <a:cs typeface="Arial" pitchFamily="34" charset="-120"/>
              </a:rPr>
              <a:t>The single biggest reason your home sells near the top of the neighborhood.</a:t>
            </a:r>
            <a:endParaRPr lang="en-US" sz="1200" dirty="0"/>
          </a:p>
        </p:txBody>
      </p:sp>
      <p:sp>
        <p:nvSpPr>
          <p:cNvPr id="7" name="Shape 4"/>
          <p:cNvSpPr/>
          <p:nvPr/>
        </p:nvSpPr>
        <p:spPr>
          <a:xfrm>
            <a:off x="457200" y="1947672"/>
            <a:ext cx="502920" cy="502920"/>
          </a:xfrm>
          <a:prstGeom prst="ellipse">
            <a:avLst/>
          </a:prstGeom>
          <a:solidFill>
            <a:srgbClr val="C2410C"/>
          </a:solidFill>
          <a:ln w="12700">
            <a:solidFill>
              <a:srgbClr val="C2410C"/>
            </a:solidFill>
            <a:prstDash val="solid"/>
          </a:ln>
        </p:spPr>
      </p:sp>
      <p:pic>
        <p:nvPicPr>
          <p:cNvPr id="8" name="Image 1" descr="preencoded.png">    </p:cNvPr>
          <p:cNvPicPr>
            <a:picLocks noChangeAspect="1"/>
          </p:cNvPicPr>
          <p:nvPr/>
        </p:nvPicPr>
        <p:blipFill>
          <a:blip r:embed="rId2"/>
          <a:stretch>
            <a:fillRect/>
          </a:stretch>
        </p:blipFill>
        <p:spPr>
          <a:xfrm>
            <a:off x="577901" y="2068373"/>
            <a:ext cx="261518" cy="261518"/>
          </a:xfrm>
          <a:prstGeom prst="rect">
            <a:avLst/>
          </a:prstGeom>
        </p:spPr>
      </p:pic>
      <p:sp>
        <p:nvSpPr>
          <p:cNvPr id="9" name="Text 5"/>
          <p:cNvSpPr txBox="1"/>
          <p:nvPr/>
        </p:nvSpPr>
        <p:spPr>
          <a:xfrm>
            <a:off x="1143000" y="1947672"/>
            <a:ext cx="4023360" cy="27432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Private Pool</a:t>
            </a:r>
            <a:endParaRPr lang="en-US" sz="1500" dirty="0"/>
          </a:p>
        </p:txBody>
      </p:sp>
      <p:sp>
        <p:nvSpPr>
          <p:cNvPr id="10" name="Text 6"/>
          <p:cNvSpPr txBox="1"/>
          <p:nvPr/>
        </p:nvSpPr>
        <p:spPr>
          <a:xfrm>
            <a:off x="1143000" y="2221992"/>
            <a:ext cx="4023360" cy="411480"/>
          </a:xfrm>
          <a:prstGeom prst="rect">
            <a:avLst/>
          </a:prstGeom>
          <a:noFill/>
          <a:ln/>
        </p:spPr>
        <p:txBody>
          <a:bodyPr wrap="square" lIns="0" tIns="0" rIns="0" bIns="0" rtlCol="0" anchor="t"/>
          <a:lstStyle/>
          <a:p>
            <a:pPr indent="0" marL="0">
              <a:buNone/>
            </a:pPr>
            <a:r>
              <a:rPr lang="en-US" sz="1200" dirty="0">
                <a:solidFill>
                  <a:srgbClr val="5A6672"/>
                </a:solidFill>
                <a:latin typeface="Arial" pitchFamily="34" charset="0"/>
                <a:ea typeface="Arial" pitchFamily="34" charset="-122"/>
                <a:cs typeface="Arial" pitchFamily="34" charset="-120"/>
              </a:rPr>
              <a:t>Worth about $25,000 against similar homes without one.</a:t>
            </a:r>
            <a:endParaRPr lang="en-US" sz="1200" dirty="0"/>
          </a:p>
        </p:txBody>
      </p:sp>
      <p:sp>
        <p:nvSpPr>
          <p:cNvPr id="11" name="Shape 7"/>
          <p:cNvSpPr/>
          <p:nvPr/>
        </p:nvSpPr>
        <p:spPr>
          <a:xfrm>
            <a:off x="457200" y="2752344"/>
            <a:ext cx="502920" cy="502920"/>
          </a:xfrm>
          <a:prstGeom prst="ellipse">
            <a:avLst/>
          </a:prstGeom>
          <a:solidFill>
            <a:srgbClr val="C2410C"/>
          </a:solidFill>
          <a:ln w="12700">
            <a:solidFill>
              <a:srgbClr val="C2410C"/>
            </a:solidFill>
            <a:prstDash val="solid"/>
          </a:ln>
        </p:spPr>
      </p:sp>
      <p:pic>
        <p:nvPicPr>
          <p:cNvPr id="12" name="Image 2" descr="preencoded.png">    </p:cNvPr>
          <p:cNvPicPr>
            <a:picLocks noChangeAspect="1"/>
          </p:cNvPicPr>
          <p:nvPr/>
        </p:nvPicPr>
        <p:blipFill>
          <a:blip r:embed="rId3"/>
          <a:stretch>
            <a:fillRect/>
          </a:stretch>
        </p:blipFill>
        <p:spPr>
          <a:xfrm>
            <a:off x="577901" y="2873045"/>
            <a:ext cx="261518" cy="261518"/>
          </a:xfrm>
          <a:prstGeom prst="rect">
            <a:avLst/>
          </a:prstGeom>
        </p:spPr>
      </p:pic>
      <p:sp>
        <p:nvSpPr>
          <p:cNvPr id="13" name="Text 8"/>
          <p:cNvSpPr txBox="1"/>
          <p:nvPr/>
        </p:nvSpPr>
        <p:spPr>
          <a:xfrm>
            <a:off x="1143000" y="2752344"/>
            <a:ext cx="4023360" cy="27432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Four Bedrooms, No HOA or CDD</a:t>
            </a:r>
            <a:endParaRPr lang="en-US" sz="1500" dirty="0"/>
          </a:p>
        </p:txBody>
      </p:sp>
      <p:sp>
        <p:nvSpPr>
          <p:cNvPr id="14" name="Text 9"/>
          <p:cNvSpPr txBox="1"/>
          <p:nvPr/>
        </p:nvSpPr>
        <p:spPr>
          <a:xfrm>
            <a:off x="1143000" y="3026664"/>
            <a:ext cx="4023360" cy="411480"/>
          </a:xfrm>
          <a:prstGeom prst="rect">
            <a:avLst/>
          </a:prstGeom>
          <a:noFill/>
          <a:ln/>
        </p:spPr>
        <p:txBody>
          <a:bodyPr wrap="square" lIns="0" tIns="0" rIns="0" bIns="0" rtlCol="0" anchor="t"/>
          <a:lstStyle/>
          <a:p>
            <a:pPr indent="0" marL="0">
              <a:buNone/>
            </a:pPr>
            <a:r>
              <a:rPr lang="en-US" sz="1200" dirty="0">
                <a:solidFill>
                  <a:srgbClr val="5A6672"/>
                </a:solidFill>
                <a:latin typeface="Arial" pitchFamily="34" charset="0"/>
                <a:ea typeface="Arial" pitchFamily="34" charset="-122"/>
                <a:cs typeface="Arial" pitchFamily="34" charset="-120"/>
              </a:rPr>
              <a:t>Flexible space and no monthly association costs.</a:t>
            </a:r>
            <a:endParaRPr lang="en-US" sz="1200" dirty="0"/>
          </a:p>
        </p:txBody>
      </p:sp>
      <p:sp>
        <p:nvSpPr>
          <p:cNvPr id="15" name="Shape 10"/>
          <p:cNvSpPr/>
          <p:nvPr/>
        </p:nvSpPr>
        <p:spPr>
          <a:xfrm>
            <a:off x="457200" y="3557016"/>
            <a:ext cx="502920" cy="502920"/>
          </a:xfrm>
          <a:prstGeom prst="ellipse">
            <a:avLst/>
          </a:prstGeom>
          <a:solidFill>
            <a:srgbClr val="C2410C"/>
          </a:solidFill>
          <a:ln w="12700">
            <a:solidFill>
              <a:srgbClr val="C2410C"/>
            </a:solidFill>
            <a:prstDash val="solid"/>
          </a:ln>
        </p:spPr>
      </p:sp>
      <p:pic>
        <p:nvPicPr>
          <p:cNvPr id="16" name="Image 3" descr="preencoded.png">    </p:cNvPr>
          <p:cNvPicPr>
            <a:picLocks noChangeAspect="1"/>
          </p:cNvPicPr>
          <p:nvPr/>
        </p:nvPicPr>
        <p:blipFill>
          <a:blip r:embed="rId4"/>
          <a:stretch>
            <a:fillRect/>
          </a:stretch>
        </p:blipFill>
        <p:spPr>
          <a:xfrm>
            <a:off x="577901" y="3677717"/>
            <a:ext cx="261518" cy="261518"/>
          </a:xfrm>
          <a:prstGeom prst="rect">
            <a:avLst/>
          </a:prstGeom>
        </p:spPr>
      </p:pic>
      <p:sp>
        <p:nvSpPr>
          <p:cNvPr id="17" name="Text 11"/>
          <p:cNvSpPr txBox="1"/>
          <p:nvPr/>
        </p:nvSpPr>
        <p:spPr>
          <a:xfrm>
            <a:off x="1143000" y="3557016"/>
            <a:ext cx="4023360" cy="27432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Flood Zone X</a:t>
            </a:r>
            <a:endParaRPr lang="en-US" sz="1500" dirty="0"/>
          </a:p>
        </p:txBody>
      </p:sp>
      <p:sp>
        <p:nvSpPr>
          <p:cNvPr id="18" name="Text 12"/>
          <p:cNvSpPr txBox="1"/>
          <p:nvPr/>
        </p:nvSpPr>
        <p:spPr>
          <a:xfrm>
            <a:off x="1143000" y="3831336"/>
            <a:ext cx="4023360" cy="411480"/>
          </a:xfrm>
          <a:prstGeom prst="rect">
            <a:avLst/>
          </a:prstGeom>
          <a:noFill/>
          <a:ln/>
        </p:spPr>
        <p:txBody>
          <a:bodyPr wrap="square" lIns="0" tIns="0" rIns="0" bIns="0" rtlCol="0" anchor="t"/>
          <a:lstStyle/>
          <a:p>
            <a:pPr indent="0" marL="0">
              <a:buNone/>
            </a:pPr>
            <a:r>
              <a:rPr lang="en-US" sz="1200" dirty="0">
                <a:solidFill>
                  <a:srgbClr val="5A6672"/>
                </a:solidFill>
                <a:latin typeface="Arial" pitchFamily="34" charset="0"/>
                <a:ea typeface="Arial" pitchFamily="34" charset="-122"/>
                <a:cs typeface="Arial" pitchFamily="34" charset="-120"/>
              </a:rPr>
              <a:t>Outside the high-risk flood zone, so lenders don't require flood insurance.</a:t>
            </a:r>
            <a:endParaRPr lang="en-US" sz="1200" dirty="0"/>
          </a:p>
        </p:txBody>
      </p:sp>
      <p:sp>
        <p:nvSpPr>
          <p:cNvPr id="19" name="Shape 13"/>
          <p:cNvSpPr/>
          <p:nvPr/>
        </p:nvSpPr>
        <p:spPr>
          <a:xfrm>
            <a:off x="5486400" y="1143000"/>
            <a:ext cx="3200400" cy="3108960"/>
          </a:xfrm>
          <a:prstGeom prst="roundRect">
            <a:avLst>
              <a:gd name="adj" fmla="val 2353"/>
            </a:avLst>
          </a:prstGeom>
          <a:solidFill>
            <a:srgbClr val="E4E7EC"/>
          </a:solidFill>
          <a:ln w="12700">
            <a:solidFill>
              <a:srgbClr val="E4E7EC"/>
            </a:solidFill>
            <a:prstDash val="solid"/>
          </a:ln>
        </p:spPr>
      </p:sp>
      <p:sp>
        <p:nvSpPr>
          <p:cNvPr id="20" name="Text 14"/>
          <p:cNvSpPr txBox="1"/>
          <p:nvPr/>
        </p:nvSpPr>
        <p:spPr>
          <a:xfrm>
            <a:off x="5715000" y="1325880"/>
            <a:ext cx="2834640" cy="320040"/>
          </a:xfrm>
          <a:prstGeom prst="rect">
            <a:avLst/>
          </a:prstGeom>
          <a:noFill/>
          <a:ln/>
        </p:spPr>
        <p:txBody>
          <a:bodyPr wrap="square" lIns="0" tIns="0" rIns="0" bIns="0" rtlCol="0" anchor="ctr"/>
          <a:lstStyle/>
          <a:p>
            <a:pPr indent="0" marL="0">
              <a:buNone/>
            </a:pPr>
            <a:r>
              <a:rPr lang="en-US" sz="1500" b="1" dirty="0">
                <a:solidFill>
                  <a:srgbClr val="1F3A5F"/>
                </a:solidFill>
                <a:latin typeface="Arial" pitchFamily="34" charset="0"/>
                <a:ea typeface="Arial" pitchFamily="34" charset="-122"/>
                <a:cs typeface="Arial" pitchFamily="34" charset="-120"/>
              </a:rPr>
              <a:t>Needs Paperwork to Count</a:t>
            </a:r>
            <a:endParaRPr lang="en-US" sz="1500" dirty="0"/>
          </a:p>
        </p:txBody>
      </p:sp>
      <p:sp>
        <p:nvSpPr>
          <p:cNvPr id="21" name="Shape 15"/>
          <p:cNvSpPr/>
          <p:nvPr/>
        </p:nvSpPr>
        <p:spPr>
          <a:xfrm>
            <a:off x="5715000" y="1828800"/>
            <a:ext cx="411480" cy="411480"/>
          </a:xfrm>
          <a:prstGeom prst="ellipse">
            <a:avLst/>
          </a:prstGeom>
          <a:solidFill>
            <a:srgbClr val="1F3A5F"/>
          </a:solidFill>
          <a:ln w="12700">
            <a:solidFill>
              <a:srgbClr val="1F3A5F"/>
            </a:solidFill>
            <a:prstDash val="solid"/>
          </a:ln>
        </p:spPr>
      </p:sp>
      <p:pic>
        <p:nvPicPr>
          <p:cNvPr id="22" name="Image 4" descr="preencoded.png">    </p:cNvPr>
          <p:cNvPicPr>
            <a:picLocks noChangeAspect="1"/>
          </p:cNvPicPr>
          <p:nvPr/>
        </p:nvPicPr>
        <p:blipFill>
          <a:blip r:embed="rId5"/>
          <a:stretch>
            <a:fillRect/>
          </a:stretch>
        </p:blipFill>
        <p:spPr>
          <a:xfrm>
            <a:off x="5813755" y="1927555"/>
            <a:ext cx="213970" cy="213970"/>
          </a:xfrm>
          <a:prstGeom prst="rect">
            <a:avLst/>
          </a:prstGeom>
        </p:spPr>
      </p:pic>
      <p:sp>
        <p:nvSpPr>
          <p:cNvPr id="23" name="Text 16"/>
          <p:cNvSpPr txBox="1"/>
          <p:nvPr/>
        </p:nvSpPr>
        <p:spPr>
          <a:xfrm>
            <a:off x="6263640" y="1828800"/>
            <a:ext cx="2286000"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The Roof</a:t>
            </a:r>
            <a:endParaRPr lang="en-US" sz="1300" dirty="0"/>
          </a:p>
        </p:txBody>
      </p:sp>
      <p:sp>
        <p:nvSpPr>
          <p:cNvPr id="24" name="Text 17"/>
          <p:cNvSpPr txBox="1"/>
          <p:nvPr/>
        </p:nvSpPr>
        <p:spPr>
          <a:xfrm>
            <a:off x="6263640" y="2103120"/>
            <a:ext cx="2286000" cy="731520"/>
          </a:xfrm>
          <a:prstGeom prst="rect">
            <a:avLst/>
          </a:prstGeom>
          <a:noFill/>
          <a:ln/>
        </p:spPr>
        <p:txBody>
          <a:bodyPr wrap="square" lIns="0" tIns="0" rIns="0" bIns="0" rtlCol="0" anchor="t"/>
          <a:lstStyle/>
          <a:p>
            <a:pPr indent="0" marL="0">
              <a:buNone/>
            </a:pPr>
            <a:r>
              <a:rPr lang="en-US" sz="1100" dirty="0">
                <a:solidFill>
                  <a:srgbClr val="1A1A1A"/>
                </a:solidFill>
                <a:latin typeface="Arial" pitchFamily="34" charset="0"/>
                <a:ea typeface="Arial" pitchFamily="34" charset="-122"/>
                <a:cs typeface="Arial" pitchFamily="34" charset="-120"/>
              </a:rPr>
              <a:t>Permit and date. Roof age decides whether a buyer can insure the home.</a:t>
            </a:r>
            <a:endParaRPr lang="en-US" sz="1100" dirty="0"/>
          </a:p>
        </p:txBody>
      </p:sp>
      <p:sp>
        <p:nvSpPr>
          <p:cNvPr id="25" name="Shape 18"/>
          <p:cNvSpPr/>
          <p:nvPr/>
        </p:nvSpPr>
        <p:spPr>
          <a:xfrm>
            <a:off x="5715000" y="2971800"/>
            <a:ext cx="411480" cy="411480"/>
          </a:xfrm>
          <a:prstGeom prst="ellipse">
            <a:avLst/>
          </a:prstGeom>
          <a:solidFill>
            <a:srgbClr val="1F3A5F"/>
          </a:solidFill>
          <a:ln w="12700">
            <a:solidFill>
              <a:srgbClr val="1F3A5F"/>
            </a:solidFill>
            <a:prstDash val="solid"/>
          </a:ln>
        </p:spPr>
      </p:sp>
      <p:pic>
        <p:nvPicPr>
          <p:cNvPr id="26" name="Image 5" descr="preencoded.png">    </p:cNvPr>
          <p:cNvPicPr>
            <a:picLocks noChangeAspect="1"/>
          </p:cNvPicPr>
          <p:nvPr/>
        </p:nvPicPr>
        <p:blipFill>
          <a:blip r:embed="rId6"/>
          <a:stretch>
            <a:fillRect/>
          </a:stretch>
        </p:blipFill>
        <p:spPr>
          <a:xfrm>
            <a:off x="5813755" y="3070555"/>
            <a:ext cx="213970" cy="213970"/>
          </a:xfrm>
          <a:prstGeom prst="rect">
            <a:avLst/>
          </a:prstGeom>
        </p:spPr>
      </p:pic>
      <p:sp>
        <p:nvSpPr>
          <p:cNvPr id="27" name="Text 19"/>
          <p:cNvSpPr txBox="1"/>
          <p:nvPr/>
        </p:nvSpPr>
        <p:spPr>
          <a:xfrm>
            <a:off x="6263640" y="2971800"/>
            <a:ext cx="2286000"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The Permits</a:t>
            </a:r>
            <a:endParaRPr lang="en-US" sz="1300" dirty="0"/>
          </a:p>
        </p:txBody>
      </p:sp>
      <p:sp>
        <p:nvSpPr>
          <p:cNvPr id="28" name="Text 20"/>
          <p:cNvSpPr txBox="1"/>
          <p:nvPr/>
        </p:nvSpPr>
        <p:spPr>
          <a:xfrm>
            <a:off x="6263640" y="3246120"/>
            <a:ext cx="2286000" cy="731520"/>
          </a:xfrm>
          <a:prstGeom prst="rect">
            <a:avLst/>
          </a:prstGeom>
          <a:noFill/>
          <a:ln/>
        </p:spPr>
        <p:txBody>
          <a:bodyPr wrap="square" lIns="0" tIns="0" rIns="0" bIns="0" rtlCol="0" anchor="t"/>
          <a:lstStyle/>
          <a:p>
            <a:pPr indent="0" marL="0">
              <a:buNone/>
            </a:pPr>
            <a:r>
              <a:rPr lang="en-US" sz="1100" dirty="0">
                <a:solidFill>
                  <a:srgbClr val="1A1A1A"/>
                </a:solidFill>
                <a:latin typeface="Arial" pitchFamily="34" charset="0"/>
                <a:ea typeface="Arial" pitchFamily="34" charset="-122"/>
                <a:cs typeface="Arial" pitchFamily="34" charset="-120"/>
              </a:rPr>
              <a:t>Kitchen, bath, electrical, and plumbing work. Undocumented upgrades count for less.</a:t>
            </a:r>
            <a:endParaRPr lang="en-US" sz="1100" dirty="0"/>
          </a:p>
        </p:txBody>
      </p:sp>
      <p:sp>
        <p:nvSpPr>
          <p:cNvPr id="29" name="Text 21"/>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30" name="Text 22"/>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What Comparable Homes Sold For</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A6672"/>
                </a:solidFill>
                <a:latin typeface="Arial" pitchFamily="34" charset="0"/>
                <a:ea typeface="Arial" pitchFamily="34" charset="-122"/>
                <a:cs typeface="Arial" pitchFamily="34" charset="-120"/>
              </a:rPr>
              <a:t>Each sale adjusted to what it would have sold for as your home</a:t>
            </a:r>
            <a:endParaRPr lang="en-US" sz="1300" dirty="0"/>
          </a:p>
        </p:txBody>
      </p:sp>
      <p:sp>
        <p:nvSpPr>
          <p:cNvPr id="4" name="Shape 2"/>
          <p:cNvSpPr/>
          <p:nvPr/>
        </p:nvSpPr>
        <p:spPr>
          <a:xfrm>
            <a:off x="5596128" y="1325880"/>
            <a:ext cx="1188720" cy="2468880"/>
          </a:xfrm>
          <a:prstGeom prst="rect">
            <a:avLst/>
          </a:prstGeom>
          <a:solidFill>
            <a:srgbClr val="FBF2EE"/>
          </a:solidFill>
          <a:ln w="12700">
            <a:solidFill>
              <a:srgbClr val="FBF2EE"/>
            </a:solidFill>
            <a:prstDash val="solid"/>
          </a:ln>
        </p:spPr>
      </p:sp>
      <p:sp>
        <p:nvSpPr>
          <p:cNvPr id="5" name="Shape 3"/>
          <p:cNvSpPr/>
          <p:nvPr/>
        </p:nvSpPr>
        <p:spPr>
          <a:xfrm>
            <a:off x="3931920" y="1325880"/>
            <a:ext cx="0" cy="2468880"/>
          </a:xfrm>
          <a:prstGeom prst="line">
            <a:avLst/>
          </a:prstGeom>
          <a:noFill/>
          <a:ln w="9525">
            <a:solidFill>
              <a:srgbClr val="F8E8E2"/>
            </a:solidFill>
            <a:prstDash val="solid"/>
          </a:ln>
        </p:spPr>
      </p:sp>
      <p:sp>
        <p:nvSpPr>
          <p:cNvPr id="6" name="Text 4"/>
          <p:cNvSpPr txBox="1"/>
          <p:nvPr/>
        </p:nvSpPr>
        <p:spPr>
          <a:xfrm>
            <a:off x="3566160" y="3840480"/>
            <a:ext cx="731520" cy="228600"/>
          </a:xfrm>
          <a:prstGeom prst="rect">
            <a:avLst/>
          </a:prstGeom>
          <a:noFill/>
          <a:ln/>
        </p:spPr>
        <p:txBody>
          <a:bodyPr wrap="square" lIns="0" tIns="0" rIns="0" bIns="0" rtlCol="0" anchor="ctr"/>
          <a:lstStyle/>
          <a:p>
            <a:pPr algn="ctr" indent="0" marL="0">
              <a:buNone/>
            </a:pPr>
            <a:r>
              <a:rPr lang="en-US" sz="1000" dirty="0">
                <a:solidFill>
                  <a:srgbClr val="5A6672"/>
                </a:solidFill>
                <a:latin typeface="Arial" pitchFamily="34" charset="0"/>
                <a:ea typeface="Arial" pitchFamily="34" charset="-122"/>
                <a:cs typeface="Arial" pitchFamily="34" charset="-120"/>
              </a:rPr>
              <a:t>$420K</a:t>
            </a:r>
            <a:endParaRPr lang="en-US" sz="1000" dirty="0"/>
          </a:p>
        </p:txBody>
      </p:sp>
      <p:sp>
        <p:nvSpPr>
          <p:cNvPr id="7" name="Shape 5"/>
          <p:cNvSpPr/>
          <p:nvPr/>
        </p:nvSpPr>
        <p:spPr>
          <a:xfrm>
            <a:off x="4882896" y="1325880"/>
            <a:ext cx="0" cy="2468880"/>
          </a:xfrm>
          <a:prstGeom prst="line">
            <a:avLst/>
          </a:prstGeom>
          <a:noFill/>
          <a:ln w="9525">
            <a:solidFill>
              <a:srgbClr val="F8E8E2"/>
            </a:solidFill>
            <a:prstDash val="solid"/>
          </a:ln>
        </p:spPr>
      </p:sp>
      <p:sp>
        <p:nvSpPr>
          <p:cNvPr id="8" name="Text 6"/>
          <p:cNvSpPr txBox="1"/>
          <p:nvPr/>
        </p:nvSpPr>
        <p:spPr>
          <a:xfrm>
            <a:off x="4517136" y="3840480"/>
            <a:ext cx="731520" cy="228600"/>
          </a:xfrm>
          <a:prstGeom prst="rect">
            <a:avLst/>
          </a:prstGeom>
          <a:noFill/>
          <a:ln/>
        </p:spPr>
        <p:txBody>
          <a:bodyPr wrap="square" lIns="0" tIns="0" rIns="0" bIns="0" rtlCol="0" anchor="ctr"/>
          <a:lstStyle/>
          <a:p>
            <a:pPr algn="ctr" indent="0" marL="0">
              <a:buNone/>
            </a:pPr>
            <a:r>
              <a:rPr lang="en-US" sz="1000" dirty="0">
                <a:solidFill>
                  <a:srgbClr val="5A6672"/>
                </a:solidFill>
                <a:latin typeface="Arial" pitchFamily="34" charset="0"/>
                <a:ea typeface="Arial" pitchFamily="34" charset="-122"/>
                <a:cs typeface="Arial" pitchFamily="34" charset="-120"/>
              </a:rPr>
              <a:t>$440K</a:t>
            </a:r>
            <a:endParaRPr lang="en-US" sz="1000" dirty="0"/>
          </a:p>
        </p:txBody>
      </p:sp>
      <p:sp>
        <p:nvSpPr>
          <p:cNvPr id="9" name="Shape 7"/>
          <p:cNvSpPr/>
          <p:nvPr/>
        </p:nvSpPr>
        <p:spPr>
          <a:xfrm>
            <a:off x="5833872" y="1325880"/>
            <a:ext cx="0" cy="2468880"/>
          </a:xfrm>
          <a:prstGeom prst="line">
            <a:avLst/>
          </a:prstGeom>
          <a:noFill/>
          <a:ln w="9525">
            <a:solidFill>
              <a:srgbClr val="F8E8E2"/>
            </a:solidFill>
            <a:prstDash val="solid"/>
          </a:ln>
        </p:spPr>
      </p:sp>
      <p:sp>
        <p:nvSpPr>
          <p:cNvPr id="10" name="Text 8"/>
          <p:cNvSpPr txBox="1"/>
          <p:nvPr/>
        </p:nvSpPr>
        <p:spPr>
          <a:xfrm>
            <a:off x="5468112" y="3840480"/>
            <a:ext cx="731520" cy="228600"/>
          </a:xfrm>
          <a:prstGeom prst="rect">
            <a:avLst/>
          </a:prstGeom>
          <a:noFill/>
          <a:ln/>
        </p:spPr>
        <p:txBody>
          <a:bodyPr wrap="square" lIns="0" tIns="0" rIns="0" bIns="0" rtlCol="0" anchor="ctr"/>
          <a:lstStyle/>
          <a:p>
            <a:pPr algn="ctr" indent="0" marL="0">
              <a:buNone/>
            </a:pPr>
            <a:r>
              <a:rPr lang="en-US" sz="1000" dirty="0">
                <a:solidFill>
                  <a:srgbClr val="5A6672"/>
                </a:solidFill>
                <a:latin typeface="Arial" pitchFamily="34" charset="0"/>
                <a:ea typeface="Arial" pitchFamily="34" charset="-122"/>
                <a:cs typeface="Arial" pitchFamily="34" charset="-120"/>
              </a:rPr>
              <a:t>$460K</a:t>
            </a:r>
            <a:endParaRPr lang="en-US" sz="1000" dirty="0"/>
          </a:p>
        </p:txBody>
      </p:sp>
      <p:sp>
        <p:nvSpPr>
          <p:cNvPr id="11" name="Shape 9"/>
          <p:cNvSpPr/>
          <p:nvPr/>
        </p:nvSpPr>
        <p:spPr>
          <a:xfrm>
            <a:off x="6784848" y="1325880"/>
            <a:ext cx="0" cy="2468880"/>
          </a:xfrm>
          <a:prstGeom prst="line">
            <a:avLst/>
          </a:prstGeom>
          <a:noFill/>
          <a:ln w="9525">
            <a:solidFill>
              <a:srgbClr val="F8E8E2"/>
            </a:solidFill>
            <a:prstDash val="solid"/>
          </a:ln>
        </p:spPr>
      </p:sp>
      <p:sp>
        <p:nvSpPr>
          <p:cNvPr id="12" name="Text 10"/>
          <p:cNvSpPr txBox="1"/>
          <p:nvPr/>
        </p:nvSpPr>
        <p:spPr>
          <a:xfrm>
            <a:off x="6419088" y="3840480"/>
            <a:ext cx="731520" cy="228600"/>
          </a:xfrm>
          <a:prstGeom prst="rect">
            <a:avLst/>
          </a:prstGeom>
          <a:noFill/>
          <a:ln/>
        </p:spPr>
        <p:txBody>
          <a:bodyPr wrap="square" lIns="0" tIns="0" rIns="0" bIns="0" rtlCol="0" anchor="ctr"/>
          <a:lstStyle/>
          <a:p>
            <a:pPr algn="ctr" indent="0" marL="0">
              <a:buNone/>
            </a:pPr>
            <a:r>
              <a:rPr lang="en-US" sz="1000" dirty="0">
                <a:solidFill>
                  <a:srgbClr val="5A6672"/>
                </a:solidFill>
                <a:latin typeface="Arial" pitchFamily="34" charset="0"/>
                <a:ea typeface="Arial" pitchFamily="34" charset="-122"/>
                <a:cs typeface="Arial" pitchFamily="34" charset="-120"/>
              </a:rPr>
              <a:t>$480K</a:t>
            </a:r>
            <a:endParaRPr lang="en-US" sz="1000" dirty="0"/>
          </a:p>
        </p:txBody>
      </p:sp>
      <p:sp>
        <p:nvSpPr>
          <p:cNvPr id="13" name="Shape 11"/>
          <p:cNvSpPr/>
          <p:nvPr/>
        </p:nvSpPr>
        <p:spPr>
          <a:xfrm>
            <a:off x="7735824" y="1325880"/>
            <a:ext cx="0" cy="2468880"/>
          </a:xfrm>
          <a:prstGeom prst="line">
            <a:avLst/>
          </a:prstGeom>
          <a:noFill/>
          <a:ln w="9525">
            <a:solidFill>
              <a:srgbClr val="F8E8E2"/>
            </a:solidFill>
            <a:prstDash val="solid"/>
          </a:ln>
        </p:spPr>
      </p:sp>
      <p:sp>
        <p:nvSpPr>
          <p:cNvPr id="14" name="Text 12"/>
          <p:cNvSpPr txBox="1"/>
          <p:nvPr/>
        </p:nvSpPr>
        <p:spPr>
          <a:xfrm>
            <a:off x="7370064" y="3840480"/>
            <a:ext cx="731520" cy="228600"/>
          </a:xfrm>
          <a:prstGeom prst="rect">
            <a:avLst/>
          </a:prstGeom>
          <a:noFill/>
          <a:ln/>
        </p:spPr>
        <p:txBody>
          <a:bodyPr wrap="square" lIns="0" tIns="0" rIns="0" bIns="0" rtlCol="0" anchor="ctr"/>
          <a:lstStyle/>
          <a:p>
            <a:pPr algn="ctr" indent="0" marL="0">
              <a:buNone/>
            </a:pPr>
            <a:r>
              <a:rPr lang="en-US" sz="1000" dirty="0">
                <a:solidFill>
                  <a:srgbClr val="5A6672"/>
                </a:solidFill>
                <a:latin typeface="Arial" pitchFamily="34" charset="0"/>
                <a:ea typeface="Arial" pitchFamily="34" charset="-122"/>
                <a:cs typeface="Arial" pitchFamily="34" charset="-120"/>
              </a:rPr>
              <a:t>$500K</a:t>
            </a:r>
            <a:endParaRPr lang="en-US" sz="1000" dirty="0"/>
          </a:p>
        </p:txBody>
      </p:sp>
      <p:sp>
        <p:nvSpPr>
          <p:cNvPr id="15" name="Shape 13"/>
          <p:cNvSpPr/>
          <p:nvPr/>
        </p:nvSpPr>
        <p:spPr>
          <a:xfrm>
            <a:off x="8686800" y="1325880"/>
            <a:ext cx="0" cy="2468880"/>
          </a:xfrm>
          <a:prstGeom prst="line">
            <a:avLst/>
          </a:prstGeom>
          <a:noFill/>
          <a:ln w="9525">
            <a:solidFill>
              <a:srgbClr val="F8E8E2"/>
            </a:solidFill>
            <a:prstDash val="solid"/>
          </a:ln>
        </p:spPr>
      </p:sp>
      <p:sp>
        <p:nvSpPr>
          <p:cNvPr id="16" name="Text 14"/>
          <p:cNvSpPr txBox="1"/>
          <p:nvPr/>
        </p:nvSpPr>
        <p:spPr>
          <a:xfrm>
            <a:off x="8321040" y="3840480"/>
            <a:ext cx="731520" cy="228600"/>
          </a:xfrm>
          <a:prstGeom prst="rect">
            <a:avLst/>
          </a:prstGeom>
          <a:noFill/>
          <a:ln/>
        </p:spPr>
        <p:txBody>
          <a:bodyPr wrap="square" lIns="0" tIns="0" rIns="0" bIns="0" rtlCol="0" anchor="ctr"/>
          <a:lstStyle/>
          <a:p>
            <a:pPr algn="ctr" indent="0" marL="0">
              <a:buNone/>
            </a:pPr>
            <a:r>
              <a:rPr lang="en-US" sz="1000" dirty="0">
                <a:solidFill>
                  <a:srgbClr val="5A6672"/>
                </a:solidFill>
                <a:latin typeface="Arial" pitchFamily="34" charset="0"/>
                <a:ea typeface="Arial" pitchFamily="34" charset="-122"/>
                <a:cs typeface="Arial" pitchFamily="34" charset="-120"/>
              </a:rPr>
              <a:t>$520K</a:t>
            </a:r>
            <a:endParaRPr lang="en-US" sz="1000" dirty="0"/>
          </a:p>
        </p:txBody>
      </p:sp>
      <p:sp>
        <p:nvSpPr>
          <p:cNvPr id="17" name="Shape 15"/>
          <p:cNvSpPr/>
          <p:nvPr/>
        </p:nvSpPr>
        <p:spPr>
          <a:xfrm>
            <a:off x="6304605" y="1188720"/>
            <a:ext cx="0" cy="2606040"/>
          </a:xfrm>
          <a:prstGeom prst="line">
            <a:avLst/>
          </a:prstGeom>
          <a:noFill/>
          <a:ln w="25400">
            <a:solidFill>
              <a:srgbClr val="1F3A5F"/>
            </a:solidFill>
            <a:prstDash val="dash"/>
          </a:ln>
        </p:spPr>
      </p:sp>
      <p:sp>
        <p:nvSpPr>
          <p:cNvPr id="18" name="Text 16"/>
          <p:cNvSpPr txBox="1"/>
          <p:nvPr/>
        </p:nvSpPr>
        <p:spPr>
          <a:xfrm>
            <a:off x="5298765" y="960120"/>
            <a:ext cx="2011680" cy="228600"/>
          </a:xfrm>
          <a:prstGeom prst="rect">
            <a:avLst/>
          </a:prstGeom>
          <a:noFill/>
          <a:ln/>
        </p:spPr>
        <p:txBody>
          <a:bodyPr wrap="square" lIns="0" tIns="0" rIns="0" bIns="0" rtlCol="0" anchor="ctr"/>
          <a:lstStyle/>
          <a:p>
            <a:pPr algn="ctr" indent="0" marL="0">
              <a:buNone/>
            </a:pPr>
            <a:r>
              <a:rPr lang="en-US" sz="1000" b="1" dirty="0">
                <a:solidFill>
                  <a:srgbClr val="1F3A5F"/>
                </a:solidFill>
                <a:latin typeface="Arial" pitchFamily="34" charset="0"/>
                <a:ea typeface="Arial" pitchFamily="34" charset="-122"/>
                <a:cs typeface="Arial" pitchFamily="34" charset="-120"/>
              </a:rPr>
              <a:t>Recommended $469,900</a:t>
            </a:r>
            <a:endParaRPr lang="en-US" sz="1000" dirty="0"/>
          </a:p>
        </p:txBody>
      </p:sp>
      <p:sp>
        <p:nvSpPr>
          <p:cNvPr id="19" name="Text 17"/>
          <p:cNvSpPr txBox="1"/>
          <p:nvPr/>
        </p:nvSpPr>
        <p:spPr>
          <a:xfrm>
            <a:off x="457200" y="1417320"/>
            <a:ext cx="338328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622 Fernwood Park Blvd</a:t>
            </a:r>
            <a:endParaRPr lang="en-US" sz="1200" dirty="0"/>
          </a:p>
        </p:txBody>
      </p:sp>
      <p:sp>
        <p:nvSpPr>
          <p:cNvPr id="20" name="Text 18"/>
          <p:cNvSpPr txBox="1"/>
          <p:nvPr/>
        </p:nvSpPr>
        <p:spPr>
          <a:xfrm>
            <a:off x="457200" y="1618488"/>
            <a:ext cx="3383280" cy="201168"/>
          </a:xfrm>
          <a:prstGeom prst="rect">
            <a:avLst/>
          </a:prstGeom>
          <a:noFill/>
          <a:ln/>
        </p:spPr>
        <p:txBody>
          <a:bodyPr wrap="square" lIns="0" tIns="0" rIns="0" bIns="0" rtlCol="0" anchor="ctr"/>
          <a:lstStyle/>
          <a:p>
            <a:pPr indent="0" marL="0">
              <a:buNone/>
            </a:pPr>
            <a:r>
              <a:rPr lang="en-US" sz="950" dirty="0">
                <a:solidFill>
                  <a:srgbClr val="5A6672"/>
                </a:solidFill>
                <a:latin typeface="Arial" pitchFamily="34" charset="0"/>
                <a:ea typeface="Arial" pitchFamily="34" charset="-122"/>
                <a:cs typeface="Arial" pitchFamily="34" charset="-120"/>
              </a:rPr>
              <a:t>Renovated pool home; April, before rates rose</a:t>
            </a:r>
            <a:endParaRPr lang="en-US" sz="950" dirty="0"/>
          </a:p>
        </p:txBody>
      </p:sp>
      <p:sp>
        <p:nvSpPr>
          <p:cNvPr id="21" name="Shape 19"/>
          <p:cNvSpPr/>
          <p:nvPr/>
        </p:nvSpPr>
        <p:spPr>
          <a:xfrm>
            <a:off x="7287402" y="1536192"/>
            <a:ext cx="164592" cy="164592"/>
          </a:xfrm>
          <a:prstGeom prst="ellipse">
            <a:avLst/>
          </a:prstGeom>
          <a:solidFill>
            <a:srgbClr val="C2410C"/>
          </a:solidFill>
          <a:ln w="12700">
            <a:solidFill>
              <a:srgbClr val="FFFFFF"/>
            </a:solidFill>
            <a:prstDash val="solid"/>
          </a:ln>
        </p:spPr>
      </p:sp>
      <p:sp>
        <p:nvSpPr>
          <p:cNvPr id="22" name="Text 20"/>
          <p:cNvSpPr txBox="1"/>
          <p:nvPr/>
        </p:nvSpPr>
        <p:spPr>
          <a:xfrm>
            <a:off x="7479426" y="1490472"/>
            <a:ext cx="640080" cy="237744"/>
          </a:xfrm>
          <a:prstGeom prst="rect">
            <a:avLst/>
          </a:prstGeom>
          <a:noFill/>
          <a:ln/>
        </p:spPr>
        <p:txBody>
          <a:bodyPr wrap="square" lIns="0" tIns="0" rIns="0" bIns="0" rtlCol="0" anchor="ctr"/>
          <a:lstStyle/>
          <a:p>
            <a:pPr indent="0" marL="0">
              <a:buNone/>
            </a:pPr>
            <a:r>
              <a:rPr lang="en-US" sz="1000" dirty="0">
                <a:solidFill>
                  <a:srgbClr val="1A1A1A"/>
                </a:solidFill>
                <a:latin typeface="Arial" pitchFamily="34" charset="0"/>
                <a:ea typeface="Arial" pitchFamily="34" charset="-122"/>
                <a:cs typeface="Arial" pitchFamily="34" charset="-120"/>
              </a:rPr>
              <a:t>$492K</a:t>
            </a:r>
            <a:endParaRPr lang="en-US" sz="1000" dirty="0"/>
          </a:p>
        </p:txBody>
      </p:sp>
      <p:sp>
        <p:nvSpPr>
          <p:cNvPr id="23" name="Text 21"/>
          <p:cNvSpPr txBox="1"/>
          <p:nvPr/>
        </p:nvSpPr>
        <p:spPr>
          <a:xfrm>
            <a:off x="457200" y="1874520"/>
            <a:ext cx="338328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516 Tallow Ct</a:t>
            </a:r>
            <a:endParaRPr lang="en-US" sz="1200" dirty="0"/>
          </a:p>
        </p:txBody>
      </p:sp>
      <p:sp>
        <p:nvSpPr>
          <p:cNvPr id="24" name="Text 22"/>
          <p:cNvSpPr txBox="1"/>
          <p:nvPr/>
        </p:nvSpPr>
        <p:spPr>
          <a:xfrm>
            <a:off x="457200" y="2075688"/>
            <a:ext cx="3383280" cy="201168"/>
          </a:xfrm>
          <a:prstGeom prst="rect">
            <a:avLst/>
          </a:prstGeom>
          <a:noFill/>
          <a:ln/>
        </p:spPr>
        <p:txBody>
          <a:bodyPr wrap="square" lIns="0" tIns="0" rIns="0" bIns="0" rtlCol="0" anchor="ctr"/>
          <a:lstStyle/>
          <a:p>
            <a:pPr indent="0" marL="0">
              <a:buNone/>
            </a:pPr>
            <a:r>
              <a:rPr lang="en-US" sz="950" dirty="0">
                <a:solidFill>
                  <a:srgbClr val="5A6672"/>
                </a:solidFill>
                <a:latin typeface="Arial" pitchFamily="34" charset="0"/>
                <a:ea typeface="Arial" pitchFamily="34" charset="-122"/>
                <a:cs typeface="Arial" pitchFamily="34" charset="-120"/>
              </a:rPr>
              <a:t>Same year and size; systems documented</a:t>
            </a:r>
            <a:endParaRPr lang="en-US" sz="950" dirty="0"/>
          </a:p>
        </p:txBody>
      </p:sp>
      <p:sp>
        <p:nvSpPr>
          <p:cNvPr id="25" name="Shape 23"/>
          <p:cNvSpPr/>
          <p:nvPr/>
        </p:nvSpPr>
        <p:spPr>
          <a:xfrm>
            <a:off x="6883237" y="1993392"/>
            <a:ext cx="164592" cy="164592"/>
          </a:xfrm>
          <a:prstGeom prst="ellipse">
            <a:avLst/>
          </a:prstGeom>
          <a:solidFill>
            <a:srgbClr val="C2410C"/>
          </a:solidFill>
          <a:ln w="12700">
            <a:solidFill>
              <a:srgbClr val="FFFFFF"/>
            </a:solidFill>
            <a:prstDash val="solid"/>
          </a:ln>
        </p:spPr>
      </p:sp>
      <p:sp>
        <p:nvSpPr>
          <p:cNvPr id="26" name="Text 24"/>
          <p:cNvSpPr txBox="1"/>
          <p:nvPr/>
        </p:nvSpPr>
        <p:spPr>
          <a:xfrm>
            <a:off x="7075261" y="1947672"/>
            <a:ext cx="640080" cy="237744"/>
          </a:xfrm>
          <a:prstGeom prst="rect">
            <a:avLst/>
          </a:prstGeom>
          <a:noFill/>
          <a:ln/>
        </p:spPr>
        <p:txBody>
          <a:bodyPr wrap="square" lIns="0" tIns="0" rIns="0" bIns="0" rtlCol="0" anchor="ctr"/>
          <a:lstStyle/>
          <a:p>
            <a:pPr indent="0" marL="0">
              <a:buNone/>
            </a:pPr>
            <a:r>
              <a:rPr lang="en-US" sz="1000" dirty="0">
                <a:solidFill>
                  <a:srgbClr val="1A1A1A"/>
                </a:solidFill>
                <a:latin typeface="Arial" pitchFamily="34" charset="0"/>
                <a:ea typeface="Arial" pitchFamily="34" charset="-122"/>
                <a:cs typeface="Arial" pitchFamily="34" charset="-120"/>
              </a:rPr>
              <a:t>$484K</a:t>
            </a:r>
            <a:endParaRPr lang="en-US" sz="1000" dirty="0"/>
          </a:p>
        </p:txBody>
      </p:sp>
      <p:sp>
        <p:nvSpPr>
          <p:cNvPr id="27" name="Text 25"/>
          <p:cNvSpPr txBox="1"/>
          <p:nvPr/>
        </p:nvSpPr>
        <p:spPr>
          <a:xfrm>
            <a:off x="457200" y="2331720"/>
            <a:ext cx="338328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745 Little Heron Cir</a:t>
            </a:r>
            <a:endParaRPr lang="en-US" sz="1200" dirty="0"/>
          </a:p>
        </p:txBody>
      </p:sp>
      <p:sp>
        <p:nvSpPr>
          <p:cNvPr id="28" name="Text 26"/>
          <p:cNvSpPr txBox="1"/>
          <p:nvPr/>
        </p:nvSpPr>
        <p:spPr>
          <a:xfrm>
            <a:off x="457200" y="2532888"/>
            <a:ext cx="3383280" cy="201168"/>
          </a:xfrm>
          <a:prstGeom prst="rect">
            <a:avLst/>
          </a:prstGeom>
          <a:noFill/>
          <a:ln/>
        </p:spPr>
        <p:txBody>
          <a:bodyPr wrap="square" lIns="0" tIns="0" rIns="0" bIns="0" rtlCol="0" anchor="ctr"/>
          <a:lstStyle/>
          <a:p>
            <a:pPr indent="0" marL="0">
              <a:buNone/>
            </a:pPr>
            <a:r>
              <a:rPr lang="en-US" sz="950" dirty="0">
                <a:solidFill>
                  <a:srgbClr val="5A6672"/>
                </a:solidFill>
                <a:latin typeface="Arial" pitchFamily="34" charset="0"/>
                <a:ea typeface="Arial" pitchFamily="34" charset="-122"/>
                <a:cs typeface="Arial" pitchFamily="34" charset="-120"/>
              </a:rPr>
              <a:t>Most recent pool sale; not renovated</a:t>
            </a:r>
            <a:endParaRPr lang="en-US" sz="950" dirty="0"/>
          </a:p>
        </p:txBody>
      </p:sp>
      <p:sp>
        <p:nvSpPr>
          <p:cNvPr id="29" name="Shape 27"/>
          <p:cNvSpPr/>
          <p:nvPr/>
        </p:nvSpPr>
        <p:spPr>
          <a:xfrm>
            <a:off x="6217554" y="2450592"/>
            <a:ext cx="164592" cy="164592"/>
          </a:xfrm>
          <a:prstGeom prst="ellipse">
            <a:avLst/>
          </a:prstGeom>
          <a:solidFill>
            <a:srgbClr val="C2410C"/>
          </a:solidFill>
          <a:ln w="12700">
            <a:solidFill>
              <a:srgbClr val="FFFFFF"/>
            </a:solidFill>
            <a:prstDash val="solid"/>
          </a:ln>
        </p:spPr>
      </p:sp>
      <p:sp>
        <p:nvSpPr>
          <p:cNvPr id="30" name="Text 28"/>
          <p:cNvSpPr txBox="1"/>
          <p:nvPr/>
        </p:nvSpPr>
        <p:spPr>
          <a:xfrm>
            <a:off x="6409578" y="2404872"/>
            <a:ext cx="640080" cy="237744"/>
          </a:xfrm>
          <a:prstGeom prst="rect">
            <a:avLst/>
          </a:prstGeom>
          <a:noFill/>
          <a:ln/>
        </p:spPr>
        <p:txBody>
          <a:bodyPr wrap="square" lIns="0" tIns="0" rIns="0" bIns="0" rtlCol="0" anchor="ctr"/>
          <a:lstStyle/>
          <a:p>
            <a:pPr indent="0" marL="0">
              <a:buNone/>
            </a:pPr>
            <a:r>
              <a:rPr lang="en-US" sz="1000" dirty="0">
                <a:solidFill>
                  <a:srgbClr val="1A1A1A"/>
                </a:solidFill>
                <a:latin typeface="Arial" pitchFamily="34" charset="0"/>
                <a:ea typeface="Arial" pitchFamily="34" charset="-122"/>
                <a:cs typeface="Arial" pitchFamily="34" charset="-120"/>
              </a:rPr>
              <a:t>$470K</a:t>
            </a:r>
            <a:endParaRPr lang="en-US" sz="1000" dirty="0"/>
          </a:p>
        </p:txBody>
      </p:sp>
      <p:sp>
        <p:nvSpPr>
          <p:cNvPr id="31" name="Text 29"/>
          <p:cNvSpPr txBox="1"/>
          <p:nvPr/>
        </p:nvSpPr>
        <p:spPr>
          <a:xfrm>
            <a:off x="457200" y="2788920"/>
            <a:ext cx="338328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602 Thrasher Ln</a:t>
            </a:r>
            <a:endParaRPr lang="en-US" sz="1200" dirty="0"/>
          </a:p>
        </p:txBody>
      </p:sp>
      <p:sp>
        <p:nvSpPr>
          <p:cNvPr id="32" name="Text 30"/>
          <p:cNvSpPr txBox="1"/>
          <p:nvPr/>
        </p:nvSpPr>
        <p:spPr>
          <a:xfrm>
            <a:off x="457200" y="2990088"/>
            <a:ext cx="3383280" cy="201168"/>
          </a:xfrm>
          <a:prstGeom prst="rect">
            <a:avLst/>
          </a:prstGeom>
          <a:noFill/>
          <a:ln/>
        </p:spPr>
        <p:txBody>
          <a:bodyPr wrap="square" lIns="0" tIns="0" rIns="0" bIns="0" rtlCol="0" anchor="ctr"/>
          <a:lstStyle/>
          <a:p>
            <a:pPr indent="0" marL="0">
              <a:buNone/>
            </a:pPr>
            <a:r>
              <a:rPr lang="en-US" sz="950" dirty="0">
                <a:solidFill>
                  <a:srgbClr val="5A6672"/>
                </a:solidFill>
                <a:latin typeface="Arial" pitchFamily="34" charset="0"/>
                <a:ea typeface="Arial" pitchFamily="34" charset="-122"/>
                <a:cs typeface="Arial" pitchFamily="34" charset="-120"/>
              </a:rPr>
              <a:t>Same floor plan; partly updated</a:t>
            </a:r>
            <a:endParaRPr lang="en-US" sz="950" dirty="0"/>
          </a:p>
        </p:txBody>
      </p:sp>
      <p:sp>
        <p:nvSpPr>
          <p:cNvPr id="33" name="Shape 31"/>
          <p:cNvSpPr/>
          <p:nvPr/>
        </p:nvSpPr>
        <p:spPr>
          <a:xfrm>
            <a:off x="4724522" y="2907792"/>
            <a:ext cx="164592" cy="164592"/>
          </a:xfrm>
          <a:prstGeom prst="ellipse">
            <a:avLst/>
          </a:prstGeom>
          <a:solidFill>
            <a:srgbClr val="C2410C"/>
          </a:solidFill>
          <a:ln w="12700">
            <a:solidFill>
              <a:srgbClr val="FFFFFF"/>
            </a:solidFill>
            <a:prstDash val="solid"/>
          </a:ln>
        </p:spPr>
      </p:sp>
      <p:sp>
        <p:nvSpPr>
          <p:cNvPr id="34" name="Text 32"/>
          <p:cNvSpPr txBox="1"/>
          <p:nvPr/>
        </p:nvSpPr>
        <p:spPr>
          <a:xfrm>
            <a:off x="4916546" y="2862072"/>
            <a:ext cx="640080" cy="237744"/>
          </a:xfrm>
          <a:prstGeom prst="rect">
            <a:avLst/>
          </a:prstGeom>
          <a:noFill/>
          <a:ln/>
        </p:spPr>
        <p:txBody>
          <a:bodyPr wrap="square" lIns="0" tIns="0" rIns="0" bIns="0" rtlCol="0" anchor="ctr"/>
          <a:lstStyle/>
          <a:p>
            <a:pPr indent="0" marL="0">
              <a:buNone/>
            </a:pPr>
            <a:r>
              <a:rPr lang="en-US" sz="1000" dirty="0">
                <a:solidFill>
                  <a:srgbClr val="1A1A1A"/>
                </a:solidFill>
                <a:latin typeface="Arial" pitchFamily="34" charset="0"/>
                <a:ea typeface="Arial" pitchFamily="34" charset="-122"/>
                <a:cs typeface="Arial" pitchFamily="34" charset="-120"/>
              </a:rPr>
              <a:t>$438K</a:t>
            </a:r>
            <a:endParaRPr lang="en-US" sz="1000" dirty="0"/>
          </a:p>
        </p:txBody>
      </p:sp>
      <p:sp>
        <p:nvSpPr>
          <p:cNvPr id="35" name="Text 33"/>
          <p:cNvSpPr txBox="1"/>
          <p:nvPr/>
        </p:nvSpPr>
        <p:spPr>
          <a:xfrm>
            <a:off x="457200" y="3246120"/>
            <a:ext cx="338328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621 Little Heron Rd</a:t>
            </a:r>
            <a:endParaRPr lang="en-US" sz="1200" dirty="0"/>
          </a:p>
        </p:txBody>
      </p:sp>
      <p:sp>
        <p:nvSpPr>
          <p:cNvPr id="36" name="Text 34"/>
          <p:cNvSpPr txBox="1"/>
          <p:nvPr/>
        </p:nvSpPr>
        <p:spPr>
          <a:xfrm>
            <a:off x="457200" y="3447288"/>
            <a:ext cx="3383280" cy="201168"/>
          </a:xfrm>
          <a:prstGeom prst="rect">
            <a:avLst/>
          </a:prstGeom>
          <a:noFill/>
          <a:ln/>
        </p:spPr>
        <p:txBody>
          <a:bodyPr wrap="square" lIns="0" tIns="0" rIns="0" bIns="0" rtlCol="0" anchor="ctr"/>
          <a:lstStyle/>
          <a:p>
            <a:pPr indent="0" marL="0">
              <a:buNone/>
            </a:pPr>
            <a:r>
              <a:rPr lang="en-US" sz="950" dirty="0">
                <a:solidFill>
                  <a:srgbClr val="5A6672"/>
                </a:solidFill>
                <a:latin typeface="Arial" pitchFamily="34" charset="0"/>
                <a:ea typeface="Arial" pitchFamily="34" charset="-122"/>
                <a:cs typeface="Arial" pitchFamily="34" charset="-120"/>
              </a:rPr>
              <a:t>Renovated; bigger canal lot</a:t>
            </a:r>
            <a:endParaRPr lang="en-US" sz="950" dirty="0"/>
          </a:p>
        </p:txBody>
      </p:sp>
      <p:sp>
        <p:nvSpPr>
          <p:cNvPr id="37" name="Shape 35"/>
          <p:cNvSpPr/>
          <p:nvPr/>
        </p:nvSpPr>
        <p:spPr>
          <a:xfrm>
            <a:off x="4619915" y="3364992"/>
            <a:ext cx="164592" cy="164592"/>
          </a:xfrm>
          <a:prstGeom prst="ellipse">
            <a:avLst/>
          </a:prstGeom>
          <a:solidFill>
            <a:srgbClr val="C2410C"/>
          </a:solidFill>
          <a:ln w="12700">
            <a:solidFill>
              <a:srgbClr val="FFFFFF"/>
            </a:solidFill>
            <a:prstDash val="solid"/>
          </a:ln>
        </p:spPr>
      </p:sp>
      <p:sp>
        <p:nvSpPr>
          <p:cNvPr id="38" name="Text 36"/>
          <p:cNvSpPr txBox="1"/>
          <p:nvPr/>
        </p:nvSpPr>
        <p:spPr>
          <a:xfrm>
            <a:off x="4811939" y="3319272"/>
            <a:ext cx="640080" cy="237744"/>
          </a:xfrm>
          <a:prstGeom prst="rect">
            <a:avLst/>
          </a:prstGeom>
          <a:noFill/>
          <a:ln/>
        </p:spPr>
        <p:txBody>
          <a:bodyPr wrap="square" lIns="0" tIns="0" rIns="0" bIns="0" rtlCol="0" anchor="ctr"/>
          <a:lstStyle/>
          <a:p>
            <a:pPr indent="0" marL="0">
              <a:buNone/>
            </a:pPr>
            <a:r>
              <a:rPr lang="en-US" sz="1000" dirty="0">
                <a:solidFill>
                  <a:srgbClr val="1A1A1A"/>
                </a:solidFill>
                <a:latin typeface="Arial" pitchFamily="34" charset="0"/>
                <a:ea typeface="Arial" pitchFamily="34" charset="-122"/>
                <a:cs typeface="Arial" pitchFamily="34" charset="-120"/>
              </a:rPr>
              <a:t>$436K</a:t>
            </a:r>
            <a:endParaRPr lang="en-US" sz="1000" dirty="0"/>
          </a:p>
        </p:txBody>
      </p:sp>
      <p:sp>
        <p:nvSpPr>
          <p:cNvPr id="39" name="Text 37"/>
          <p:cNvSpPr txBox="1"/>
          <p:nvPr/>
        </p:nvSpPr>
        <p:spPr>
          <a:xfrm>
            <a:off x="457200" y="4160520"/>
            <a:ext cx="8229600" cy="457200"/>
          </a:xfrm>
          <a:prstGeom prst="rect">
            <a:avLst/>
          </a:prstGeom>
          <a:noFill/>
          <a:ln/>
        </p:spPr>
        <p:txBody>
          <a:bodyPr wrap="square" lIns="0" tIns="0" rIns="0" bIns="0" rtlCol="0" anchor="ctr"/>
          <a:lstStyle/>
          <a:p>
            <a:pPr indent="0" marL="0">
              <a:buNone/>
            </a:pPr>
            <a:r>
              <a:rPr lang="en-US" sz="1200" b="1" dirty="0">
                <a:solidFill>
                  <a:srgbClr val="C2410C"/>
                </a:solidFill>
                <a:latin typeface="Arial" pitchFamily="34" charset="0"/>
                <a:ea typeface="Arial" pitchFamily="34" charset="-122"/>
                <a:cs typeface="Arial" pitchFamily="34" charset="-120"/>
              </a:rPr>
              <a:t>Shaded: Supported Range $455K–$480K. </a:t>
            </a:r>
            <a:pPr indent="0" marL="0">
              <a:buNone/>
            </a:pPr>
            <a:r>
              <a:rPr lang="en-US" sz="1200" dirty="0">
                <a:solidFill>
                  <a:srgbClr val="1A1A1A"/>
                </a:solidFill>
                <a:latin typeface="Arial" pitchFamily="34" charset="0"/>
                <a:ea typeface="Arial" pitchFamily="34" charset="-122"/>
                <a:cs typeface="Arial" pitchFamily="34" charset="-120"/>
              </a:rPr>
              <a:t>The two highest sold in the spring. The recent sales point to the middle of the range.</a:t>
            </a:r>
            <a:endParaRPr lang="en-US" sz="1200" dirty="0"/>
          </a:p>
        </p:txBody>
      </p:sp>
      <p:sp>
        <p:nvSpPr>
          <p:cNvPr id="40" name="Text 38"/>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41" name="Text 39"/>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Where Your Home Fits in the Neighborhood</a:t>
            </a:r>
            <a:endParaRPr lang="en-US" sz="2600" dirty="0"/>
          </a:p>
        </p:txBody>
      </p:sp>
      <p:graphicFrame>
        <p:nvGraphicFramePr>
          <p:cNvPr id="3" name="Chart 0" descr=""/>
          <p:cNvGraphicFramePr/>
          <p:nvPr/>
        </p:nvGraphicFramePr>
        <p:xfrm>
          <a:off x="457200" y="960120"/>
          <a:ext cx="5577840" cy="374904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6263640" y="1143000"/>
            <a:ext cx="2423160" cy="2514600"/>
          </a:xfrm>
          <a:prstGeom prst="roundRect">
            <a:avLst>
              <a:gd name="adj" fmla="val 3019"/>
            </a:avLst>
          </a:prstGeom>
          <a:solidFill>
            <a:srgbClr val="FBF2EE"/>
          </a:solidFill>
          <a:ln w="12700">
            <a:solidFill>
              <a:srgbClr val="FBF2EE"/>
            </a:solidFill>
            <a:prstDash val="solid"/>
          </a:ln>
        </p:spPr>
      </p:sp>
      <p:sp>
        <p:nvSpPr>
          <p:cNvPr id="5" name="Text 2"/>
          <p:cNvSpPr txBox="1"/>
          <p:nvPr/>
        </p:nvSpPr>
        <p:spPr>
          <a:xfrm>
            <a:off x="6446520" y="1325880"/>
            <a:ext cx="2103120" cy="1417320"/>
          </a:xfrm>
          <a:prstGeom prst="rect">
            <a:avLst/>
          </a:prstGeom>
          <a:noFill/>
          <a:ln/>
        </p:spPr>
        <p:txBody>
          <a:bodyPr wrap="square" lIns="0" tIns="0" rIns="0" bIns="0" rtlCol="0" anchor="t"/>
          <a:lstStyle/>
          <a:p>
            <a:pPr indent="0" marL="0">
              <a:buNone/>
            </a:pPr>
            <a:r>
              <a:rPr lang="en-US" sz="1300" dirty="0">
                <a:solidFill>
                  <a:srgbClr val="1A1A1A"/>
                </a:solidFill>
                <a:latin typeface="Arial" pitchFamily="34" charset="0"/>
                <a:ea typeface="Arial" pitchFamily="34" charset="-122"/>
                <a:cs typeface="Arial" pitchFamily="34" charset="-120"/>
              </a:rPr>
              <a:t>Renovated pool homes sell well above the neighborhood trend. At $469,900, yours sits among them without testing the ceiling.</a:t>
            </a:r>
            <a:endParaRPr lang="en-US" sz="1300" dirty="0"/>
          </a:p>
        </p:txBody>
      </p:sp>
      <p:sp>
        <p:nvSpPr>
          <p:cNvPr id="6" name="Text 3"/>
          <p:cNvSpPr txBox="1"/>
          <p:nvPr/>
        </p:nvSpPr>
        <p:spPr>
          <a:xfrm>
            <a:off x="6446520" y="2788920"/>
            <a:ext cx="2103120" cy="777240"/>
          </a:xfrm>
          <a:prstGeom prst="rect">
            <a:avLst/>
          </a:prstGeom>
          <a:noFill/>
          <a:ln/>
        </p:spPr>
        <p:txBody>
          <a:bodyPr wrap="square" lIns="0" tIns="0" rIns="0" bIns="0" rtlCol="0" anchor="t"/>
          <a:lstStyle/>
          <a:p>
            <a:pPr indent="0" marL="0">
              <a:buNone/>
            </a:pPr>
            <a:r>
              <a:rPr lang="en-US" sz="1100" dirty="0">
                <a:solidFill>
                  <a:srgbClr val="5A6672"/>
                </a:solidFill>
                <a:latin typeface="Arial" pitchFamily="34" charset="0"/>
                <a:ea typeface="Arial" pitchFamily="34" charset="-122"/>
                <a:cs typeface="Arial" pitchFamily="34" charset="-120"/>
              </a:rPr>
              <a:t>Size alone predicts about $443K at your size.</a:t>
            </a:r>
            <a:endParaRPr lang="en-US" sz="1100" dirty="0"/>
          </a:p>
        </p:txBody>
      </p:sp>
      <p:sp>
        <p:nvSpPr>
          <p:cNvPr id="7" name="Text 4"/>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8" name="Text 5"/>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The Market Shifted Since Spring</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A6672"/>
                </a:solidFill>
                <a:latin typeface="Arial" pitchFamily="34" charset="0"/>
                <a:ea typeface="Arial" pitchFamily="34" charset="-122"/>
                <a:cs typeface="Arial" pitchFamily="34" charset="-120"/>
              </a:rPr>
              <a:t>Nearby sales, April–June vs. July–mid-September</a:t>
            </a:r>
            <a:endParaRPr lang="en-US" sz="1300" dirty="0"/>
          </a:p>
        </p:txBody>
      </p:sp>
      <p:sp>
        <p:nvSpPr>
          <p:cNvPr id="4" name="Shape 2"/>
          <p:cNvSpPr/>
          <p:nvPr/>
        </p:nvSpPr>
        <p:spPr>
          <a:xfrm>
            <a:off x="457200" y="1417320"/>
            <a:ext cx="1874520" cy="2103120"/>
          </a:xfrm>
          <a:prstGeom prst="roundRect">
            <a:avLst>
              <a:gd name="adj" fmla="val 3902"/>
            </a:avLst>
          </a:prstGeom>
          <a:solidFill>
            <a:srgbClr val="FBF2EE"/>
          </a:solidFill>
          <a:ln w="12700">
            <a:solidFill>
              <a:srgbClr val="FBF2EE"/>
            </a:solidFill>
            <a:prstDash val="solid"/>
          </a:ln>
        </p:spPr>
      </p:sp>
      <p:sp>
        <p:nvSpPr>
          <p:cNvPr id="5" name="Shape 3"/>
          <p:cNvSpPr/>
          <p:nvPr/>
        </p:nvSpPr>
        <p:spPr>
          <a:xfrm>
            <a:off x="640080" y="1600200"/>
            <a:ext cx="411480" cy="411480"/>
          </a:xfrm>
          <a:prstGeom prst="ellipse">
            <a:avLst/>
          </a:prstGeom>
          <a:solidFill>
            <a:srgbClr val="C2410C"/>
          </a:solidFill>
          <a:ln w="12700">
            <a:solidFill>
              <a:srgbClr val="C2410C"/>
            </a:solidFill>
            <a:prstDash val="solid"/>
          </a:ln>
        </p:spPr>
      </p:sp>
      <p:pic>
        <p:nvPicPr>
          <p:cNvPr id="6" name="Image 0" descr="preencoded.png">    </p:cNvPr>
          <p:cNvPicPr>
            <a:picLocks noChangeAspect="1"/>
          </p:cNvPicPr>
          <p:nvPr/>
        </p:nvPicPr>
        <p:blipFill>
          <a:blip r:embed="rId1"/>
          <a:stretch>
            <a:fillRect/>
          </a:stretch>
        </p:blipFill>
        <p:spPr>
          <a:xfrm>
            <a:off x="738835" y="1698955"/>
            <a:ext cx="213970" cy="213970"/>
          </a:xfrm>
          <a:prstGeom prst="rect">
            <a:avLst/>
          </a:prstGeom>
        </p:spPr>
      </p:pic>
      <p:sp>
        <p:nvSpPr>
          <p:cNvPr id="7" name="Text 4"/>
          <p:cNvSpPr txBox="1"/>
          <p:nvPr/>
        </p:nvSpPr>
        <p:spPr>
          <a:xfrm>
            <a:off x="640080" y="2103120"/>
            <a:ext cx="1508760" cy="457200"/>
          </a:xfrm>
          <a:prstGeom prst="rect">
            <a:avLst/>
          </a:prstGeom>
          <a:noFill/>
          <a:ln/>
        </p:spPr>
        <p:txBody>
          <a:bodyPr wrap="square" lIns="0" tIns="0" rIns="0" bIns="0" rtlCol="0" anchor="t"/>
          <a:lstStyle/>
          <a:p>
            <a:pPr indent="0" marL="0">
              <a:buNone/>
            </a:pPr>
            <a:r>
              <a:rPr lang="en-US" sz="1200" dirty="0">
                <a:solidFill>
                  <a:srgbClr val="5A6672"/>
                </a:solidFill>
                <a:latin typeface="Arial" pitchFamily="34" charset="0"/>
                <a:ea typeface="Arial" pitchFamily="34" charset="-122"/>
                <a:cs typeface="Arial" pitchFamily="34" charset="-120"/>
              </a:rPr>
              <a:t>Sale vs. Original Price</a:t>
            </a:r>
            <a:endParaRPr lang="en-US" sz="1200" dirty="0"/>
          </a:p>
        </p:txBody>
      </p:sp>
      <p:sp>
        <p:nvSpPr>
          <p:cNvPr id="8" name="Text 5"/>
          <p:cNvSpPr txBox="1"/>
          <p:nvPr/>
        </p:nvSpPr>
        <p:spPr>
          <a:xfrm>
            <a:off x="640080" y="2606040"/>
            <a:ext cx="1508760" cy="274320"/>
          </a:xfrm>
          <a:prstGeom prst="rect">
            <a:avLst/>
          </a:prstGeom>
          <a:noFill/>
          <a:ln/>
        </p:spPr>
        <p:txBody>
          <a:bodyPr wrap="square" lIns="0" tIns="0" rIns="0" bIns="0" rtlCol="0" anchor="ctr"/>
          <a:lstStyle/>
          <a:p>
            <a:pPr indent="0" marL="0">
              <a:buNone/>
            </a:pPr>
            <a:r>
              <a:rPr lang="en-US" sz="1300" dirty="0">
                <a:solidFill>
                  <a:srgbClr val="5A6672"/>
                </a:solidFill>
                <a:latin typeface="Arial" pitchFamily="34" charset="0"/>
                <a:ea typeface="Arial" pitchFamily="34" charset="-122"/>
                <a:cs typeface="Arial" pitchFamily="34" charset="-120"/>
              </a:rPr>
              <a:t>100%</a:t>
            </a:r>
            <a:endParaRPr lang="en-US" sz="1300" dirty="0"/>
          </a:p>
        </p:txBody>
      </p:sp>
      <p:sp>
        <p:nvSpPr>
          <p:cNvPr id="9" name="Text 6"/>
          <p:cNvSpPr txBox="1"/>
          <p:nvPr/>
        </p:nvSpPr>
        <p:spPr>
          <a:xfrm>
            <a:off x="640080" y="2606040"/>
            <a:ext cx="1508760" cy="274320"/>
          </a:xfrm>
          <a:prstGeom prst="rect">
            <a:avLst/>
          </a:prstGeom>
          <a:noFill/>
          <a:ln/>
        </p:spPr>
        <p:txBody>
          <a:bodyPr wrap="square" lIns="0" tIns="0" rIns="0" bIns="0" rtlCol="0" anchor="ctr"/>
          <a:lstStyle/>
          <a:p>
            <a:pPr algn="r" indent="0" marL="0">
              <a:buNone/>
            </a:pPr>
            <a:r>
              <a:rPr lang="en-US" sz="900" dirty="0">
                <a:solidFill>
                  <a:srgbClr val="5A6672"/>
                </a:solidFill>
                <a:latin typeface="Arial" pitchFamily="34" charset="0"/>
                <a:ea typeface="Arial" pitchFamily="34" charset="-122"/>
                <a:cs typeface="Arial" pitchFamily="34" charset="-120"/>
              </a:rPr>
              <a:t>Spring</a:t>
            </a:r>
            <a:endParaRPr lang="en-US" sz="900" dirty="0"/>
          </a:p>
        </p:txBody>
      </p:sp>
      <p:sp>
        <p:nvSpPr>
          <p:cNvPr id="10" name="Text 7"/>
          <p:cNvSpPr txBox="1"/>
          <p:nvPr/>
        </p:nvSpPr>
        <p:spPr>
          <a:xfrm>
            <a:off x="640080" y="2898648"/>
            <a:ext cx="1508760" cy="457200"/>
          </a:xfrm>
          <a:prstGeom prst="rect">
            <a:avLst/>
          </a:prstGeom>
          <a:noFill/>
          <a:ln/>
        </p:spPr>
        <p:txBody>
          <a:bodyPr wrap="square" lIns="0" tIns="0" rIns="0" bIns="0" rtlCol="0" anchor="ctr"/>
          <a:lstStyle/>
          <a:p>
            <a:pPr indent="0" marL="0">
              <a:buNone/>
            </a:pPr>
            <a:r>
              <a:rPr lang="en-US" sz="2600" b="1" dirty="0">
                <a:solidFill>
                  <a:srgbClr val="C2410C"/>
                </a:solidFill>
                <a:latin typeface="Arial" pitchFamily="34" charset="0"/>
                <a:ea typeface="Arial" pitchFamily="34" charset="-122"/>
                <a:cs typeface="Arial" pitchFamily="34" charset="-120"/>
              </a:rPr>
              <a:t>95.2%</a:t>
            </a:r>
            <a:endParaRPr lang="en-US" sz="2600" dirty="0"/>
          </a:p>
        </p:txBody>
      </p:sp>
      <p:sp>
        <p:nvSpPr>
          <p:cNvPr id="11" name="Text 8"/>
          <p:cNvSpPr txBox="1"/>
          <p:nvPr/>
        </p:nvSpPr>
        <p:spPr>
          <a:xfrm>
            <a:off x="640080" y="3017520"/>
            <a:ext cx="1508760" cy="274320"/>
          </a:xfrm>
          <a:prstGeom prst="rect">
            <a:avLst/>
          </a:prstGeom>
          <a:noFill/>
          <a:ln/>
        </p:spPr>
        <p:txBody>
          <a:bodyPr wrap="square" lIns="0" tIns="0" rIns="0" bIns="0" rtlCol="0" anchor="ctr"/>
          <a:lstStyle/>
          <a:p>
            <a:pPr algn="r" indent="0" marL="0">
              <a:buNone/>
            </a:pPr>
            <a:r>
              <a:rPr lang="en-US" sz="900" dirty="0">
                <a:solidFill>
                  <a:srgbClr val="5A6672"/>
                </a:solidFill>
                <a:latin typeface="Arial" pitchFamily="34" charset="0"/>
                <a:ea typeface="Arial" pitchFamily="34" charset="-122"/>
                <a:cs typeface="Arial" pitchFamily="34" charset="-120"/>
              </a:rPr>
              <a:t>Now</a:t>
            </a:r>
            <a:endParaRPr lang="en-US" sz="900" dirty="0"/>
          </a:p>
        </p:txBody>
      </p:sp>
      <p:sp>
        <p:nvSpPr>
          <p:cNvPr id="12" name="Shape 9"/>
          <p:cNvSpPr/>
          <p:nvPr/>
        </p:nvSpPr>
        <p:spPr>
          <a:xfrm>
            <a:off x="2606040" y="1417320"/>
            <a:ext cx="1874520" cy="2103120"/>
          </a:xfrm>
          <a:prstGeom prst="roundRect">
            <a:avLst>
              <a:gd name="adj" fmla="val 3902"/>
            </a:avLst>
          </a:prstGeom>
          <a:solidFill>
            <a:srgbClr val="FBF2EE"/>
          </a:solidFill>
          <a:ln w="12700">
            <a:solidFill>
              <a:srgbClr val="FBF2EE"/>
            </a:solidFill>
            <a:prstDash val="solid"/>
          </a:ln>
        </p:spPr>
      </p:sp>
      <p:sp>
        <p:nvSpPr>
          <p:cNvPr id="13" name="Shape 10"/>
          <p:cNvSpPr/>
          <p:nvPr/>
        </p:nvSpPr>
        <p:spPr>
          <a:xfrm>
            <a:off x="2788920" y="1600200"/>
            <a:ext cx="411480" cy="411480"/>
          </a:xfrm>
          <a:prstGeom prst="ellipse">
            <a:avLst/>
          </a:prstGeom>
          <a:solidFill>
            <a:srgbClr val="C2410C"/>
          </a:solidFill>
          <a:ln w="12700">
            <a:solidFill>
              <a:srgbClr val="C2410C"/>
            </a:solidFill>
            <a:prstDash val="solid"/>
          </a:ln>
        </p:spPr>
      </p:sp>
      <p:pic>
        <p:nvPicPr>
          <p:cNvPr id="14" name="Image 1" descr="preencoded.png">    </p:cNvPr>
          <p:cNvPicPr>
            <a:picLocks noChangeAspect="1"/>
          </p:cNvPicPr>
          <p:nvPr/>
        </p:nvPicPr>
        <p:blipFill>
          <a:blip r:embed="rId2"/>
          <a:stretch>
            <a:fillRect/>
          </a:stretch>
        </p:blipFill>
        <p:spPr>
          <a:xfrm>
            <a:off x="2887675" y="1698955"/>
            <a:ext cx="213970" cy="213970"/>
          </a:xfrm>
          <a:prstGeom prst="rect">
            <a:avLst/>
          </a:prstGeom>
        </p:spPr>
      </p:pic>
      <p:sp>
        <p:nvSpPr>
          <p:cNvPr id="15" name="Text 11"/>
          <p:cNvSpPr txBox="1"/>
          <p:nvPr/>
        </p:nvSpPr>
        <p:spPr>
          <a:xfrm>
            <a:off x="2788920" y="2103120"/>
            <a:ext cx="1508760" cy="457200"/>
          </a:xfrm>
          <a:prstGeom prst="rect">
            <a:avLst/>
          </a:prstGeom>
          <a:noFill/>
          <a:ln/>
        </p:spPr>
        <p:txBody>
          <a:bodyPr wrap="square" lIns="0" tIns="0" rIns="0" bIns="0" rtlCol="0" anchor="t"/>
          <a:lstStyle/>
          <a:p>
            <a:pPr indent="0" marL="0">
              <a:buNone/>
            </a:pPr>
            <a:r>
              <a:rPr lang="en-US" sz="1200" dirty="0">
                <a:solidFill>
                  <a:srgbClr val="5A6672"/>
                </a:solidFill>
                <a:latin typeface="Arial" pitchFamily="34" charset="0"/>
                <a:ea typeface="Arial" pitchFamily="34" charset="-122"/>
                <a:cs typeface="Arial" pitchFamily="34" charset="-120"/>
              </a:rPr>
              <a:t>Days to Contract</a:t>
            </a:r>
            <a:endParaRPr lang="en-US" sz="1200" dirty="0"/>
          </a:p>
        </p:txBody>
      </p:sp>
      <p:sp>
        <p:nvSpPr>
          <p:cNvPr id="16" name="Text 12"/>
          <p:cNvSpPr txBox="1"/>
          <p:nvPr/>
        </p:nvSpPr>
        <p:spPr>
          <a:xfrm>
            <a:off x="2788920" y="2606040"/>
            <a:ext cx="1508760" cy="274320"/>
          </a:xfrm>
          <a:prstGeom prst="rect">
            <a:avLst/>
          </a:prstGeom>
          <a:noFill/>
          <a:ln/>
        </p:spPr>
        <p:txBody>
          <a:bodyPr wrap="square" lIns="0" tIns="0" rIns="0" bIns="0" rtlCol="0" anchor="ctr"/>
          <a:lstStyle/>
          <a:p>
            <a:pPr indent="0" marL="0">
              <a:buNone/>
            </a:pPr>
            <a:r>
              <a:rPr lang="en-US" sz="1300" dirty="0">
                <a:solidFill>
                  <a:srgbClr val="5A6672"/>
                </a:solidFill>
                <a:latin typeface="Arial" pitchFamily="34" charset="0"/>
                <a:ea typeface="Arial" pitchFamily="34" charset="-122"/>
                <a:cs typeface="Arial" pitchFamily="34" charset="-120"/>
              </a:rPr>
              <a:t>8</a:t>
            </a:r>
            <a:endParaRPr lang="en-US" sz="1300" dirty="0"/>
          </a:p>
        </p:txBody>
      </p:sp>
      <p:sp>
        <p:nvSpPr>
          <p:cNvPr id="17" name="Text 13"/>
          <p:cNvSpPr txBox="1"/>
          <p:nvPr/>
        </p:nvSpPr>
        <p:spPr>
          <a:xfrm>
            <a:off x="2788920" y="2606040"/>
            <a:ext cx="1508760" cy="274320"/>
          </a:xfrm>
          <a:prstGeom prst="rect">
            <a:avLst/>
          </a:prstGeom>
          <a:noFill/>
          <a:ln/>
        </p:spPr>
        <p:txBody>
          <a:bodyPr wrap="square" lIns="0" tIns="0" rIns="0" bIns="0" rtlCol="0" anchor="ctr"/>
          <a:lstStyle/>
          <a:p>
            <a:pPr algn="r" indent="0" marL="0">
              <a:buNone/>
            </a:pPr>
            <a:r>
              <a:rPr lang="en-US" sz="900" dirty="0">
                <a:solidFill>
                  <a:srgbClr val="5A6672"/>
                </a:solidFill>
                <a:latin typeface="Arial" pitchFamily="34" charset="0"/>
                <a:ea typeface="Arial" pitchFamily="34" charset="-122"/>
                <a:cs typeface="Arial" pitchFamily="34" charset="-120"/>
              </a:rPr>
              <a:t>Spring</a:t>
            </a:r>
            <a:endParaRPr lang="en-US" sz="900" dirty="0"/>
          </a:p>
        </p:txBody>
      </p:sp>
      <p:sp>
        <p:nvSpPr>
          <p:cNvPr id="18" name="Text 14"/>
          <p:cNvSpPr txBox="1"/>
          <p:nvPr/>
        </p:nvSpPr>
        <p:spPr>
          <a:xfrm>
            <a:off x="2788920" y="2898648"/>
            <a:ext cx="1508760" cy="457200"/>
          </a:xfrm>
          <a:prstGeom prst="rect">
            <a:avLst/>
          </a:prstGeom>
          <a:noFill/>
          <a:ln/>
        </p:spPr>
        <p:txBody>
          <a:bodyPr wrap="square" lIns="0" tIns="0" rIns="0" bIns="0" rtlCol="0" anchor="ctr"/>
          <a:lstStyle/>
          <a:p>
            <a:pPr indent="0" marL="0">
              <a:buNone/>
            </a:pPr>
            <a:r>
              <a:rPr lang="en-US" sz="2600" b="1" dirty="0">
                <a:solidFill>
                  <a:srgbClr val="C2410C"/>
                </a:solidFill>
                <a:latin typeface="Arial" pitchFamily="34" charset="0"/>
                <a:ea typeface="Arial" pitchFamily="34" charset="-122"/>
                <a:cs typeface="Arial" pitchFamily="34" charset="-120"/>
              </a:rPr>
              <a:t>22</a:t>
            </a:r>
            <a:endParaRPr lang="en-US" sz="2600" dirty="0"/>
          </a:p>
        </p:txBody>
      </p:sp>
      <p:sp>
        <p:nvSpPr>
          <p:cNvPr id="19" name="Text 15"/>
          <p:cNvSpPr txBox="1"/>
          <p:nvPr/>
        </p:nvSpPr>
        <p:spPr>
          <a:xfrm>
            <a:off x="2788920" y="3017520"/>
            <a:ext cx="1508760" cy="274320"/>
          </a:xfrm>
          <a:prstGeom prst="rect">
            <a:avLst/>
          </a:prstGeom>
          <a:noFill/>
          <a:ln/>
        </p:spPr>
        <p:txBody>
          <a:bodyPr wrap="square" lIns="0" tIns="0" rIns="0" bIns="0" rtlCol="0" anchor="ctr"/>
          <a:lstStyle/>
          <a:p>
            <a:pPr algn="r" indent="0" marL="0">
              <a:buNone/>
            </a:pPr>
            <a:r>
              <a:rPr lang="en-US" sz="900" dirty="0">
                <a:solidFill>
                  <a:srgbClr val="5A6672"/>
                </a:solidFill>
                <a:latin typeface="Arial" pitchFamily="34" charset="0"/>
                <a:ea typeface="Arial" pitchFamily="34" charset="-122"/>
                <a:cs typeface="Arial" pitchFamily="34" charset="-120"/>
              </a:rPr>
              <a:t>Now</a:t>
            </a:r>
            <a:endParaRPr lang="en-US" sz="900" dirty="0"/>
          </a:p>
        </p:txBody>
      </p:sp>
      <p:sp>
        <p:nvSpPr>
          <p:cNvPr id="20" name="Shape 16"/>
          <p:cNvSpPr/>
          <p:nvPr/>
        </p:nvSpPr>
        <p:spPr>
          <a:xfrm>
            <a:off x="4754880" y="1417320"/>
            <a:ext cx="1874520" cy="2103120"/>
          </a:xfrm>
          <a:prstGeom prst="roundRect">
            <a:avLst>
              <a:gd name="adj" fmla="val 3902"/>
            </a:avLst>
          </a:prstGeom>
          <a:solidFill>
            <a:srgbClr val="FBF2EE"/>
          </a:solidFill>
          <a:ln w="12700">
            <a:solidFill>
              <a:srgbClr val="FBF2EE"/>
            </a:solidFill>
            <a:prstDash val="solid"/>
          </a:ln>
        </p:spPr>
      </p:sp>
      <p:sp>
        <p:nvSpPr>
          <p:cNvPr id="21" name="Shape 17"/>
          <p:cNvSpPr/>
          <p:nvPr/>
        </p:nvSpPr>
        <p:spPr>
          <a:xfrm>
            <a:off x="4937760" y="1600200"/>
            <a:ext cx="411480" cy="411480"/>
          </a:xfrm>
          <a:prstGeom prst="ellipse">
            <a:avLst/>
          </a:prstGeom>
          <a:solidFill>
            <a:srgbClr val="C2410C"/>
          </a:solidFill>
          <a:ln w="12700">
            <a:solidFill>
              <a:srgbClr val="C2410C"/>
            </a:solidFill>
            <a:prstDash val="solid"/>
          </a:ln>
        </p:spPr>
      </p:sp>
      <p:pic>
        <p:nvPicPr>
          <p:cNvPr id="22" name="Image 2" descr="preencoded.png">    </p:cNvPr>
          <p:cNvPicPr>
            <a:picLocks noChangeAspect="1"/>
          </p:cNvPicPr>
          <p:nvPr/>
        </p:nvPicPr>
        <p:blipFill>
          <a:blip r:embed="rId3"/>
          <a:stretch>
            <a:fillRect/>
          </a:stretch>
        </p:blipFill>
        <p:spPr>
          <a:xfrm>
            <a:off x="5036515" y="1698955"/>
            <a:ext cx="213970" cy="213970"/>
          </a:xfrm>
          <a:prstGeom prst="rect">
            <a:avLst/>
          </a:prstGeom>
        </p:spPr>
      </p:pic>
      <p:sp>
        <p:nvSpPr>
          <p:cNvPr id="23" name="Text 18"/>
          <p:cNvSpPr txBox="1"/>
          <p:nvPr/>
        </p:nvSpPr>
        <p:spPr>
          <a:xfrm>
            <a:off x="4937760" y="2103120"/>
            <a:ext cx="1508760" cy="457200"/>
          </a:xfrm>
          <a:prstGeom prst="rect">
            <a:avLst/>
          </a:prstGeom>
          <a:noFill/>
          <a:ln/>
        </p:spPr>
        <p:txBody>
          <a:bodyPr wrap="square" lIns="0" tIns="0" rIns="0" bIns="0" rtlCol="0" anchor="t"/>
          <a:lstStyle/>
          <a:p>
            <a:pPr indent="0" marL="0">
              <a:buNone/>
            </a:pPr>
            <a:r>
              <a:rPr lang="en-US" sz="1200" dirty="0">
                <a:solidFill>
                  <a:srgbClr val="5A6672"/>
                </a:solidFill>
                <a:latin typeface="Arial" pitchFamily="34" charset="0"/>
                <a:ea typeface="Arial" pitchFamily="34" charset="-122"/>
                <a:cs typeface="Arial" pitchFamily="34" charset="-120"/>
              </a:rPr>
              <a:t>Sales with Seller Credits</a:t>
            </a:r>
            <a:endParaRPr lang="en-US" sz="1200" dirty="0"/>
          </a:p>
        </p:txBody>
      </p:sp>
      <p:sp>
        <p:nvSpPr>
          <p:cNvPr id="24" name="Text 19"/>
          <p:cNvSpPr txBox="1"/>
          <p:nvPr/>
        </p:nvSpPr>
        <p:spPr>
          <a:xfrm>
            <a:off x="4937760" y="2606040"/>
            <a:ext cx="1508760" cy="274320"/>
          </a:xfrm>
          <a:prstGeom prst="rect">
            <a:avLst/>
          </a:prstGeom>
          <a:noFill/>
          <a:ln/>
        </p:spPr>
        <p:txBody>
          <a:bodyPr wrap="square" lIns="0" tIns="0" rIns="0" bIns="0" rtlCol="0" anchor="ctr"/>
          <a:lstStyle/>
          <a:p>
            <a:pPr indent="0" marL="0">
              <a:buNone/>
            </a:pPr>
            <a:r>
              <a:rPr lang="en-US" sz="1300" dirty="0">
                <a:solidFill>
                  <a:srgbClr val="5A6672"/>
                </a:solidFill>
                <a:latin typeface="Arial" pitchFamily="34" charset="0"/>
                <a:ea typeface="Arial" pitchFamily="34" charset="-122"/>
                <a:cs typeface="Arial" pitchFamily="34" charset="-120"/>
              </a:rPr>
              <a:t>50%</a:t>
            </a:r>
            <a:endParaRPr lang="en-US" sz="1300" dirty="0"/>
          </a:p>
        </p:txBody>
      </p:sp>
      <p:sp>
        <p:nvSpPr>
          <p:cNvPr id="25" name="Text 20"/>
          <p:cNvSpPr txBox="1"/>
          <p:nvPr/>
        </p:nvSpPr>
        <p:spPr>
          <a:xfrm>
            <a:off x="4937760" y="2606040"/>
            <a:ext cx="1508760" cy="274320"/>
          </a:xfrm>
          <a:prstGeom prst="rect">
            <a:avLst/>
          </a:prstGeom>
          <a:noFill/>
          <a:ln/>
        </p:spPr>
        <p:txBody>
          <a:bodyPr wrap="square" lIns="0" tIns="0" rIns="0" bIns="0" rtlCol="0" anchor="ctr"/>
          <a:lstStyle/>
          <a:p>
            <a:pPr algn="r" indent="0" marL="0">
              <a:buNone/>
            </a:pPr>
            <a:r>
              <a:rPr lang="en-US" sz="900" dirty="0">
                <a:solidFill>
                  <a:srgbClr val="5A6672"/>
                </a:solidFill>
                <a:latin typeface="Arial" pitchFamily="34" charset="0"/>
                <a:ea typeface="Arial" pitchFamily="34" charset="-122"/>
                <a:cs typeface="Arial" pitchFamily="34" charset="-120"/>
              </a:rPr>
              <a:t>Spring</a:t>
            </a:r>
            <a:endParaRPr lang="en-US" sz="900" dirty="0"/>
          </a:p>
        </p:txBody>
      </p:sp>
      <p:sp>
        <p:nvSpPr>
          <p:cNvPr id="26" name="Text 21"/>
          <p:cNvSpPr txBox="1"/>
          <p:nvPr/>
        </p:nvSpPr>
        <p:spPr>
          <a:xfrm>
            <a:off x="4937760" y="2898648"/>
            <a:ext cx="1508760" cy="457200"/>
          </a:xfrm>
          <a:prstGeom prst="rect">
            <a:avLst/>
          </a:prstGeom>
          <a:noFill/>
          <a:ln/>
        </p:spPr>
        <p:txBody>
          <a:bodyPr wrap="square" lIns="0" tIns="0" rIns="0" bIns="0" rtlCol="0" anchor="ctr"/>
          <a:lstStyle/>
          <a:p>
            <a:pPr indent="0" marL="0">
              <a:buNone/>
            </a:pPr>
            <a:r>
              <a:rPr lang="en-US" sz="2600" b="1" dirty="0">
                <a:solidFill>
                  <a:srgbClr val="C2410C"/>
                </a:solidFill>
                <a:latin typeface="Arial" pitchFamily="34" charset="0"/>
                <a:ea typeface="Arial" pitchFamily="34" charset="-122"/>
                <a:cs typeface="Arial" pitchFamily="34" charset="-120"/>
              </a:rPr>
              <a:t>89%</a:t>
            </a:r>
            <a:endParaRPr lang="en-US" sz="2600" dirty="0"/>
          </a:p>
        </p:txBody>
      </p:sp>
      <p:sp>
        <p:nvSpPr>
          <p:cNvPr id="27" name="Text 22"/>
          <p:cNvSpPr txBox="1"/>
          <p:nvPr/>
        </p:nvSpPr>
        <p:spPr>
          <a:xfrm>
            <a:off x="4937760" y="3017520"/>
            <a:ext cx="1508760" cy="274320"/>
          </a:xfrm>
          <a:prstGeom prst="rect">
            <a:avLst/>
          </a:prstGeom>
          <a:noFill/>
          <a:ln/>
        </p:spPr>
        <p:txBody>
          <a:bodyPr wrap="square" lIns="0" tIns="0" rIns="0" bIns="0" rtlCol="0" anchor="ctr"/>
          <a:lstStyle/>
          <a:p>
            <a:pPr algn="r" indent="0" marL="0">
              <a:buNone/>
            </a:pPr>
            <a:r>
              <a:rPr lang="en-US" sz="900" dirty="0">
                <a:solidFill>
                  <a:srgbClr val="5A6672"/>
                </a:solidFill>
                <a:latin typeface="Arial" pitchFamily="34" charset="0"/>
                <a:ea typeface="Arial" pitchFamily="34" charset="-122"/>
                <a:cs typeface="Arial" pitchFamily="34" charset="-120"/>
              </a:rPr>
              <a:t>Now</a:t>
            </a:r>
            <a:endParaRPr lang="en-US" sz="900" dirty="0"/>
          </a:p>
        </p:txBody>
      </p:sp>
      <p:sp>
        <p:nvSpPr>
          <p:cNvPr id="28" name="Shape 23"/>
          <p:cNvSpPr/>
          <p:nvPr/>
        </p:nvSpPr>
        <p:spPr>
          <a:xfrm>
            <a:off x="6903720" y="1417320"/>
            <a:ext cx="1874520" cy="2103120"/>
          </a:xfrm>
          <a:prstGeom prst="roundRect">
            <a:avLst>
              <a:gd name="adj" fmla="val 3902"/>
            </a:avLst>
          </a:prstGeom>
          <a:solidFill>
            <a:srgbClr val="FBF2EE"/>
          </a:solidFill>
          <a:ln w="12700">
            <a:solidFill>
              <a:srgbClr val="FBF2EE"/>
            </a:solidFill>
            <a:prstDash val="solid"/>
          </a:ln>
        </p:spPr>
      </p:sp>
      <p:sp>
        <p:nvSpPr>
          <p:cNvPr id="29" name="Shape 24"/>
          <p:cNvSpPr/>
          <p:nvPr/>
        </p:nvSpPr>
        <p:spPr>
          <a:xfrm>
            <a:off x="7086600" y="1600200"/>
            <a:ext cx="411480" cy="411480"/>
          </a:xfrm>
          <a:prstGeom prst="ellipse">
            <a:avLst/>
          </a:prstGeom>
          <a:solidFill>
            <a:srgbClr val="C2410C"/>
          </a:solidFill>
          <a:ln w="12700">
            <a:solidFill>
              <a:srgbClr val="C2410C"/>
            </a:solidFill>
            <a:prstDash val="solid"/>
          </a:ln>
        </p:spPr>
      </p:sp>
      <p:pic>
        <p:nvPicPr>
          <p:cNvPr id="30" name="Image 3" descr="preencoded.png">    </p:cNvPr>
          <p:cNvPicPr>
            <a:picLocks noChangeAspect="1"/>
          </p:cNvPicPr>
          <p:nvPr/>
        </p:nvPicPr>
        <p:blipFill>
          <a:blip r:embed="rId4"/>
          <a:stretch>
            <a:fillRect/>
          </a:stretch>
        </p:blipFill>
        <p:spPr>
          <a:xfrm>
            <a:off x="7185355" y="1698955"/>
            <a:ext cx="213970" cy="213970"/>
          </a:xfrm>
          <a:prstGeom prst="rect">
            <a:avLst/>
          </a:prstGeom>
        </p:spPr>
      </p:pic>
      <p:sp>
        <p:nvSpPr>
          <p:cNvPr id="31" name="Text 25"/>
          <p:cNvSpPr txBox="1"/>
          <p:nvPr/>
        </p:nvSpPr>
        <p:spPr>
          <a:xfrm>
            <a:off x="7086600" y="2103120"/>
            <a:ext cx="1508760" cy="457200"/>
          </a:xfrm>
          <a:prstGeom prst="rect">
            <a:avLst/>
          </a:prstGeom>
          <a:noFill/>
          <a:ln/>
        </p:spPr>
        <p:txBody>
          <a:bodyPr wrap="square" lIns="0" tIns="0" rIns="0" bIns="0" rtlCol="0" anchor="t"/>
          <a:lstStyle/>
          <a:p>
            <a:pPr indent="0" marL="0">
              <a:buNone/>
            </a:pPr>
            <a:r>
              <a:rPr lang="en-US" sz="1200" dirty="0">
                <a:solidFill>
                  <a:srgbClr val="5A6672"/>
                </a:solidFill>
                <a:latin typeface="Arial" pitchFamily="34" charset="0"/>
                <a:ea typeface="Arial" pitchFamily="34" charset="-122"/>
                <a:cs typeface="Arial" pitchFamily="34" charset="-120"/>
              </a:rPr>
              <a:t>30-Year Mortgage Rate</a:t>
            </a:r>
            <a:endParaRPr lang="en-US" sz="1200" dirty="0"/>
          </a:p>
        </p:txBody>
      </p:sp>
      <p:sp>
        <p:nvSpPr>
          <p:cNvPr id="32" name="Text 26"/>
          <p:cNvSpPr txBox="1"/>
          <p:nvPr/>
        </p:nvSpPr>
        <p:spPr>
          <a:xfrm>
            <a:off x="7086600" y="2606040"/>
            <a:ext cx="1508760" cy="274320"/>
          </a:xfrm>
          <a:prstGeom prst="rect">
            <a:avLst/>
          </a:prstGeom>
          <a:noFill/>
          <a:ln/>
        </p:spPr>
        <p:txBody>
          <a:bodyPr wrap="square" lIns="0" tIns="0" rIns="0" bIns="0" rtlCol="0" anchor="ctr"/>
          <a:lstStyle/>
          <a:p>
            <a:pPr indent="0" marL="0">
              <a:buNone/>
            </a:pPr>
            <a:r>
              <a:rPr lang="en-US" sz="1300" dirty="0">
                <a:solidFill>
                  <a:srgbClr val="5A6672"/>
                </a:solidFill>
                <a:latin typeface="Arial" pitchFamily="34" charset="0"/>
                <a:ea typeface="Arial" pitchFamily="34" charset="-122"/>
                <a:cs typeface="Arial" pitchFamily="34" charset="-120"/>
              </a:rPr>
              <a:t>~6.3%</a:t>
            </a:r>
            <a:endParaRPr lang="en-US" sz="1300" dirty="0"/>
          </a:p>
        </p:txBody>
      </p:sp>
      <p:sp>
        <p:nvSpPr>
          <p:cNvPr id="33" name="Text 27"/>
          <p:cNvSpPr txBox="1"/>
          <p:nvPr/>
        </p:nvSpPr>
        <p:spPr>
          <a:xfrm>
            <a:off x="7086600" y="2606040"/>
            <a:ext cx="1508760" cy="274320"/>
          </a:xfrm>
          <a:prstGeom prst="rect">
            <a:avLst/>
          </a:prstGeom>
          <a:noFill/>
          <a:ln/>
        </p:spPr>
        <p:txBody>
          <a:bodyPr wrap="square" lIns="0" tIns="0" rIns="0" bIns="0" rtlCol="0" anchor="ctr"/>
          <a:lstStyle/>
          <a:p>
            <a:pPr algn="r" indent="0" marL="0">
              <a:buNone/>
            </a:pPr>
            <a:r>
              <a:rPr lang="en-US" sz="900" dirty="0">
                <a:solidFill>
                  <a:srgbClr val="5A6672"/>
                </a:solidFill>
                <a:latin typeface="Arial" pitchFamily="34" charset="0"/>
                <a:ea typeface="Arial" pitchFamily="34" charset="-122"/>
                <a:cs typeface="Arial" pitchFamily="34" charset="-120"/>
              </a:rPr>
              <a:t>Spring</a:t>
            </a:r>
            <a:endParaRPr lang="en-US" sz="900" dirty="0"/>
          </a:p>
        </p:txBody>
      </p:sp>
      <p:sp>
        <p:nvSpPr>
          <p:cNvPr id="34" name="Text 28"/>
          <p:cNvSpPr txBox="1"/>
          <p:nvPr/>
        </p:nvSpPr>
        <p:spPr>
          <a:xfrm>
            <a:off x="7086600" y="2898648"/>
            <a:ext cx="1508760" cy="457200"/>
          </a:xfrm>
          <a:prstGeom prst="rect">
            <a:avLst/>
          </a:prstGeom>
          <a:noFill/>
          <a:ln/>
        </p:spPr>
        <p:txBody>
          <a:bodyPr wrap="square" lIns="0" tIns="0" rIns="0" bIns="0" rtlCol="0" anchor="ctr"/>
          <a:lstStyle/>
          <a:p>
            <a:pPr indent="0" marL="0">
              <a:buNone/>
            </a:pPr>
            <a:r>
              <a:rPr lang="en-US" sz="2600" b="1" dirty="0">
                <a:solidFill>
                  <a:srgbClr val="C2410C"/>
                </a:solidFill>
                <a:latin typeface="Arial" pitchFamily="34" charset="0"/>
                <a:ea typeface="Arial" pitchFamily="34" charset="-122"/>
                <a:cs typeface="Arial" pitchFamily="34" charset="-120"/>
              </a:rPr>
              <a:t>6.95%</a:t>
            </a:r>
            <a:endParaRPr lang="en-US" sz="2600" dirty="0"/>
          </a:p>
        </p:txBody>
      </p:sp>
      <p:sp>
        <p:nvSpPr>
          <p:cNvPr id="35" name="Text 29"/>
          <p:cNvSpPr txBox="1"/>
          <p:nvPr/>
        </p:nvSpPr>
        <p:spPr>
          <a:xfrm>
            <a:off x="7086600" y="3017520"/>
            <a:ext cx="1508760" cy="274320"/>
          </a:xfrm>
          <a:prstGeom prst="rect">
            <a:avLst/>
          </a:prstGeom>
          <a:noFill/>
          <a:ln/>
        </p:spPr>
        <p:txBody>
          <a:bodyPr wrap="square" lIns="0" tIns="0" rIns="0" bIns="0" rtlCol="0" anchor="ctr"/>
          <a:lstStyle/>
          <a:p>
            <a:pPr algn="r" indent="0" marL="0">
              <a:buNone/>
            </a:pPr>
            <a:r>
              <a:rPr lang="en-US" sz="900" dirty="0">
                <a:solidFill>
                  <a:srgbClr val="5A6672"/>
                </a:solidFill>
                <a:latin typeface="Arial" pitchFamily="34" charset="0"/>
                <a:ea typeface="Arial" pitchFamily="34" charset="-122"/>
                <a:cs typeface="Arial" pitchFamily="34" charset="-120"/>
              </a:rPr>
              <a:t>Now</a:t>
            </a:r>
            <a:endParaRPr lang="en-US" sz="900" dirty="0"/>
          </a:p>
        </p:txBody>
      </p:sp>
      <p:sp>
        <p:nvSpPr>
          <p:cNvPr id="36" name="Text 30"/>
          <p:cNvSpPr txBox="1"/>
          <p:nvPr/>
        </p:nvSpPr>
        <p:spPr>
          <a:xfrm>
            <a:off x="457200" y="3840480"/>
            <a:ext cx="8229600" cy="457200"/>
          </a:xfrm>
          <a:prstGeom prst="rect">
            <a:avLst/>
          </a:prstGeom>
          <a:noFill/>
          <a:ln/>
        </p:spPr>
        <p:txBody>
          <a:bodyPr wrap="square" lIns="0" tIns="0" rIns="0" bIns="0" rtlCol="0" anchor="ctr"/>
          <a:lstStyle/>
          <a:p>
            <a:pPr indent="0" marL="0">
              <a:buNone/>
            </a:pPr>
            <a:r>
              <a:rPr lang="en-US" sz="1400" b="1" dirty="0">
                <a:solidFill>
                  <a:srgbClr val="1A1A1A"/>
                </a:solidFill>
                <a:latin typeface="Arial" pitchFamily="34" charset="0"/>
                <a:ea typeface="Arial" pitchFamily="34" charset="-122"/>
                <a:cs typeface="Arial" pitchFamily="34" charset="-120"/>
              </a:rPr>
              <a:t>Buyers are negotiating again. Price for the market we have now, not the one from April.</a:t>
            </a:r>
            <a:endParaRPr lang="en-US" sz="1400" dirty="0"/>
          </a:p>
        </p:txBody>
      </p:sp>
      <p:sp>
        <p:nvSpPr>
          <p:cNvPr id="37" name="Text 31"/>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38" name="Text 32"/>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Your Competition</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A6672"/>
                </a:solidFill>
                <a:latin typeface="Arial" pitchFamily="34" charset="0"/>
                <a:ea typeface="Arial" pitchFamily="34" charset="-122"/>
                <a:cs typeface="Arial" pitchFamily="34" charset="-120"/>
              </a:rPr>
              <a:t>The homes buyers will tour alongside yours</a:t>
            </a:r>
            <a:endParaRPr lang="en-US" sz="1300" dirty="0"/>
          </a:p>
        </p:txBody>
      </p:sp>
      <p:sp>
        <p:nvSpPr>
          <p:cNvPr id="4" name="Shape 2"/>
          <p:cNvSpPr/>
          <p:nvPr/>
        </p:nvSpPr>
        <p:spPr>
          <a:xfrm>
            <a:off x="457200" y="1371600"/>
            <a:ext cx="2560320" cy="2331720"/>
          </a:xfrm>
          <a:prstGeom prst="roundRect">
            <a:avLst>
              <a:gd name="adj" fmla="val 3137"/>
            </a:avLst>
          </a:prstGeom>
          <a:solidFill>
            <a:srgbClr val="FFFFFF"/>
          </a:solidFill>
          <a:ln w="12700">
            <a:solidFill>
              <a:srgbClr val="F8E8E2"/>
            </a:solidFill>
            <a:prstDash val="solid"/>
          </a:ln>
          <a:effectLst>
            <a:outerShdw sx="100000" sy="100000" kx="0" ky="0" algn="bl" rotWithShape="0" blurRad="76200" dist="25400" dir="5400000">
              <a:srgbClr val="1A1A1A">
                <a:alpha val="12000"/>
              </a:srgbClr>
            </a:outerShdw>
          </a:effectLst>
        </p:spPr>
      </p:sp>
      <p:sp>
        <p:nvSpPr>
          <p:cNvPr id="5" name="Text 3"/>
          <p:cNvSpPr txBox="1"/>
          <p:nvPr/>
        </p:nvSpPr>
        <p:spPr>
          <a:xfrm>
            <a:off x="658368" y="1554480"/>
            <a:ext cx="2157984" cy="274320"/>
          </a:xfrm>
          <a:prstGeom prst="rect">
            <a:avLst/>
          </a:prstGeom>
          <a:noFill/>
          <a:ln/>
        </p:spPr>
        <p:txBody>
          <a:bodyPr wrap="square" lIns="0" tIns="0" rIns="0" bIns="0" rtlCol="0" anchor="ctr"/>
          <a:lstStyle/>
          <a:p>
            <a:pPr indent="0" marL="0">
              <a:buNone/>
            </a:pPr>
            <a:r>
              <a:rPr lang="en-US" sz="1400" b="1" dirty="0">
                <a:solidFill>
                  <a:srgbClr val="1A1A1A"/>
                </a:solidFill>
                <a:latin typeface="Arial" pitchFamily="34" charset="0"/>
                <a:ea typeface="Arial" pitchFamily="34" charset="-122"/>
                <a:cs typeface="Arial" pitchFamily="34" charset="-120"/>
              </a:rPr>
              <a:t>644 Quillwood Dr</a:t>
            </a:r>
            <a:endParaRPr lang="en-US" sz="1400" dirty="0"/>
          </a:p>
        </p:txBody>
      </p:sp>
      <p:sp>
        <p:nvSpPr>
          <p:cNvPr id="6" name="Text 4"/>
          <p:cNvSpPr txBox="1"/>
          <p:nvPr/>
        </p:nvSpPr>
        <p:spPr>
          <a:xfrm>
            <a:off x="658368" y="1847088"/>
            <a:ext cx="2157984" cy="457200"/>
          </a:xfrm>
          <a:prstGeom prst="rect">
            <a:avLst/>
          </a:prstGeom>
          <a:noFill/>
          <a:ln/>
        </p:spPr>
        <p:txBody>
          <a:bodyPr wrap="square" lIns="0" tIns="0" rIns="0" bIns="0" rtlCol="0" anchor="ctr"/>
          <a:lstStyle/>
          <a:p>
            <a:pPr indent="0" marL="0">
              <a:buNone/>
            </a:pPr>
            <a:r>
              <a:rPr lang="en-US" sz="2600" b="1" dirty="0">
                <a:solidFill>
                  <a:srgbClr val="C2410C"/>
                </a:solidFill>
                <a:latin typeface="Arial" pitchFamily="34" charset="0"/>
                <a:ea typeface="Arial" pitchFamily="34" charset="-122"/>
                <a:cs typeface="Arial" pitchFamily="34" charset="-120"/>
              </a:rPr>
              <a:t>$400,000</a:t>
            </a:r>
            <a:endParaRPr lang="en-US" sz="2600" dirty="0"/>
          </a:p>
        </p:txBody>
      </p:sp>
      <p:sp>
        <p:nvSpPr>
          <p:cNvPr id="7" name="Text 5"/>
          <p:cNvSpPr txBox="1"/>
          <p:nvPr/>
        </p:nvSpPr>
        <p:spPr>
          <a:xfrm>
            <a:off x="658368" y="2331720"/>
            <a:ext cx="2157984" cy="256032"/>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For sale · 91 days</a:t>
            </a:r>
            <a:endParaRPr lang="en-US" sz="1100" dirty="0"/>
          </a:p>
        </p:txBody>
      </p:sp>
      <p:sp>
        <p:nvSpPr>
          <p:cNvPr id="8" name="Text 6"/>
          <p:cNvSpPr txBox="1"/>
          <p:nvPr/>
        </p:nvSpPr>
        <p:spPr>
          <a:xfrm>
            <a:off x="658368" y="2651760"/>
            <a:ext cx="2157984" cy="914400"/>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Renovated, same size, no pool. The value alternative buyers will tour.</a:t>
            </a:r>
            <a:endParaRPr lang="en-US" sz="1200" dirty="0"/>
          </a:p>
        </p:txBody>
      </p:sp>
      <p:sp>
        <p:nvSpPr>
          <p:cNvPr id="9" name="Shape 7"/>
          <p:cNvSpPr/>
          <p:nvPr/>
        </p:nvSpPr>
        <p:spPr>
          <a:xfrm>
            <a:off x="3291840" y="1371600"/>
            <a:ext cx="2560320" cy="2331720"/>
          </a:xfrm>
          <a:prstGeom prst="roundRect">
            <a:avLst>
              <a:gd name="adj" fmla="val 3137"/>
            </a:avLst>
          </a:prstGeom>
          <a:solidFill>
            <a:srgbClr val="FFFFFF"/>
          </a:solidFill>
          <a:ln w="12700">
            <a:solidFill>
              <a:srgbClr val="F8E8E2"/>
            </a:solidFill>
            <a:prstDash val="solid"/>
          </a:ln>
          <a:effectLst>
            <a:outerShdw sx="100000" sy="100000" kx="0" ky="0" algn="bl" rotWithShape="0" blurRad="76200" dist="25400" dir="5400000">
              <a:srgbClr val="1A1A1A">
                <a:alpha val="12000"/>
              </a:srgbClr>
            </a:outerShdw>
          </a:effectLst>
        </p:spPr>
      </p:sp>
      <p:sp>
        <p:nvSpPr>
          <p:cNvPr id="10" name="Text 8"/>
          <p:cNvSpPr txBox="1"/>
          <p:nvPr/>
        </p:nvSpPr>
        <p:spPr>
          <a:xfrm>
            <a:off x="3493008" y="1554480"/>
            <a:ext cx="2157984" cy="274320"/>
          </a:xfrm>
          <a:prstGeom prst="rect">
            <a:avLst/>
          </a:prstGeom>
          <a:noFill/>
          <a:ln/>
        </p:spPr>
        <p:txBody>
          <a:bodyPr wrap="square" lIns="0" tIns="0" rIns="0" bIns="0" rtlCol="0" anchor="ctr"/>
          <a:lstStyle/>
          <a:p>
            <a:pPr indent="0" marL="0">
              <a:buNone/>
            </a:pPr>
            <a:r>
              <a:rPr lang="en-US" sz="1400" b="1" dirty="0">
                <a:solidFill>
                  <a:srgbClr val="1A1A1A"/>
                </a:solidFill>
                <a:latin typeface="Arial" pitchFamily="34" charset="0"/>
                <a:ea typeface="Arial" pitchFamily="34" charset="-122"/>
                <a:cs typeface="Arial" pitchFamily="34" charset="-120"/>
              </a:rPr>
              <a:t>412 Calloway Ave</a:t>
            </a:r>
            <a:endParaRPr lang="en-US" sz="1400" dirty="0"/>
          </a:p>
        </p:txBody>
      </p:sp>
      <p:sp>
        <p:nvSpPr>
          <p:cNvPr id="11" name="Text 9"/>
          <p:cNvSpPr txBox="1"/>
          <p:nvPr/>
        </p:nvSpPr>
        <p:spPr>
          <a:xfrm>
            <a:off x="3493008" y="1847088"/>
            <a:ext cx="2157984" cy="457200"/>
          </a:xfrm>
          <a:prstGeom prst="rect">
            <a:avLst/>
          </a:prstGeom>
          <a:noFill/>
          <a:ln/>
        </p:spPr>
        <p:txBody>
          <a:bodyPr wrap="square" lIns="0" tIns="0" rIns="0" bIns="0" rtlCol="0" anchor="ctr"/>
          <a:lstStyle/>
          <a:p>
            <a:pPr indent="0" marL="0">
              <a:buNone/>
            </a:pPr>
            <a:r>
              <a:rPr lang="en-US" sz="2600" b="1" dirty="0">
                <a:solidFill>
                  <a:srgbClr val="C2410C"/>
                </a:solidFill>
                <a:latin typeface="Arial" pitchFamily="34" charset="0"/>
                <a:ea typeface="Arial" pitchFamily="34" charset="-122"/>
                <a:cs typeface="Arial" pitchFamily="34" charset="-120"/>
              </a:rPr>
              <a:t>$454,900</a:t>
            </a:r>
            <a:endParaRPr lang="en-US" sz="2600" dirty="0"/>
          </a:p>
        </p:txBody>
      </p:sp>
      <p:sp>
        <p:nvSpPr>
          <p:cNvPr id="12" name="Text 10"/>
          <p:cNvSpPr txBox="1"/>
          <p:nvPr/>
        </p:nvSpPr>
        <p:spPr>
          <a:xfrm>
            <a:off x="3493008" y="2331720"/>
            <a:ext cx="2157984" cy="256032"/>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Under contract in 9 days</a:t>
            </a:r>
            <a:endParaRPr lang="en-US" sz="1100" dirty="0"/>
          </a:p>
        </p:txBody>
      </p:sp>
      <p:sp>
        <p:nvSpPr>
          <p:cNvPr id="13" name="Text 11"/>
          <p:cNvSpPr txBox="1"/>
          <p:nvPr/>
        </p:nvSpPr>
        <p:spPr>
          <a:xfrm>
            <a:off x="3493008" y="2651760"/>
            <a:ext cx="2157984" cy="914400"/>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Renovated pool home. Priced right, it sold fast.</a:t>
            </a:r>
            <a:endParaRPr lang="en-US" sz="1200" dirty="0"/>
          </a:p>
        </p:txBody>
      </p:sp>
      <p:sp>
        <p:nvSpPr>
          <p:cNvPr id="14" name="Shape 12"/>
          <p:cNvSpPr/>
          <p:nvPr/>
        </p:nvSpPr>
        <p:spPr>
          <a:xfrm>
            <a:off x="6126480" y="1371600"/>
            <a:ext cx="2560320" cy="2331720"/>
          </a:xfrm>
          <a:prstGeom prst="roundRect">
            <a:avLst>
              <a:gd name="adj" fmla="val 3137"/>
            </a:avLst>
          </a:prstGeom>
          <a:solidFill>
            <a:srgbClr val="FFFFFF"/>
          </a:solidFill>
          <a:ln w="12700">
            <a:solidFill>
              <a:srgbClr val="F8E8E2"/>
            </a:solidFill>
            <a:prstDash val="solid"/>
          </a:ln>
          <a:effectLst>
            <a:outerShdw sx="100000" sy="100000" kx="0" ky="0" algn="bl" rotWithShape="0" blurRad="76200" dist="25400" dir="5400000">
              <a:srgbClr val="1A1A1A">
                <a:alpha val="12000"/>
              </a:srgbClr>
            </a:outerShdw>
          </a:effectLst>
        </p:spPr>
      </p:sp>
      <p:sp>
        <p:nvSpPr>
          <p:cNvPr id="15" name="Text 13"/>
          <p:cNvSpPr txBox="1"/>
          <p:nvPr/>
        </p:nvSpPr>
        <p:spPr>
          <a:xfrm>
            <a:off x="6327648" y="1554480"/>
            <a:ext cx="2157984" cy="274320"/>
          </a:xfrm>
          <a:prstGeom prst="rect">
            <a:avLst/>
          </a:prstGeom>
          <a:noFill/>
          <a:ln/>
        </p:spPr>
        <p:txBody>
          <a:bodyPr wrap="square" lIns="0" tIns="0" rIns="0" bIns="0" rtlCol="0" anchor="ctr"/>
          <a:lstStyle/>
          <a:p>
            <a:pPr indent="0" marL="0">
              <a:buNone/>
            </a:pPr>
            <a:r>
              <a:rPr lang="en-US" sz="1400" b="1" dirty="0">
                <a:solidFill>
                  <a:srgbClr val="1A1A1A"/>
                </a:solidFill>
                <a:latin typeface="Arial" pitchFamily="34" charset="0"/>
                <a:ea typeface="Arial" pitchFamily="34" charset="-122"/>
                <a:cs typeface="Arial" pitchFamily="34" charset="-120"/>
              </a:rPr>
              <a:t>394 Tansy Ln</a:t>
            </a:r>
            <a:endParaRPr lang="en-US" sz="1400" dirty="0"/>
          </a:p>
        </p:txBody>
      </p:sp>
      <p:sp>
        <p:nvSpPr>
          <p:cNvPr id="16" name="Text 14"/>
          <p:cNvSpPr txBox="1"/>
          <p:nvPr/>
        </p:nvSpPr>
        <p:spPr>
          <a:xfrm>
            <a:off x="6327648" y="1847088"/>
            <a:ext cx="2157984" cy="457200"/>
          </a:xfrm>
          <a:prstGeom prst="rect">
            <a:avLst/>
          </a:prstGeom>
          <a:noFill/>
          <a:ln/>
        </p:spPr>
        <p:txBody>
          <a:bodyPr wrap="square" lIns="0" tIns="0" rIns="0" bIns="0" rtlCol="0" anchor="ctr"/>
          <a:lstStyle/>
          <a:p>
            <a:pPr indent="0" marL="0">
              <a:buNone/>
            </a:pPr>
            <a:r>
              <a:rPr lang="en-US" sz="2600" b="1" dirty="0">
                <a:solidFill>
                  <a:srgbClr val="C2410C"/>
                </a:solidFill>
                <a:latin typeface="Arial" pitchFamily="34" charset="0"/>
                <a:ea typeface="Arial" pitchFamily="34" charset="-122"/>
                <a:cs typeface="Arial" pitchFamily="34" charset="-120"/>
              </a:rPr>
              <a:t>$565,000</a:t>
            </a:r>
            <a:endParaRPr lang="en-US" sz="2600" dirty="0"/>
          </a:p>
        </p:txBody>
      </p:sp>
      <p:sp>
        <p:nvSpPr>
          <p:cNvPr id="17" name="Text 15"/>
          <p:cNvSpPr txBox="1"/>
          <p:nvPr/>
        </p:nvSpPr>
        <p:spPr>
          <a:xfrm>
            <a:off x="6327648" y="2331720"/>
            <a:ext cx="2157984" cy="256032"/>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For sale · 57 days</a:t>
            </a:r>
            <a:endParaRPr lang="en-US" sz="1100" dirty="0"/>
          </a:p>
        </p:txBody>
      </p:sp>
      <p:sp>
        <p:nvSpPr>
          <p:cNvPr id="18" name="Text 16"/>
          <p:cNvSpPr txBox="1"/>
          <p:nvPr/>
        </p:nvSpPr>
        <p:spPr>
          <a:xfrm>
            <a:off x="6327648" y="2651760"/>
            <a:ext cx="2157984" cy="914400"/>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Updated pool home. Priced above the market, and sitting.</a:t>
            </a:r>
            <a:endParaRPr lang="en-US" sz="1200" dirty="0"/>
          </a:p>
        </p:txBody>
      </p:sp>
      <p:sp>
        <p:nvSpPr>
          <p:cNvPr id="19" name="Text 17"/>
          <p:cNvSpPr txBox="1"/>
          <p:nvPr/>
        </p:nvSpPr>
        <p:spPr>
          <a:xfrm>
            <a:off x="457200" y="3977640"/>
            <a:ext cx="8229600" cy="365760"/>
          </a:xfrm>
          <a:prstGeom prst="rect">
            <a:avLst/>
          </a:prstGeom>
          <a:noFill/>
          <a:ln/>
        </p:spPr>
        <p:txBody>
          <a:bodyPr wrap="square" lIns="0" tIns="0" rIns="0" bIns="0" rtlCol="0" anchor="ctr"/>
          <a:lstStyle/>
          <a:p>
            <a:pPr indent="0" marL="0">
              <a:buNone/>
            </a:pPr>
            <a:r>
              <a:rPr lang="en-US" sz="1400" b="1" dirty="0">
                <a:solidFill>
                  <a:srgbClr val="1A1A1A"/>
                </a:solidFill>
                <a:latin typeface="Arial" pitchFamily="34" charset="0"/>
                <a:ea typeface="Arial" pitchFamily="34" charset="-122"/>
                <a:cs typeface="Arial" pitchFamily="34" charset="-120"/>
              </a:rPr>
              <a:t>Well-priced renovated pool homes are moving. Overpriced ones sit.</a:t>
            </a:r>
            <a:endParaRPr lang="en-US" sz="1400" dirty="0"/>
          </a:p>
        </p:txBody>
      </p:sp>
      <p:sp>
        <p:nvSpPr>
          <p:cNvPr id="20" name="Text 18"/>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21" name="Text 19"/>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Three Ways to Price It</a:t>
            </a:r>
            <a:endParaRPr lang="en-US" sz="2600" dirty="0"/>
          </a:p>
        </p:txBody>
      </p:sp>
      <p:sp>
        <p:nvSpPr>
          <p:cNvPr id="3" name="Shape 1"/>
          <p:cNvSpPr/>
          <p:nvPr/>
        </p:nvSpPr>
        <p:spPr>
          <a:xfrm>
            <a:off x="457200" y="1051560"/>
            <a:ext cx="2560320" cy="2971800"/>
          </a:xfrm>
          <a:prstGeom prst="roundRect">
            <a:avLst>
              <a:gd name="adj" fmla="val 2857"/>
            </a:avLst>
          </a:prstGeom>
          <a:solidFill>
            <a:srgbClr val="FBF2EE"/>
          </a:solidFill>
          <a:ln w="12700">
            <a:solidFill>
              <a:srgbClr val="FBF2EE"/>
            </a:solidFill>
            <a:prstDash val="solid"/>
          </a:ln>
        </p:spPr>
      </p:sp>
      <p:sp>
        <p:nvSpPr>
          <p:cNvPr id="4" name="Text 2"/>
          <p:cNvSpPr txBox="1"/>
          <p:nvPr/>
        </p:nvSpPr>
        <p:spPr>
          <a:xfrm>
            <a:off x="658368" y="1435608"/>
            <a:ext cx="2157984" cy="548640"/>
          </a:xfrm>
          <a:prstGeom prst="rect">
            <a:avLst/>
          </a:prstGeom>
          <a:noFill/>
          <a:ln/>
        </p:spPr>
        <p:txBody>
          <a:bodyPr wrap="square" lIns="0" tIns="0" rIns="0" bIns="0" rtlCol="0" anchor="ctr"/>
          <a:lstStyle/>
          <a:p>
            <a:pPr indent="0" marL="0">
              <a:buNone/>
            </a:pPr>
            <a:r>
              <a:rPr lang="en-US" sz="3000" b="1" dirty="0">
                <a:solidFill>
                  <a:srgbClr val="C2410C"/>
                </a:solidFill>
                <a:latin typeface="Arial" pitchFamily="34" charset="0"/>
                <a:ea typeface="Arial" pitchFamily="34" charset="-122"/>
                <a:cs typeface="Arial" pitchFamily="34" charset="-120"/>
              </a:rPr>
              <a:t>$479,900</a:t>
            </a:r>
            <a:endParaRPr lang="en-US" sz="3000" dirty="0"/>
          </a:p>
        </p:txBody>
      </p:sp>
      <p:sp>
        <p:nvSpPr>
          <p:cNvPr id="5" name="Text 3"/>
          <p:cNvSpPr txBox="1"/>
          <p:nvPr/>
        </p:nvSpPr>
        <p:spPr>
          <a:xfrm>
            <a:off x="658368" y="2103120"/>
            <a:ext cx="1280160" cy="365760"/>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Time to Contract</a:t>
            </a:r>
            <a:endParaRPr lang="en-US" sz="1100" dirty="0"/>
          </a:p>
        </p:txBody>
      </p:sp>
      <p:sp>
        <p:nvSpPr>
          <p:cNvPr id="6" name="Text 4"/>
          <p:cNvSpPr txBox="1"/>
          <p:nvPr/>
        </p:nvSpPr>
        <p:spPr>
          <a:xfrm>
            <a:off x="1828800" y="2103120"/>
            <a:ext cx="987552" cy="365760"/>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45–90 days</a:t>
            </a:r>
            <a:endParaRPr lang="en-US" sz="1300" dirty="0"/>
          </a:p>
        </p:txBody>
      </p:sp>
      <p:sp>
        <p:nvSpPr>
          <p:cNvPr id="7" name="Text 5"/>
          <p:cNvSpPr txBox="1"/>
          <p:nvPr/>
        </p:nvSpPr>
        <p:spPr>
          <a:xfrm>
            <a:off x="658368" y="2514600"/>
            <a:ext cx="1280160" cy="365760"/>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Expected Sale</a:t>
            </a:r>
            <a:endParaRPr lang="en-US" sz="1100" dirty="0"/>
          </a:p>
        </p:txBody>
      </p:sp>
      <p:sp>
        <p:nvSpPr>
          <p:cNvPr id="8" name="Text 6"/>
          <p:cNvSpPr txBox="1"/>
          <p:nvPr/>
        </p:nvSpPr>
        <p:spPr>
          <a:xfrm>
            <a:off x="1828800" y="2514600"/>
            <a:ext cx="987552" cy="365760"/>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$463,000</a:t>
            </a:r>
            <a:endParaRPr lang="en-US" sz="1300" dirty="0"/>
          </a:p>
        </p:txBody>
      </p:sp>
      <p:sp>
        <p:nvSpPr>
          <p:cNvPr id="9" name="Text 7"/>
          <p:cNvSpPr txBox="1"/>
          <p:nvPr/>
        </p:nvSpPr>
        <p:spPr>
          <a:xfrm>
            <a:off x="658368" y="2926080"/>
            <a:ext cx="1280160" cy="365760"/>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Seller Credit Assumed</a:t>
            </a:r>
            <a:endParaRPr lang="en-US" sz="1100" dirty="0"/>
          </a:p>
        </p:txBody>
      </p:sp>
      <p:sp>
        <p:nvSpPr>
          <p:cNvPr id="10" name="Text 8"/>
          <p:cNvSpPr txBox="1"/>
          <p:nvPr/>
        </p:nvSpPr>
        <p:spPr>
          <a:xfrm>
            <a:off x="1828800" y="2926080"/>
            <a:ext cx="987552" cy="365760"/>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$10,000</a:t>
            </a:r>
            <a:endParaRPr lang="en-US" sz="1300" dirty="0"/>
          </a:p>
        </p:txBody>
      </p:sp>
      <p:sp>
        <p:nvSpPr>
          <p:cNvPr id="11" name="Text 9"/>
          <p:cNvSpPr txBox="1"/>
          <p:nvPr/>
        </p:nvSpPr>
        <p:spPr>
          <a:xfrm>
            <a:off x="658368" y="3337560"/>
            <a:ext cx="2157984" cy="594360"/>
          </a:xfrm>
          <a:prstGeom prst="rect">
            <a:avLst/>
          </a:prstGeom>
          <a:noFill/>
          <a:ln/>
        </p:spPr>
        <p:txBody>
          <a:bodyPr wrap="square" lIns="0" tIns="0" rIns="0" bIns="0" rtlCol="0" anchor="t"/>
          <a:lstStyle/>
          <a:p>
            <a:pPr indent="0" marL="0">
              <a:buNone/>
            </a:pPr>
            <a:r>
              <a:rPr lang="en-US" sz="1100" dirty="0">
                <a:solidFill>
                  <a:srgbClr val="1A1A1A"/>
                </a:solidFill>
                <a:latin typeface="Arial" pitchFamily="34" charset="0"/>
                <a:ea typeface="Arial" pitchFamily="34" charset="-122"/>
                <a:cs typeface="Arial" pitchFamily="34" charset="-120"/>
              </a:rPr>
              <a:t>Tests the top of the range; likely needs a price cut before an offer</a:t>
            </a:r>
            <a:endParaRPr lang="en-US" sz="1100" dirty="0"/>
          </a:p>
        </p:txBody>
      </p:sp>
      <p:sp>
        <p:nvSpPr>
          <p:cNvPr id="12" name="Shape 10"/>
          <p:cNvSpPr/>
          <p:nvPr/>
        </p:nvSpPr>
        <p:spPr>
          <a:xfrm>
            <a:off x="3291840" y="1051560"/>
            <a:ext cx="2560320" cy="2971800"/>
          </a:xfrm>
          <a:prstGeom prst="roundRect">
            <a:avLst>
              <a:gd name="adj" fmla="val 2857"/>
            </a:avLst>
          </a:prstGeom>
          <a:solidFill>
            <a:srgbClr val="C2410C"/>
          </a:solidFill>
          <a:ln w="12700">
            <a:solidFill>
              <a:srgbClr val="C2410C"/>
            </a:solidFill>
            <a:prstDash val="solid"/>
          </a:ln>
        </p:spPr>
      </p:sp>
      <p:sp>
        <p:nvSpPr>
          <p:cNvPr id="13" name="Text 11"/>
          <p:cNvSpPr txBox="1"/>
          <p:nvPr/>
        </p:nvSpPr>
        <p:spPr>
          <a:xfrm>
            <a:off x="3493008" y="1188720"/>
            <a:ext cx="2157984" cy="228600"/>
          </a:xfrm>
          <a:prstGeom prst="rect">
            <a:avLst/>
          </a:prstGeom>
          <a:noFill/>
          <a:ln/>
        </p:spPr>
        <p:txBody>
          <a:bodyPr wrap="square" lIns="0" tIns="0" rIns="0" bIns="0" rtlCol="0" anchor="ctr"/>
          <a:lstStyle/>
          <a:p>
            <a:pPr indent="0" marL="0">
              <a:buNone/>
            </a:pPr>
            <a:r>
              <a:rPr lang="en-US" sz="1000" b="1" spc="200" kern="0" dirty="0">
                <a:solidFill>
                  <a:srgbClr val="FFFFFF"/>
                </a:solidFill>
                <a:latin typeface="Arial" pitchFamily="34" charset="0"/>
                <a:ea typeface="Arial" pitchFamily="34" charset="-122"/>
                <a:cs typeface="Arial" pitchFamily="34" charset="-120"/>
              </a:rPr>
              <a:t>RECOMMENDED</a:t>
            </a:r>
            <a:endParaRPr lang="en-US" sz="1000" dirty="0"/>
          </a:p>
        </p:txBody>
      </p:sp>
      <p:sp>
        <p:nvSpPr>
          <p:cNvPr id="14" name="Text 12"/>
          <p:cNvSpPr txBox="1"/>
          <p:nvPr/>
        </p:nvSpPr>
        <p:spPr>
          <a:xfrm>
            <a:off x="3493008" y="1435608"/>
            <a:ext cx="2157984" cy="54864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$469,900</a:t>
            </a:r>
            <a:endParaRPr lang="en-US" sz="3000" dirty="0"/>
          </a:p>
        </p:txBody>
      </p:sp>
      <p:sp>
        <p:nvSpPr>
          <p:cNvPr id="15" name="Text 13"/>
          <p:cNvSpPr txBox="1"/>
          <p:nvPr/>
        </p:nvSpPr>
        <p:spPr>
          <a:xfrm>
            <a:off x="3493008" y="2103120"/>
            <a:ext cx="1280160" cy="365760"/>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Time to Contract</a:t>
            </a:r>
            <a:endParaRPr lang="en-US" sz="1100" dirty="0"/>
          </a:p>
        </p:txBody>
      </p:sp>
      <p:sp>
        <p:nvSpPr>
          <p:cNvPr id="16" name="Text 14"/>
          <p:cNvSpPr txBox="1"/>
          <p:nvPr/>
        </p:nvSpPr>
        <p:spPr>
          <a:xfrm>
            <a:off x="4663440" y="2103120"/>
            <a:ext cx="987552" cy="365760"/>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3–6 weeks</a:t>
            </a:r>
            <a:endParaRPr lang="en-US" sz="1300" dirty="0"/>
          </a:p>
        </p:txBody>
      </p:sp>
      <p:sp>
        <p:nvSpPr>
          <p:cNvPr id="17" name="Text 15"/>
          <p:cNvSpPr txBox="1"/>
          <p:nvPr/>
        </p:nvSpPr>
        <p:spPr>
          <a:xfrm>
            <a:off x="3493008" y="2514600"/>
            <a:ext cx="1280160" cy="365760"/>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Expected Sale</a:t>
            </a:r>
            <a:endParaRPr lang="en-US" sz="1100" dirty="0"/>
          </a:p>
        </p:txBody>
      </p:sp>
      <p:sp>
        <p:nvSpPr>
          <p:cNvPr id="18" name="Text 16"/>
          <p:cNvSpPr txBox="1"/>
          <p:nvPr/>
        </p:nvSpPr>
        <p:spPr>
          <a:xfrm>
            <a:off x="4663440" y="2514600"/>
            <a:ext cx="987552" cy="365760"/>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$462,000</a:t>
            </a:r>
            <a:endParaRPr lang="en-US" sz="1300" dirty="0"/>
          </a:p>
        </p:txBody>
      </p:sp>
      <p:sp>
        <p:nvSpPr>
          <p:cNvPr id="19" name="Text 17"/>
          <p:cNvSpPr txBox="1"/>
          <p:nvPr/>
        </p:nvSpPr>
        <p:spPr>
          <a:xfrm>
            <a:off x="3493008" y="2926080"/>
            <a:ext cx="1280160" cy="365760"/>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Seller Credit Assumed</a:t>
            </a:r>
            <a:endParaRPr lang="en-US" sz="1100" dirty="0"/>
          </a:p>
        </p:txBody>
      </p:sp>
      <p:sp>
        <p:nvSpPr>
          <p:cNvPr id="20" name="Text 18"/>
          <p:cNvSpPr txBox="1"/>
          <p:nvPr/>
        </p:nvSpPr>
        <p:spPr>
          <a:xfrm>
            <a:off x="4663440" y="2926080"/>
            <a:ext cx="987552" cy="365760"/>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$10,000</a:t>
            </a:r>
            <a:endParaRPr lang="en-US" sz="1300" dirty="0"/>
          </a:p>
        </p:txBody>
      </p:sp>
      <p:sp>
        <p:nvSpPr>
          <p:cNvPr id="21" name="Text 19"/>
          <p:cNvSpPr txBox="1"/>
          <p:nvPr/>
        </p:nvSpPr>
        <p:spPr>
          <a:xfrm>
            <a:off x="3493008" y="3337560"/>
            <a:ext cx="2157984" cy="594360"/>
          </a:xfrm>
          <a:prstGeom prst="rect">
            <a:avLst/>
          </a:prstGeom>
          <a:noFill/>
          <a:ln/>
        </p:spPr>
        <p:txBody>
          <a:bodyPr wrap="square" lIns="0" tIns="0" rIns="0" bIns="0" rtlCol="0" anchor="t"/>
          <a:lstStyle/>
          <a:p>
            <a:pPr indent="0" marL="0">
              <a:buNone/>
            </a:pPr>
            <a:r>
              <a:rPr lang="en-US" sz="1100" dirty="0">
                <a:solidFill>
                  <a:srgbClr val="FFFFFF"/>
                </a:solidFill>
                <a:latin typeface="Arial" pitchFamily="34" charset="0"/>
                <a:ea typeface="Arial" pitchFamily="34" charset="-122"/>
                <a:cs typeface="Arial" pitchFamily="34" charset="-120"/>
              </a:rPr>
              <a:t>Priced at the middle of recent adjusted sales; room to negotiate</a:t>
            </a:r>
            <a:endParaRPr lang="en-US" sz="1100" dirty="0"/>
          </a:p>
        </p:txBody>
      </p:sp>
      <p:sp>
        <p:nvSpPr>
          <p:cNvPr id="22" name="Shape 20"/>
          <p:cNvSpPr/>
          <p:nvPr/>
        </p:nvSpPr>
        <p:spPr>
          <a:xfrm>
            <a:off x="6126480" y="1051560"/>
            <a:ext cx="2560320" cy="2971800"/>
          </a:xfrm>
          <a:prstGeom prst="roundRect">
            <a:avLst>
              <a:gd name="adj" fmla="val 2857"/>
            </a:avLst>
          </a:prstGeom>
          <a:solidFill>
            <a:srgbClr val="FBF2EE"/>
          </a:solidFill>
          <a:ln w="12700">
            <a:solidFill>
              <a:srgbClr val="FBF2EE"/>
            </a:solidFill>
            <a:prstDash val="solid"/>
          </a:ln>
        </p:spPr>
      </p:sp>
      <p:sp>
        <p:nvSpPr>
          <p:cNvPr id="23" name="Text 21"/>
          <p:cNvSpPr txBox="1"/>
          <p:nvPr/>
        </p:nvSpPr>
        <p:spPr>
          <a:xfrm>
            <a:off x="6327648" y="1435608"/>
            <a:ext cx="2157984" cy="548640"/>
          </a:xfrm>
          <a:prstGeom prst="rect">
            <a:avLst/>
          </a:prstGeom>
          <a:noFill/>
          <a:ln/>
        </p:spPr>
        <p:txBody>
          <a:bodyPr wrap="square" lIns="0" tIns="0" rIns="0" bIns="0" rtlCol="0" anchor="ctr"/>
          <a:lstStyle/>
          <a:p>
            <a:pPr indent="0" marL="0">
              <a:buNone/>
            </a:pPr>
            <a:r>
              <a:rPr lang="en-US" sz="3000" b="1" dirty="0">
                <a:solidFill>
                  <a:srgbClr val="C2410C"/>
                </a:solidFill>
                <a:latin typeface="Arial" pitchFamily="34" charset="0"/>
                <a:ea typeface="Arial" pitchFamily="34" charset="-122"/>
                <a:cs typeface="Arial" pitchFamily="34" charset="-120"/>
              </a:rPr>
              <a:t>$459,900</a:t>
            </a:r>
            <a:endParaRPr lang="en-US" sz="3000" dirty="0"/>
          </a:p>
        </p:txBody>
      </p:sp>
      <p:sp>
        <p:nvSpPr>
          <p:cNvPr id="24" name="Text 22"/>
          <p:cNvSpPr txBox="1"/>
          <p:nvPr/>
        </p:nvSpPr>
        <p:spPr>
          <a:xfrm>
            <a:off x="6327648" y="2103120"/>
            <a:ext cx="1280160" cy="365760"/>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Time to Contract</a:t>
            </a:r>
            <a:endParaRPr lang="en-US" sz="1100" dirty="0"/>
          </a:p>
        </p:txBody>
      </p:sp>
      <p:sp>
        <p:nvSpPr>
          <p:cNvPr id="25" name="Text 23"/>
          <p:cNvSpPr txBox="1"/>
          <p:nvPr/>
        </p:nvSpPr>
        <p:spPr>
          <a:xfrm>
            <a:off x="7498080" y="2103120"/>
            <a:ext cx="987552" cy="365760"/>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1–3 weeks</a:t>
            </a:r>
            <a:endParaRPr lang="en-US" sz="1300" dirty="0"/>
          </a:p>
        </p:txBody>
      </p:sp>
      <p:sp>
        <p:nvSpPr>
          <p:cNvPr id="26" name="Text 24"/>
          <p:cNvSpPr txBox="1"/>
          <p:nvPr/>
        </p:nvSpPr>
        <p:spPr>
          <a:xfrm>
            <a:off x="6327648" y="2514600"/>
            <a:ext cx="1280160" cy="365760"/>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Expected Sale</a:t>
            </a:r>
            <a:endParaRPr lang="en-US" sz="1100" dirty="0"/>
          </a:p>
        </p:txBody>
      </p:sp>
      <p:sp>
        <p:nvSpPr>
          <p:cNvPr id="27" name="Text 25"/>
          <p:cNvSpPr txBox="1"/>
          <p:nvPr/>
        </p:nvSpPr>
        <p:spPr>
          <a:xfrm>
            <a:off x="7498080" y="2514600"/>
            <a:ext cx="987552" cy="365760"/>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$460,000</a:t>
            </a:r>
            <a:endParaRPr lang="en-US" sz="1300" dirty="0"/>
          </a:p>
        </p:txBody>
      </p:sp>
      <p:sp>
        <p:nvSpPr>
          <p:cNvPr id="28" name="Text 26"/>
          <p:cNvSpPr txBox="1"/>
          <p:nvPr/>
        </p:nvSpPr>
        <p:spPr>
          <a:xfrm>
            <a:off x="6327648" y="2926080"/>
            <a:ext cx="1280160" cy="365760"/>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Seller Credit Assumed</a:t>
            </a:r>
            <a:endParaRPr lang="en-US" sz="1100" dirty="0"/>
          </a:p>
        </p:txBody>
      </p:sp>
      <p:sp>
        <p:nvSpPr>
          <p:cNvPr id="29" name="Text 27"/>
          <p:cNvSpPr txBox="1"/>
          <p:nvPr/>
        </p:nvSpPr>
        <p:spPr>
          <a:xfrm>
            <a:off x="7498080" y="2926080"/>
            <a:ext cx="987552" cy="365760"/>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$5,000</a:t>
            </a:r>
            <a:endParaRPr lang="en-US" sz="1300" dirty="0"/>
          </a:p>
        </p:txBody>
      </p:sp>
      <p:sp>
        <p:nvSpPr>
          <p:cNvPr id="30" name="Text 28"/>
          <p:cNvSpPr txBox="1"/>
          <p:nvPr/>
        </p:nvSpPr>
        <p:spPr>
          <a:xfrm>
            <a:off x="6327648" y="3337560"/>
            <a:ext cx="2157984" cy="594360"/>
          </a:xfrm>
          <a:prstGeom prst="rect">
            <a:avLst/>
          </a:prstGeom>
          <a:noFill/>
          <a:ln/>
        </p:spPr>
        <p:txBody>
          <a:bodyPr wrap="square" lIns="0" tIns="0" rIns="0" bIns="0" rtlCol="0" anchor="t"/>
          <a:lstStyle/>
          <a:p>
            <a:pPr indent="0" marL="0">
              <a:buNone/>
            </a:pPr>
            <a:r>
              <a:rPr lang="en-US" sz="1100" dirty="0">
                <a:solidFill>
                  <a:srgbClr val="1A1A1A"/>
                </a:solidFill>
                <a:latin typeface="Arial" pitchFamily="34" charset="0"/>
                <a:ea typeface="Arial" pitchFamily="34" charset="-122"/>
                <a:cs typeface="Arial" pitchFamily="34" charset="-120"/>
              </a:rPr>
              <a:t>Aims for competing offers; depends on them materializing</a:t>
            </a:r>
            <a:endParaRPr lang="en-US" sz="1100" dirty="0"/>
          </a:p>
        </p:txBody>
      </p:sp>
      <p:sp>
        <p:nvSpPr>
          <p:cNvPr id="31" name="Text 29"/>
          <p:cNvSpPr txBox="1"/>
          <p:nvPr/>
        </p:nvSpPr>
        <p:spPr>
          <a:xfrm>
            <a:off x="457200" y="4206240"/>
            <a:ext cx="8229600" cy="320040"/>
          </a:xfrm>
          <a:prstGeom prst="rect">
            <a:avLst/>
          </a:prstGeom>
          <a:noFill/>
          <a:ln/>
        </p:spPr>
        <p:txBody>
          <a:bodyPr wrap="square" lIns="0" tIns="0" rIns="0" bIns="0" rtlCol="0" anchor="ctr"/>
          <a:lstStyle/>
          <a:p>
            <a:pPr indent="0" marL="0">
              <a:buNone/>
            </a:pPr>
            <a:r>
              <a:rPr lang="en-US" sz="1400" b="1" dirty="0">
                <a:solidFill>
                  <a:srgbClr val="1A1A1A"/>
                </a:solidFill>
                <a:latin typeface="Arial" pitchFamily="34" charset="0"/>
                <a:ea typeface="Arial" pitchFamily="34" charset="-122"/>
                <a:cs typeface="Arial" pitchFamily="34" charset="-120"/>
              </a:rPr>
              <a:t>All three net within a few thousand dollars. The real choice is time and risk.</a:t>
            </a:r>
            <a:endParaRPr lang="en-US" sz="1400" dirty="0"/>
          </a:p>
        </p:txBody>
      </p:sp>
      <p:sp>
        <p:nvSpPr>
          <p:cNvPr id="32" name="Text 30"/>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33" name="Text 31"/>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What You Walk Away With</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A6672"/>
                </a:solidFill>
                <a:latin typeface="Arial" pitchFamily="34" charset="0"/>
                <a:ea typeface="Arial" pitchFamily="34" charset="-122"/>
                <a:cs typeface="Arial" pitchFamily="34" charset="-120"/>
              </a:rPr>
              <a:t>Estimated net before mortgage payoff</a:t>
            </a:r>
            <a:endParaRPr lang="en-US" sz="1300" dirty="0"/>
          </a:p>
        </p:txBody>
      </p:sp>
      <p:graphicFrame>
        <p:nvGraphicFramePr>
          <p:cNvPr id="4" name="Chart 0" descr=""/>
          <p:cNvGraphicFramePr/>
          <p:nvPr/>
        </p:nvGraphicFramePr>
        <p:xfrm>
          <a:off x="457200" y="1234440"/>
          <a:ext cx="5120640" cy="32004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5943600" y="1325880"/>
            <a:ext cx="2743200" cy="2926080"/>
          </a:xfrm>
          <a:prstGeom prst="roundRect">
            <a:avLst>
              <a:gd name="adj" fmla="val 2667"/>
            </a:avLst>
          </a:prstGeom>
          <a:solidFill>
            <a:srgbClr val="FBF2EE"/>
          </a:solidFill>
          <a:ln w="12700">
            <a:solidFill>
              <a:srgbClr val="FBF2EE"/>
            </a:solidFill>
            <a:prstDash val="solid"/>
          </a:ln>
        </p:spPr>
      </p:sp>
      <p:sp>
        <p:nvSpPr>
          <p:cNvPr id="6" name="Text 3"/>
          <p:cNvSpPr txBox="1"/>
          <p:nvPr/>
        </p:nvSpPr>
        <p:spPr>
          <a:xfrm>
            <a:off x="6172200" y="1508760"/>
            <a:ext cx="2286000" cy="548640"/>
          </a:xfrm>
          <a:prstGeom prst="rect">
            <a:avLst/>
          </a:prstGeom>
          <a:noFill/>
          <a:ln/>
        </p:spPr>
        <p:txBody>
          <a:bodyPr wrap="square" lIns="0" tIns="0" rIns="0" bIns="0" rtlCol="0" anchor="ctr"/>
          <a:lstStyle/>
          <a:p>
            <a:pPr indent="0" marL="0">
              <a:buNone/>
            </a:pPr>
            <a:r>
              <a:rPr lang="en-US" sz="3200" b="1" dirty="0">
                <a:solidFill>
                  <a:srgbClr val="C2410C"/>
                </a:solidFill>
                <a:latin typeface="Arial" pitchFamily="34" charset="0"/>
                <a:ea typeface="Arial" pitchFamily="34" charset="-122"/>
                <a:cs typeface="Arial" pitchFamily="34" charset="-120"/>
              </a:rPr>
              <a:t>$3,426</a:t>
            </a:r>
            <a:endParaRPr lang="en-US" sz="3200" dirty="0"/>
          </a:p>
        </p:txBody>
      </p:sp>
      <p:sp>
        <p:nvSpPr>
          <p:cNvPr id="7" name="Text 4"/>
          <p:cNvSpPr txBox="1"/>
          <p:nvPr/>
        </p:nvSpPr>
        <p:spPr>
          <a:xfrm>
            <a:off x="6172200" y="2057400"/>
            <a:ext cx="2286000" cy="457200"/>
          </a:xfrm>
          <a:prstGeom prst="rect">
            <a:avLst/>
          </a:prstGeom>
          <a:noFill/>
          <a:ln/>
        </p:spPr>
        <p:txBody>
          <a:bodyPr wrap="square" lIns="0" tIns="0" rIns="0" bIns="0" rtlCol="0" anchor="t"/>
          <a:lstStyle/>
          <a:p>
            <a:pPr indent="0" marL="0">
              <a:buNone/>
            </a:pPr>
            <a:r>
              <a:rPr lang="en-US" sz="1100" dirty="0">
                <a:solidFill>
                  <a:srgbClr val="5A6672"/>
                </a:solidFill>
                <a:latin typeface="Arial" pitchFamily="34" charset="0"/>
                <a:ea typeface="Arial" pitchFamily="34" charset="-122"/>
                <a:cs typeface="Arial" pitchFamily="34" charset="-120"/>
              </a:rPr>
              <a:t>Difference Between the Highest and Lowest Net</a:t>
            </a:r>
            <a:endParaRPr lang="en-US" sz="1100" dirty="0"/>
          </a:p>
        </p:txBody>
      </p:sp>
      <p:sp>
        <p:nvSpPr>
          <p:cNvPr id="8" name="Text 5"/>
          <p:cNvSpPr txBox="1"/>
          <p:nvPr/>
        </p:nvSpPr>
        <p:spPr>
          <a:xfrm>
            <a:off x="6172200" y="2651760"/>
            <a:ext cx="2286000" cy="1097280"/>
          </a:xfrm>
          <a:prstGeom prst="rect">
            <a:avLst/>
          </a:prstGeom>
          <a:noFill/>
          <a:ln/>
        </p:spPr>
        <p:txBody>
          <a:bodyPr wrap="square" lIns="0" tIns="0" rIns="0" bIns="0" rtlCol="0" anchor="t"/>
          <a:lstStyle/>
          <a:p>
            <a:pPr indent="0" marL="0">
              <a:buNone/>
            </a:pPr>
            <a:r>
              <a:rPr lang="en-US" sz="1300" dirty="0">
                <a:solidFill>
                  <a:srgbClr val="1A1A1A"/>
                </a:solidFill>
                <a:latin typeface="Arial" pitchFamily="34" charset="0"/>
                <a:ea typeface="Arial" pitchFamily="34" charset="-122"/>
                <a:cs typeface="Arial" pitchFamily="34" charset="-120"/>
              </a:rPr>
              <a:t>All three net within a few thousand dollars. The real choice is time and risk.</a:t>
            </a:r>
            <a:endParaRPr lang="en-US" sz="1300" dirty="0"/>
          </a:p>
        </p:txBody>
      </p:sp>
      <p:sp>
        <p:nvSpPr>
          <p:cNvPr id="9" name="Text 6"/>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10" name="Text 7"/>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How Buyers See Your Price</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A6672"/>
                </a:solidFill>
                <a:latin typeface="Arial" pitchFamily="34" charset="0"/>
                <a:ea typeface="Arial" pitchFamily="34" charset="-122"/>
                <a:cs typeface="Arial" pitchFamily="34" charset="-120"/>
              </a:rPr>
              <a:t>Estimated monthly payment for a typical buyer</a:t>
            </a:r>
            <a:endParaRPr lang="en-US" sz="1300" dirty="0"/>
          </a:p>
        </p:txBody>
      </p:sp>
      <p:sp>
        <p:nvSpPr>
          <p:cNvPr id="4" name="Shape 2"/>
          <p:cNvSpPr/>
          <p:nvPr/>
        </p:nvSpPr>
        <p:spPr>
          <a:xfrm>
            <a:off x="457200" y="1325880"/>
            <a:ext cx="2560320" cy="1737360"/>
          </a:xfrm>
          <a:prstGeom prst="roundRect">
            <a:avLst>
              <a:gd name="adj" fmla="val 4211"/>
            </a:avLst>
          </a:prstGeom>
          <a:solidFill>
            <a:srgbClr val="FFFFFF"/>
          </a:solidFill>
          <a:ln w="12700">
            <a:solidFill>
              <a:srgbClr val="F8E8E2"/>
            </a:solidFill>
            <a:prstDash val="solid"/>
          </a:ln>
        </p:spPr>
      </p:sp>
      <p:sp>
        <p:nvSpPr>
          <p:cNvPr id="5" name="Text 3"/>
          <p:cNvSpPr txBox="1"/>
          <p:nvPr/>
        </p:nvSpPr>
        <p:spPr>
          <a:xfrm>
            <a:off x="658368" y="1508760"/>
            <a:ext cx="2157984"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List $479,900</a:t>
            </a:r>
            <a:endParaRPr lang="en-US" sz="1300" dirty="0"/>
          </a:p>
        </p:txBody>
      </p:sp>
      <p:sp>
        <p:nvSpPr>
          <p:cNvPr id="6" name="Text 4"/>
          <p:cNvSpPr txBox="1"/>
          <p:nvPr/>
        </p:nvSpPr>
        <p:spPr>
          <a:xfrm>
            <a:off x="658368" y="1874520"/>
            <a:ext cx="2157984" cy="548640"/>
          </a:xfrm>
          <a:prstGeom prst="rect">
            <a:avLst/>
          </a:prstGeom>
          <a:noFill/>
          <a:ln/>
        </p:spPr>
        <p:txBody>
          <a:bodyPr wrap="square" lIns="0" tIns="0" rIns="0" bIns="0" rtlCol="0" anchor="ctr"/>
          <a:lstStyle/>
          <a:p>
            <a:pPr indent="0" marL="0">
              <a:buNone/>
            </a:pPr>
            <a:r>
              <a:rPr lang="en-US" sz="2800" b="1" dirty="0">
                <a:solidFill>
                  <a:srgbClr val="1F3A5F"/>
                </a:solidFill>
                <a:latin typeface="Arial" pitchFamily="34" charset="0"/>
                <a:ea typeface="Arial" pitchFamily="34" charset="-122"/>
                <a:cs typeface="Arial" pitchFamily="34" charset="-120"/>
              </a:rPr>
              <a:t>$4,228/mo</a:t>
            </a:r>
            <a:endParaRPr lang="en-US" sz="2800" dirty="0"/>
          </a:p>
        </p:txBody>
      </p:sp>
      <p:sp>
        <p:nvSpPr>
          <p:cNvPr id="7" name="Text 5"/>
          <p:cNvSpPr txBox="1"/>
          <p:nvPr/>
        </p:nvSpPr>
        <p:spPr>
          <a:xfrm>
            <a:off x="658368" y="2514600"/>
            <a:ext cx="2157984" cy="274320"/>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$23,995 down (5%)</a:t>
            </a:r>
            <a:endParaRPr lang="en-US" sz="1100" dirty="0"/>
          </a:p>
        </p:txBody>
      </p:sp>
      <p:sp>
        <p:nvSpPr>
          <p:cNvPr id="8" name="Shape 6"/>
          <p:cNvSpPr/>
          <p:nvPr/>
        </p:nvSpPr>
        <p:spPr>
          <a:xfrm>
            <a:off x="3291840" y="1325880"/>
            <a:ext cx="2560320" cy="1737360"/>
          </a:xfrm>
          <a:prstGeom prst="roundRect">
            <a:avLst>
              <a:gd name="adj" fmla="val 4211"/>
            </a:avLst>
          </a:prstGeom>
          <a:solidFill>
            <a:srgbClr val="E4E7EC"/>
          </a:solidFill>
          <a:ln w="19050">
            <a:solidFill>
              <a:srgbClr val="1F3A5F"/>
            </a:solidFill>
            <a:prstDash val="solid"/>
          </a:ln>
        </p:spPr>
      </p:sp>
      <p:sp>
        <p:nvSpPr>
          <p:cNvPr id="9" name="Text 7"/>
          <p:cNvSpPr txBox="1"/>
          <p:nvPr/>
        </p:nvSpPr>
        <p:spPr>
          <a:xfrm>
            <a:off x="3493008" y="1508760"/>
            <a:ext cx="2157984"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List $469,900</a:t>
            </a:r>
            <a:endParaRPr lang="en-US" sz="1300" dirty="0"/>
          </a:p>
        </p:txBody>
      </p:sp>
      <p:sp>
        <p:nvSpPr>
          <p:cNvPr id="10" name="Text 8"/>
          <p:cNvSpPr txBox="1"/>
          <p:nvPr/>
        </p:nvSpPr>
        <p:spPr>
          <a:xfrm>
            <a:off x="3493008" y="1874520"/>
            <a:ext cx="2157984" cy="548640"/>
          </a:xfrm>
          <a:prstGeom prst="rect">
            <a:avLst/>
          </a:prstGeom>
          <a:noFill/>
          <a:ln/>
        </p:spPr>
        <p:txBody>
          <a:bodyPr wrap="square" lIns="0" tIns="0" rIns="0" bIns="0" rtlCol="0" anchor="ctr"/>
          <a:lstStyle/>
          <a:p>
            <a:pPr indent="0" marL="0">
              <a:buNone/>
            </a:pPr>
            <a:r>
              <a:rPr lang="en-US" sz="2800" b="1" dirty="0">
                <a:solidFill>
                  <a:srgbClr val="1F3A5F"/>
                </a:solidFill>
                <a:latin typeface="Arial" pitchFamily="34" charset="0"/>
                <a:ea typeface="Arial" pitchFamily="34" charset="-122"/>
                <a:cs typeface="Arial" pitchFamily="34" charset="-120"/>
              </a:rPr>
              <a:t>$4,146/mo</a:t>
            </a:r>
            <a:endParaRPr lang="en-US" sz="2800" dirty="0"/>
          </a:p>
        </p:txBody>
      </p:sp>
      <p:sp>
        <p:nvSpPr>
          <p:cNvPr id="11" name="Text 9"/>
          <p:cNvSpPr txBox="1"/>
          <p:nvPr/>
        </p:nvSpPr>
        <p:spPr>
          <a:xfrm>
            <a:off x="3493008" y="2514600"/>
            <a:ext cx="2157984" cy="274320"/>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$23,495 down (5%)</a:t>
            </a:r>
            <a:endParaRPr lang="en-US" sz="1100" dirty="0"/>
          </a:p>
        </p:txBody>
      </p:sp>
      <p:sp>
        <p:nvSpPr>
          <p:cNvPr id="12" name="Shape 10"/>
          <p:cNvSpPr/>
          <p:nvPr/>
        </p:nvSpPr>
        <p:spPr>
          <a:xfrm>
            <a:off x="6126480" y="1325880"/>
            <a:ext cx="2560320" cy="1737360"/>
          </a:xfrm>
          <a:prstGeom prst="roundRect">
            <a:avLst>
              <a:gd name="adj" fmla="val 4211"/>
            </a:avLst>
          </a:prstGeom>
          <a:solidFill>
            <a:srgbClr val="FFFFFF"/>
          </a:solidFill>
          <a:ln w="12700">
            <a:solidFill>
              <a:srgbClr val="F8E8E2"/>
            </a:solidFill>
            <a:prstDash val="solid"/>
          </a:ln>
        </p:spPr>
      </p:sp>
      <p:sp>
        <p:nvSpPr>
          <p:cNvPr id="13" name="Text 11"/>
          <p:cNvSpPr txBox="1"/>
          <p:nvPr/>
        </p:nvSpPr>
        <p:spPr>
          <a:xfrm>
            <a:off x="6327648" y="1508760"/>
            <a:ext cx="2157984"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List $459,900</a:t>
            </a:r>
            <a:endParaRPr lang="en-US" sz="1300" dirty="0"/>
          </a:p>
        </p:txBody>
      </p:sp>
      <p:sp>
        <p:nvSpPr>
          <p:cNvPr id="14" name="Text 12"/>
          <p:cNvSpPr txBox="1"/>
          <p:nvPr/>
        </p:nvSpPr>
        <p:spPr>
          <a:xfrm>
            <a:off x="6327648" y="1874520"/>
            <a:ext cx="2157984" cy="548640"/>
          </a:xfrm>
          <a:prstGeom prst="rect">
            <a:avLst/>
          </a:prstGeom>
          <a:noFill/>
          <a:ln/>
        </p:spPr>
        <p:txBody>
          <a:bodyPr wrap="square" lIns="0" tIns="0" rIns="0" bIns="0" rtlCol="0" anchor="ctr"/>
          <a:lstStyle/>
          <a:p>
            <a:pPr indent="0" marL="0">
              <a:buNone/>
            </a:pPr>
            <a:r>
              <a:rPr lang="en-US" sz="2800" b="1" dirty="0">
                <a:solidFill>
                  <a:srgbClr val="1F3A5F"/>
                </a:solidFill>
                <a:latin typeface="Arial" pitchFamily="34" charset="0"/>
                <a:ea typeface="Arial" pitchFamily="34" charset="-122"/>
                <a:cs typeface="Arial" pitchFamily="34" charset="-120"/>
              </a:rPr>
              <a:t>$4,064/mo</a:t>
            </a:r>
            <a:endParaRPr lang="en-US" sz="2800" dirty="0"/>
          </a:p>
        </p:txBody>
      </p:sp>
      <p:sp>
        <p:nvSpPr>
          <p:cNvPr id="15" name="Text 13"/>
          <p:cNvSpPr txBox="1"/>
          <p:nvPr/>
        </p:nvSpPr>
        <p:spPr>
          <a:xfrm>
            <a:off x="6327648" y="2514600"/>
            <a:ext cx="2157984" cy="274320"/>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$22,995 down (5%)</a:t>
            </a:r>
            <a:endParaRPr lang="en-US" sz="1100" dirty="0"/>
          </a:p>
        </p:txBody>
      </p:sp>
      <p:sp>
        <p:nvSpPr>
          <p:cNvPr id="16" name="Shape 14"/>
          <p:cNvSpPr/>
          <p:nvPr/>
        </p:nvSpPr>
        <p:spPr>
          <a:xfrm>
            <a:off x="457200" y="3429000"/>
            <a:ext cx="502920" cy="502920"/>
          </a:xfrm>
          <a:prstGeom prst="ellipse">
            <a:avLst/>
          </a:prstGeom>
          <a:solidFill>
            <a:srgbClr val="C2410C"/>
          </a:solidFill>
          <a:ln w="12700">
            <a:solidFill>
              <a:srgbClr val="C2410C"/>
            </a:solidFill>
            <a:prstDash val="solid"/>
          </a:ln>
        </p:spPr>
      </p:sp>
      <p:pic>
        <p:nvPicPr>
          <p:cNvPr id="17" name="Image 0" descr="preencoded.png">    </p:cNvPr>
          <p:cNvPicPr>
            <a:picLocks noChangeAspect="1"/>
          </p:cNvPicPr>
          <p:nvPr/>
        </p:nvPicPr>
        <p:blipFill>
          <a:blip r:embed="rId1"/>
          <a:stretch>
            <a:fillRect/>
          </a:stretch>
        </p:blipFill>
        <p:spPr>
          <a:xfrm>
            <a:off x="577901" y="3549701"/>
            <a:ext cx="261518" cy="261518"/>
          </a:xfrm>
          <a:prstGeom prst="rect">
            <a:avLst/>
          </a:prstGeom>
        </p:spPr>
      </p:pic>
      <p:sp>
        <p:nvSpPr>
          <p:cNvPr id="18" name="Text 15"/>
          <p:cNvSpPr txBox="1"/>
          <p:nvPr/>
        </p:nvSpPr>
        <p:spPr>
          <a:xfrm>
            <a:off x="1143000" y="3429000"/>
            <a:ext cx="7498080" cy="50292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Buyers shop by payment. Every $10,000 is about $80 a month to them.</a:t>
            </a:r>
            <a:endParaRPr lang="en-US" sz="1500" dirty="0"/>
          </a:p>
        </p:txBody>
      </p:sp>
      <p:sp>
        <p:nvSpPr>
          <p:cNvPr id="19" name="Text 16"/>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20" name="Text 17"/>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11</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Launch Plan</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A6672"/>
                </a:solidFill>
                <a:latin typeface="Arial" pitchFamily="34" charset="0"/>
                <a:ea typeface="Arial" pitchFamily="34" charset="-122"/>
                <a:cs typeface="Arial" pitchFamily="34" charset="-120"/>
              </a:rPr>
              <a:t>Before we go live</a:t>
            </a:r>
            <a:endParaRPr lang="en-US" sz="1300" dirty="0"/>
          </a:p>
        </p:txBody>
      </p:sp>
      <p:sp>
        <p:nvSpPr>
          <p:cNvPr id="4" name="Shape 2"/>
          <p:cNvSpPr/>
          <p:nvPr/>
        </p:nvSpPr>
        <p:spPr>
          <a:xfrm>
            <a:off x="457200" y="1325880"/>
            <a:ext cx="2560320" cy="1234440"/>
          </a:xfrm>
          <a:prstGeom prst="roundRect">
            <a:avLst>
              <a:gd name="adj" fmla="val 5926"/>
            </a:avLst>
          </a:prstGeom>
          <a:solidFill>
            <a:srgbClr val="FBF2EE"/>
          </a:solidFill>
          <a:ln w="12700">
            <a:solidFill>
              <a:srgbClr val="FBF2EE"/>
            </a:solidFill>
            <a:prstDash val="solid"/>
          </a:ln>
        </p:spPr>
      </p:sp>
      <p:sp>
        <p:nvSpPr>
          <p:cNvPr id="5" name="Shape 3"/>
          <p:cNvSpPr/>
          <p:nvPr/>
        </p:nvSpPr>
        <p:spPr>
          <a:xfrm>
            <a:off x="640080" y="1527048"/>
            <a:ext cx="411480" cy="411480"/>
          </a:xfrm>
          <a:prstGeom prst="ellipse">
            <a:avLst/>
          </a:prstGeom>
          <a:solidFill>
            <a:srgbClr val="C2410C"/>
          </a:solidFill>
          <a:ln w="12700">
            <a:solidFill>
              <a:srgbClr val="C2410C"/>
            </a:solidFill>
            <a:prstDash val="solid"/>
          </a:ln>
        </p:spPr>
      </p:sp>
      <p:pic>
        <p:nvPicPr>
          <p:cNvPr id="6" name="Image 0" descr="preencoded.png">    </p:cNvPr>
          <p:cNvPicPr>
            <a:picLocks noChangeAspect="1"/>
          </p:cNvPicPr>
          <p:nvPr/>
        </p:nvPicPr>
        <p:blipFill>
          <a:blip r:embed="rId1"/>
          <a:stretch>
            <a:fillRect/>
          </a:stretch>
        </p:blipFill>
        <p:spPr>
          <a:xfrm>
            <a:off x="738835" y="1625803"/>
            <a:ext cx="213970" cy="213970"/>
          </a:xfrm>
          <a:prstGeom prst="rect">
            <a:avLst/>
          </a:prstGeom>
        </p:spPr>
      </p:pic>
      <p:sp>
        <p:nvSpPr>
          <p:cNvPr id="7" name="Text 4"/>
          <p:cNvSpPr txBox="1"/>
          <p:nvPr/>
        </p:nvSpPr>
        <p:spPr>
          <a:xfrm>
            <a:off x="1188720" y="1527048"/>
            <a:ext cx="1645920" cy="41148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Document the Roof</a:t>
            </a:r>
            <a:endParaRPr lang="en-US" sz="1300" dirty="0"/>
          </a:p>
        </p:txBody>
      </p:sp>
      <p:sp>
        <p:nvSpPr>
          <p:cNvPr id="8" name="Text 5"/>
          <p:cNvSpPr txBox="1"/>
          <p:nvPr/>
        </p:nvSpPr>
        <p:spPr>
          <a:xfrm>
            <a:off x="640080" y="2039112"/>
            <a:ext cx="2194560" cy="457200"/>
          </a:xfrm>
          <a:prstGeom prst="rect">
            <a:avLst/>
          </a:prstGeom>
          <a:noFill/>
          <a:ln/>
        </p:spPr>
        <p:txBody>
          <a:bodyPr wrap="square" lIns="0" tIns="0" rIns="0" bIns="0" rtlCol="0" anchor="t"/>
          <a:lstStyle/>
          <a:p>
            <a:pPr indent="0" marL="0">
              <a:buNone/>
            </a:pPr>
            <a:r>
              <a:rPr lang="en-US" sz="1100" dirty="0">
                <a:solidFill>
                  <a:srgbClr val="5A6672"/>
                </a:solidFill>
                <a:latin typeface="Arial" pitchFamily="34" charset="0"/>
                <a:ea typeface="Arial" pitchFamily="34" charset="-122"/>
                <a:cs typeface="Arial" pitchFamily="34" charset="-120"/>
              </a:rPr>
              <a:t>Permit and date, ready to share</a:t>
            </a:r>
            <a:endParaRPr lang="en-US" sz="1100" dirty="0"/>
          </a:p>
        </p:txBody>
      </p:sp>
      <p:sp>
        <p:nvSpPr>
          <p:cNvPr id="9" name="Shape 6"/>
          <p:cNvSpPr/>
          <p:nvPr/>
        </p:nvSpPr>
        <p:spPr>
          <a:xfrm>
            <a:off x="3291840" y="1325880"/>
            <a:ext cx="2560320" cy="1234440"/>
          </a:xfrm>
          <a:prstGeom prst="roundRect">
            <a:avLst>
              <a:gd name="adj" fmla="val 5926"/>
            </a:avLst>
          </a:prstGeom>
          <a:solidFill>
            <a:srgbClr val="FBF2EE"/>
          </a:solidFill>
          <a:ln w="12700">
            <a:solidFill>
              <a:srgbClr val="FBF2EE"/>
            </a:solidFill>
            <a:prstDash val="solid"/>
          </a:ln>
        </p:spPr>
      </p:sp>
      <p:sp>
        <p:nvSpPr>
          <p:cNvPr id="10" name="Shape 7"/>
          <p:cNvSpPr/>
          <p:nvPr/>
        </p:nvSpPr>
        <p:spPr>
          <a:xfrm>
            <a:off x="3474720" y="1527048"/>
            <a:ext cx="411480" cy="411480"/>
          </a:xfrm>
          <a:prstGeom prst="ellipse">
            <a:avLst/>
          </a:prstGeom>
          <a:solidFill>
            <a:srgbClr val="C2410C"/>
          </a:solidFill>
          <a:ln w="12700">
            <a:solidFill>
              <a:srgbClr val="C2410C"/>
            </a:solidFill>
            <a:prstDash val="solid"/>
          </a:ln>
        </p:spPr>
      </p:sp>
      <p:pic>
        <p:nvPicPr>
          <p:cNvPr id="11" name="Image 1" descr="preencoded.png">    </p:cNvPr>
          <p:cNvPicPr>
            <a:picLocks noChangeAspect="1"/>
          </p:cNvPicPr>
          <p:nvPr/>
        </p:nvPicPr>
        <p:blipFill>
          <a:blip r:embed="rId2"/>
          <a:stretch>
            <a:fillRect/>
          </a:stretch>
        </p:blipFill>
        <p:spPr>
          <a:xfrm>
            <a:off x="3573475" y="1625803"/>
            <a:ext cx="213970" cy="213970"/>
          </a:xfrm>
          <a:prstGeom prst="rect">
            <a:avLst/>
          </a:prstGeom>
        </p:spPr>
      </p:pic>
      <p:sp>
        <p:nvSpPr>
          <p:cNvPr id="12" name="Text 8"/>
          <p:cNvSpPr txBox="1"/>
          <p:nvPr/>
        </p:nvSpPr>
        <p:spPr>
          <a:xfrm>
            <a:off x="4023360" y="1527048"/>
            <a:ext cx="1645920" cy="41148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Pre-Listing Inspection</a:t>
            </a:r>
            <a:endParaRPr lang="en-US" sz="1300" dirty="0"/>
          </a:p>
        </p:txBody>
      </p:sp>
      <p:sp>
        <p:nvSpPr>
          <p:cNvPr id="13" name="Text 9"/>
          <p:cNvSpPr txBox="1"/>
          <p:nvPr/>
        </p:nvSpPr>
        <p:spPr>
          <a:xfrm>
            <a:off x="3474720" y="2039112"/>
            <a:ext cx="2194560" cy="457200"/>
          </a:xfrm>
          <a:prstGeom prst="rect">
            <a:avLst/>
          </a:prstGeom>
          <a:noFill/>
          <a:ln/>
        </p:spPr>
        <p:txBody>
          <a:bodyPr wrap="square" lIns="0" tIns="0" rIns="0" bIns="0" rtlCol="0" anchor="t"/>
          <a:lstStyle/>
          <a:p>
            <a:pPr indent="0" marL="0">
              <a:buNone/>
            </a:pPr>
            <a:r>
              <a:rPr lang="en-US" sz="1100" dirty="0">
                <a:solidFill>
                  <a:srgbClr val="5A6672"/>
                </a:solidFill>
                <a:latin typeface="Arial" pitchFamily="34" charset="0"/>
                <a:ea typeface="Arial" pitchFamily="34" charset="-122"/>
                <a:cs typeface="Arial" pitchFamily="34" charset="-120"/>
              </a:rPr>
              <a:t>Plus 4-point and wind-mitigation reports</a:t>
            </a:r>
            <a:endParaRPr lang="en-US" sz="1100" dirty="0"/>
          </a:p>
        </p:txBody>
      </p:sp>
      <p:sp>
        <p:nvSpPr>
          <p:cNvPr id="14" name="Shape 10"/>
          <p:cNvSpPr/>
          <p:nvPr/>
        </p:nvSpPr>
        <p:spPr>
          <a:xfrm>
            <a:off x="6126480" y="1325880"/>
            <a:ext cx="2560320" cy="1234440"/>
          </a:xfrm>
          <a:prstGeom prst="roundRect">
            <a:avLst>
              <a:gd name="adj" fmla="val 5926"/>
            </a:avLst>
          </a:prstGeom>
          <a:solidFill>
            <a:srgbClr val="FBF2EE"/>
          </a:solidFill>
          <a:ln w="12700">
            <a:solidFill>
              <a:srgbClr val="FBF2EE"/>
            </a:solidFill>
            <a:prstDash val="solid"/>
          </a:ln>
        </p:spPr>
      </p:sp>
      <p:sp>
        <p:nvSpPr>
          <p:cNvPr id="15" name="Shape 11"/>
          <p:cNvSpPr/>
          <p:nvPr/>
        </p:nvSpPr>
        <p:spPr>
          <a:xfrm>
            <a:off x="6309360" y="1527048"/>
            <a:ext cx="411480" cy="411480"/>
          </a:xfrm>
          <a:prstGeom prst="ellipse">
            <a:avLst/>
          </a:prstGeom>
          <a:solidFill>
            <a:srgbClr val="C2410C"/>
          </a:solidFill>
          <a:ln w="12700">
            <a:solidFill>
              <a:srgbClr val="C2410C"/>
            </a:solidFill>
            <a:prstDash val="solid"/>
          </a:ln>
        </p:spPr>
      </p:sp>
      <p:pic>
        <p:nvPicPr>
          <p:cNvPr id="16" name="Image 2" descr="preencoded.png">    </p:cNvPr>
          <p:cNvPicPr>
            <a:picLocks noChangeAspect="1"/>
          </p:cNvPicPr>
          <p:nvPr/>
        </p:nvPicPr>
        <p:blipFill>
          <a:blip r:embed="rId3"/>
          <a:stretch>
            <a:fillRect/>
          </a:stretch>
        </p:blipFill>
        <p:spPr>
          <a:xfrm>
            <a:off x="6408115" y="1625803"/>
            <a:ext cx="213970" cy="213970"/>
          </a:xfrm>
          <a:prstGeom prst="rect">
            <a:avLst/>
          </a:prstGeom>
        </p:spPr>
      </p:pic>
      <p:sp>
        <p:nvSpPr>
          <p:cNvPr id="17" name="Text 12"/>
          <p:cNvSpPr txBox="1"/>
          <p:nvPr/>
        </p:nvSpPr>
        <p:spPr>
          <a:xfrm>
            <a:off x="6858000" y="1527048"/>
            <a:ext cx="1645920" cy="41148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Gather Permits</a:t>
            </a:r>
            <a:endParaRPr lang="en-US" sz="1300" dirty="0"/>
          </a:p>
        </p:txBody>
      </p:sp>
      <p:sp>
        <p:nvSpPr>
          <p:cNvPr id="18" name="Text 13"/>
          <p:cNvSpPr txBox="1"/>
          <p:nvPr/>
        </p:nvSpPr>
        <p:spPr>
          <a:xfrm>
            <a:off x="6309360" y="2039112"/>
            <a:ext cx="2194560" cy="457200"/>
          </a:xfrm>
          <a:prstGeom prst="rect">
            <a:avLst/>
          </a:prstGeom>
          <a:noFill/>
          <a:ln/>
        </p:spPr>
        <p:txBody>
          <a:bodyPr wrap="square" lIns="0" tIns="0" rIns="0" bIns="0" rtlCol="0" anchor="t"/>
          <a:lstStyle/>
          <a:p>
            <a:pPr indent="0" marL="0">
              <a:buNone/>
            </a:pPr>
            <a:r>
              <a:rPr lang="en-US" sz="1100" dirty="0">
                <a:solidFill>
                  <a:srgbClr val="5A6672"/>
                </a:solidFill>
                <a:latin typeface="Arial" pitchFamily="34" charset="0"/>
                <a:ea typeface="Arial" pitchFamily="34" charset="-122"/>
                <a:cs typeface="Arial" pitchFamily="34" charset="-120"/>
              </a:rPr>
              <a:t>Kitchen, baths, electrical, plumbing</a:t>
            </a:r>
            <a:endParaRPr lang="en-US" sz="1100" dirty="0"/>
          </a:p>
        </p:txBody>
      </p:sp>
      <p:sp>
        <p:nvSpPr>
          <p:cNvPr id="19" name="Shape 14"/>
          <p:cNvSpPr/>
          <p:nvPr/>
        </p:nvSpPr>
        <p:spPr>
          <a:xfrm>
            <a:off x="457200" y="2834640"/>
            <a:ext cx="2560320" cy="1234440"/>
          </a:xfrm>
          <a:prstGeom prst="roundRect">
            <a:avLst>
              <a:gd name="adj" fmla="val 5926"/>
            </a:avLst>
          </a:prstGeom>
          <a:solidFill>
            <a:srgbClr val="FBF2EE"/>
          </a:solidFill>
          <a:ln w="12700">
            <a:solidFill>
              <a:srgbClr val="FBF2EE"/>
            </a:solidFill>
            <a:prstDash val="solid"/>
          </a:ln>
        </p:spPr>
      </p:sp>
      <p:sp>
        <p:nvSpPr>
          <p:cNvPr id="20" name="Shape 15"/>
          <p:cNvSpPr/>
          <p:nvPr/>
        </p:nvSpPr>
        <p:spPr>
          <a:xfrm>
            <a:off x="640080" y="3035808"/>
            <a:ext cx="411480" cy="411480"/>
          </a:xfrm>
          <a:prstGeom prst="ellipse">
            <a:avLst/>
          </a:prstGeom>
          <a:solidFill>
            <a:srgbClr val="C2410C"/>
          </a:solidFill>
          <a:ln w="12700">
            <a:solidFill>
              <a:srgbClr val="C2410C"/>
            </a:solidFill>
            <a:prstDash val="solid"/>
          </a:ln>
        </p:spPr>
      </p:sp>
      <p:pic>
        <p:nvPicPr>
          <p:cNvPr id="21" name="Image 3" descr="preencoded.png">    </p:cNvPr>
          <p:cNvPicPr>
            <a:picLocks noChangeAspect="1"/>
          </p:cNvPicPr>
          <p:nvPr/>
        </p:nvPicPr>
        <p:blipFill>
          <a:blip r:embed="rId4"/>
          <a:stretch>
            <a:fillRect/>
          </a:stretch>
        </p:blipFill>
        <p:spPr>
          <a:xfrm>
            <a:off x="738835" y="3134563"/>
            <a:ext cx="213970" cy="213970"/>
          </a:xfrm>
          <a:prstGeom prst="rect">
            <a:avLst/>
          </a:prstGeom>
        </p:spPr>
      </p:pic>
      <p:sp>
        <p:nvSpPr>
          <p:cNvPr id="22" name="Text 16"/>
          <p:cNvSpPr txBox="1"/>
          <p:nvPr/>
        </p:nvSpPr>
        <p:spPr>
          <a:xfrm>
            <a:off x="1188720" y="3035808"/>
            <a:ext cx="1645920" cy="41148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Easy Showings</a:t>
            </a:r>
            <a:endParaRPr lang="en-US" sz="1300" dirty="0"/>
          </a:p>
        </p:txBody>
      </p:sp>
      <p:sp>
        <p:nvSpPr>
          <p:cNvPr id="23" name="Text 17"/>
          <p:cNvSpPr txBox="1"/>
          <p:nvPr/>
        </p:nvSpPr>
        <p:spPr>
          <a:xfrm>
            <a:off x="640080" y="3547872"/>
            <a:ext cx="2194560" cy="457200"/>
          </a:xfrm>
          <a:prstGeom prst="rect">
            <a:avLst/>
          </a:prstGeom>
          <a:noFill/>
          <a:ln/>
        </p:spPr>
        <p:txBody>
          <a:bodyPr wrap="square" lIns="0" tIns="0" rIns="0" bIns="0" rtlCol="0" anchor="t"/>
          <a:lstStyle/>
          <a:p>
            <a:pPr indent="0" marL="0">
              <a:buNone/>
            </a:pPr>
            <a:r>
              <a:rPr lang="en-US" sz="1100" dirty="0">
                <a:solidFill>
                  <a:srgbClr val="5A6672"/>
                </a:solidFill>
                <a:latin typeface="Arial" pitchFamily="34" charset="0"/>
                <a:ea typeface="Arial" pitchFamily="34" charset="-122"/>
                <a:cs typeface="Arial" pitchFamily="34" charset="-120"/>
              </a:rPr>
              <a:t>Lockbox access with short notice</a:t>
            </a:r>
            <a:endParaRPr lang="en-US" sz="1100" dirty="0"/>
          </a:p>
        </p:txBody>
      </p:sp>
      <p:sp>
        <p:nvSpPr>
          <p:cNvPr id="24" name="Shape 18"/>
          <p:cNvSpPr/>
          <p:nvPr/>
        </p:nvSpPr>
        <p:spPr>
          <a:xfrm>
            <a:off x="3291840" y="2834640"/>
            <a:ext cx="2560320" cy="1234440"/>
          </a:xfrm>
          <a:prstGeom prst="roundRect">
            <a:avLst>
              <a:gd name="adj" fmla="val 5926"/>
            </a:avLst>
          </a:prstGeom>
          <a:solidFill>
            <a:srgbClr val="FBF2EE"/>
          </a:solidFill>
          <a:ln w="12700">
            <a:solidFill>
              <a:srgbClr val="FBF2EE"/>
            </a:solidFill>
            <a:prstDash val="solid"/>
          </a:ln>
        </p:spPr>
      </p:sp>
      <p:sp>
        <p:nvSpPr>
          <p:cNvPr id="25" name="Shape 19"/>
          <p:cNvSpPr/>
          <p:nvPr/>
        </p:nvSpPr>
        <p:spPr>
          <a:xfrm>
            <a:off x="3474720" y="3035808"/>
            <a:ext cx="411480" cy="411480"/>
          </a:xfrm>
          <a:prstGeom prst="ellipse">
            <a:avLst/>
          </a:prstGeom>
          <a:solidFill>
            <a:srgbClr val="C2410C"/>
          </a:solidFill>
          <a:ln w="12700">
            <a:solidFill>
              <a:srgbClr val="C2410C"/>
            </a:solidFill>
            <a:prstDash val="solid"/>
          </a:ln>
        </p:spPr>
      </p:sp>
      <p:pic>
        <p:nvPicPr>
          <p:cNvPr id="26" name="Image 4" descr="preencoded.png">    </p:cNvPr>
          <p:cNvPicPr>
            <a:picLocks noChangeAspect="1"/>
          </p:cNvPicPr>
          <p:nvPr/>
        </p:nvPicPr>
        <p:blipFill>
          <a:blip r:embed="rId5"/>
          <a:stretch>
            <a:fillRect/>
          </a:stretch>
        </p:blipFill>
        <p:spPr>
          <a:xfrm>
            <a:off x="3573475" y="3134563"/>
            <a:ext cx="213970" cy="213970"/>
          </a:xfrm>
          <a:prstGeom prst="rect">
            <a:avLst/>
          </a:prstGeom>
        </p:spPr>
      </p:pic>
      <p:sp>
        <p:nvSpPr>
          <p:cNvPr id="27" name="Text 20"/>
          <p:cNvSpPr txBox="1"/>
          <p:nvPr/>
        </p:nvSpPr>
        <p:spPr>
          <a:xfrm>
            <a:off x="4023360" y="3035808"/>
            <a:ext cx="1645920" cy="41148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Seller-Credit Budget</a:t>
            </a:r>
            <a:endParaRPr lang="en-US" sz="1300" dirty="0"/>
          </a:p>
        </p:txBody>
      </p:sp>
      <p:sp>
        <p:nvSpPr>
          <p:cNvPr id="28" name="Text 21"/>
          <p:cNvSpPr txBox="1"/>
          <p:nvPr/>
        </p:nvSpPr>
        <p:spPr>
          <a:xfrm>
            <a:off x="3474720" y="3547872"/>
            <a:ext cx="2194560" cy="457200"/>
          </a:xfrm>
          <a:prstGeom prst="rect">
            <a:avLst/>
          </a:prstGeom>
          <a:noFill/>
          <a:ln/>
        </p:spPr>
        <p:txBody>
          <a:bodyPr wrap="square" lIns="0" tIns="0" rIns="0" bIns="0" rtlCol="0" anchor="t"/>
          <a:lstStyle/>
          <a:p>
            <a:pPr indent="0" marL="0">
              <a:buNone/>
            </a:pPr>
            <a:r>
              <a:rPr lang="en-US" sz="1100" dirty="0">
                <a:solidFill>
                  <a:srgbClr val="5A6672"/>
                </a:solidFill>
                <a:latin typeface="Arial" pitchFamily="34" charset="0"/>
                <a:ea typeface="Arial" pitchFamily="34" charset="-122"/>
                <a:cs typeface="Arial" pitchFamily="34" charset="-120"/>
              </a:rPr>
              <a:t>Decide it now, before offers arrive</a:t>
            </a:r>
            <a:endParaRPr lang="en-US" sz="1100" dirty="0"/>
          </a:p>
        </p:txBody>
      </p:sp>
      <p:sp>
        <p:nvSpPr>
          <p:cNvPr id="29" name="Shape 22"/>
          <p:cNvSpPr/>
          <p:nvPr/>
        </p:nvSpPr>
        <p:spPr>
          <a:xfrm>
            <a:off x="6126480" y="2834640"/>
            <a:ext cx="2560320" cy="1234440"/>
          </a:xfrm>
          <a:prstGeom prst="roundRect">
            <a:avLst>
              <a:gd name="adj" fmla="val 5926"/>
            </a:avLst>
          </a:prstGeom>
          <a:solidFill>
            <a:srgbClr val="FBF2EE"/>
          </a:solidFill>
          <a:ln w="12700">
            <a:solidFill>
              <a:srgbClr val="FBF2EE"/>
            </a:solidFill>
            <a:prstDash val="solid"/>
          </a:ln>
        </p:spPr>
      </p:sp>
      <p:sp>
        <p:nvSpPr>
          <p:cNvPr id="30" name="Shape 23"/>
          <p:cNvSpPr/>
          <p:nvPr/>
        </p:nvSpPr>
        <p:spPr>
          <a:xfrm>
            <a:off x="6309360" y="3035808"/>
            <a:ext cx="411480" cy="411480"/>
          </a:xfrm>
          <a:prstGeom prst="ellipse">
            <a:avLst/>
          </a:prstGeom>
          <a:solidFill>
            <a:srgbClr val="C2410C"/>
          </a:solidFill>
          <a:ln w="12700">
            <a:solidFill>
              <a:srgbClr val="C2410C"/>
            </a:solidFill>
            <a:prstDash val="solid"/>
          </a:ln>
        </p:spPr>
      </p:sp>
      <p:pic>
        <p:nvPicPr>
          <p:cNvPr id="31" name="Image 5" descr="preencoded.png">    </p:cNvPr>
          <p:cNvPicPr>
            <a:picLocks noChangeAspect="1"/>
          </p:cNvPicPr>
          <p:nvPr/>
        </p:nvPicPr>
        <p:blipFill>
          <a:blip r:embed="rId6"/>
          <a:stretch>
            <a:fillRect/>
          </a:stretch>
        </p:blipFill>
        <p:spPr>
          <a:xfrm>
            <a:off x="6408115" y="3134563"/>
            <a:ext cx="213970" cy="213970"/>
          </a:xfrm>
          <a:prstGeom prst="rect">
            <a:avLst/>
          </a:prstGeom>
        </p:spPr>
      </p:pic>
      <p:sp>
        <p:nvSpPr>
          <p:cNvPr id="32" name="Text 24"/>
          <p:cNvSpPr txBox="1"/>
          <p:nvPr/>
        </p:nvSpPr>
        <p:spPr>
          <a:xfrm>
            <a:off x="6858000" y="3035808"/>
            <a:ext cx="1645920" cy="41148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3-Week Review</a:t>
            </a:r>
            <a:endParaRPr lang="en-US" sz="1300" dirty="0"/>
          </a:p>
        </p:txBody>
      </p:sp>
      <p:sp>
        <p:nvSpPr>
          <p:cNvPr id="33" name="Text 25"/>
          <p:cNvSpPr txBox="1"/>
          <p:nvPr/>
        </p:nvSpPr>
        <p:spPr>
          <a:xfrm>
            <a:off x="6309360" y="3547872"/>
            <a:ext cx="2194560" cy="457200"/>
          </a:xfrm>
          <a:prstGeom prst="rect">
            <a:avLst/>
          </a:prstGeom>
          <a:noFill/>
          <a:ln/>
        </p:spPr>
        <p:txBody>
          <a:bodyPr wrap="square" lIns="0" tIns="0" rIns="0" bIns="0" rtlCol="0" anchor="t"/>
          <a:lstStyle/>
          <a:p>
            <a:pPr indent="0" marL="0">
              <a:buNone/>
            </a:pPr>
            <a:r>
              <a:rPr lang="en-US" sz="1100" dirty="0">
                <a:solidFill>
                  <a:srgbClr val="5A6672"/>
                </a:solidFill>
                <a:latin typeface="Arial" pitchFamily="34" charset="0"/>
                <a:ea typeface="Arial" pitchFamily="34" charset="-122"/>
                <a:cs typeface="Arial" pitchFamily="34" charset="-120"/>
              </a:rPr>
              <a:t>Steady showings but no offer? Revisit the price</a:t>
            </a:r>
            <a:endParaRPr lang="en-US" sz="1100" dirty="0"/>
          </a:p>
        </p:txBody>
      </p:sp>
      <p:sp>
        <p:nvSpPr>
          <p:cNvPr id="34" name="Text 26"/>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35" name="Text 27"/>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12</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F3A5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Next Steps</a:t>
            </a:r>
            <a:endParaRPr lang="en-US" sz="2600" dirty="0"/>
          </a:p>
        </p:txBody>
      </p:sp>
      <p:sp>
        <p:nvSpPr>
          <p:cNvPr id="3" name="Text 1"/>
          <p:cNvSpPr txBox="1"/>
          <p:nvPr/>
        </p:nvSpPr>
        <p:spPr>
          <a:xfrm>
            <a:off x="457200" y="1051560"/>
            <a:ext cx="3931920" cy="320040"/>
          </a:xfrm>
          <a:prstGeom prst="rect">
            <a:avLst/>
          </a:prstGeom>
          <a:noFill/>
          <a:ln/>
        </p:spPr>
        <p:txBody>
          <a:bodyPr wrap="square" lIns="0" tIns="0" rIns="0" bIns="0" rtlCol="0" anchor="ctr"/>
          <a:lstStyle/>
          <a:p>
            <a:pPr indent="0" marL="0">
              <a:buNone/>
            </a:pPr>
            <a:r>
              <a:rPr lang="en-US" sz="1500" b="1" dirty="0">
                <a:solidFill>
                  <a:srgbClr val="F0D1C5"/>
                </a:solidFill>
                <a:latin typeface="Arial" pitchFamily="34" charset="0"/>
                <a:ea typeface="Arial" pitchFamily="34" charset="-122"/>
                <a:cs typeface="Arial" pitchFamily="34" charset="-120"/>
              </a:rPr>
              <a:t>What I Need from You</a:t>
            </a:r>
            <a:endParaRPr lang="en-US" sz="1500" dirty="0"/>
          </a:p>
        </p:txBody>
      </p:sp>
      <p:sp>
        <p:nvSpPr>
          <p:cNvPr id="4" name="Text 2"/>
          <p:cNvSpPr txBox="1"/>
          <p:nvPr/>
        </p:nvSpPr>
        <p:spPr>
          <a:xfrm>
            <a:off x="457200" y="1463040"/>
            <a:ext cx="3931920" cy="274320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Roof permit and date, plus any 4-point or wind-mitigation report</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Ages of AC, water heater, and pool equipment</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Renovation permits</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Anything known about leaks, claims, or repairs</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Your estimated mortgage payoff and target closing date</a:t>
            </a:r>
            <a:endParaRPr lang="en-US" sz="1250" dirty="0"/>
          </a:p>
        </p:txBody>
      </p:sp>
      <p:sp>
        <p:nvSpPr>
          <p:cNvPr id="5" name="Text 3"/>
          <p:cNvSpPr txBox="1"/>
          <p:nvPr/>
        </p:nvSpPr>
        <p:spPr>
          <a:xfrm>
            <a:off x="4937760" y="1051560"/>
            <a:ext cx="3749040" cy="320040"/>
          </a:xfrm>
          <a:prstGeom prst="rect">
            <a:avLst/>
          </a:prstGeom>
          <a:noFill/>
          <a:ln/>
        </p:spPr>
        <p:txBody>
          <a:bodyPr wrap="square" lIns="0" tIns="0" rIns="0" bIns="0" rtlCol="0" anchor="ctr"/>
          <a:lstStyle/>
          <a:p>
            <a:pPr indent="0" marL="0">
              <a:buNone/>
            </a:pPr>
            <a:r>
              <a:rPr lang="en-US" sz="1500" b="1" dirty="0">
                <a:solidFill>
                  <a:srgbClr val="F0D1C5"/>
                </a:solidFill>
                <a:latin typeface="Arial" pitchFamily="34" charset="0"/>
                <a:ea typeface="Arial" pitchFamily="34" charset="-122"/>
                <a:cs typeface="Arial" pitchFamily="34" charset="-120"/>
              </a:rPr>
              <a:t>Timeline to Go Live</a:t>
            </a:r>
            <a:endParaRPr lang="en-US" sz="1500" dirty="0"/>
          </a:p>
        </p:txBody>
      </p:sp>
      <p:sp>
        <p:nvSpPr>
          <p:cNvPr id="6" name="Shape 4"/>
          <p:cNvSpPr/>
          <p:nvPr/>
        </p:nvSpPr>
        <p:spPr>
          <a:xfrm>
            <a:off x="4937760" y="1508760"/>
            <a:ext cx="384048" cy="384048"/>
          </a:xfrm>
          <a:prstGeom prst="ellipse">
            <a:avLst/>
          </a:prstGeom>
          <a:solidFill>
            <a:srgbClr val="C2410C"/>
          </a:solidFill>
          <a:ln w="12700">
            <a:solidFill>
              <a:srgbClr val="C2410C"/>
            </a:solidFill>
            <a:prstDash val="solid"/>
          </a:ln>
        </p:spPr>
      </p:sp>
      <p:sp>
        <p:nvSpPr>
          <p:cNvPr id="7" name="Text 5"/>
          <p:cNvSpPr txBox="1"/>
          <p:nvPr/>
        </p:nvSpPr>
        <p:spPr>
          <a:xfrm>
            <a:off x="4937760" y="15087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8" name="Text 6"/>
          <p:cNvSpPr txBox="1"/>
          <p:nvPr/>
        </p:nvSpPr>
        <p:spPr>
          <a:xfrm>
            <a:off x="5486400" y="1490472"/>
            <a:ext cx="3200400" cy="2286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This Week</a:t>
            </a:r>
            <a:endParaRPr lang="en-US" sz="1200" dirty="0"/>
          </a:p>
        </p:txBody>
      </p:sp>
      <p:sp>
        <p:nvSpPr>
          <p:cNvPr id="9" name="Text 7"/>
          <p:cNvSpPr txBox="1"/>
          <p:nvPr/>
        </p:nvSpPr>
        <p:spPr>
          <a:xfrm>
            <a:off x="5486400" y="1709928"/>
            <a:ext cx="3200400" cy="274320"/>
          </a:xfrm>
          <a:prstGeom prst="rect">
            <a:avLst/>
          </a:prstGeom>
          <a:noFill/>
          <a:ln/>
        </p:spPr>
        <p:txBody>
          <a:bodyPr wrap="square" lIns="0" tIns="0" rIns="0" bIns="0" rtlCol="0" anchor="ctr"/>
          <a:lstStyle/>
          <a:p>
            <a:pPr indent="0" marL="0">
              <a:buNone/>
            </a:pPr>
            <a:r>
              <a:rPr lang="en-US" sz="1100" dirty="0">
                <a:solidFill>
                  <a:srgbClr val="D2D8DF"/>
                </a:solidFill>
                <a:latin typeface="Arial" pitchFamily="34" charset="0"/>
                <a:ea typeface="Arial" pitchFamily="34" charset="-122"/>
                <a:cs typeface="Arial" pitchFamily="34" charset="-120"/>
              </a:rPr>
              <a:t>Sign listing agreement; order inspections</a:t>
            </a:r>
            <a:endParaRPr lang="en-US" sz="1100" dirty="0"/>
          </a:p>
        </p:txBody>
      </p:sp>
      <p:sp>
        <p:nvSpPr>
          <p:cNvPr id="10" name="Shape 8"/>
          <p:cNvSpPr/>
          <p:nvPr/>
        </p:nvSpPr>
        <p:spPr>
          <a:xfrm>
            <a:off x="4937760" y="2194560"/>
            <a:ext cx="384048" cy="384048"/>
          </a:xfrm>
          <a:prstGeom prst="ellipse">
            <a:avLst/>
          </a:prstGeom>
          <a:solidFill>
            <a:srgbClr val="C2410C"/>
          </a:solidFill>
          <a:ln w="12700">
            <a:solidFill>
              <a:srgbClr val="C2410C"/>
            </a:solidFill>
            <a:prstDash val="solid"/>
          </a:ln>
        </p:spPr>
      </p:sp>
      <p:sp>
        <p:nvSpPr>
          <p:cNvPr id="11" name="Text 9"/>
          <p:cNvSpPr txBox="1"/>
          <p:nvPr/>
        </p:nvSpPr>
        <p:spPr>
          <a:xfrm>
            <a:off x="4937760" y="21945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2" name="Text 10"/>
          <p:cNvSpPr txBox="1"/>
          <p:nvPr/>
        </p:nvSpPr>
        <p:spPr>
          <a:xfrm>
            <a:off x="5486400" y="2176272"/>
            <a:ext cx="3200400" cy="2286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Week 2</a:t>
            </a:r>
            <a:endParaRPr lang="en-US" sz="1200" dirty="0"/>
          </a:p>
        </p:txBody>
      </p:sp>
      <p:sp>
        <p:nvSpPr>
          <p:cNvPr id="13" name="Text 11"/>
          <p:cNvSpPr txBox="1"/>
          <p:nvPr/>
        </p:nvSpPr>
        <p:spPr>
          <a:xfrm>
            <a:off x="5486400" y="2395728"/>
            <a:ext cx="3200400" cy="274320"/>
          </a:xfrm>
          <a:prstGeom prst="rect">
            <a:avLst/>
          </a:prstGeom>
          <a:noFill/>
          <a:ln/>
        </p:spPr>
        <p:txBody>
          <a:bodyPr wrap="square" lIns="0" tIns="0" rIns="0" bIns="0" rtlCol="0" anchor="ctr"/>
          <a:lstStyle/>
          <a:p>
            <a:pPr indent="0" marL="0">
              <a:buNone/>
            </a:pPr>
            <a:r>
              <a:rPr lang="en-US" sz="1100" dirty="0">
                <a:solidFill>
                  <a:srgbClr val="D2D8DF"/>
                </a:solidFill>
                <a:latin typeface="Arial" pitchFamily="34" charset="0"/>
                <a:ea typeface="Arial" pitchFamily="34" charset="-122"/>
                <a:cs typeface="Arial" pitchFamily="34" charset="-120"/>
              </a:rPr>
              <a:t>Photos, documents, and pricing review</a:t>
            </a:r>
            <a:endParaRPr lang="en-US" sz="1100" dirty="0"/>
          </a:p>
        </p:txBody>
      </p:sp>
      <p:sp>
        <p:nvSpPr>
          <p:cNvPr id="14" name="Shape 12"/>
          <p:cNvSpPr/>
          <p:nvPr/>
        </p:nvSpPr>
        <p:spPr>
          <a:xfrm>
            <a:off x="4937760" y="2880360"/>
            <a:ext cx="384048" cy="384048"/>
          </a:xfrm>
          <a:prstGeom prst="ellipse">
            <a:avLst/>
          </a:prstGeom>
          <a:solidFill>
            <a:srgbClr val="C2410C"/>
          </a:solidFill>
          <a:ln w="12700">
            <a:solidFill>
              <a:srgbClr val="C2410C"/>
            </a:solidFill>
            <a:prstDash val="solid"/>
          </a:ln>
        </p:spPr>
      </p:sp>
      <p:sp>
        <p:nvSpPr>
          <p:cNvPr id="15" name="Text 13"/>
          <p:cNvSpPr txBox="1"/>
          <p:nvPr/>
        </p:nvSpPr>
        <p:spPr>
          <a:xfrm>
            <a:off x="4937760" y="28803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6" name="Text 14"/>
          <p:cNvSpPr txBox="1"/>
          <p:nvPr/>
        </p:nvSpPr>
        <p:spPr>
          <a:xfrm>
            <a:off x="5486400" y="2862072"/>
            <a:ext cx="3200400" cy="2286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Week 3</a:t>
            </a:r>
            <a:endParaRPr lang="en-US" sz="1200" dirty="0"/>
          </a:p>
        </p:txBody>
      </p:sp>
      <p:sp>
        <p:nvSpPr>
          <p:cNvPr id="17" name="Text 15"/>
          <p:cNvSpPr txBox="1"/>
          <p:nvPr/>
        </p:nvSpPr>
        <p:spPr>
          <a:xfrm>
            <a:off x="5486400" y="3081528"/>
            <a:ext cx="3200400" cy="274320"/>
          </a:xfrm>
          <a:prstGeom prst="rect">
            <a:avLst/>
          </a:prstGeom>
          <a:noFill/>
          <a:ln/>
        </p:spPr>
        <p:txBody>
          <a:bodyPr wrap="square" lIns="0" tIns="0" rIns="0" bIns="0" rtlCol="0" anchor="ctr"/>
          <a:lstStyle/>
          <a:p>
            <a:pPr indent="0" marL="0">
              <a:buNone/>
            </a:pPr>
            <a:r>
              <a:rPr lang="en-US" sz="1100" dirty="0">
                <a:solidFill>
                  <a:srgbClr val="D2D8DF"/>
                </a:solidFill>
                <a:latin typeface="Arial" pitchFamily="34" charset="0"/>
                <a:ea typeface="Arial" pitchFamily="34" charset="-122"/>
                <a:cs typeface="Arial" pitchFamily="34" charset="-120"/>
              </a:rPr>
              <a:t>Go live at $469,900</a:t>
            </a:r>
            <a:endParaRPr lang="en-US" sz="1100" dirty="0"/>
          </a:p>
        </p:txBody>
      </p:sp>
      <p:sp>
        <p:nvSpPr>
          <p:cNvPr id="18" name="Shape 16"/>
          <p:cNvSpPr/>
          <p:nvPr/>
        </p:nvSpPr>
        <p:spPr>
          <a:xfrm>
            <a:off x="4937760" y="3566160"/>
            <a:ext cx="384048" cy="384048"/>
          </a:xfrm>
          <a:prstGeom prst="ellipse">
            <a:avLst/>
          </a:prstGeom>
          <a:solidFill>
            <a:srgbClr val="C2410C"/>
          </a:solidFill>
          <a:ln w="12700">
            <a:solidFill>
              <a:srgbClr val="C2410C"/>
            </a:solidFill>
            <a:prstDash val="solid"/>
          </a:ln>
        </p:spPr>
      </p:sp>
      <p:sp>
        <p:nvSpPr>
          <p:cNvPr id="19" name="Text 17"/>
          <p:cNvSpPr txBox="1"/>
          <p:nvPr/>
        </p:nvSpPr>
        <p:spPr>
          <a:xfrm>
            <a:off x="4937760" y="35661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0" name="Text 18"/>
          <p:cNvSpPr txBox="1"/>
          <p:nvPr/>
        </p:nvSpPr>
        <p:spPr>
          <a:xfrm>
            <a:off x="5486400" y="3547872"/>
            <a:ext cx="3200400" cy="2286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Week 6</a:t>
            </a:r>
            <a:endParaRPr lang="en-US" sz="1200" dirty="0"/>
          </a:p>
        </p:txBody>
      </p:sp>
      <p:sp>
        <p:nvSpPr>
          <p:cNvPr id="21" name="Text 19"/>
          <p:cNvSpPr txBox="1"/>
          <p:nvPr/>
        </p:nvSpPr>
        <p:spPr>
          <a:xfrm>
            <a:off x="5486400" y="3767328"/>
            <a:ext cx="3200400" cy="274320"/>
          </a:xfrm>
          <a:prstGeom prst="rect">
            <a:avLst/>
          </a:prstGeom>
          <a:noFill/>
          <a:ln/>
        </p:spPr>
        <p:txBody>
          <a:bodyPr wrap="square" lIns="0" tIns="0" rIns="0" bIns="0" rtlCol="0" anchor="ctr"/>
          <a:lstStyle/>
          <a:p>
            <a:pPr indent="0" marL="0">
              <a:buNone/>
            </a:pPr>
            <a:r>
              <a:rPr lang="en-US" sz="1100" dirty="0">
                <a:solidFill>
                  <a:srgbClr val="D2D8DF"/>
                </a:solidFill>
                <a:latin typeface="Arial" pitchFamily="34" charset="0"/>
                <a:ea typeface="Arial" pitchFamily="34" charset="-122"/>
                <a:cs typeface="Arial" pitchFamily="34" charset="-120"/>
              </a:rPr>
              <a:t>Price review if no offer</a:t>
            </a:r>
            <a:endParaRPr lang="en-US" sz="1100" dirty="0"/>
          </a:p>
        </p:txBody>
      </p:sp>
      <p:sp>
        <p:nvSpPr>
          <p:cNvPr id="22" name="Text 20"/>
          <p:cNvSpPr txBox="1"/>
          <p:nvPr/>
        </p:nvSpPr>
        <p:spPr>
          <a:xfrm>
            <a:off x="457200" y="4732020"/>
            <a:ext cx="6400800" cy="274320"/>
          </a:xfrm>
          <a:prstGeom prst="rect">
            <a:avLst/>
          </a:prstGeom>
          <a:noFill/>
          <a:ln/>
        </p:spPr>
        <p:txBody>
          <a:bodyPr wrap="square" lIns="0" tIns="0" rIns="0" bIns="0" rtlCol="0" anchor="ctr"/>
          <a:lstStyle/>
          <a:p>
            <a:pPr indent="0" marL="0">
              <a:buNone/>
            </a:pPr>
            <a:r>
              <a:rPr lang="en-US" sz="1000" dirty="0">
                <a:solidFill>
                  <a:srgbClr val="D2D8DF"/>
                </a:solidFill>
                <a:latin typeface="Arial" pitchFamily="34" charset="0"/>
                <a:ea typeface="Arial" pitchFamily="34" charset="-122"/>
                <a:cs typeface="Arial" pitchFamily="34" charset="-120"/>
              </a:rPr>
              <a:t>Jordan Avery, REALTOR® · (407) 555-0142 · jordan@example.com</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Appendix: Estimated Net Proceeds</a:t>
            </a:r>
            <a:endParaRPr lang="en-US" sz="26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3291840"/>
                <a:gridCol w="1645920"/>
                <a:gridCol w="1645920"/>
                <a:gridCol w="1645920"/>
              </a:tblGrid>
              <a:tr h="310896">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Estimated at Closing</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C2410C"/>
                    </a:solidFill>
                  </a:tcPr>
                </a:tc>
                <a:tc>
                  <a:txBody>
                    <a:bodyPr/>
                    <a:lstStyle/>
                    <a:p>
                      <a:pPr algn="r" indent="0" marL="0">
                        <a:buNone/>
                      </a:pPr>
                      <a:r>
                        <a:rPr lang="en-US" sz="1100" b="1" dirty="0">
                          <a:solidFill>
                            <a:srgbClr val="FFFFFF"/>
                          </a:solidFill>
                          <a:latin typeface="Arial" pitchFamily="34" charset="0"/>
                          <a:ea typeface="Arial" pitchFamily="34" charset="-122"/>
                          <a:cs typeface="Arial" pitchFamily="34" charset="-120"/>
                        </a:rPr>
                        <a:t>List $479,900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C2410C"/>
                    </a:solidFill>
                  </a:tcPr>
                </a:tc>
                <a:tc>
                  <a:txBody>
                    <a:bodyPr/>
                    <a:lstStyle/>
                    <a:p>
                      <a:pPr algn="r" indent="0" marL="0">
                        <a:buNone/>
                      </a:pPr>
                      <a:r>
                        <a:rPr lang="en-US" sz="1100" b="1" dirty="0">
                          <a:solidFill>
                            <a:srgbClr val="FFFFFF"/>
                          </a:solidFill>
                          <a:latin typeface="Arial" pitchFamily="34" charset="0"/>
                          <a:ea typeface="Arial" pitchFamily="34" charset="-122"/>
                          <a:cs typeface="Arial" pitchFamily="34" charset="-120"/>
                        </a:rPr>
                        <a:t>List $469,900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C2410C"/>
                    </a:solidFill>
                  </a:tcPr>
                </a:tc>
                <a:tc>
                  <a:txBody>
                    <a:bodyPr/>
                    <a:lstStyle/>
                    <a:p>
                      <a:pPr algn="r" indent="0" marL="0">
                        <a:buNone/>
                      </a:pPr>
                      <a:r>
                        <a:rPr lang="en-US" sz="1100" b="1" dirty="0">
                          <a:solidFill>
                            <a:srgbClr val="FFFFFF"/>
                          </a:solidFill>
                          <a:latin typeface="Arial" pitchFamily="34" charset="0"/>
                          <a:ea typeface="Arial" pitchFamily="34" charset="-122"/>
                          <a:cs typeface="Arial" pitchFamily="34" charset="-120"/>
                        </a:rPr>
                        <a:t>List $459,900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C2410C"/>
                    </a:solidFill>
                  </a:tcPr>
                </a:tc>
              </a:tr>
              <a:tr h="310896">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Expected Sale Price</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$463,000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$462,000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$460,000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r h="310896">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Listing Brokerage (2.5%)</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−$11,575</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−$11,550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−$11,500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r>
              <a:tr h="310896">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Buyer's Agent Compensation (2.5%)</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−$11,575</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−$11,550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−$11,500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r h="310896">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Documentary Stamp Tax on the Deed (0.70%)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−$3,241</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−$3,234</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−$3,220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r>
              <a:tr h="310896">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Owner's Title Insurance</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−$2,390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−$2,385</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−$2,375</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r h="310896">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Title Company Fees (Estimate)</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−$1,145</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−$1,145</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−$1,145</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r>
              <a:tr h="310896">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Seller-Paid Buyer Costs</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−$10,000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−$10,000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−$5,000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r h="310896">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Estimated Net Before Mortgage Payoff</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$423,074</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$422,136</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$425,260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r>
              <a:tr h="310896">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Holding Costs Until Closing (Est.)</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−$1,706</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−$1,076</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−$774</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r h="310896">
                <a:tc>
                  <a:txBody>
                    <a:bodyPr/>
                    <a:lstStyle/>
                    <a:p>
                      <a:pPr algn="l" indent="0" marL="0">
                        <a:buNone/>
                      </a:pPr>
                      <a:r>
                        <a:rPr lang="en-US" sz="1100" b="1" dirty="0">
                          <a:solidFill>
                            <a:srgbClr val="1A1A1A"/>
                          </a:solidFill>
                          <a:latin typeface="Arial" pitchFamily="34" charset="0"/>
                          <a:ea typeface="Arial" pitchFamily="34" charset="-122"/>
                          <a:cs typeface="Arial" pitchFamily="34" charset="-120"/>
                        </a:rPr>
                        <a:t>Net After Holding Costs</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BF2EE"/>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$421,368</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BF2EE"/>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$421,060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BF2EE"/>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$424,486</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BF2EE"/>
                    </a:solidFill>
                  </a:tcPr>
                </a:tc>
              </a:tr>
            </a:tbl>
          </a:graphicData>
        </a:graphic>
      </p:graphicFrame>
      <p:sp>
        <p:nvSpPr>
          <p:cNvPr id="4" name="Text 1"/>
          <p:cNvSpPr txBox="1"/>
          <p:nvPr/>
        </p:nvSpPr>
        <p:spPr>
          <a:xfrm>
            <a:off x="457200" y="3840480"/>
            <a:ext cx="8229600" cy="845820"/>
          </a:xfrm>
          <a:prstGeom prst="rect">
            <a:avLst/>
          </a:prstGeom>
          <a:noFill/>
          <a:ln/>
        </p:spPr>
        <p:txBody>
          <a:bodyPr wrap="square" lIns="0" tIns="0" rIns="0" bIns="0" rtlCol="0" anchor="t">
            <a:normAutofit/>
          </a:bodyPr>
          <a:lstStyle/>
          <a:p>
            <a:pPr indent="0" marL="0">
              <a:buNone/>
            </a:pPr>
            <a:r>
              <a:rPr lang="en-US" sz="950" dirty="0">
                <a:solidFill>
                  <a:srgbClr val="5A6672"/>
                </a:solidFill>
                <a:latin typeface="Arial" pitchFamily="34" charset="0"/>
                <a:ea typeface="Arial" pitchFamily="34" charset="-122"/>
                <a:cs typeface="Arial" pitchFamily="34" charset="-120"/>
              </a:rPr>
              <a:t>Holding costs: about $530 a month (loan interest, HOA, insurance and utilities; property tax is in the proration) for each option's time to contract plus 1 month to close. Commissions are negotiable and not set by law. Not included: this year's property tax proration. Taxes here are paid in arrears, so the seller credits the buyer from Jan 1; add the tax bill and the expected closing date to include it. Title company fees are typical local charges (settlement fee $700, title search $250, municipal lien search $125, recording $70); the title company's quote replaces them. Not included: mortgage payoff, this year's property tax proration, and repairs after inspection. Estimates only; the closing agent provides exact figures.</a:t>
            </a:r>
            <a:endParaRPr lang="en-US" sz="950" dirty="0"/>
          </a:p>
        </p:txBody>
      </p:sp>
      <p:sp>
        <p:nvSpPr>
          <p:cNvPr id="5" name="Text 2"/>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6" name="Text 3"/>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14</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Appendix: Comparable Sales</a:t>
            </a:r>
            <a:endParaRPr lang="en-US" sz="26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3291840"/>
                <a:gridCol w="1645920"/>
                <a:gridCol w="1645920"/>
                <a:gridCol w="1645920"/>
              </a:tblGrid>
              <a:tr h="310896">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Sale</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C2410C"/>
                    </a:solidFill>
                  </a:tcPr>
                </a:tc>
                <a:tc>
                  <a:txBody>
                    <a:bodyPr/>
                    <a:lstStyle/>
                    <a:p>
                      <a:pPr algn="r" indent="0" marL="0">
                        <a:buNone/>
                      </a:pPr>
                      <a:r>
                        <a:rPr lang="en-US" sz="1100" b="1" dirty="0">
                          <a:solidFill>
                            <a:srgbClr val="FFFFFF"/>
                          </a:solidFill>
                          <a:latin typeface="Arial" pitchFamily="34" charset="0"/>
                          <a:ea typeface="Arial" pitchFamily="34" charset="-122"/>
                          <a:cs typeface="Arial" pitchFamily="34" charset="-120"/>
                        </a:rPr>
                        <a:t>Sold For</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C2410C"/>
                    </a:solidFill>
                  </a:tcPr>
                </a:tc>
                <a:tc>
                  <a:txBody>
                    <a:bodyPr/>
                    <a:lstStyle/>
                    <a:p>
                      <a:pPr algn="r" indent="0" marL="0">
                        <a:buNone/>
                      </a:pPr>
                      <a:r>
                        <a:rPr lang="en-US" sz="1100" b="1" dirty="0">
                          <a:solidFill>
                            <a:srgbClr val="FFFFFF"/>
                          </a:solidFill>
                          <a:latin typeface="Arial" pitchFamily="34" charset="0"/>
                          <a:ea typeface="Arial" pitchFamily="34" charset="-122"/>
                          <a:cs typeface="Arial" pitchFamily="34" charset="-120"/>
                        </a:rPr>
                        <a:t>Seller Paid</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C2410C"/>
                    </a:solidFill>
                  </a:tcPr>
                </a:tc>
                <a:tc>
                  <a:txBody>
                    <a:bodyPr/>
                    <a:lstStyle/>
                    <a:p>
                      <a:pPr algn="r" indent="0" marL="0">
                        <a:buNone/>
                      </a:pPr>
                      <a:r>
                        <a:rPr lang="en-US" sz="1100" b="1" dirty="0">
                          <a:solidFill>
                            <a:srgbClr val="FFFFFF"/>
                          </a:solidFill>
                          <a:latin typeface="Arial" pitchFamily="34" charset="0"/>
                          <a:ea typeface="Arial" pitchFamily="34" charset="-122"/>
                          <a:cs typeface="Arial" pitchFamily="34" charset="-120"/>
                        </a:rPr>
                        <a:t>Adjusted Value</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C2410C"/>
                    </a:solidFill>
                  </a:tcPr>
                </a:tc>
              </a:tr>
              <a:tr h="310896">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622 Fernwood Park Blvd</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$505,500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$492,300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r h="310896">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516 Tallow Ct</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$495,000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$483,800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r>
              <a:tr h="310896">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745 Little Heron Cir</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$427,000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$500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$469,800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r h="310896">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602 Thrasher Ln</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$429,000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$12,000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$438,400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r>
              <a:tr h="310896">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621 Little Heron Rd</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$465,000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$13,071</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$436,200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r h="310896">
                <a:tc>
                  <a:txBody>
                    <a:bodyPr/>
                    <a:lstStyle/>
                    <a:p>
                      <a:pPr algn="l" indent="0" marL="0">
                        <a:buNone/>
                      </a:pPr>
                      <a:r>
                        <a:rPr lang="en-US" sz="1100" b="1" dirty="0">
                          <a:solidFill>
                            <a:srgbClr val="1F3A5F"/>
                          </a:solidFill>
                          <a:latin typeface="Arial" pitchFamily="34" charset="0"/>
                          <a:ea typeface="Arial" pitchFamily="34" charset="-122"/>
                          <a:cs typeface="Arial" pitchFamily="34" charset="-120"/>
                        </a:rPr>
                        <a:t>Your Home (Recommended List)</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E4E7EC"/>
                    </a:solidFill>
                  </a:tcPr>
                </a:tc>
                <a:tc>
                  <a:txBody>
                    <a:bodyPr/>
                    <a:lstStyle/>
                    <a:p>
                      <a:pPr algn="r" indent="0" marL="0">
                        <a:buNone/>
                      </a:pPr>
                      <a:r>
                        <a:rPr lang="en-US" sz="1100" b="1" dirty="0">
                          <a:solidFill>
                            <a:srgbClr val="1F3A5F"/>
                          </a:solidFill>
                          <a:latin typeface="Arial" pitchFamily="34" charset="0"/>
                          <a:ea typeface="Arial" pitchFamily="34" charset="-122"/>
                          <a:cs typeface="Arial" pitchFamily="34" charset="-120"/>
                        </a:rPr>
                        <a:t>$469,900</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E4E7EC"/>
                    </a:solidFill>
                  </a:tcPr>
                </a:tc>
                <a:tc>
                  <a:txBody>
                    <a:bodyPr/>
                    <a:lstStyle/>
                    <a:p>
                      <a:pPr algn="r" indent="0" marL="0">
                        <a:buNone/>
                      </a:pPr>
                      <a:r>
                        <a:rPr lang="en-US" sz="1100" dirty="0">
                          <a:solidFill>
                            <a:srgbClr val="1F3A5F"/>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E4E7EC"/>
                    </a:solidFill>
                  </a:tcPr>
                </a:tc>
                <a:tc>
                  <a:txBody>
                    <a:bodyPr/>
                    <a:lstStyle/>
                    <a:p>
                      <a:pPr algn="r" indent="0" marL="0">
                        <a:buNone/>
                      </a:pPr>
                      <a:r>
                        <a:rPr lang="en-US" sz="1100" b="1" dirty="0">
                          <a:solidFill>
                            <a:srgbClr val="1F3A5F"/>
                          </a:solidFill>
                          <a:latin typeface="Arial" pitchFamily="34" charset="0"/>
                          <a:ea typeface="Arial" pitchFamily="34" charset="-122"/>
                          <a:cs typeface="Arial" pitchFamily="34" charset="-120"/>
                        </a:rPr>
                        <a:t>Range $455K–$480K</a:t>
                      </a:r>
                      <a:endParaRPr lang="en-US" sz="1100" dirty="0">
                        <a:latin typeface="Arial" charset="0"/>
                        <a:ea typeface="Arial" charset="0"/>
                        <a:cs typeface="Arial" charset="0"/>
                      </a:endParaRPr>
                    </a:p>
                  </a:txBody>
                  <a:tcPr marL="54864" marR="54864" marT="54864" marB="54864">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E4E7EC"/>
                    </a:solidFill>
                  </a:tcPr>
                </a:tc>
              </a:tr>
            </a:tbl>
          </a:graphicData>
        </a:graphic>
      </p:graphicFrame>
      <p:sp>
        <p:nvSpPr>
          <p:cNvPr id="4" name="Text 1"/>
          <p:cNvSpPr txBox="1"/>
          <p:nvPr/>
        </p:nvSpPr>
        <p:spPr>
          <a:xfrm>
            <a:off x="457200" y="3410712"/>
            <a:ext cx="8229600" cy="1275588"/>
          </a:xfrm>
          <a:prstGeom prst="rect">
            <a:avLst/>
          </a:prstGeom>
          <a:noFill/>
          <a:ln/>
        </p:spPr>
        <p:txBody>
          <a:bodyPr wrap="square" lIns="0" tIns="0" rIns="0" bIns="0" rtlCol="0" anchor="t">
            <a:normAutofit/>
          </a:bodyPr>
          <a:lstStyle/>
          <a:p>
            <a:pPr indent="0" marL="0">
              <a:buNone/>
            </a:pPr>
            <a:r>
              <a:rPr lang="en-US" sz="1000" dirty="0">
                <a:solidFill>
                  <a:srgbClr val="5A6672"/>
                </a:solidFill>
                <a:latin typeface="Arial" pitchFamily="34" charset="0"/>
                <a:ea typeface="Arial" pitchFamily="34" charset="-122"/>
                <a:cs typeface="Arial" pitchFamily="34" charset="-120"/>
              </a:rPr>
              <a:t>Adjustments: about $75 per sq ft of size difference; $30,000–$45,000 for renovation level; $5,000–$10,000 for larger or better lots; 1–2% for market change since the sale; seller-paid costs subtracted. This is a broker's opinion of value based on comparable sales, not an appraisal. Full detail is in the written analysis. Sales data: Stellar MLS as of 2026-09-22. Deemed reliable but not guaranteed. This comparative market analysis is an opinion of price, not an appraisal, and isn't for lending purposes. Payment, tax and cost figures are estimates only, not lending or tax advice. Equal Housing Opportunity.</a:t>
            </a:r>
            <a:endParaRPr lang="en-US" sz="1000" dirty="0"/>
          </a:p>
        </p:txBody>
      </p:sp>
      <p:sp>
        <p:nvSpPr>
          <p:cNvPr id="5" name="Text 2"/>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6" name="Text 3"/>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15</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Pricing 517 Larkwood Ave</dc:title>
  <dc:subject>PptxGenJS Presentation</dc:subject>
  <dc:creator>Jordan Avery, REALTOR®</dc:creator>
  <cp:lastModifiedBy>Jordan Avery, REALTOR®</cp:lastModifiedBy>
  <cp:revision>1</cp:revision>
  <dcterms:created xsi:type="dcterms:W3CDTF">2026-09-25T01:30:43Z</dcterms:created>
  <dcterms:modified xsi:type="dcterms:W3CDTF">2026-09-25T01:30:43Z</dcterms:modified>
</cp:coreProperties>
</file>