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470000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$475,000</c:v>
                  </c:pt>
                  <c:pt idx="1">
                    <c:v>Market Price at $470,000</c:v>
                  </c:pt>
                  <c:pt idx="2">
                    <c:v>Draw Offers at $460,000</c:v>
                  </c:pt>
                </c:lvl>
              </c:multiLvlStrCache>
            </c:multiLvlStrRef>
          </c:cat>
          <c:val>
            <c:numRef>
              <c:f>Sheet1!$B$2:$B$4</c:f>
              <c:numCache>
                <c:formatCode>General</c:formatCode>
                <c:ptCount val="3"/>
                <c:pt idx="0">
                  <c:v>424690</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The $475,000 option uses 93.9% instead, what recent nearby sales got against their original asking price after seller-paid costs, since a price above the market usually sells only after a cut.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$470,000 list price and utilities; no loan interest, since no mortgage payoff was given) from the report date to each option's closing.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current tax bill adds it) and any repairs agreed after inspection. The closing agent provides the exact figures. These proceeds are before any income tax on the sale; a CPA can estimate it.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$1,875); lot ($5,000 to $10,000); market changes since each sale (2% a quarter off sales before July); recent systems ($5,000); condition and updates ($30,000 to $45,000, against this home's full renovation); and seller credits (taken off each sale price). These are the five closest matches, sold Apr 24, 2026 to Aug 20, 2026 (one since July), all within a mile. This home's roof age isn't known, so no sale is adjusted for its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$470,000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$431K–$486K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$469,900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$470,000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$1,875); lot ($5,000 to $10,000); market changes since each sale (2% a quarter off sales before July); recent systems ($5,000); condition and updates ($30,000 to $45,000, against this home's full renovation);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932170" y="1463294"/>
            <a:ext cx="142875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5074920" y="1463294"/>
            <a:ext cx="0" cy="2468880"/>
          </a:xfrm>
          <a:prstGeom prst="line">
            <a:avLst/>
          </a:prstGeom>
          <a:noFill/>
          <a:ln w="9525">
            <a:solidFill>
              <a:srgbClr val="F8E8E2"/>
            </a:solidFill>
            <a:prstDash val="solid"/>
          </a:ln>
        </p:spPr>
      </p:sp>
      <p:sp>
        <p:nvSpPr>
          <p:cNvPr id="8" name="Text 6"/>
          <p:cNvSpPr txBox="1"/>
          <p:nvPr/>
        </p:nvSpPr>
        <p:spPr>
          <a:xfrm>
            <a:off x="4663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6217920" y="1463294"/>
            <a:ext cx="0" cy="2468880"/>
          </a:xfrm>
          <a:prstGeom prst="line">
            <a:avLst/>
          </a:prstGeom>
          <a:noFill/>
          <a:ln w="9525">
            <a:solidFill>
              <a:srgbClr val="F8E8E2"/>
            </a:solidFill>
            <a:prstDash val="solid"/>
          </a:ln>
        </p:spPr>
      </p:sp>
      <p:sp>
        <p:nvSpPr>
          <p:cNvPr id="10" name="Text 8"/>
          <p:cNvSpPr txBox="1"/>
          <p:nvPr/>
        </p:nvSpPr>
        <p:spPr>
          <a:xfrm>
            <a:off x="5806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7360920" y="1463294"/>
            <a:ext cx="0" cy="2468880"/>
          </a:xfrm>
          <a:prstGeom prst="line">
            <a:avLst/>
          </a:prstGeom>
          <a:noFill/>
          <a:ln w="9525">
            <a:solidFill>
              <a:srgbClr val="F8E8E2"/>
            </a:solidFill>
            <a:prstDash val="solid"/>
          </a:ln>
        </p:spPr>
      </p:sp>
      <p:sp>
        <p:nvSpPr>
          <p:cNvPr id="12" name="Text 10"/>
          <p:cNvSpPr txBox="1"/>
          <p:nvPr/>
        </p:nvSpPr>
        <p:spPr>
          <a:xfrm>
            <a:off x="6949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8503920" y="1463294"/>
            <a:ext cx="0" cy="2468880"/>
          </a:xfrm>
          <a:prstGeom prst="line">
            <a:avLst/>
          </a:prstGeom>
          <a:noFill/>
          <a:ln w="9525">
            <a:solidFill>
              <a:srgbClr val="F8E8E2"/>
            </a:solidFill>
            <a:prstDash val="solid"/>
          </a:ln>
        </p:spPr>
      </p:sp>
      <p:sp>
        <p:nvSpPr>
          <p:cNvPr id="14" name="Text 12"/>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6789420" y="1326134"/>
            <a:ext cx="0" cy="2606040"/>
          </a:xfrm>
          <a:prstGeom prst="line">
            <a:avLst/>
          </a:prstGeom>
          <a:noFill/>
          <a:ln w="25400">
            <a:solidFill>
              <a:srgbClr val="1A1A1A"/>
            </a:solidFill>
            <a:prstDash val="dash"/>
          </a:ln>
        </p:spPr>
      </p:sp>
      <p:sp>
        <p:nvSpPr>
          <p:cNvPr id="16" name="Text 14"/>
          <p:cNvSpPr txBox="1"/>
          <p:nvPr/>
        </p:nvSpPr>
        <p:spPr>
          <a:xfrm>
            <a:off x="5783580" y="1097534"/>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$470,000</a:t>
            </a:r>
            <a:endParaRPr lang="en-US" sz="1000" dirty="0"/>
          </a:p>
        </p:txBody>
      </p:sp>
      <p:sp>
        <p:nvSpPr>
          <p:cNvPr id="17" name="Text 15"/>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18" name="Text 16"/>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19" name="Shape 17"/>
          <p:cNvSpPr/>
          <p:nvPr/>
        </p:nvSpPr>
        <p:spPr>
          <a:xfrm>
            <a:off x="7602950" y="1673606"/>
            <a:ext cx="164592" cy="164592"/>
          </a:xfrm>
          <a:prstGeom prst="ellipse">
            <a:avLst/>
          </a:prstGeom>
          <a:solidFill>
            <a:srgbClr val="C2410C"/>
          </a:solidFill>
          <a:ln w="12700">
            <a:solidFill>
              <a:srgbClr val="FFFFFF"/>
            </a:solidFill>
            <a:prstDash val="solid"/>
          </a:ln>
        </p:spPr>
      </p:sp>
      <p:sp>
        <p:nvSpPr>
          <p:cNvPr id="20" name="Text 18"/>
          <p:cNvSpPr txBox="1"/>
          <p:nvPr/>
        </p:nvSpPr>
        <p:spPr>
          <a:xfrm>
            <a:off x="7794974"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$486K</a:t>
            </a:r>
            <a:endParaRPr lang="en-US" sz="1000" dirty="0"/>
          </a:p>
        </p:txBody>
      </p:sp>
      <p:sp>
        <p:nvSpPr>
          <p:cNvPr id="21" name="Text 19"/>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2" name="Text 20"/>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Strongest match · Same era and size; systems documented</a:t>
            </a:r>
            <a:endParaRPr lang="en-US" sz="900" dirty="0"/>
          </a:p>
        </p:txBody>
      </p:sp>
      <p:sp>
        <p:nvSpPr>
          <p:cNvPr id="23" name="Shape 21"/>
          <p:cNvSpPr/>
          <p:nvPr/>
        </p:nvSpPr>
        <p:spPr>
          <a:xfrm>
            <a:off x="7238619" y="2130806"/>
            <a:ext cx="164592" cy="164592"/>
          </a:xfrm>
          <a:prstGeom prst="ellipse">
            <a:avLst/>
          </a:prstGeom>
          <a:solidFill>
            <a:srgbClr val="C2410C"/>
          </a:solidFill>
          <a:ln w="12700">
            <a:solidFill>
              <a:srgbClr val="FFFFFF"/>
            </a:solidFill>
            <a:prstDash val="solid"/>
          </a:ln>
        </p:spPr>
      </p:sp>
      <p:sp>
        <p:nvSpPr>
          <p:cNvPr id="24" name="Text 22"/>
          <p:cNvSpPr txBox="1"/>
          <p:nvPr/>
        </p:nvSpPr>
        <p:spPr>
          <a:xfrm>
            <a:off x="7430643"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$479K</a:t>
            </a:r>
            <a:endParaRPr lang="en-US" sz="1000" dirty="0"/>
          </a:p>
        </p:txBody>
      </p:sp>
      <p:sp>
        <p:nvSpPr>
          <p:cNvPr id="25" name="Text 23"/>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6" name="Text 24"/>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Most recent pool sale; not renovated</a:t>
            </a:r>
            <a:endParaRPr lang="en-US" sz="950" dirty="0"/>
          </a:p>
        </p:txBody>
      </p:sp>
      <p:sp>
        <p:nvSpPr>
          <p:cNvPr id="27" name="Shape 25"/>
          <p:cNvSpPr/>
          <p:nvPr/>
        </p:nvSpPr>
        <p:spPr>
          <a:xfrm>
            <a:off x="6698552" y="2588006"/>
            <a:ext cx="164592" cy="164592"/>
          </a:xfrm>
          <a:prstGeom prst="ellipse">
            <a:avLst/>
          </a:prstGeom>
          <a:solidFill>
            <a:srgbClr val="C2410C"/>
          </a:solidFill>
          <a:ln w="12700">
            <a:solidFill>
              <a:srgbClr val="FFFFFF"/>
            </a:solidFill>
            <a:prstDash val="solid"/>
          </a:ln>
        </p:spPr>
      </p:sp>
      <p:sp>
        <p:nvSpPr>
          <p:cNvPr id="28" name="Text 26"/>
          <p:cNvSpPr txBox="1"/>
          <p:nvPr/>
        </p:nvSpPr>
        <p:spPr>
          <a:xfrm>
            <a:off x="6890576"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29" name="Text 27"/>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0" name="Text 28"/>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1" name="Shape 29"/>
          <p:cNvSpPr/>
          <p:nvPr/>
        </p:nvSpPr>
        <p:spPr>
          <a:xfrm>
            <a:off x="4621149" y="3045206"/>
            <a:ext cx="164592" cy="164592"/>
          </a:xfrm>
          <a:prstGeom prst="ellipse">
            <a:avLst/>
          </a:prstGeom>
          <a:solidFill>
            <a:srgbClr val="C2410C"/>
          </a:solidFill>
          <a:ln w="12700">
            <a:solidFill>
              <a:srgbClr val="FFFFFF"/>
            </a:solidFill>
            <a:prstDash val="solid"/>
          </a:ln>
        </p:spPr>
      </p:sp>
      <p:sp>
        <p:nvSpPr>
          <p:cNvPr id="32" name="Text 30"/>
          <p:cNvSpPr txBox="1"/>
          <p:nvPr/>
        </p:nvSpPr>
        <p:spPr>
          <a:xfrm>
            <a:off x="4813173"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$434K</a:t>
            </a:r>
            <a:endParaRPr lang="en-US" sz="1000" dirty="0"/>
          </a:p>
        </p:txBody>
      </p:sp>
      <p:sp>
        <p:nvSpPr>
          <p:cNvPr id="33" name="Text 31"/>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4" name="Text 32"/>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5" name="Shape 33"/>
          <p:cNvSpPr/>
          <p:nvPr/>
        </p:nvSpPr>
        <p:spPr>
          <a:xfrm>
            <a:off x="4491361" y="3502406"/>
            <a:ext cx="164592" cy="164592"/>
          </a:xfrm>
          <a:prstGeom prst="ellipse">
            <a:avLst/>
          </a:prstGeom>
          <a:solidFill>
            <a:srgbClr val="C2410C"/>
          </a:solidFill>
          <a:ln w="12700">
            <a:solidFill>
              <a:srgbClr val="FFFFFF"/>
            </a:solidFill>
            <a:prstDash val="solid"/>
          </a:ln>
        </p:spPr>
      </p:sp>
      <p:sp>
        <p:nvSpPr>
          <p:cNvPr id="36" name="Text 34"/>
          <p:cNvSpPr txBox="1"/>
          <p:nvPr/>
        </p:nvSpPr>
        <p:spPr>
          <a:xfrm>
            <a:off x="4683385"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$431K</a:t>
            </a:r>
            <a:endParaRPr lang="en-US" sz="1000" dirty="0"/>
          </a:p>
        </p:txBody>
      </p:sp>
      <p:sp>
        <p:nvSpPr>
          <p:cNvPr id="37" name="Text 35"/>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38" name="Text 3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9" name="Text 3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$475,000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$467,500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$470,000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$460,000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$9,193</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$475,000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$23,750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$470,000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$4,088/mo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$23,500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$460,000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$4,006/mo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$23,000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$82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$470,000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$475,000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$470,000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$460,000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$467,500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$426,294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current tax bill adds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$485,700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$479,300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$433,500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$431,200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$470,000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2026-10-13T04:42:37Z</dcterms:created>
  <dcterms:modified xsi:type="dcterms:W3CDTF">2026-10-13T04:42:37Z</dcterms:modified>
</cp:coreProperties>
</file>