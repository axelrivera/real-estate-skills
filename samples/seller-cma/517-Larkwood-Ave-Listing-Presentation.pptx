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Other Sales</c:v>
                </c:pt>
              </c:strCache>
            </c:strRef>
          </c:tx>
          <c:spPr>
            <a:solidFill>
              <a:srgbClr val="A3ADB6"/>
            </a:solidFill>
            <a:ln>
              <a:noFill/>
            </a:ln>
            <a:effectLst/>
          </c:spPr>
          <c:marker>
            <c:symbol val="circle"/>
            <c:size val="5"/>
            <c:spPr>
              <a:solidFill>
                <a:srgbClr val="DADEE2"/>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A3ADB6"/>
            </a:solidFill>
            <a:ln>
              <a:noFill/>
            </a:ln>
            <a:effectLst/>
          </c:spPr>
          <c:marker>
            <c:symbol val="circle"/>
            <c:size val="7"/>
            <c:spPr>
              <a:solidFill>
                <a:srgbClr val="A3ADB6"/>
              </a:solidFill>
              <a:ln w="15875">
                <a:solidFill>
                  <a:srgbClr val="A3ADB6"/>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A6672"/>
            </a:solidFill>
            <a:ln w="15875">
              <a:solidFill>
                <a:srgbClr val="5A6672"/>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353370.74537409266</c:v>
                </c:pt>
                <c:pt idx="42">
                  <c:v>361279.9692978465</c:v>
                </c:pt>
                <c:pt idx="43">
                  <c:v>369189.1932216004</c:v>
                </c:pt>
                <c:pt idx="44">
                  <c:v>377098.41714535427</c:v>
                </c:pt>
                <c:pt idx="45">
                  <c:v>385007.6410691081</c:v>
                </c:pt>
                <c:pt idx="46">
                  <c:v>392916.864992862</c:v>
                </c:pt>
                <c:pt idx="47">
                  <c:v>400826.0889166159</c:v>
                </c:pt>
                <c:pt idx="48">
                  <c:v>408735.31284036976</c:v>
                </c:pt>
                <c:pt idx="49">
                  <c:v>416644.53676412365</c:v>
                </c:pt>
                <c:pt idx="50">
                  <c:v>424553.7606878775</c:v>
                </c:pt>
                <c:pt idx="51">
                  <c:v>432462.9846116313</c:v>
                </c:pt>
                <c:pt idx="52">
                  <c:v>440372.2085353852</c:v>
                </c:pt>
                <c:pt idx="53">
                  <c:v>448281.4324591391</c:v>
                </c:pt>
                <c:pt idx="54">
                  <c:v>456190.656382893</c:v>
                </c:pt>
                <c:pt idx="55">
                  <c:v>464099.88030664687</c:v>
                </c:pt>
                <c:pt idx="56">
                  <c:v>472009.10423040076</c:v>
                </c:pt>
                <c:pt idx="57">
                  <c:v>479918.32815415465</c:v>
                </c:pt>
                <c:pt idx="58">
                  <c:v>487827.5520779085</c:v>
                </c:pt>
                <c:pt idx="59">
                  <c:v>495736.77600166237</c:v>
                </c:pt>
                <c:pt idx="60">
                  <c:v>503645.99992541614</c:v>
                </c:pt>
                <c:pt idx="61">
                  <c:v>511555.22384917</c:v>
                </c:pt>
                <c:pt idx="62">
                  <c:v>519464.4477729239</c:v>
                </c:pt>
                <c:pt idx="63">
                  <c:v>527373.6716966778</c:v>
                </c:pt>
                <c:pt idx="64">
                  <c:v>535282.8956204318</c:v>
                </c:pt>
                <c:pt idx="65">
                  <c:v>543192.1195441856</c:v>
                </c:pt>
                <c:pt idx="66">
                  <c:v>551101.3434679394</c:v>
                </c:pt>
                <c:pt idx="67">
                  <c:v>559010.5673916934</c:v>
                </c:pt>
                <c:pt idx="68">
                  <c:v>566919.7913154473</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4"/>
            <c:spPr>
              <a:solidFill>
                <a:srgbClr val="1A1A1A"/>
              </a:solidFill>
              <a:ln w="1270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423074</c:v>
                </c:pt>
                <c:pt idx="1">
                  <c:v>422136</c:v>
                </c:pt>
                <c:pt idx="2">
                  <c:v>425260</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costs: about $530 a month (loan interest, HOA, insurance and utilities; property tax is in the proration)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Estimates only. Not included: mortgage payoff, tax proration and repairs; the closing agent provides exact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Adjustments: about $75 per sq ft of size difference; $30,000–$45,000 for renovation level; $5,000–$10,000 for larger or better lots; 1–2% for market change since the sale; seller-paid costs subtracted. A broker's opinion of value from comparable sales, not an appraisal, and not for lending. Sales data: Stellar MLS as of 2026-09-22. Deemed reliable but not guaranteed. This comparative market analysis is an opinion of price, not an appraisal, and isn't for lending purposes. Payment, tax and cost figures are estimates only, not lending or tax advice. Equal Housing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41148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42900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A6672"/>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150" b="1" dirty="0">
                <a:solidFill>
                  <a:srgbClr val="1A1A1A"/>
                </a:solidFill>
                <a:latin typeface="Arial" pitchFamily="34" charset="0"/>
                <a:ea typeface="Arial" pitchFamily="34" charset="-122"/>
                <a:cs typeface="Arial" pitchFamily="34" charset="-120"/>
              </a:rPr>
              <a:t>Low-to-mid $460,000s</a:t>
            </a:r>
            <a:endParaRPr lang="en-US" sz="215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$436K–$492K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 – $480K</a:t>
            </a:r>
            <a:endParaRPr lang="en-US" sz="1800" dirty="0"/>
          </a:p>
        </p:txBody>
      </p:sp>
      <p:sp>
        <p:nvSpPr>
          <p:cNvPr id="26" name="Text 24"/>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Adjustments cover size, larger corner lot, market since the sale, documented recent systems, renovation, partial update vs. full renovation, larger canal lot and seller credits.</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Worth about $25,000 against similar homes without one.</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Outside the high-risk flood zone, so lenders don't require flood insurance.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805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949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3093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2237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138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155180"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347204" y="14904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766560"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58584" y="19476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69087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882896" y="28620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90288"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82312" y="33192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graphicFrame>
        <p:nvGraphicFramePr>
          <p:cNvPr id="3" name="Chart 0" descr=""/>
          <p:cNvGraphicFramePr/>
          <p:nvPr/>
        </p:nvGraphicFramePr>
        <p:xfrm>
          <a:off x="365760" y="868680"/>
          <a:ext cx="6537960" cy="39319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949440" y="1143000"/>
            <a:ext cx="45720" cy="3017520"/>
          </a:xfrm>
          <a:prstGeom prst="rect">
            <a:avLst/>
          </a:prstGeom>
          <a:solidFill>
            <a:srgbClr val="C2410C"/>
          </a:solidFill>
          <a:ln w="12700">
            <a:solidFill>
              <a:srgbClr val="C2410C"/>
            </a:solidFill>
            <a:prstDash val="solid"/>
          </a:ln>
        </p:spPr>
      </p:sp>
      <p:sp>
        <p:nvSpPr>
          <p:cNvPr id="5" name="Text 2"/>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6" name="Text 3"/>
          <p:cNvSpPr txBox="1"/>
          <p:nvPr/>
        </p:nvSpPr>
        <p:spPr>
          <a:xfrm>
            <a:off x="7086600" y="2910840"/>
            <a:ext cx="1600200" cy="124968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7" name="Text 4"/>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8" name="Text 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100%</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95.2%</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8</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~6.3%</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6.95%</a:t>
            </a:r>
            <a:endParaRPr lang="en-US" sz="2800" dirty="0"/>
          </a:p>
        </p:txBody>
      </p:sp>
      <p:sp>
        <p:nvSpPr>
          <p:cNvPr id="36" name="Text 30"/>
          <p:cNvSpPr txBox="1"/>
          <p:nvPr/>
        </p:nvSpPr>
        <p:spPr>
          <a:xfrm>
            <a:off x="457200" y="4005072"/>
            <a:ext cx="8229600" cy="54864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5029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301752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113584"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63392" y="2075688"/>
            <a:ext cx="952960"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45–90 days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$463,000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050" dirty="0">
                <a:solidFill>
                  <a:srgbClr val="5A6672"/>
                </a:solidFill>
                <a:latin typeface="Arial" pitchFamily="34" charset="0"/>
                <a:ea typeface="Arial" pitchFamily="34" charset="-122"/>
                <a:cs typeface="Arial" pitchFamily="34" charset="-120"/>
              </a:rPr>
              <a:t>Seller Credit Assumed</a:t>
            </a:r>
            <a:endParaRPr lang="en-US" sz="105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301752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$462,000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Seller Credit Assumed</a:t>
            </a:r>
            <a:endParaRPr lang="en-US" sz="105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91840"/>
            <a:ext cx="2157984" cy="6858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301752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$460,000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net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$3,426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$4,169/mo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$4,005/mo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383280"/>
            <a:ext cx="7543800" cy="59436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Pre-Listing Inspection</a:t>
            </a:r>
            <a:endParaRPr lang="en-US" sz="125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Easy Showings</a:t>
            </a:r>
            <a:endParaRPr lang="en-US" sz="130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Lockbox access with short notice</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$463,000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−$3,241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−$3,234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−$3,220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−$2,390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−$2,385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$423,074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$422,136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$425,260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−$1,706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$421,368</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$421,060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$424,486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r>
            </a:tbl>
          </a:graphicData>
        </a:graphic>
      </p:graphicFrame>
      <p:sp>
        <p:nvSpPr>
          <p:cNvPr id="4" name="Text 1"/>
          <p:cNvSpPr txBox="1"/>
          <p:nvPr/>
        </p:nvSpPr>
        <p:spPr>
          <a:xfrm>
            <a:off x="457200" y="4361688"/>
            <a:ext cx="8229600" cy="370332"/>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Estimates only. Not included: mortgage payoff, tax proration and repairs; the closing agent provides exact figures. Commissions are negotiable and not set by law.</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r>
            </a:tbl>
          </a:graphicData>
        </a:graphic>
      </p:graphicFrame>
      <p:sp>
        <p:nvSpPr>
          <p:cNvPr id="4" name="Text 1"/>
          <p:cNvSpPr txBox="1"/>
          <p:nvPr/>
        </p:nvSpPr>
        <p:spPr>
          <a:xfrm>
            <a:off x="457200" y="3191256"/>
            <a:ext cx="8229600" cy="1540764"/>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A broker's opinion of value from comparable sales, not an appraisal, and not for lending. Sales data: Stellar MLS as of 2026-09-22. Deemed reliable but not guaranteed.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2026-09-29T21:31:23Z</dcterms:created>
  <dcterms:modified xsi:type="dcterms:W3CDTF">2026-09-29T21:31:23Z</dcterms:modified>
</cp:coreProperties>
</file>