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1.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charts/chart2.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12"/>
          <c:y val="0.03"/>
          <c:w val="0.85"/>
          <c:h val="0.8"/>
        </c:manualLayout>
      </c:layout>
      <c:scatterChart>
        <c:scatterStyle val="lineMarker"/>
        <c:varyColors val="0"/>
        <c:ser>
          <c:idx val="0"/>
          <c:order val="0"/>
          <c:tx>
            <c:strRef>
              <c:f>Sheet1!$B$1</c:f>
              <c:strCache>
                <c:ptCount val="1"/>
                <c:pt idx="0">
                  <c:v>Other Sales</c:v>
                </c:pt>
              </c:strCache>
            </c:strRef>
          </c:tx>
          <c:spPr>
            <a:solidFill>
              <a:srgbClr val="DBDBDB"/>
            </a:solidFill>
            <a:ln>
              <a:noFill/>
            </a:ln>
            <a:effectLst/>
          </c:spPr>
          <c:marker>
            <c:symbol val="circle"/>
            <c:size val="5"/>
            <c:spPr>
              <a:solidFill>
                <a:srgbClr val="DBDBDB"/>
              </a:solidFill>
              <a:ln>
                <a:noFill/>
              </a:ln>
            </c:spPr>
          </c:marker>
          <c:xVal>
            <c:numRef>
              <c:f>Sheet1!$A$2:$A$76</c:f>
              <c:numCache>
                <c:formatCode>General</c:formatCode>
                <c:ptCount val="75"/>
                <c:pt idx="0">
                  <c:v>1790</c:v>
                </c:pt>
                <c:pt idx="1">
                  <c:v>1810</c:v>
                </c:pt>
                <c:pt idx="2">
                  <c:v>1702</c:v>
                </c:pt>
                <c:pt idx="3">
                  <c:v>1880</c:v>
                </c:pt>
                <c:pt idx="4">
                  <c:v>2260</c:v>
                </c:pt>
                <c:pt idx="5">
                  <c:v>1950</c:v>
                </c:pt>
                <c:pt idx="6">
                  <c:v>2380</c:v>
                </c:pt>
                <c:pt idx="7">
                  <c:v>2150</c:v>
                </c:pt>
                <c:pt idx="8">
                  <c:v>2380</c:v>
                </c:pt>
                <c:pt idx="9">
                  <c:v>1740</c:v>
                </c:pt>
                <c:pt idx="10">
                  <c:v>1880</c:v>
                </c:pt>
                <c:pt idx="11">
                  <c:v>1950</c:v>
                </c:pt>
                <c:pt idx="12">
                  <c:v>1740</c:v>
                </c:pt>
                <c:pt idx="13">
                  <c:v>1450</c:v>
                </c:pt>
                <c:pt idx="14">
                  <c:v>2150</c:v>
                </c:pt>
                <c:pt idx="15">
                  <c:v>2380</c:v>
                </c:pt>
                <c:pt idx="16">
                  <c:v>2260</c:v>
                </c:pt>
                <c:pt idx="17">
                  <c:v>2380</c:v>
                </c:pt>
                <c:pt idx="18">
                  <c:v>1740</c:v>
                </c:pt>
                <c:pt idx="19">
                  <c:v>1450</c:v>
                </c:pt>
                <c:pt idx="20">
                  <c:v>1610</c:v>
                </c:pt>
                <c:pt idx="21">
                  <c:v>2380</c:v>
                </c:pt>
                <c:pt idx="22">
                  <c:v>1820</c:v>
                </c:pt>
                <c:pt idx="23">
                  <c:v>1880</c:v>
                </c:pt>
                <c:pt idx="24">
                  <c:v>2040</c:v>
                </c:pt>
                <c:pt idx="25">
                  <c:v>2380</c:v>
                </c:pt>
                <c:pt idx="26">
                  <c:v>1610</c:v>
                </c:pt>
                <c:pt idx="27">
                  <c:v>2380</c:v>
                </c:pt>
                <c:pt idx="28">
                  <c:v>1849</c:v>
                </c:pt>
                <c:pt idx="29">
                  <c:v>1943</c:v>
                </c:pt>
                <c:pt idx="30">
                  <c:v>2400</c:v>
                </c:pt>
                <c:pt idx="31">
                  <c:v>2400</c:v>
                </c:pt>
                <c:pt idx="32">
                  <c:v>2400</c:v>
                </c:pt>
                <c:pt idx="33">
                  <c:v>1650</c:v>
                </c:pt>
                <c:pt idx="34">
                  <c:v>1500</c:v>
                </c:pt>
                <c:pt idx="35">
                  <c:v>1650</c:v>
                </c:pt>
                <c:pt idx="36">
                  <c:v>1900</c:v>
                </c:pt>
                <c:pt idx="37">
                  <c:v>1650</c:v>
                </c:pt>
                <c:pt idx="38">
                  <c:v>1900</c:v>
                </c:pt>
                <c:pt idx="39">
                  <c:v>1650</c:v>
                </c:pt>
                <c:pt idx="40">
                  <c:v>2100</c:v>
                </c:pt>
                <c:pt idx="41">
                  <c:v>1400</c:v>
                </c:pt>
                <c:pt idx="42">
                  <c:v>1444.4444444444443</c:v>
                </c:pt>
                <c:pt idx="43">
                  <c:v>1488.888888888889</c:v>
                </c:pt>
                <c:pt idx="44">
                  <c:v>1533.3333333333333</c:v>
                </c:pt>
                <c:pt idx="45">
                  <c:v>1577.7777777777778</c:v>
                </c:pt>
                <c:pt idx="46">
                  <c:v>1622.2222222222222</c:v>
                </c:pt>
                <c:pt idx="47">
                  <c:v>1666.6666666666667</c:v>
                </c:pt>
                <c:pt idx="48">
                  <c:v>1711.111111111111</c:v>
                </c:pt>
                <c:pt idx="49">
                  <c:v>1755.5555555555557</c:v>
                </c:pt>
                <c:pt idx="50">
                  <c:v>1800</c:v>
                </c:pt>
                <c:pt idx="51">
                  <c:v>1844.4444444444443</c:v>
                </c:pt>
                <c:pt idx="52">
                  <c:v>1888.888888888889</c:v>
                </c:pt>
                <c:pt idx="53">
                  <c:v>1933.3333333333335</c:v>
                </c:pt>
                <c:pt idx="54">
                  <c:v>1977.7777777777778</c:v>
                </c:pt>
                <c:pt idx="55">
                  <c:v>2022.2222222222222</c:v>
                </c:pt>
                <c:pt idx="56">
                  <c:v>2066.6666666666665</c:v>
                </c:pt>
                <c:pt idx="57">
                  <c:v>2111.1111111111113</c:v>
                </c:pt>
                <c:pt idx="58">
                  <c:v>2155.5555555555557</c:v>
                </c:pt>
                <c:pt idx="59">
                  <c:v>2200</c:v>
                </c:pt>
                <c:pt idx="60">
                  <c:v>2244.4444444444443</c:v>
                </c:pt>
                <c:pt idx="61">
                  <c:v>2288.8888888888887</c:v>
                </c:pt>
                <c:pt idx="62">
                  <c:v>2333.3333333333335</c:v>
                </c:pt>
                <c:pt idx="63">
                  <c:v>2377.777777777778</c:v>
                </c:pt>
                <c:pt idx="64">
                  <c:v>2422.222222222222</c:v>
                </c:pt>
                <c:pt idx="65">
                  <c:v>2466.666666666667</c:v>
                </c:pt>
                <c:pt idx="66">
                  <c:v>2511.1111111111113</c:v>
                </c:pt>
                <c:pt idx="67">
                  <c:v>2555.5555555555557</c:v>
                </c:pt>
                <c:pt idx="68">
                  <c:v>2600</c:v>
                </c:pt>
                <c:pt idx="69">
                  <c:v>1824</c:v>
                </c:pt>
                <c:pt idx="70">
                  <c:v>1865</c:v>
                </c:pt>
                <c:pt idx="71">
                  <c:v>1871</c:v>
                </c:pt>
                <c:pt idx="72">
                  <c:v>1849</c:v>
                </c:pt>
                <c:pt idx="73">
                  <c:v>1865</c:v>
                </c:pt>
                <c:pt idx="74">
                  <c:v>1849</c:v>
                </c:pt>
              </c:numCache>
            </c:numRef>
          </c:xVal>
          <c:yVal>
            <c:numRef>
              <c:f>Sheet1!$B$2:$B$76</c:f>
              <c:numCache>
                <c:formatCode>General</c:formatCode>
                <c:ptCount val="75"/>
                <c:pt idx="0">
                  <c:v>427000</c:v>
                </c:pt>
                <c:pt idx="1">
                  <c:v>435000</c:v>
                </c:pt>
                <c:pt idx="2">
                  <c:v>470000</c:v>
                </c:pt>
                <c:pt idx="3">
                  <c:v>454500</c:v>
                </c:pt>
                <c:pt idx="4">
                  <c:v>559500</c:v>
                </c:pt>
                <c:pt idx="5">
                  <c:v>446000</c:v>
                </c:pt>
                <c:pt idx="6">
                  <c:v>575000</c:v>
                </c:pt>
                <c:pt idx="7">
                  <c:v>529500</c:v>
                </c:pt>
                <c:pt idx="8">
                  <c:v>516000</c:v>
                </c:pt>
                <c:pt idx="9">
                  <c:v>364000</c:v>
                </c:pt>
                <c:pt idx="10">
                  <c:v>429500</c:v>
                </c:pt>
                <c:pt idx="11">
                  <c:v>473000</c:v>
                </c:pt>
                <c:pt idx="12">
                  <c:v>391000</c:v>
                </c:pt>
                <c:pt idx="13">
                  <c:v>325500</c:v>
                </c:pt>
                <c:pt idx="14">
                  <c:v>493000</c:v>
                </c:pt>
                <c:pt idx="15">
                  <c:v>578000</c:v>
                </c:pt>
                <c:pt idx="16">
                  <c:v>549500</c:v>
                </c:pt>
                <c:pt idx="17">
                  <c:v>596500</c:v>
                </c:pt>
                <c:pt idx="18">
                  <c:v>444500</c:v>
                </c:pt>
                <c:pt idx="19">
                  <c:v>361500</c:v>
                </c:pt>
                <c:pt idx="20">
                  <c:v>398000</c:v>
                </c:pt>
                <c:pt idx="21">
                  <c:v>526000</c:v>
                </c:pt>
                <c:pt idx="22">
                  <c:v>396500</c:v>
                </c:pt>
                <c:pt idx="23">
                  <c:v>461000</c:v>
                </c:pt>
                <c:pt idx="24">
                  <c:v>477000</c:v>
                </c:pt>
                <c:pt idx="25">
                  <c:v>535000</c:v>
                </c:pt>
                <c:pt idx="26">
                  <c:v>367000</c:v>
                </c:pt>
                <c:pt idx="27">
                  <c:v>570000</c:v>
                </c:pt>
                <c:pt idx="28">
                  <c:v/>
                </c:pt>
                <c:pt idx="29">
                  <c:v/>
                </c:pt>
                <c:pt idx="30">
                  <c:v/>
                </c:pt>
                <c:pt idx="31">
                  <c:v/>
                </c:pt>
                <c:pt idx="32">
                  <c:v/>
                </c:pt>
                <c:pt idx="33">
                  <c:v/>
                </c:pt>
                <c:pt idx="34">
                  <c:v/>
                </c:pt>
                <c:pt idx="35">
                  <c:v/>
                </c:pt>
                <c:pt idx="36">
                  <c:v/>
                </c:pt>
                <c:pt idx="37">
                  <c:v/>
                </c:pt>
                <c:pt idx="38">
                  <c:v/>
                </c:pt>
                <c:pt idx="39">
                  <c:v/>
                </c:pt>
                <c:pt idx="40">
                  <c:v/>
                </c:pt>
                <c:pt idx="41">
                  <c:v/>
                </c:pt>
                <c:pt idx="42">
                  <c:v/>
                </c:pt>
                <c:pt idx="43">
                  <c:v/>
                </c:pt>
                <c:pt idx="44">
                  <c:v/>
                </c:pt>
                <c:pt idx="45">
                  <c:v/>
                </c:pt>
                <c:pt idx="46">
                  <c:v/>
                </c:pt>
                <c:pt idx="47">
                  <c:v/>
                </c:pt>
                <c:pt idx="48">
                  <c:v/>
                </c:pt>
                <c:pt idx="49">
                  <c:v/>
                </c:pt>
                <c:pt idx="50">
                  <c:v/>
                </c:pt>
                <c:pt idx="51">
                  <c:v/>
                </c:pt>
                <c:pt idx="52">
                  <c:v/>
                </c:pt>
                <c:pt idx="53">
                  <c:v/>
                </c:pt>
                <c:pt idx="54">
                  <c:v/>
                </c:pt>
                <c:pt idx="55">
                  <c:v/>
                </c:pt>
                <c:pt idx="56">
                  <c:v/>
                </c:pt>
                <c:pt idx="57">
                  <c:v/>
                </c:pt>
                <c:pt idx="58">
                  <c:v/>
                </c:pt>
                <c:pt idx="59">
                  <c:v/>
                </c:pt>
                <c:pt idx="60">
                  <c:v/>
                </c:pt>
                <c:pt idx="61">
                  <c:v/>
                </c:pt>
                <c:pt idx="62">
                  <c:v/>
                </c:pt>
                <c:pt idx="63">
                  <c:v/>
                </c:pt>
                <c:pt idx="64">
                  <c:v/>
                </c:pt>
                <c:pt idx="65">
                  <c:v/>
                </c:pt>
                <c:pt idx="66">
                  <c:v/>
                </c:pt>
                <c:pt idx="67">
                  <c:v/>
                </c:pt>
                <c:pt idx="68">
                  <c:v/>
                </c:pt>
                <c:pt idx="69">
                  <c:v/>
                </c:pt>
                <c:pt idx="70">
                  <c:v/>
                </c:pt>
                <c:pt idx="71">
                  <c:v/>
                </c:pt>
                <c:pt idx="72">
                  <c:v/>
                </c:pt>
                <c:pt idx="73">
                  <c:v/>
                </c:pt>
                <c:pt idx="74">
                  <c:v/>
                </c:pt>
              </c:numCache>
            </c:numRef>
          </c:yVal>
          <c:smooth val="0"/>
        </c:ser>
        <c:ser>
          <c:idx val="1"/>
          <c:order val="1"/>
          <c:tx>
            <c:strRef>
              <c:f>Sheet1!$C$1</c:f>
              <c:strCache>
                <c:ptCount val="1"/>
                <c:pt idx="0">
                  <c:v>For Sale Now</c:v>
                </c:pt>
              </c:strCache>
            </c:strRef>
          </c:tx>
          <c:spPr>
            <a:solidFill>
              <a:srgbClr val="5E5E5E"/>
            </a:solidFill>
            <a:ln>
              <a:noFill/>
            </a:ln>
            <a:effectLst/>
          </c:spPr>
          <c:marker>
            <c:symbol val="square"/>
            <c:size val="6"/>
            <c:spPr>
              <a:solidFill>
                <a:srgbClr val="5E5E5E"/>
              </a:solidFill>
              <a:ln>
                <a:noFill/>
              </a:ln>
            </c:spPr>
          </c:marker>
          <c:xVal>
            <c:numRef>
              <c:f>Sheet1!$A$2:$A$76</c:f>
              <c:numCache>
                <c:formatCode>General</c:formatCode>
                <c:ptCount val="75"/>
                <c:pt idx="0">
                  <c:v>1790</c:v>
                </c:pt>
                <c:pt idx="1">
                  <c:v>1810</c:v>
                </c:pt>
                <c:pt idx="2">
                  <c:v>1702</c:v>
                </c:pt>
                <c:pt idx="3">
                  <c:v>1880</c:v>
                </c:pt>
                <c:pt idx="4">
                  <c:v>2260</c:v>
                </c:pt>
                <c:pt idx="5">
                  <c:v>1950</c:v>
                </c:pt>
                <c:pt idx="6">
                  <c:v>2380</c:v>
                </c:pt>
                <c:pt idx="7">
                  <c:v>2150</c:v>
                </c:pt>
                <c:pt idx="8">
                  <c:v>2380</c:v>
                </c:pt>
                <c:pt idx="9">
                  <c:v>1740</c:v>
                </c:pt>
                <c:pt idx="10">
                  <c:v>1880</c:v>
                </c:pt>
                <c:pt idx="11">
                  <c:v>1950</c:v>
                </c:pt>
                <c:pt idx="12">
                  <c:v>1740</c:v>
                </c:pt>
                <c:pt idx="13">
                  <c:v>1450</c:v>
                </c:pt>
                <c:pt idx="14">
                  <c:v>2150</c:v>
                </c:pt>
                <c:pt idx="15">
                  <c:v>2380</c:v>
                </c:pt>
                <c:pt idx="16">
                  <c:v>2260</c:v>
                </c:pt>
                <c:pt idx="17">
                  <c:v>2380</c:v>
                </c:pt>
                <c:pt idx="18">
                  <c:v>1740</c:v>
                </c:pt>
                <c:pt idx="19">
                  <c:v>1450</c:v>
                </c:pt>
                <c:pt idx="20">
                  <c:v>1610</c:v>
                </c:pt>
                <c:pt idx="21">
                  <c:v>2380</c:v>
                </c:pt>
                <c:pt idx="22">
                  <c:v>1820</c:v>
                </c:pt>
                <c:pt idx="23">
                  <c:v>1880</c:v>
                </c:pt>
                <c:pt idx="24">
                  <c:v>2040</c:v>
                </c:pt>
                <c:pt idx="25">
                  <c:v>2380</c:v>
                </c:pt>
                <c:pt idx="26">
                  <c:v>1610</c:v>
                </c:pt>
                <c:pt idx="27">
                  <c:v>2380</c:v>
                </c:pt>
                <c:pt idx="28">
                  <c:v>1849</c:v>
                </c:pt>
                <c:pt idx="29">
                  <c:v>1943</c:v>
                </c:pt>
                <c:pt idx="30">
                  <c:v>2400</c:v>
                </c:pt>
                <c:pt idx="31">
                  <c:v>2400</c:v>
                </c:pt>
                <c:pt idx="32">
                  <c:v>2400</c:v>
                </c:pt>
                <c:pt idx="33">
                  <c:v>1650</c:v>
                </c:pt>
                <c:pt idx="34">
                  <c:v>1500</c:v>
                </c:pt>
                <c:pt idx="35">
                  <c:v>1650</c:v>
                </c:pt>
                <c:pt idx="36">
                  <c:v>1900</c:v>
                </c:pt>
                <c:pt idx="37">
                  <c:v>1650</c:v>
                </c:pt>
                <c:pt idx="38">
                  <c:v>1900</c:v>
                </c:pt>
                <c:pt idx="39">
                  <c:v>1650</c:v>
                </c:pt>
                <c:pt idx="40">
                  <c:v>2100</c:v>
                </c:pt>
                <c:pt idx="41">
                  <c:v>1400</c:v>
                </c:pt>
                <c:pt idx="42">
                  <c:v>1444.4444444444443</c:v>
                </c:pt>
                <c:pt idx="43">
                  <c:v>1488.888888888889</c:v>
                </c:pt>
                <c:pt idx="44">
                  <c:v>1533.3333333333333</c:v>
                </c:pt>
                <c:pt idx="45">
                  <c:v>1577.7777777777778</c:v>
                </c:pt>
                <c:pt idx="46">
                  <c:v>1622.2222222222222</c:v>
                </c:pt>
                <c:pt idx="47">
                  <c:v>1666.6666666666667</c:v>
                </c:pt>
                <c:pt idx="48">
                  <c:v>1711.111111111111</c:v>
                </c:pt>
                <c:pt idx="49">
                  <c:v>1755.5555555555557</c:v>
                </c:pt>
                <c:pt idx="50">
                  <c:v>1800</c:v>
                </c:pt>
                <c:pt idx="51">
                  <c:v>1844.4444444444443</c:v>
                </c:pt>
                <c:pt idx="52">
                  <c:v>1888.888888888889</c:v>
                </c:pt>
                <c:pt idx="53">
                  <c:v>1933.3333333333335</c:v>
                </c:pt>
                <c:pt idx="54">
                  <c:v>1977.7777777777778</c:v>
                </c:pt>
                <c:pt idx="55">
                  <c:v>2022.2222222222222</c:v>
                </c:pt>
                <c:pt idx="56">
                  <c:v>2066.6666666666665</c:v>
                </c:pt>
                <c:pt idx="57">
                  <c:v>2111.1111111111113</c:v>
                </c:pt>
                <c:pt idx="58">
                  <c:v>2155.5555555555557</c:v>
                </c:pt>
                <c:pt idx="59">
                  <c:v>2200</c:v>
                </c:pt>
                <c:pt idx="60">
                  <c:v>2244.4444444444443</c:v>
                </c:pt>
                <c:pt idx="61">
                  <c:v>2288.8888888888887</c:v>
                </c:pt>
                <c:pt idx="62">
                  <c:v>2333.3333333333335</c:v>
                </c:pt>
                <c:pt idx="63">
                  <c:v>2377.777777777778</c:v>
                </c:pt>
                <c:pt idx="64">
                  <c:v>2422.222222222222</c:v>
                </c:pt>
                <c:pt idx="65">
                  <c:v>2466.666666666667</c:v>
                </c:pt>
                <c:pt idx="66">
                  <c:v>2511.1111111111113</c:v>
                </c:pt>
                <c:pt idx="67">
                  <c:v>2555.5555555555557</c:v>
                </c:pt>
                <c:pt idx="68">
                  <c:v>2600</c:v>
                </c:pt>
                <c:pt idx="69">
                  <c:v>1824</c:v>
                </c:pt>
                <c:pt idx="70">
                  <c:v>1865</c:v>
                </c:pt>
                <c:pt idx="71">
                  <c:v>1871</c:v>
                </c:pt>
                <c:pt idx="72">
                  <c:v>1849</c:v>
                </c:pt>
                <c:pt idx="73">
                  <c:v>1865</c:v>
                </c:pt>
                <c:pt idx="74">
                  <c:v>1849</c:v>
                </c:pt>
              </c:numCache>
            </c:numRef>
          </c:xVal>
          <c:yVal>
            <c:numRef>
              <c:f>Sheet1!$C$2:$C$76</c:f>
              <c:numCache>
                <c:formatCode>General</c:formatCode>
                <c:ptCount val="75"/>
                <c:pt idx="0">
                  <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
                </c:pt>
                <c:pt idx="19">
                  <c:v/>
                </c:pt>
                <c:pt idx="20">
                  <c:v/>
                </c:pt>
                <c:pt idx="21">
                  <c:v/>
                </c:pt>
                <c:pt idx="22">
                  <c:v/>
                </c:pt>
                <c:pt idx="23">
                  <c:v/>
                </c:pt>
                <c:pt idx="24">
                  <c:v/>
                </c:pt>
                <c:pt idx="25">
                  <c:v/>
                </c:pt>
                <c:pt idx="26">
                  <c:v/>
                </c:pt>
                <c:pt idx="27">
                  <c:v/>
                </c:pt>
                <c:pt idx="28">
                  <c:v>400000</c:v>
                </c:pt>
                <c:pt idx="29">
                  <c:v>565000</c:v>
                </c:pt>
                <c:pt idx="30">
                  <c:v>470000</c:v>
                </c:pt>
                <c:pt idx="31">
                  <c:v>449000</c:v>
                </c:pt>
                <c:pt idx="32">
                  <c:v>490000</c:v>
                </c:pt>
                <c:pt idx="33">
                  <c:v>391900</c:v>
                </c:pt>
                <c:pt idx="34">
                  <c:v>368900</c:v>
                </c:pt>
                <c:pt idx="35">
                  <c:v>390900</c:v>
                </c:pt>
                <c:pt idx="36">
                  <c:v>486900</c:v>
                </c:pt>
                <c:pt idx="37">
                  <c:v>388900</c:v>
                </c:pt>
                <c:pt idx="38">
                  <c:v>464900</c:v>
                </c:pt>
                <c:pt idx="39">
                  <c:v>425900</c:v>
                </c:pt>
                <c:pt idx="40">
                  <c:v>530900</c:v>
                </c:pt>
                <c:pt idx="41">
                  <c:v/>
                </c:pt>
                <c:pt idx="42">
                  <c:v/>
                </c:pt>
                <c:pt idx="43">
                  <c:v/>
                </c:pt>
                <c:pt idx="44">
                  <c:v/>
                </c:pt>
                <c:pt idx="45">
                  <c:v/>
                </c:pt>
                <c:pt idx="46">
                  <c:v/>
                </c:pt>
                <c:pt idx="47">
                  <c:v/>
                </c:pt>
                <c:pt idx="48">
                  <c:v/>
                </c:pt>
                <c:pt idx="49">
                  <c:v/>
                </c:pt>
                <c:pt idx="50">
                  <c:v/>
                </c:pt>
                <c:pt idx="51">
                  <c:v/>
                </c:pt>
                <c:pt idx="52">
                  <c:v/>
                </c:pt>
                <c:pt idx="53">
                  <c:v/>
                </c:pt>
                <c:pt idx="54">
                  <c:v/>
                </c:pt>
                <c:pt idx="55">
                  <c:v/>
                </c:pt>
                <c:pt idx="56">
                  <c:v/>
                </c:pt>
                <c:pt idx="57">
                  <c:v/>
                </c:pt>
                <c:pt idx="58">
                  <c:v/>
                </c:pt>
                <c:pt idx="59">
                  <c:v/>
                </c:pt>
                <c:pt idx="60">
                  <c:v/>
                </c:pt>
                <c:pt idx="61">
                  <c:v/>
                </c:pt>
                <c:pt idx="62">
                  <c:v/>
                </c:pt>
                <c:pt idx="63">
                  <c:v/>
                </c:pt>
                <c:pt idx="64">
                  <c:v/>
                </c:pt>
                <c:pt idx="65">
                  <c:v/>
                </c:pt>
                <c:pt idx="66">
                  <c:v/>
                </c:pt>
                <c:pt idx="67">
                  <c:v/>
                </c:pt>
                <c:pt idx="68">
                  <c:v/>
                </c:pt>
                <c:pt idx="69">
                  <c:v/>
                </c:pt>
                <c:pt idx="70">
                  <c:v/>
                </c:pt>
                <c:pt idx="71">
                  <c:v/>
                </c:pt>
                <c:pt idx="72">
                  <c:v/>
                </c:pt>
                <c:pt idx="73">
                  <c:v/>
                </c:pt>
                <c:pt idx="74">
                  <c:v/>
                </c:pt>
              </c:numCache>
            </c:numRef>
          </c:yVal>
          <c:smooth val="0"/>
        </c:ser>
        <c:ser>
          <c:idx val="2"/>
          <c:order val="2"/>
          <c:tx>
            <c:strRef>
              <c:f>Sheet1!$D$1</c:f>
              <c:strCache>
                <c:ptCount val="1"/>
                <c:pt idx="0">
                  <c:v>Size-Only Trend</c:v>
                </c:pt>
              </c:strCache>
            </c:strRef>
          </c:tx>
          <c:spPr>
            <a:solidFill>
              <a:srgbClr val="5E5E5E"/>
            </a:solidFill>
            <a:ln w="15875">
              <a:solidFill>
                <a:srgbClr val="5E5E5E"/>
              </a:solidFill>
              <a:prstDash val="dash"/>
            </a:ln>
            <a:effectLst/>
          </c:spPr>
          <c:marker>
            <c:symbol val="none"/>
          </c:marker>
          <c:xVal>
            <c:numRef>
              <c:f>Sheet1!$A$2:$A$76</c:f>
              <c:numCache>
                <c:formatCode>General</c:formatCode>
                <c:ptCount val="75"/>
                <c:pt idx="0">
                  <c:v>1790</c:v>
                </c:pt>
                <c:pt idx="1">
                  <c:v>1810</c:v>
                </c:pt>
                <c:pt idx="2">
                  <c:v>1702</c:v>
                </c:pt>
                <c:pt idx="3">
                  <c:v>1880</c:v>
                </c:pt>
                <c:pt idx="4">
                  <c:v>2260</c:v>
                </c:pt>
                <c:pt idx="5">
                  <c:v>1950</c:v>
                </c:pt>
                <c:pt idx="6">
                  <c:v>2380</c:v>
                </c:pt>
                <c:pt idx="7">
                  <c:v>2150</c:v>
                </c:pt>
                <c:pt idx="8">
                  <c:v>2380</c:v>
                </c:pt>
                <c:pt idx="9">
                  <c:v>1740</c:v>
                </c:pt>
                <c:pt idx="10">
                  <c:v>1880</c:v>
                </c:pt>
                <c:pt idx="11">
                  <c:v>1950</c:v>
                </c:pt>
                <c:pt idx="12">
                  <c:v>1740</c:v>
                </c:pt>
                <c:pt idx="13">
                  <c:v>1450</c:v>
                </c:pt>
                <c:pt idx="14">
                  <c:v>2150</c:v>
                </c:pt>
                <c:pt idx="15">
                  <c:v>2380</c:v>
                </c:pt>
                <c:pt idx="16">
                  <c:v>2260</c:v>
                </c:pt>
                <c:pt idx="17">
                  <c:v>2380</c:v>
                </c:pt>
                <c:pt idx="18">
                  <c:v>1740</c:v>
                </c:pt>
                <c:pt idx="19">
                  <c:v>1450</c:v>
                </c:pt>
                <c:pt idx="20">
                  <c:v>1610</c:v>
                </c:pt>
                <c:pt idx="21">
                  <c:v>2380</c:v>
                </c:pt>
                <c:pt idx="22">
                  <c:v>1820</c:v>
                </c:pt>
                <c:pt idx="23">
                  <c:v>1880</c:v>
                </c:pt>
                <c:pt idx="24">
                  <c:v>2040</c:v>
                </c:pt>
                <c:pt idx="25">
                  <c:v>2380</c:v>
                </c:pt>
                <c:pt idx="26">
                  <c:v>1610</c:v>
                </c:pt>
                <c:pt idx="27">
                  <c:v>2380</c:v>
                </c:pt>
                <c:pt idx="28">
                  <c:v>1849</c:v>
                </c:pt>
                <c:pt idx="29">
                  <c:v>1943</c:v>
                </c:pt>
                <c:pt idx="30">
                  <c:v>2400</c:v>
                </c:pt>
                <c:pt idx="31">
                  <c:v>2400</c:v>
                </c:pt>
                <c:pt idx="32">
                  <c:v>2400</c:v>
                </c:pt>
                <c:pt idx="33">
                  <c:v>1650</c:v>
                </c:pt>
                <c:pt idx="34">
                  <c:v>1500</c:v>
                </c:pt>
                <c:pt idx="35">
                  <c:v>1650</c:v>
                </c:pt>
                <c:pt idx="36">
                  <c:v>1900</c:v>
                </c:pt>
                <c:pt idx="37">
                  <c:v>1650</c:v>
                </c:pt>
                <c:pt idx="38">
                  <c:v>1900</c:v>
                </c:pt>
                <c:pt idx="39">
                  <c:v>1650</c:v>
                </c:pt>
                <c:pt idx="40">
                  <c:v>2100</c:v>
                </c:pt>
                <c:pt idx="41">
                  <c:v>1400</c:v>
                </c:pt>
                <c:pt idx="42">
                  <c:v>1444.4444444444443</c:v>
                </c:pt>
                <c:pt idx="43">
                  <c:v>1488.888888888889</c:v>
                </c:pt>
                <c:pt idx="44">
                  <c:v>1533.3333333333333</c:v>
                </c:pt>
                <c:pt idx="45">
                  <c:v>1577.7777777777778</c:v>
                </c:pt>
                <c:pt idx="46">
                  <c:v>1622.2222222222222</c:v>
                </c:pt>
                <c:pt idx="47">
                  <c:v>1666.6666666666667</c:v>
                </c:pt>
                <c:pt idx="48">
                  <c:v>1711.111111111111</c:v>
                </c:pt>
                <c:pt idx="49">
                  <c:v>1755.5555555555557</c:v>
                </c:pt>
                <c:pt idx="50">
                  <c:v>1800</c:v>
                </c:pt>
                <c:pt idx="51">
                  <c:v>1844.4444444444443</c:v>
                </c:pt>
                <c:pt idx="52">
                  <c:v>1888.888888888889</c:v>
                </c:pt>
                <c:pt idx="53">
                  <c:v>1933.3333333333335</c:v>
                </c:pt>
                <c:pt idx="54">
                  <c:v>1977.7777777777778</c:v>
                </c:pt>
                <c:pt idx="55">
                  <c:v>2022.2222222222222</c:v>
                </c:pt>
                <c:pt idx="56">
                  <c:v>2066.6666666666665</c:v>
                </c:pt>
                <c:pt idx="57">
                  <c:v>2111.1111111111113</c:v>
                </c:pt>
                <c:pt idx="58">
                  <c:v>2155.5555555555557</c:v>
                </c:pt>
                <c:pt idx="59">
                  <c:v>2200</c:v>
                </c:pt>
                <c:pt idx="60">
                  <c:v>2244.4444444444443</c:v>
                </c:pt>
                <c:pt idx="61">
                  <c:v>2288.8888888888887</c:v>
                </c:pt>
                <c:pt idx="62">
                  <c:v>2333.3333333333335</c:v>
                </c:pt>
                <c:pt idx="63">
                  <c:v>2377.777777777778</c:v>
                </c:pt>
                <c:pt idx="64">
                  <c:v>2422.222222222222</c:v>
                </c:pt>
                <c:pt idx="65">
                  <c:v>2466.666666666667</c:v>
                </c:pt>
                <c:pt idx="66">
                  <c:v>2511.1111111111113</c:v>
                </c:pt>
                <c:pt idx="67">
                  <c:v>2555.5555555555557</c:v>
                </c:pt>
                <c:pt idx="68">
                  <c:v>2600</c:v>
                </c:pt>
                <c:pt idx="69">
                  <c:v>1824</c:v>
                </c:pt>
                <c:pt idx="70">
                  <c:v>1865</c:v>
                </c:pt>
                <c:pt idx="71">
                  <c:v>1871</c:v>
                </c:pt>
                <c:pt idx="72">
                  <c:v>1849</c:v>
                </c:pt>
                <c:pt idx="73">
                  <c:v>1865</c:v>
                </c:pt>
                <c:pt idx="74">
                  <c:v>1849</c:v>
                </c:pt>
              </c:numCache>
            </c:numRef>
          </c:xVal>
          <c:yVal>
            <c:numRef>
              <c:f>Sheet1!$D$2:$D$76</c:f>
              <c:numCache>
                <c:formatCode>General</c:formatCode>
                <c:ptCount val="75"/>
                <c:pt idx="0">
                  <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
                </c:pt>
                <c:pt idx="19">
                  <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
                </c:pt>
                <c:pt idx="37">
                  <c:v/>
                </c:pt>
                <c:pt idx="38">
                  <c:v/>
                </c:pt>
                <c:pt idx="39">
                  <c:v/>
                </c:pt>
                <c:pt idx="40">
                  <c:v/>
                </c:pt>
                <c:pt idx="41">
                  <c:v>342131.321903495</c:v>
                </c:pt>
                <c:pt idx="42">
                  <c:v>352121.9205440262</c:v>
                </c:pt>
                <c:pt idx="43">
                  <c:v>362112.51918455743</c:v>
                </c:pt>
                <c:pt idx="44">
                  <c:v>372103.1178250886</c:v>
                </c:pt>
                <c:pt idx="45">
                  <c:v>382093.71646561986</c:v>
                </c:pt>
                <c:pt idx="46">
                  <c:v>392084.31510615104</c:v>
                </c:pt>
                <c:pt idx="47">
                  <c:v>402074.9137466823</c:v>
                </c:pt>
                <c:pt idx="48">
                  <c:v>412065.5123872135</c:v>
                </c:pt>
                <c:pt idx="49">
                  <c:v>422056.1110277447</c:v>
                </c:pt>
                <c:pt idx="50">
                  <c:v>432046.7096682759</c:v>
                </c:pt>
                <c:pt idx="51">
                  <c:v>442037.3083088071</c:v>
                </c:pt>
                <c:pt idx="52">
                  <c:v>452027.9069493383</c:v>
                </c:pt>
                <c:pt idx="53">
                  <c:v>462018.5055898696</c:v>
                </c:pt>
                <c:pt idx="54">
                  <c:v>472009.10423040076</c:v>
                </c:pt>
                <c:pt idx="55">
                  <c:v>481999.70287093194</c:v>
                </c:pt>
                <c:pt idx="56">
                  <c:v>491990.3015114631</c:v>
                </c:pt>
                <c:pt idx="57">
                  <c:v>501980.90015199437</c:v>
                </c:pt>
                <c:pt idx="58">
                  <c:v>511971.49879252556</c:v>
                </c:pt>
                <c:pt idx="59">
                  <c:v>521962.09743305674</c:v>
                </c:pt>
                <c:pt idx="60">
                  <c:v>531952.696073588</c:v>
                </c:pt>
                <c:pt idx="61">
                  <c:v>541943.294714119</c:v>
                </c:pt>
                <c:pt idx="62">
                  <c:v>551933.8933546504</c:v>
                </c:pt>
                <c:pt idx="63">
                  <c:v>561924.4919951817</c:v>
                </c:pt>
                <c:pt idx="64">
                  <c:v>571915.0906357127</c:v>
                </c:pt>
                <c:pt idx="65">
                  <c:v>581905.689276244</c:v>
                </c:pt>
                <c:pt idx="66">
                  <c:v>591896.2879167753</c:v>
                </c:pt>
                <c:pt idx="67">
                  <c:v>601886.8865573064</c:v>
                </c:pt>
                <c:pt idx="68">
                  <c:v>611877.4851978377</c:v>
                </c:pt>
                <c:pt idx="69">
                  <c:v/>
                </c:pt>
                <c:pt idx="70">
                  <c:v/>
                </c:pt>
                <c:pt idx="71">
                  <c:v/>
                </c:pt>
                <c:pt idx="72">
                  <c:v/>
                </c:pt>
                <c:pt idx="73">
                  <c:v/>
                </c:pt>
                <c:pt idx="74">
                  <c:v/>
                </c:pt>
              </c:numCache>
            </c:numRef>
          </c:yVal>
          <c:smooth val="0"/>
        </c:ser>
        <c:ser>
          <c:idx val="3"/>
          <c:order val="3"/>
          <c:tx>
            <c:strRef>
              <c:f>Sheet1!$E$1</c:f>
              <c:strCache>
                <c:ptCount val="1"/>
                <c:pt idx="0">
                  <c:v>Comparable Sales</c:v>
                </c:pt>
              </c:strCache>
            </c:strRef>
          </c:tx>
          <c:spPr>
            <a:solidFill>
              <a:srgbClr val="C2410C"/>
            </a:solidFill>
            <a:ln>
              <a:noFill/>
            </a:ln>
            <a:effectLst/>
          </c:spPr>
          <c:marker>
            <c:symbol val="circle"/>
            <c:size val="8"/>
            <c:spPr>
              <a:solidFill>
                <a:srgbClr val="C2410C"/>
              </a:solidFill>
              <a:ln w="19050">
                <a:solidFill>
                  <a:srgbClr val="C2410C"/>
                </a:solidFill>
              </a:ln>
            </c:spPr>
          </c:marker>
          <c:xVal>
            <c:numRef>
              <c:f>Sheet1!$A$2:$A$76</c:f>
              <c:numCache>
                <c:formatCode>General</c:formatCode>
                <c:ptCount val="75"/>
                <c:pt idx="0">
                  <c:v>1790</c:v>
                </c:pt>
                <c:pt idx="1">
                  <c:v>1810</c:v>
                </c:pt>
                <c:pt idx="2">
                  <c:v>1702</c:v>
                </c:pt>
                <c:pt idx="3">
                  <c:v>1880</c:v>
                </c:pt>
                <c:pt idx="4">
                  <c:v>2260</c:v>
                </c:pt>
                <c:pt idx="5">
                  <c:v>1950</c:v>
                </c:pt>
                <c:pt idx="6">
                  <c:v>2380</c:v>
                </c:pt>
                <c:pt idx="7">
                  <c:v>2150</c:v>
                </c:pt>
                <c:pt idx="8">
                  <c:v>2380</c:v>
                </c:pt>
                <c:pt idx="9">
                  <c:v>1740</c:v>
                </c:pt>
                <c:pt idx="10">
                  <c:v>1880</c:v>
                </c:pt>
                <c:pt idx="11">
                  <c:v>1950</c:v>
                </c:pt>
                <c:pt idx="12">
                  <c:v>1740</c:v>
                </c:pt>
                <c:pt idx="13">
                  <c:v>1450</c:v>
                </c:pt>
                <c:pt idx="14">
                  <c:v>2150</c:v>
                </c:pt>
                <c:pt idx="15">
                  <c:v>2380</c:v>
                </c:pt>
                <c:pt idx="16">
                  <c:v>2260</c:v>
                </c:pt>
                <c:pt idx="17">
                  <c:v>2380</c:v>
                </c:pt>
                <c:pt idx="18">
                  <c:v>1740</c:v>
                </c:pt>
                <c:pt idx="19">
                  <c:v>1450</c:v>
                </c:pt>
                <c:pt idx="20">
                  <c:v>1610</c:v>
                </c:pt>
                <c:pt idx="21">
                  <c:v>2380</c:v>
                </c:pt>
                <c:pt idx="22">
                  <c:v>1820</c:v>
                </c:pt>
                <c:pt idx="23">
                  <c:v>1880</c:v>
                </c:pt>
                <c:pt idx="24">
                  <c:v>2040</c:v>
                </c:pt>
                <c:pt idx="25">
                  <c:v>2380</c:v>
                </c:pt>
                <c:pt idx="26">
                  <c:v>1610</c:v>
                </c:pt>
                <c:pt idx="27">
                  <c:v>2380</c:v>
                </c:pt>
                <c:pt idx="28">
                  <c:v>1849</c:v>
                </c:pt>
                <c:pt idx="29">
                  <c:v>1943</c:v>
                </c:pt>
                <c:pt idx="30">
                  <c:v>2400</c:v>
                </c:pt>
                <c:pt idx="31">
                  <c:v>2400</c:v>
                </c:pt>
                <c:pt idx="32">
                  <c:v>2400</c:v>
                </c:pt>
                <c:pt idx="33">
                  <c:v>1650</c:v>
                </c:pt>
                <c:pt idx="34">
                  <c:v>1500</c:v>
                </c:pt>
                <c:pt idx="35">
                  <c:v>1650</c:v>
                </c:pt>
                <c:pt idx="36">
                  <c:v>1900</c:v>
                </c:pt>
                <c:pt idx="37">
                  <c:v>1650</c:v>
                </c:pt>
                <c:pt idx="38">
                  <c:v>1900</c:v>
                </c:pt>
                <c:pt idx="39">
                  <c:v>1650</c:v>
                </c:pt>
                <c:pt idx="40">
                  <c:v>2100</c:v>
                </c:pt>
                <c:pt idx="41">
                  <c:v>1400</c:v>
                </c:pt>
                <c:pt idx="42">
                  <c:v>1444.4444444444443</c:v>
                </c:pt>
                <c:pt idx="43">
                  <c:v>1488.888888888889</c:v>
                </c:pt>
                <c:pt idx="44">
                  <c:v>1533.3333333333333</c:v>
                </c:pt>
                <c:pt idx="45">
                  <c:v>1577.7777777777778</c:v>
                </c:pt>
                <c:pt idx="46">
                  <c:v>1622.2222222222222</c:v>
                </c:pt>
                <c:pt idx="47">
                  <c:v>1666.6666666666667</c:v>
                </c:pt>
                <c:pt idx="48">
                  <c:v>1711.111111111111</c:v>
                </c:pt>
                <c:pt idx="49">
                  <c:v>1755.5555555555557</c:v>
                </c:pt>
                <c:pt idx="50">
                  <c:v>1800</c:v>
                </c:pt>
                <c:pt idx="51">
                  <c:v>1844.4444444444443</c:v>
                </c:pt>
                <c:pt idx="52">
                  <c:v>1888.888888888889</c:v>
                </c:pt>
                <c:pt idx="53">
                  <c:v>1933.3333333333335</c:v>
                </c:pt>
                <c:pt idx="54">
                  <c:v>1977.7777777777778</c:v>
                </c:pt>
                <c:pt idx="55">
                  <c:v>2022.2222222222222</c:v>
                </c:pt>
                <c:pt idx="56">
                  <c:v>2066.6666666666665</c:v>
                </c:pt>
                <c:pt idx="57">
                  <c:v>2111.1111111111113</c:v>
                </c:pt>
                <c:pt idx="58">
                  <c:v>2155.5555555555557</c:v>
                </c:pt>
                <c:pt idx="59">
                  <c:v>2200</c:v>
                </c:pt>
                <c:pt idx="60">
                  <c:v>2244.4444444444443</c:v>
                </c:pt>
                <c:pt idx="61">
                  <c:v>2288.8888888888887</c:v>
                </c:pt>
                <c:pt idx="62">
                  <c:v>2333.3333333333335</c:v>
                </c:pt>
                <c:pt idx="63">
                  <c:v>2377.777777777778</c:v>
                </c:pt>
                <c:pt idx="64">
                  <c:v>2422.222222222222</c:v>
                </c:pt>
                <c:pt idx="65">
                  <c:v>2466.666666666667</c:v>
                </c:pt>
                <c:pt idx="66">
                  <c:v>2511.1111111111113</c:v>
                </c:pt>
                <c:pt idx="67">
                  <c:v>2555.5555555555557</c:v>
                </c:pt>
                <c:pt idx="68">
                  <c:v>2600</c:v>
                </c:pt>
                <c:pt idx="69">
                  <c:v>1824</c:v>
                </c:pt>
                <c:pt idx="70">
                  <c:v>1865</c:v>
                </c:pt>
                <c:pt idx="71">
                  <c:v>1871</c:v>
                </c:pt>
                <c:pt idx="72">
                  <c:v>1849</c:v>
                </c:pt>
                <c:pt idx="73">
                  <c:v>1865</c:v>
                </c:pt>
                <c:pt idx="74">
                  <c:v>1849</c:v>
                </c:pt>
              </c:numCache>
            </c:numRef>
          </c:xVal>
          <c:yVal>
            <c:numRef>
              <c:f>Sheet1!$E$2:$E$76</c:f>
              <c:numCache>
                <c:formatCode>General</c:formatCode>
                <c:ptCount val="75"/>
                <c:pt idx="0">
                  <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
                </c:pt>
                <c:pt idx="19">
                  <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
                </c:pt>
                <c:pt idx="37">
                  <c:v/>
                </c:pt>
                <c:pt idx="38">
                  <c:v/>
                </c:pt>
                <c:pt idx="39">
                  <c:v/>
                </c:pt>
                <c:pt idx="40">
                  <c:v/>
                </c:pt>
                <c:pt idx="41">
                  <c:v/>
                </c:pt>
                <c:pt idx="42">
                  <c:v/>
                </c:pt>
                <c:pt idx="43">
                  <c:v/>
                </c:pt>
                <c:pt idx="44">
                  <c:v/>
                </c:pt>
                <c:pt idx="45">
                  <c:v/>
                </c:pt>
                <c:pt idx="46">
                  <c:v/>
                </c:pt>
                <c:pt idx="47">
                  <c:v/>
                </c:pt>
                <c:pt idx="48">
                  <c:v/>
                </c:pt>
                <c:pt idx="49">
                  <c:v/>
                </c:pt>
                <c:pt idx="50">
                  <c:v/>
                </c:pt>
                <c:pt idx="51">
                  <c:v/>
                </c:pt>
                <c:pt idx="52">
                  <c:v/>
                </c:pt>
                <c:pt idx="53">
                  <c:v/>
                </c:pt>
                <c:pt idx="54">
                  <c:v/>
                </c:pt>
                <c:pt idx="55">
                  <c:v/>
                </c:pt>
                <c:pt idx="56">
                  <c:v/>
                </c:pt>
                <c:pt idx="57">
                  <c:v/>
                </c:pt>
                <c:pt idx="58">
                  <c:v/>
                </c:pt>
                <c:pt idx="59">
                  <c:v/>
                </c:pt>
                <c:pt idx="60">
                  <c:v/>
                </c:pt>
                <c:pt idx="61">
                  <c:v/>
                </c:pt>
                <c:pt idx="62">
                  <c:v/>
                </c:pt>
                <c:pt idx="63">
                  <c:v/>
                </c:pt>
                <c:pt idx="64">
                  <c:v/>
                </c:pt>
                <c:pt idx="65">
                  <c:v/>
                </c:pt>
                <c:pt idx="66">
                  <c:v/>
                </c:pt>
                <c:pt idx="67">
                  <c:v/>
                </c:pt>
                <c:pt idx="68">
                  <c:v/>
                </c:pt>
                <c:pt idx="69">
                  <c:v>505500</c:v>
                </c:pt>
                <c:pt idx="70">
                  <c:v>495000</c:v>
                </c:pt>
                <c:pt idx="71">
                  <c:v>427000</c:v>
                </c:pt>
                <c:pt idx="72">
                  <c:v>429000</c:v>
                </c:pt>
                <c:pt idx="73">
                  <c:v>465000</c:v>
                </c:pt>
                <c:pt idx="74">
                  <c:v/>
                </c:pt>
              </c:numCache>
            </c:numRef>
          </c:yVal>
          <c:smooth val="0"/>
        </c:ser>
        <c:ser>
          <c:idx val="4"/>
          <c:order val="4"/>
          <c:tx>
            <c:strRef>
              <c:f>Sheet1!$F$1</c:f>
              <c:strCache>
                <c:ptCount val="1"/>
                <c:pt idx="0">
                  <c:v>Your Home, Recommended</c:v>
                </c:pt>
              </c:strCache>
            </c:strRef>
          </c:tx>
          <c:spPr>
            <a:solidFill>
              <a:srgbClr val="1A1A1A"/>
            </a:solidFill>
            <a:ln>
              <a:noFill/>
            </a:ln>
            <a:effectLst/>
          </c:spPr>
          <c:marker>
            <c:symbol val="diamond"/>
            <c:size val="11"/>
            <c:spPr>
              <a:solidFill>
                <a:srgbClr val="1A1A1A"/>
              </a:solidFill>
              <a:ln w="19050">
                <a:solidFill>
                  <a:srgbClr val="FFFFFF"/>
                </a:solidFill>
              </a:ln>
            </c:spPr>
          </c:marker>
          <c:xVal>
            <c:numRef>
              <c:f>Sheet1!$A$2:$A$76</c:f>
              <c:numCache>
                <c:formatCode>General</c:formatCode>
                <c:ptCount val="75"/>
                <c:pt idx="0">
                  <c:v>1790</c:v>
                </c:pt>
                <c:pt idx="1">
                  <c:v>1810</c:v>
                </c:pt>
                <c:pt idx="2">
                  <c:v>1702</c:v>
                </c:pt>
                <c:pt idx="3">
                  <c:v>1880</c:v>
                </c:pt>
                <c:pt idx="4">
                  <c:v>2260</c:v>
                </c:pt>
                <c:pt idx="5">
                  <c:v>1950</c:v>
                </c:pt>
                <c:pt idx="6">
                  <c:v>2380</c:v>
                </c:pt>
                <c:pt idx="7">
                  <c:v>2150</c:v>
                </c:pt>
                <c:pt idx="8">
                  <c:v>2380</c:v>
                </c:pt>
                <c:pt idx="9">
                  <c:v>1740</c:v>
                </c:pt>
                <c:pt idx="10">
                  <c:v>1880</c:v>
                </c:pt>
                <c:pt idx="11">
                  <c:v>1950</c:v>
                </c:pt>
                <c:pt idx="12">
                  <c:v>1740</c:v>
                </c:pt>
                <c:pt idx="13">
                  <c:v>1450</c:v>
                </c:pt>
                <c:pt idx="14">
                  <c:v>2150</c:v>
                </c:pt>
                <c:pt idx="15">
                  <c:v>2380</c:v>
                </c:pt>
                <c:pt idx="16">
                  <c:v>2260</c:v>
                </c:pt>
                <c:pt idx="17">
                  <c:v>2380</c:v>
                </c:pt>
                <c:pt idx="18">
                  <c:v>1740</c:v>
                </c:pt>
                <c:pt idx="19">
                  <c:v>1450</c:v>
                </c:pt>
                <c:pt idx="20">
                  <c:v>1610</c:v>
                </c:pt>
                <c:pt idx="21">
                  <c:v>2380</c:v>
                </c:pt>
                <c:pt idx="22">
                  <c:v>1820</c:v>
                </c:pt>
                <c:pt idx="23">
                  <c:v>1880</c:v>
                </c:pt>
                <c:pt idx="24">
                  <c:v>2040</c:v>
                </c:pt>
                <c:pt idx="25">
                  <c:v>2380</c:v>
                </c:pt>
                <c:pt idx="26">
                  <c:v>1610</c:v>
                </c:pt>
                <c:pt idx="27">
                  <c:v>2380</c:v>
                </c:pt>
                <c:pt idx="28">
                  <c:v>1849</c:v>
                </c:pt>
                <c:pt idx="29">
                  <c:v>1943</c:v>
                </c:pt>
                <c:pt idx="30">
                  <c:v>2400</c:v>
                </c:pt>
                <c:pt idx="31">
                  <c:v>2400</c:v>
                </c:pt>
                <c:pt idx="32">
                  <c:v>2400</c:v>
                </c:pt>
                <c:pt idx="33">
                  <c:v>1650</c:v>
                </c:pt>
                <c:pt idx="34">
                  <c:v>1500</c:v>
                </c:pt>
                <c:pt idx="35">
                  <c:v>1650</c:v>
                </c:pt>
                <c:pt idx="36">
                  <c:v>1900</c:v>
                </c:pt>
                <c:pt idx="37">
                  <c:v>1650</c:v>
                </c:pt>
                <c:pt idx="38">
                  <c:v>1900</c:v>
                </c:pt>
                <c:pt idx="39">
                  <c:v>1650</c:v>
                </c:pt>
                <c:pt idx="40">
                  <c:v>2100</c:v>
                </c:pt>
                <c:pt idx="41">
                  <c:v>1400</c:v>
                </c:pt>
                <c:pt idx="42">
                  <c:v>1444.4444444444443</c:v>
                </c:pt>
                <c:pt idx="43">
                  <c:v>1488.888888888889</c:v>
                </c:pt>
                <c:pt idx="44">
                  <c:v>1533.3333333333333</c:v>
                </c:pt>
                <c:pt idx="45">
                  <c:v>1577.7777777777778</c:v>
                </c:pt>
                <c:pt idx="46">
                  <c:v>1622.2222222222222</c:v>
                </c:pt>
                <c:pt idx="47">
                  <c:v>1666.6666666666667</c:v>
                </c:pt>
                <c:pt idx="48">
                  <c:v>1711.111111111111</c:v>
                </c:pt>
                <c:pt idx="49">
                  <c:v>1755.5555555555557</c:v>
                </c:pt>
                <c:pt idx="50">
                  <c:v>1800</c:v>
                </c:pt>
                <c:pt idx="51">
                  <c:v>1844.4444444444443</c:v>
                </c:pt>
                <c:pt idx="52">
                  <c:v>1888.888888888889</c:v>
                </c:pt>
                <c:pt idx="53">
                  <c:v>1933.3333333333335</c:v>
                </c:pt>
                <c:pt idx="54">
                  <c:v>1977.7777777777778</c:v>
                </c:pt>
                <c:pt idx="55">
                  <c:v>2022.2222222222222</c:v>
                </c:pt>
                <c:pt idx="56">
                  <c:v>2066.6666666666665</c:v>
                </c:pt>
                <c:pt idx="57">
                  <c:v>2111.1111111111113</c:v>
                </c:pt>
                <c:pt idx="58">
                  <c:v>2155.5555555555557</c:v>
                </c:pt>
                <c:pt idx="59">
                  <c:v>2200</c:v>
                </c:pt>
                <c:pt idx="60">
                  <c:v>2244.4444444444443</c:v>
                </c:pt>
                <c:pt idx="61">
                  <c:v>2288.8888888888887</c:v>
                </c:pt>
                <c:pt idx="62">
                  <c:v>2333.3333333333335</c:v>
                </c:pt>
                <c:pt idx="63">
                  <c:v>2377.777777777778</c:v>
                </c:pt>
                <c:pt idx="64">
                  <c:v>2422.222222222222</c:v>
                </c:pt>
                <c:pt idx="65">
                  <c:v>2466.666666666667</c:v>
                </c:pt>
                <c:pt idx="66">
                  <c:v>2511.1111111111113</c:v>
                </c:pt>
                <c:pt idx="67">
                  <c:v>2555.5555555555557</c:v>
                </c:pt>
                <c:pt idx="68">
                  <c:v>2600</c:v>
                </c:pt>
                <c:pt idx="69">
                  <c:v>1824</c:v>
                </c:pt>
                <c:pt idx="70">
                  <c:v>1865</c:v>
                </c:pt>
                <c:pt idx="71">
                  <c:v>1871</c:v>
                </c:pt>
                <c:pt idx="72">
                  <c:v>1849</c:v>
                </c:pt>
                <c:pt idx="73">
                  <c:v>1865</c:v>
                </c:pt>
                <c:pt idx="74">
                  <c:v>1849</c:v>
                </c:pt>
              </c:numCache>
            </c:numRef>
          </c:xVal>
          <c:yVal>
            <c:numRef>
              <c:f>Sheet1!$F$2:$F$76</c:f>
              <c:numCache>
                <c:formatCode>General</c:formatCode>
                <c:ptCount val="75"/>
                <c:pt idx="0">
                  <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
                </c:pt>
                <c:pt idx="19">
                  <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
                </c:pt>
                <c:pt idx="37">
                  <c:v/>
                </c:pt>
                <c:pt idx="38">
                  <c:v/>
                </c:pt>
                <c:pt idx="39">
                  <c:v/>
                </c:pt>
                <c:pt idx="40">
                  <c:v/>
                </c:pt>
                <c:pt idx="41">
                  <c:v/>
                </c:pt>
                <c:pt idx="42">
                  <c:v/>
                </c:pt>
                <c:pt idx="43">
                  <c:v/>
                </c:pt>
                <c:pt idx="44">
                  <c:v/>
                </c:pt>
                <c:pt idx="45">
                  <c:v/>
                </c:pt>
                <c:pt idx="46">
                  <c:v/>
                </c:pt>
                <c:pt idx="47">
                  <c:v/>
                </c:pt>
                <c:pt idx="48">
                  <c:v/>
                </c:pt>
                <c:pt idx="49">
                  <c:v/>
                </c:pt>
                <c:pt idx="50">
                  <c:v/>
                </c:pt>
                <c:pt idx="51">
                  <c:v/>
                </c:pt>
                <c:pt idx="52">
                  <c:v/>
                </c:pt>
                <c:pt idx="53">
                  <c:v/>
                </c:pt>
                <c:pt idx="54">
                  <c:v/>
                </c:pt>
                <c:pt idx="55">
                  <c:v/>
                </c:pt>
                <c:pt idx="56">
                  <c:v/>
                </c:pt>
                <c:pt idx="57">
                  <c:v/>
                </c:pt>
                <c:pt idx="58">
                  <c:v/>
                </c:pt>
                <c:pt idx="59">
                  <c:v/>
                </c:pt>
                <c:pt idx="60">
                  <c:v/>
                </c:pt>
                <c:pt idx="61">
                  <c:v/>
                </c:pt>
                <c:pt idx="62">
                  <c:v/>
                </c:pt>
                <c:pt idx="63">
                  <c:v/>
                </c:pt>
                <c:pt idx="64">
                  <c:v/>
                </c:pt>
                <c:pt idx="65">
                  <c:v/>
                </c:pt>
                <c:pt idx="66">
                  <c:v/>
                </c:pt>
                <c:pt idx="67">
                  <c:v/>
                </c:pt>
                <c:pt idx="68">
                  <c:v/>
                </c:pt>
                <c:pt idx="69">
                  <c:v/>
                </c:pt>
                <c:pt idx="70">
                  <c:v/>
                </c:pt>
                <c:pt idx="71">
                  <c:v/>
                </c:pt>
                <c:pt idx="72">
                  <c:v/>
                </c:pt>
                <c:pt idx="73">
                  <c:v/>
                </c:pt>
                <c:pt idx="74">
                  <c:v>470000</c:v>
                </c:pt>
              </c:numCache>
            </c:numRef>
          </c:yVal>
          <c:smooth val="0"/>
        </c:ser>
        <c:dLbls>
          <c:numFmt formatCode="General"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dLbls>
        <c:axId val="2094734554"/>
        <c:axId val="2094734552"/>
      </c:scatterChart>
      <c:valAx>
        <c:axId val="2094734554"/>
        <c:scaling>
          <c:orientation val="minMax"/>
          <c:max val="2600"/>
          <c:min val="1400"/>
        </c:scaling>
        <c:delete val="0"/>
        <c:axPos val="b"/>
        <c:majorGridlines>
          <c:spPr>
            <a:ln w="6350" cap="flat">
              <a:solidFill>
                <a:srgbClr val="F8E8E2"/>
              </a:solidFill>
              <a:prstDash val="solid"/>
              <a:round/>
            </a:ln>
          </c:spPr>
        </c:majorGridlines>
        <c:title>
          <c:tx>
            <c:rich>
              <a:bodyPr/>
              <a:lstStyle/>
              <a:p>
                <a:pPr>
                  <a:defRPr sz="1000" b="0" i="0" u="none" strike="noStrike">
                    <a:solidFill>
                      <a:srgbClr val="5E5E5E"/>
                    </a:solidFill>
                    <a:latin typeface="Arial"/>
                  </a:defRPr>
                </a:pPr>
                <a:r>
                  <a:rPr sz="1000" b="0" i="0" u="none" strike="noStrike">
                    <a:solidFill>
                      <a:srgbClr val="5E5E5E"/>
                    </a:solidFill>
                    <a:latin typeface="Arial"/>
                  </a:rPr>
                  <a:t>Living Area (Sq Ft)</a:t>
                </a:r>
              </a:p>
            </c:rich>
          </c:tx>
          <c:layout/>
          <c:overlay val="0"/>
        </c:title>
        <c:numFmt formatCode="#,##0" sourceLinked="0"/>
        <c:majorTickMark val="none"/>
        <c:minorTickMark val="none"/>
        <c:tickLblPos val="nextTo"/>
        <c:spPr>
          <a:ln w="12700" cap="flat">
            <a:solidFill>
              <a:srgbClr val="888888"/>
            </a:solidFill>
            <a:prstDash val="solid"/>
            <a:round/>
          </a:ln>
        </c:spPr>
        <c:txPr>
          <a:bodyPr/>
          <a:lstStyle/>
          <a:p>
            <a:pPr>
              <a:defRPr sz="1000" b="0" i="0" u="none" strike="noStrike">
                <a:solidFill>
                  <a:srgbClr val="5E5E5E"/>
                </a:solidFill>
                <a:latin typeface="Arial"/>
              </a:defRPr>
            </a:pPr>
            <a:endParaRPr lang="en-US"/>
          </a:p>
        </c:txPr>
        <c:crossAx val="2094734552"/>
        <c:crosses val="autoZero"/>
        <c:auto val="1"/>
        <c:lblAlgn val="ctr"/>
        <c:noMultiLvlLbl val="1"/>
      </c:valAx>
      <c:valAx>
        <c:axId val="2094734552"/>
        <c:scaling>
          <c:orientation val="minMax"/>
          <c:max val="650000"/>
          <c:min val="300000"/>
        </c:scaling>
        <c:delete val="0"/>
        <c:axPos val="l"/>
        <c:majorGridlines>
          <c:spPr>
            <a:ln w="6350" cap="flat">
              <a:solidFill>
                <a:srgbClr val="F8E8E2"/>
              </a:solidFill>
              <a:prstDash val="solid"/>
              <a:round/>
            </a:ln>
          </c:spPr>
        </c:majorGridlines>
        <c:numFmt formatCode=";;;" sourceLinked="0"/>
        <c:majorTickMark val="none"/>
        <c:minorTickMark val="none"/>
        <c:tickLblPos val="nextTo"/>
        <c:spPr>
          <a:ln w="12700" cap="flat">
            <a:solidFill>
              <a:srgbClr val="888888"/>
            </a:solidFill>
            <a:prstDash val="solid"/>
            <a:round/>
          </a:ln>
        </c:spPr>
        <c:txPr>
          <a:bodyPr/>
          <a:lstStyle/>
          <a:p>
            <a:pPr>
              <a:defRPr sz="1000" b="0" i="0" u="none" strike="noStrike">
                <a:solidFill>
                  <a:srgbClr val="5E5E5E"/>
                </a:solidFill>
                <a:latin typeface="Arial"/>
              </a:defRPr>
            </a:pPr>
            <a:endParaRPr lang="en-US"/>
          </a:p>
        </c:txPr>
        <c:crossAx val="2094734554"/>
        <c:crosses val="autoZero"/>
        <c:crossBetween val="midCat"/>
        <c:majorUnit val="50000"/>
      </c:valAx>
      <c:spPr>
        <a:noFill/>
        <a:ln>
          <a:noFill/>
        </a:ln>
        <a:effectLst/>
      </c:spPr>
    </c:plotArea>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Estimated Net</c:v>
                </c:pt>
              </c:strCache>
            </c:strRef>
          </c:tx>
          <c:spPr>
            <a:solidFill>
              <a:srgbClr val="C2410C"/>
            </a:solidFill>
            <a:effectLst/>
          </c:spPr>
          <c:invertIfNegative val="0"/>
          <c:dLbls>
            <c:numFmt formatCode="$#,##0;&quot;−&quot;$#,##0" sourceLinked="0"/>
            <c:txPr>
              <a:bodyPr/>
              <a:lstStyle/>
              <a:p>
                <a:pPr>
                  <a:defRPr b="1" i="0" strike="noStrike" sz="1300" u="none">
                    <a:solidFill>
                      <a:srgbClr val="1A1A1A"/>
                    </a:solidFill>
                    <a:latin typeface="Arial"/>
                  </a:defRPr>
                </a:pPr>
              </a:p>
            </c:txPr>
            <c:showLegendKey val="0"/>
            <c:showVal val="1"/>
            <c:showCatName val="0"/>
            <c:showSerName val="0"/>
            <c:showPercent val="0"/>
            <c:showBubbleSize val="0"/>
            <c:showLeaderLines val="0"/>
          </c:dLbls>
          <c:cat>
            <c:multiLvlStrRef>
              <c:f>Sheet1!$A$2:$A$4</c:f>
              <c:multiLvlStrCache>
                <c:ptCount val="3"/>
                <c:lvl>
                  <c:pt idx="0">
                    <c:v>Premium at $475,000</c:v>
                  </c:pt>
                  <c:pt idx="1">
                    <c:v>Market Price at $470,000</c:v>
                  </c:pt>
                  <c:pt idx="2">
                    <c:v>Draw Offers at $460,000</c:v>
                  </c:pt>
                </c:lvl>
              </c:multiLvlStrCache>
            </c:multiLvlStrRef>
          </c:cat>
          <c:val>
            <c:numRef>
              <c:f>Sheet1!$B$2:$B$4</c:f>
              <c:numCache>
                <c:formatCode>General</c:formatCode>
                <c:ptCount val="3"/>
                <c:pt idx="0">
                  <c:v>424690</c:v>
                </c:pt>
                <c:pt idx="1">
                  <c:v>424636</c:v>
                </c:pt>
                <c:pt idx="2">
                  <c:v>415497</c:v>
                </c:pt>
              </c:numCache>
            </c:numRef>
          </c:val>
        </c:ser>
        <c:dLbls>
          <c:numFmt formatCode="$#,##0;&quot;−&quot;$#,##0" sourceLinked="0"/>
          <c:txPr>
            <a:bodyPr/>
            <a:lstStyle/>
            <a:p>
              <a:pPr>
                <a:defRPr b="1" i="0" strike="noStrike" sz="1300" u="none">
                  <a:solidFill>
                    <a:srgbClr val="1A1A1A"/>
                  </a:solidFill>
                  <a:latin typeface="Arial"/>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1A1A1A"/>
                </a:solidFill>
                <a:latin typeface="Arial"/>
              </a:defRPr>
            </a:pPr>
            <a:endParaRPr lang="en-US"/>
          </a:p>
        </c:txPr>
        <c:crossAx val="2094734552"/>
        <c:crosses val="autoZero"/>
        <c:auto val="1"/>
        <c:lblAlgn val="ctr"/>
        <c:noMultiLvlLbl val="1"/>
      </c:catAx>
      <c:valAx>
        <c:axId val="2094734552"/>
        <c:scaling>
          <c:orientation val="minMax"/>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goal: a price that gets your home sold for the most money in a reasonable time, and the evidence behind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 with the answer. The rest of the presentation shows how we got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started from every nearby sale, kept the closest matches in size, pool, age and neighborhood, and adjusted each for its differences from your home.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features the adjustments credit your home for. The roof and permits need paperwork before buyers and appraisers will pay for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dot is what that home would have sold for if it were yours. Adjustment details are in the report and the appendix.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sale and listing nearby. The dashed line is size alone; renovation and a pool push homes above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earlier period holds the older sales; now holds the recent ones. The report's market table has every figure.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homes a buyer will likely tour alongside yours.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sale prices and timelines are estimates from recent sales. The competing-offer option assumes a smaller seller credit.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appendix has every line of the net sheet, and the notes say what each rests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Buyers shop by payment; the report's notes give the loan and tax basis.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Low-cost steps that remove the questions that cost sellers money at the negotiating 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Confirm the documents and the launch date.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sales are estimates, not guarantees: each option's list price times an assumed 97.0% of its final asking price after seller-paid costs, plus that option's seller credit, to the nearest $500. The $475,000 option uses 93.9% instead, what recent nearby sales got against their original asking price after seller-paid costs, since a price above the market usually sells only after a cut. Times to contract are estimates from the recent median of 22 days on market: longer for a higher price, shorter for a price that draws competing offers. Each option assumes a $11,000 seller credit toward the buyer's costs: how often recent sellers paid buyer costs times the typical amount. Holding costs: about $520 a month (insurance at the recommended $470,000 list price and utilities; no loan interest, since no mortgage payoff was given) from the report date to each option's closing. Title company fees are typical local charges (settlement fee $700, title search $250, municipal lien search $125, recording $70); the title company's quote replaces them. Buyer payments: Conventional loan, 5% down, 6.95% 30-year fixed, property taxes at 18.1808 mills, with homestead, $3,600 a year insurance, and 0.5% a year mortgage insurance. Commissions are negotiable and not set by law. Not included: your mortgage payoff, this year's property tax proration (the current tax bill adds it) and any repairs agreed after inspection. The closing agent provides the exact figures. These proceeds are before any income tax on the sale; a CPA can estimate it. Flood zone X: a lender may not require flood insurance, but a Citizens policy on a home with a dwelling replacement cost of $400,000 or more must carry flood insurance, and from January 1, 2027 every Citizens policy must (s. 627.351(6)(aa)). Get a quote; the total leaves it out until then.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Adjusted for size ($1,200 to $1,875); lot ($5,000 to $10,000); market changes since each sale (2% a quarter off sales before July); roof and systems ($5,000); condition and updates ($30,000 to $45,000, against this home's full renovation); and seller credits (taken off each sale price). These are the five closest matches, sold Apr 24, 2026 to Aug 20, 2026 (one since July), all within a mile. This home's roof age isn't known, so no sale is adjusted for its roof.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slideLayout" Target="../slideLayouts/slideLayout1.xml"/><Relationship Id="rId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1.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image" Target="../media/image-12-6.png"/><Relationship Id="rId7" Type="http://schemas.openxmlformats.org/officeDocument/2006/relationships/slideLayout" Target="../slideLayouts/slideLayout1.xml"/><Relationship Id="rId8"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7B2400"/>
        </a:solidFill>
      </p:bgPr>
    </p:bg>
    <p:spTree>
      <p:nvGrpSpPr>
        <p:cNvPr id="1" name=""/>
        <p:cNvGrpSpPr/>
        <p:nvPr/>
      </p:nvGrpSpPr>
      <p:grpSpPr>
        <a:xfrm>
          <a:off x="0" y="0"/>
          <a:ext cx="0" cy="0"/>
          <a:chOff x="0" y="0"/>
          <a:chExt cx="0" cy="0"/>
        </a:xfrm>
      </p:grpSpPr>
      <p:sp>
        <p:nvSpPr>
          <p:cNvPr id="2" name="Shape 0"/>
          <p:cNvSpPr/>
          <p:nvPr/>
        </p:nvSpPr>
        <p:spPr>
          <a:xfrm>
            <a:off x="457200" y="822960"/>
            <a:ext cx="640080" cy="640080"/>
          </a:xfrm>
          <a:prstGeom prst="ellipse">
            <a:avLst/>
          </a:prstGeom>
          <a:solidFill>
            <a:srgbClr val="F8E8E2"/>
          </a:solidFill>
          <a:ln w="12700">
            <a:solidFill>
              <a:srgbClr val="F8E8E2"/>
            </a:solidFill>
            <a:prstDash val="solid"/>
          </a:ln>
        </p:spPr>
      </p:sp>
      <p:pic>
        <p:nvPicPr>
          <p:cNvPr id="3" name="Image 0" descr="preencoded.png">    </p:cNvPr>
          <p:cNvPicPr>
            <a:picLocks noChangeAspect="1"/>
          </p:cNvPicPr>
          <p:nvPr/>
        </p:nvPicPr>
        <p:blipFill>
          <a:blip r:embed="rId1"/>
          <a:stretch>
            <a:fillRect/>
          </a:stretch>
        </p:blipFill>
        <p:spPr>
          <a:xfrm>
            <a:off x="610819" y="976579"/>
            <a:ext cx="332842" cy="332842"/>
          </a:xfrm>
          <a:prstGeom prst="rect">
            <a:avLst/>
          </a:prstGeom>
        </p:spPr>
      </p:pic>
      <p:sp>
        <p:nvSpPr>
          <p:cNvPr id="4" name="Text 1"/>
          <p:cNvSpPr txBox="1"/>
          <p:nvPr/>
        </p:nvSpPr>
        <p:spPr>
          <a:xfrm>
            <a:off x="457200" y="1645920"/>
            <a:ext cx="7772400" cy="914400"/>
          </a:xfrm>
          <a:prstGeom prst="rect">
            <a:avLst/>
          </a:prstGeom>
          <a:noFill/>
          <a:ln/>
        </p:spPr>
        <p:txBody>
          <a:bodyPr wrap="square" lIns="0" tIns="0" rIns="0" bIns="0" rtlCol="0" anchor="b"/>
          <a:lstStyle/>
          <a:p>
            <a:pPr indent="0" marL="0">
              <a:buNone/>
            </a:pPr>
            <a:r>
              <a:rPr lang="en-US" sz="3800" b="1" dirty="0">
                <a:solidFill>
                  <a:srgbClr val="FFFFFF"/>
                </a:solidFill>
                <a:latin typeface="Arial" pitchFamily="34" charset="0"/>
                <a:ea typeface="Arial" pitchFamily="34" charset="-122"/>
                <a:cs typeface="Arial" pitchFamily="34" charset="-120"/>
              </a:rPr>
              <a:t>Pricing 517 Larkwood Ave</a:t>
            </a:r>
            <a:endParaRPr lang="en-US" sz="3800" dirty="0"/>
          </a:p>
        </p:txBody>
      </p:sp>
      <p:sp>
        <p:nvSpPr>
          <p:cNvPr id="5" name="Text 2"/>
          <p:cNvSpPr txBox="1"/>
          <p:nvPr/>
        </p:nvSpPr>
        <p:spPr>
          <a:xfrm>
            <a:off x="457200" y="2606040"/>
            <a:ext cx="7772400" cy="365760"/>
          </a:xfrm>
          <a:prstGeom prst="rect">
            <a:avLst/>
          </a:prstGeom>
          <a:noFill/>
          <a:ln/>
        </p:spPr>
        <p:txBody>
          <a:bodyPr wrap="square" lIns="0" tIns="0" rIns="0" bIns="0" rtlCol="0" anchor="ctr"/>
          <a:lstStyle/>
          <a:p>
            <a:pPr indent="0" marL="0">
              <a:buNone/>
            </a:pPr>
            <a:r>
              <a:rPr lang="en-US" sz="1600" dirty="0">
                <a:solidFill>
                  <a:srgbClr val="F8E8E2"/>
                </a:solidFill>
                <a:latin typeface="Arial" pitchFamily="34" charset="0"/>
                <a:ea typeface="Arial" pitchFamily="34" charset="-122"/>
                <a:cs typeface="Arial" pitchFamily="34" charset="-120"/>
              </a:rPr>
              <a:t>Listing Presentation · Casselberry, Fernwood Park</a:t>
            </a:r>
            <a:endParaRPr lang="en-US" sz="1600" dirty="0"/>
          </a:p>
        </p:txBody>
      </p:sp>
      <p:sp>
        <p:nvSpPr>
          <p:cNvPr id="6" name="Text 3"/>
          <p:cNvSpPr txBox="1"/>
          <p:nvPr/>
        </p:nvSpPr>
        <p:spPr>
          <a:xfrm>
            <a:off x="457200" y="3520440"/>
            <a:ext cx="7772400" cy="1097280"/>
          </a:xfrm>
          <a:prstGeom prst="rect">
            <a:avLst/>
          </a:prstGeom>
          <a:noFill/>
          <a:ln/>
        </p:spPr>
        <p:txBody>
          <a:bodyPr wrap="square" lIns="0" tIns="0" rIns="0" bIns="0" rtlCol="0" anchor="t"/>
          <a:lstStyle/>
          <a:p>
            <a:pPr indent="0" marL="0">
              <a:spcAft>
                <a:spcPts val="200"/>
              </a:spcAft>
              <a:buNone/>
            </a:pPr>
            <a:r>
              <a:rPr lang="en-US" sz="1200" b="1" dirty="0">
                <a:solidFill>
                  <a:srgbClr val="F8E8E2"/>
                </a:solidFill>
                <a:latin typeface="Arial" pitchFamily="34" charset="0"/>
                <a:ea typeface="Arial" pitchFamily="34" charset="-122"/>
                <a:cs typeface="Arial" pitchFamily="34" charset="-120"/>
              </a:rPr>
              <a:t>Jordan Avery, REALTOR®</a:t>
            </a:r>
            <a:endParaRPr lang="en-US" sz="1200" dirty="0"/>
          </a:p>
          <a:p>
            <a:pPr indent="0" marL="0">
              <a:spcAft>
                <a:spcPts val="200"/>
              </a:spcAft>
              <a:buNone/>
            </a:pPr>
            <a:r>
              <a:rPr lang="en-US" sz="1200" dirty="0">
                <a:solidFill>
                  <a:srgbClr val="F8E8E2"/>
                </a:solidFill>
                <a:latin typeface="Arial" pitchFamily="34" charset="0"/>
                <a:ea typeface="Arial" pitchFamily="34" charset="-122"/>
                <a:cs typeface="Arial" pitchFamily="34" charset="-120"/>
              </a:rPr>
              <a:t>The Avery Team · Sample Realty, LLC · License SL0000000</a:t>
            </a:r>
            <a:endParaRPr lang="en-US" sz="1200" dirty="0"/>
          </a:p>
          <a:p>
            <a:pPr indent="0" marL="0">
              <a:spcAft>
                <a:spcPts val="200"/>
              </a:spcAft>
              <a:buNone/>
            </a:pPr>
            <a:r>
              <a:rPr lang="en-US" sz="1200" dirty="0">
                <a:solidFill>
                  <a:srgbClr val="F8E8E2"/>
                </a:solidFill>
                <a:latin typeface="Arial" pitchFamily="34" charset="0"/>
                <a:ea typeface="Arial" pitchFamily="34" charset="-122"/>
                <a:cs typeface="Arial" pitchFamily="34" charset="-120"/>
              </a:rPr>
              <a:t>(407) 555-0142 · jordan@example.com · example.com</a:t>
            </a:r>
            <a:endParaRPr lang="en-US" sz="1200" dirty="0"/>
          </a:p>
          <a:p>
            <a:pPr indent="0" marL="0">
              <a:spcAft>
                <a:spcPts val="200"/>
              </a:spcAft>
              <a:buNone/>
            </a:pPr>
            <a:r>
              <a:rPr lang="en-US" sz="1200" dirty="0">
                <a:solidFill>
                  <a:srgbClr val="F8E8E2"/>
                </a:solidFill>
                <a:latin typeface="Arial" pitchFamily="34" charset="0"/>
                <a:ea typeface="Arial" pitchFamily="34" charset="-122"/>
                <a:cs typeface="Arial" pitchFamily="34" charset="-120"/>
              </a:rPr>
              <a:t>September 22,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8229600" cy="566928"/>
          </a:xfrm>
          <a:prstGeom prst="rect">
            <a:avLst/>
          </a:prstGeom>
          <a:noFill/>
          <a:ln/>
        </p:spPr>
        <p:txBody>
          <a:bodyPr wrap="square" lIns="0" tIns="0" rIns="0" bIns="0" rtlCol="0" anchor="t"/>
          <a:lstStyle/>
          <a:p>
            <a:pPr indent="0" marL="0">
              <a:buNone/>
            </a:pPr>
            <a:r>
              <a:rPr lang="en-US" sz="2600" b="1" dirty="0">
                <a:solidFill>
                  <a:srgbClr val="1A1A1A"/>
                </a:solidFill>
                <a:latin typeface="Arial" pitchFamily="34" charset="0"/>
                <a:ea typeface="Arial" pitchFamily="34" charset="-122"/>
                <a:cs typeface="Arial" pitchFamily="34" charset="-120"/>
              </a:rPr>
              <a:t>Our Recommendation</a:t>
            </a:r>
            <a:endParaRPr lang="en-US" sz="2600" dirty="0"/>
          </a:p>
        </p:txBody>
      </p:sp>
      <p:sp>
        <p:nvSpPr>
          <p:cNvPr id="3" name="Text 1"/>
          <p:cNvSpPr txBox="1"/>
          <p:nvPr/>
        </p:nvSpPr>
        <p:spPr>
          <a:xfrm>
            <a:off x="457200" y="1234440"/>
            <a:ext cx="4206240" cy="320040"/>
          </a:xfrm>
          <a:prstGeom prst="rect">
            <a:avLst/>
          </a:prstGeom>
          <a:noFill/>
          <a:ln/>
        </p:spPr>
        <p:txBody>
          <a:bodyPr wrap="square" lIns="0" tIns="0" rIns="0" bIns="0" rtlCol="0" anchor="ctr"/>
          <a:lstStyle/>
          <a:p>
            <a:pPr indent="0" marL="0">
              <a:buNone/>
            </a:pPr>
            <a:r>
              <a:rPr lang="en-US" sz="1400" dirty="0">
                <a:solidFill>
                  <a:srgbClr val="5E5E5E"/>
                </a:solidFill>
                <a:latin typeface="Arial" pitchFamily="34" charset="0"/>
                <a:ea typeface="Arial" pitchFamily="34" charset="-122"/>
                <a:cs typeface="Arial" pitchFamily="34" charset="-120"/>
              </a:rPr>
              <a:t>Recommended List Price</a:t>
            </a:r>
            <a:endParaRPr lang="en-US" sz="1400" dirty="0"/>
          </a:p>
        </p:txBody>
      </p:sp>
      <p:sp>
        <p:nvSpPr>
          <p:cNvPr id="4" name="Text 2"/>
          <p:cNvSpPr txBox="1"/>
          <p:nvPr/>
        </p:nvSpPr>
        <p:spPr>
          <a:xfrm>
            <a:off x="457200" y="1554480"/>
            <a:ext cx="4389120" cy="1097280"/>
          </a:xfrm>
          <a:prstGeom prst="rect">
            <a:avLst/>
          </a:prstGeom>
          <a:noFill/>
          <a:ln/>
        </p:spPr>
        <p:txBody>
          <a:bodyPr wrap="square" lIns="0" tIns="0" rIns="0" bIns="0" rtlCol="0" anchor="ctr"/>
          <a:lstStyle/>
          <a:p>
            <a:pPr indent="0" marL="0">
              <a:buNone/>
            </a:pPr>
            <a:r>
              <a:rPr lang="en-US" sz="6400" b="1" dirty="0">
                <a:solidFill>
                  <a:srgbClr val="C2410C"/>
                </a:solidFill>
                <a:latin typeface="Arial" pitchFamily="34" charset="0"/>
                <a:ea typeface="Arial" pitchFamily="34" charset="-122"/>
                <a:cs typeface="Arial" pitchFamily="34" charset="-120"/>
              </a:rPr>
              <a:t>$470,000</a:t>
            </a:r>
            <a:endParaRPr lang="en-US" sz="6400" dirty="0"/>
          </a:p>
        </p:txBody>
      </p:sp>
      <p:sp>
        <p:nvSpPr>
          <p:cNvPr id="5" name="Text 3"/>
          <p:cNvSpPr txBox="1"/>
          <p:nvPr/>
        </p:nvSpPr>
        <p:spPr>
          <a:xfrm>
            <a:off x="457200" y="2834640"/>
            <a:ext cx="4206240" cy="1280160"/>
          </a:xfrm>
          <a:prstGeom prst="rect">
            <a:avLst/>
          </a:prstGeom>
          <a:noFill/>
          <a:ln/>
        </p:spPr>
        <p:txBody>
          <a:bodyPr wrap="square" lIns="0" tIns="0" rIns="0" bIns="0" rtlCol="0" anchor="t"/>
          <a:lstStyle/>
          <a:p>
            <a:pPr indent="0" marL="0">
              <a:buNone/>
            </a:pPr>
            <a:r>
              <a:rPr lang="en-US" sz="1500" dirty="0">
                <a:solidFill>
                  <a:srgbClr val="1A1A1A"/>
                </a:solidFill>
                <a:latin typeface="Arial" pitchFamily="34" charset="0"/>
                <a:ea typeface="Arial" pitchFamily="34" charset="-122"/>
                <a:cs typeface="Arial" pitchFamily="34" charset="-120"/>
              </a:rPr>
              <a:t>It sits at the middle of what recent sales support and gives you the strongest launch, when buyer attention is highest.</a:t>
            </a:r>
            <a:endParaRPr lang="en-US" sz="1500" dirty="0"/>
          </a:p>
        </p:txBody>
      </p:sp>
      <p:sp>
        <p:nvSpPr>
          <p:cNvPr id="6" name="Shape 4"/>
          <p:cNvSpPr/>
          <p:nvPr/>
        </p:nvSpPr>
        <p:spPr>
          <a:xfrm>
            <a:off x="5212080" y="1234440"/>
            <a:ext cx="3474720" cy="1234440"/>
          </a:xfrm>
          <a:prstGeom prst="roundRect">
            <a:avLst>
              <a:gd name="adj" fmla="val 5926"/>
            </a:avLst>
          </a:prstGeom>
          <a:solidFill>
            <a:srgbClr val="FBF2EE"/>
          </a:solidFill>
          <a:ln w="12700">
            <a:solidFill>
              <a:srgbClr val="FBF2EE"/>
            </a:solidFill>
            <a:prstDash val="solid"/>
          </a:ln>
        </p:spPr>
      </p:sp>
      <p:sp>
        <p:nvSpPr>
          <p:cNvPr id="7" name="Text 5"/>
          <p:cNvSpPr txBox="1"/>
          <p:nvPr/>
        </p:nvSpPr>
        <p:spPr>
          <a:xfrm>
            <a:off x="5440680" y="1371600"/>
            <a:ext cx="3017520" cy="274320"/>
          </a:xfrm>
          <a:prstGeom prst="rect">
            <a:avLst/>
          </a:prstGeom>
          <a:noFill/>
          <a:ln/>
        </p:spPr>
        <p:txBody>
          <a:bodyPr wrap="square" lIns="0" tIns="0" rIns="0" bIns="0" rtlCol="0" anchor="ctr"/>
          <a:lstStyle/>
          <a:p>
            <a:pPr indent="0" marL="0">
              <a:buNone/>
            </a:pPr>
            <a:r>
              <a:rPr lang="en-US" sz="1200" dirty="0">
                <a:solidFill>
                  <a:srgbClr val="5E5E5E"/>
                </a:solidFill>
                <a:latin typeface="Arial" pitchFamily="34" charset="0"/>
                <a:ea typeface="Arial" pitchFamily="34" charset="-122"/>
                <a:cs typeface="Arial" pitchFamily="34" charset="-120"/>
              </a:rPr>
              <a:t>Supported Value Range</a:t>
            </a:r>
            <a:endParaRPr lang="en-US" sz="1200" dirty="0"/>
          </a:p>
        </p:txBody>
      </p:sp>
      <p:sp>
        <p:nvSpPr>
          <p:cNvPr id="8" name="Text 6"/>
          <p:cNvSpPr txBox="1"/>
          <p:nvPr/>
        </p:nvSpPr>
        <p:spPr>
          <a:xfrm>
            <a:off x="5440680" y="1645920"/>
            <a:ext cx="3017520" cy="457200"/>
          </a:xfrm>
          <a:prstGeom prst="rect">
            <a:avLst/>
          </a:prstGeom>
          <a:noFill/>
          <a:ln/>
        </p:spPr>
        <p:txBody>
          <a:bodyPr wrap="square" lIns="0" tIns="0" rIns="0" bIns="0" rtlCol="0" anchor="ctr"/>
          <a:lstStyle/>
          <a:p>
            <a:pPr indent="0" marL="0">
              <a:buNone/>
            </a:pPr>
            <a:r>
              <a:rPr lang="en-US" sz="2400" b="1" dirty="0">
                <a:solidFill>
                  <a:srgbClr val="1A1A1A"/>
                </a:solidFill>
                <a:latin typeface="Arial" pitchFamily="34" charset="0"/>
                <a:ea typeface="Arial" pitchFamily="34" charset="-122"/>
                <a:cs typeface="Arial" pitchFamily="34" charset="-120"/>
              </a:rPr>
              <a:t>$455K–$480K</a:t>
            </a:r>
            <a:endParaRPr lang="en-US" sz="2400" dirty="0"/>
          </a:p>
        </p:txBody>
      </p:sp>
      <p:sp>
        <p:nvSpPr>
          <p:cNvPr id="9" name="Text 7"/>
          <p:cNvSpPr txBox="1"/>
          <p:nvPr/>
        </p:nvSpPr>
        <p:spPr>
          <a:xfrm>
            <a:off x="5440680" y="2103120"/>
            <a:ext cx="3017520" cy="256032"/>
          </a:xfrm>
          <a:prstGeom prst="rect">
            <a:avLst/>
          </a:prstGeom>
          <a:noFill/>
          <a:ln/>
        </p:spPr>
        <p:txBody>
          <a:bodyPr wrap="square" lIns="0" tIns="0" rIns="0" bIns="0" rtlCol="0" anchor="ctr"/>
          <a:lstStyle/>
          <a:p>
            <a:pPr indent="0" marL="0">
              <a:buNone/>
            </a:pPr>
            <a:r>
              <a:rPr lang="en-US" sz="1100" dirty="0">
                <a:solidFill>
                  <a:srgbClr val="5E5E5E"/>
                </a:solidFill>
                <a:latin typeface="Arial" pitchFamily="34" charset="0"/>
                <a:ea typeface="Arial" pitchFamily="34" charset="-122"/>
                <a:cs typeface="Arial" pitchFamily="34" charset="-120"/>
              </a:rPr>
              <a:t>What recent sales support</a:t>
            </a:r>
            <a:endParaRPr lang="en-US" sz="1100" dirty="0"/>
          </a:p>
        </p:txBody>
      </p:sp>
      <p:sp>
        <p:nvSpPr>
          <p:cNvPr id="10" name="Shape 8"/>
          <p:cNvSpPr/>
          <p:nvPr/>
        </p:nvSpPr>
        <p:spPr>
          <a:xfrm>
            <a:off x="5212080" y="2697480"/>
            <a:ext cx="3474720" cy="1234440"/>
          </a:xfrm>
          <a:prstGeom prst="roundRect">
            <a:avLst>
              <a:gd name="adj" fmla="val 5926"/>
            </a:avLst>
          </a:prstGeom>
          <a:solidFill>
            <a:srgbClr val="FBF2EE"/>
          </a:solidFill>
          <a:ln w="12700">
            <a:solidFill>
              <a:srgbClr val="FBF2EE"/>
            </a:solidFill>
            <a:prstDash val="solid"/>
          </a:ln>
        </p:spPr>
      </p:sp>
      <p:sp>
        <p:nvSpPr>
          <p:cNvPr id="11" name="Text 9"/>
          <p:cNvSpPr txBox="1"/>
          <p:nvPr/>
        </p:nvSpPr>
        <p:spPr>
          <a:xfrm>
            <a:off x="5440680" y="2834640"/>
            <a:ext cx="3017520" cy="274320"/>
          </a:xfrm>
          <a:prstGeom prst="rect">
            <a:avLst/>
          </a:prstGeom>
          <a:noFill/>
          <a:ln/>
        </p:spPr>
        <p:txBody>
          <a:bodyPr wrap="square" lIns="0" tIns="0" rIns="0" bIns="0" rtlCol="0" anchor="ctr"/>
          <a:lstStyle/>
          <a:p>
            <a:pPr indent="0" marL="0">
              <a:buNone/>
            </a:pPr>
            <a:r>
              <a:rPr lang="en-US" sz="1200" dirty="0">
                <a:solidFill>
                  <a:srgbClr val="5E5E5E"/>
                </a:solidFill>
                <a:latin typeface="Arial" pitchFamily="34" charset="0"/>
                <a:ea typeface="Arial" pitchFamily="34" charset="-122"/>
                <a:cs typeface="Arial" pitchFamily="34" charset="-120"/>
              </a:rPr>
              <a:t>Expected Sale</a:t>
            </a:r>
            <a:endParaRPr lang="en-US" sz="1200" dirty="0"/>
          </a:p>
        </p:txBody>
      </p:sp>
      <p:sp>
        <p:nvSpPr>
          <p:cNvPr id="12" name="Text 10"/>
          <p:cNvSpPr txBox="1"/>
          <p:nvPr/>
        </p:nvSpPr>
        <p:spPr>
          <a:xfrm>
            <a:off x="5440680" y="3108960"/>
            <a:ext cx="3017520" cy="457200"/>
          </a:xfrm>
          <a:prstGeom prst="rect">
            <a:avLst/>
          </a:prstGeom>
          <a:noFill/>
          <a:ln/>
        </p:spPr>
        <p:txBody>
          <a:bodyPr wrap="square" lIns="0" tIns="0" rIns="0" bIns="0" rtlCol="0" anchor="ctr"/>
          <a:lstStyle/>
          <a:p>
            <a:pPr indent="0" marL="0">
              <a:buNone/>
            </a:pPr>
            <a:r>
              <a:rPr lang="en-US" sz="2400" b="1" dirty="0">
                <a:solidFill>
                  <a:srgbClr val="1A1A1A"/>
                </a:solidFill>
                <a:latin typeface="Arial" pitchFamily="34" charset="0"/>
                <a:ea typeface="Arial" pitchFamily="34" charset="-122"/>
                <a:cs typeface="Arial" pitchFamily="34" charset="-120"/>
              </a:rPr>
              <a:t>About $467,000</a:t>
            </a:r>
            <a:endParaRPr lang="en-US" sz="2400" dirty="0"/>
          </a:p>
        </p:txBody>
      </p:sp>
      <p:sp>
        <p:nvSpPr>
          <p:cNvPr id="13" name="Text 11"/>
          <p:cNvSpPr txBox="1"/>
          <p:nvPr/>
        </p:nvSpPr>
        <p:spPr>
          <a:xfrm>
            <a:off x="5440680" y="3566160"/>
            <a:ext cx="3017520" cy="256032"/>
          </a:xfrm>
          <a:prstGeom prst="rect">
            <a:avLst/>
          </a:prstGeom>
          <a:noFill/>
          <a:ln/>
        </p:spPr>
        <p:txBody>
          <a:bodyPr wrap="square" lIns="0" tIns="0" rIns="0" bIns="0" rtlCol="0" anchor="ctr"/>
          <a:lstStyle/>
          <a:p>
            <a:pPr indent="0" marL="0">
              <a:buNone/>
            </a:pPr>
            <a:r>
              <a:rPr lang="en-US" sz="1100" dirty="0">
                <a:solidFill>
                  <a:srgbClr val="5E5E5E"/>
                </a:solidFill>
                <a:latin typeface="Arial" pitchFamily="34" charset="0"/>
                <a:ea typeface="Arial" pitchFamily="34" charset="-122"/>
                <a:cs typeface="Arial" pitchFamily="34" charset="-120"/>
              </a:rPr>
              <a:t>After the negotiating that is normal now</a:t>
            </a:r>
            <a:endParaRPr lang="en-US" sz="1100" dirty="0"/>
          </a:p>
        </p:txBody>
      </p:sp>
      <p:sp>
        <p:nvSpPr>
          <p:cNvPr id="14" name="Text 12"/>
          <p:cNvSpPr txBox="1"/>
          <p:nvPr/>
        </p:nvSpPr>
        <p:spPr>
          <a:xfrm>
            <a:off x="457200" y="4796028"/>
            <a:ext cx="6858000" cy="228600"/>
          </a:xfrm>
          <a:prstGeom prst="rect">
            <a:avLst/>
          </a:prstGeom>
          <a:noFill/>
          <a:ln/>
        </p:spPr>
        <p:txBody>
          <a:bodyPr wrap="square" lIns="0" tIns="0" rIns="0" bIns="0" rtlCol="0" anchor="ctr"/>
          <a:lstStyle/>
          <a:p>
            <a:pPr indent="0" marL="0">
              <a:buNone/>
            </a:pPr>
            <a:r>
              <a:rPr lang="en-US" sz="800" dirty="0">
                <a:solidFill>
                  <a:srgbClr val="5E5E5E"/>
                </a:solidFill>
                <a:latin typeface="Arial" pitchFamily="34" charset="0"/>
                <a:ea typeface="Arial" pitchFamily="34" charset="-122"/>
                <a:cs typeface="Arial" pitchFamily="34" charset="-120"/>
              </a:rPr>
              <a:t>SAMPLE DATA · 517 Larkwood Ave · Jordan Avery, REALTOR®, Sample Realty, LLC</a:t>
            </a:r>
            <a:endParaRPr lang="en-US" sz="800" dirty="0"/>
          </a:p>
        </p:txBody>
      </p:sp>
      <p:sp>
        <p:nvSpPr>
          <p:cNvPr id="15" name="Text 13"/>
          <p:cNvSpPr txBox="1"/>
          <p:nvPr/>
        </p:nvSpPr>
        <p:spPr>
          <a:xfrm>
            <a:off x="8229600" y="4796028"/>
            <a:ext cx="457200" cy="228600"/>
          </a:xfrm>
          <a:prstGeom prst="rect">
            <a:avLst/>
          </a:prstGeom>
          <a:noFill/>
          <a:ln/>
        </p:spPr>
        <p:txBody>
          <a:bodyPr wrap="square" lIns="0" tIns="0" rIns="0" bIns="0" rtlCol="0" anchor="ctr"/>
          <a:lstStyle/>
          <a:p>
            <a:pPr algn="r" indent="0" marL="0">
              <a:buNone/>
            </a:pPr>
            <a:r>
              <a:rPr lang="en-US" sz="800" dirty="0">
                <a:solidFill>
                  <a:srgbClr val="5E5E5E"/>
                </a:solidFill>
                <a:latin typeface="Arial" pitchFamily="34" charset="0"/>
                <a:ea typeface="Arial" pitchFamily="34" charset="-122"/>
                <a:cs typeface="Arial" pitchFamily="34" charset="-120"/>
              </a:rPr>
              <a:t>2</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8229600" cy="566928"/>
          </a:xfrm>
          <a:prstGeom prst="rect">
            <a:avLst/>
          </a:prstGeom>
          <a:noFill/>
          <a:ln/>
        </p:spPr>
        <p:txBody>
          <a:bodyPr wrap="square" lIns="0" tIns="0" rIns="0" bIns="0" rtlCol="0" anchor="t"/>
          <a:lstStyle/>
          <a:p>
            <a:pPr indent="0" marL="0">
              <a:buNone/>
            </a:pPr>
            <a:r>
              <a:rPr lang="en-US" sz="2600" b="1" dirty="0">
                <a:solidFill>
                  <a:srgbClr val="1A1A1A"/>
                </a:solidFill>
                <a:latin typeface="Arial" pitchFamily="34" charset="0"/>
                <a:ea typeface="Arial" pitchFamily="34" charset="-122"/>
                <a:cs typeface="Arial" pitchFamily="34" charset="-120"/>
              </a:rPr>
              <a:t>How We Priced It</a:t>
            </a:r>
            <a:endParaRPr lang="en-US" sz="2600" dirty="0"/>
          </a:p>
        </p:txBody>
      </p:sp>
      <p:sp>
        <p:nvSpPr>
          <p:cNvPr id="3" name="Text 1"/>
          <p:cNvSpPr txBox="1"/>
          <p:nvPr/>
        </p:nvSpPr>
        <p:spPr>
          <a:xfrm>
            <a:off x="457200" y="841248"/>
            <a:ext cx="8229600" cy="201422"/>
          </a:xfrm>
          <a:prstGeom prst="rect">
            <a:avLst/>
          </a:prstGeom>
          <a:noFill/>
          <a:ln/>
        </p:spPr>
        <p:txBody>
          <a:bodyPr wrap="square" lIns="0" tIns="0" rIns="0" bIns="0" rtlCol="0" anchor="t"/>
          <a:lstStyle/>
          <a:p>
            <a:pPr indent="0" marL="0">
              <a:buNone/>
            </a:pPr>
            <a:r>
              <a:rPr lang="en-US" sz="1300" dirty="0">
                <a:solidFill>
                  <a:srgbClr val="5E5E5E"/>
                </a:solidFill>
                <a:latin typeface="Arial" pitchFamily="34" charset="0"/>
                <a:ea typeface="Arial" pitchFamily="34" charset="-122"/>
                <a:cs typeface="Arial" pitchFamily="34" charset="-120"/>
              </a:rPr>
              <a:t>From the neighborhood's sales to one number</a:t>
            </a:r>
            <a:endParaRPr lang="en-US" sz="1300" dirty="0"/>
          </a:p>
        </p:txBody>
      </p:sp>
      <p:sp>
        <p:nvSpPr>
          <p:cNvPr id="4" name="Shape 2"/>
          <p:cNvSpPr/>
          <p:nvPr/>
        </p:nvSpPr>
        <p:spPr>
          <a:xfrm>
            <a:off x="612648" y="1481328"/>
            <a:ext cx="0" cy="2029968"/>
          </a:xfrm>
          <a:prstGeom prst="line">
            <a:avLst/>
          </a:prstGeom>
          <a:noFill/>
          <a:ln w="19050">
            <a:solidFill>
              <a:srgbClr val="F8E8E2"/>
            </a:solidFill>
            <a:prstDash val="solid"/>
          </a:ln>
        </p:spPr>
      </p:sp>
      <p:sp>
        <p:nvSpPr>
          <p:cNvPr id="5" name="Shape 3"/>
          <p:cNvSpPr/>
          <p:nvPr/>
        </p:nvSpPr>
        <p:spPr>
          <a:xfrm>
            <a:off x="457200" y="1325880"/>
            <a:ext cx="310896" cy="310896"/>
          </a:xfrm>
          <a:prstGeom prst="ellipse">
            <a:avLst/>
          </a:prstGeom>
          <a:solidFill>
            <a:srgbClr val="FBF2EE"/>
          </a:solidFill>
          <a:ln w="12700">
            <a:solidFill>
              <a:srgbClr val="C2410C"/>
            </a:solidFill>
            <a:prstDash val="solid"/>
          </a:ln>
        </p:spPr>
      </p:sp>
      <p:sp>
        <p:nvSpPr>
          <p:cNvPr id="6" name="Text 4"/>
          <p:cNvSpPr txBox="1"/>
          <p:nvPr/>
        </p:nvSpPr>
        <p:spPr>
          <a:xfrm>
            <a:off x="457200" y="1325880"/>
            <a:ext cx="310896" cy="310896"/>
          </a:xfrm>
          <a:prstGeom prst="rect">
            <a:avLst/>
          </a:prstGeom>
          <a:noFill/>
          <a:ln/>
        </p:spPr>
        <p:txBody>
          <a:bodyPr wrap="square" lIns="0" tIns="0" rIns="0" bIns="0" rtlCol="0" anchor="ctr"/>
          <a:lstStyle/>
          <a:p>
            <a:pPr algn="ctr" indent="0" marL="0">
              <a:buNone/>
            </a:pPr>
            <a:r>
              <a:rPr lang="en-US" sz="1100" b="1" dirty="0">
                <a:solidFill>
                  <a:srgbClr val="A23200"/>
                </a:solidFill>
                <a:latin typeface="Arial" pitchFamily="34" charset="0"/>
                <a:ea typeface="Arial" pitchFamily="34" charset="-122"/>
                <a:cs typeface="Arial" pitchFamily="34" charset="-120"/>
              </a:rPr>
              <a:t>1</a:t>
            </a:r>
            <a:endParaRPr lang="en-US" sz="1100" dirty="0"/>
          </a:p>
        </p:txBody>
      </p:sp>
      <p:sp>
        <p:nvSpPr>
          <p:cNvPr id="7" name="Text 5"/>
          <p:cNvSpPr txBox="1"/>
          <p:nvPr/>
        </p:nvSpPr>
        <p:spPr>
          <a:xfrm>
            <a:off x="960120" y="1289304"/>
            <a:ext cx="4297680" cy="347472"/>
          </a:xfrm>
          <a:prstGeom prst="rect">
            <a:avLst/>
          </a:prstGeom>
          <a:noFill/>
          <a:ln/>
        </p:spPr>
        <p:txBody>
          <a:bodyPr wrap="square" lIns="0" tIns="0" rIns="0" bIns="0" rtlCol="0" anchor="ctr"/>
          <a:lstStyle/>
          <a:p>
            <a:pPr indent="0" marL="0">
              <a:buNone/>
            </a:pPr>
            <a:r>
              <a:rPr lang="en-US" sz="2200" b="1" dirty="0">
                <a:solidFill>
                  <a:srgbClr val="C2410C"/>
                </a:solidFill>
                <a:latin typeface="Arial" pitchFamily="34" charset="0"/>
                <a:ea typeface="Arial" pitchFamily="34" charset="-122"/>
                <a:cs typeface="Arial" pitchFamily="34" charset="-120"/>
              </a:rPr>
              <a:t>33</a:t>
            </a:r>
            <a:endParaRPr lang="en-US" sz="2200" dirty="0"/>
          </a:p>
        </p:txBody>
      </p:sp>
      <p:sp>
        <p:nvSpPr>
          <p:cNvPr id="8" name="Text 6"/>
          <p:cNvSpPr txBox="1"/>
          <p:nvPr/>
        </p:nvSpPr>
        <p:spPr>
          <a:xfrm>
            <a:off x="960120" y="1636776"/>
            <a:ext cx="4297680" cy="219456"/>
          </a:xfrm>
          <a:prstGeom prst="rect">
            <a:avLst/>
          </a:prstGeom>
          <a:noFill/>
          <a:ln/>
        </p:spPr>
        <p:txBody>
          <a:bodyPr wrap="square" lIns="0" tIns="0" rIns="0" bIns="0" rtlCol="0" anchor="t"/>
          <a:lstStyle/>
          <a:p>
            <a:pPr indent="0" marL="0">
              <a:buNone/>
            </a:pPr>
            <a:r>
              <a:rPr lang="en-US" sz="1200" dirty="0">
                <a:solidFill>
                  <a:srgbClr val="1A1A1A"/>
                </a:solidFill>
                <a:latin typeface="Arial" pitchFamily="34" charset="0"/>
                <a:ea typeface="Arial" pitchFamily="34" charset="-122"/>
                <a:cs typeface="Arial" pitchFamily="34" charset="-120"/>
              </a:rPr>
              <a:t>sales within a mile since April</a:t>
            </a:r>
            <a:endParaRPr lang="en-US" sz="1200" dirty="0"/>
          </a:p>
        </p:txBody>
      </p:sp>
      <p:sp>
        <p:nvSpPr>
          <p:cNvPr id="9" name="Shape 7"/>
          <p:cNvSpPr/>
          <p:nvPr/>
        </p:nvSpPr>
        <p:spPr>
          <a:xfrm>
            <a:off x="457200" y="2002536"/>
            <a:ext cx="310896" cy="310896"/>
          </a:xfrm>
          <a:prstGeom prst="ellipse">
            <a:avLst/>
          </a:prstGeom>
          <a:solidFill>
            <a:srgbClr val="FBF2EE"/>
          </a:solidFill>
          <a:ln w="12700">
            <a:solidFill>
              <a:srgbClr val="C2410C"/>
            </a:solidFill>
            <a:prstDash val="solid"/>
          </a:ln>
        </p:spPr>
      </p:sp>
      <p:sp>
        <p:nvSpPr>
          <p:cNvPr id="10" name="Text 8"/>
          <p:cNvSpPr txBox="1"/>
          <p:nvPr/>
        </p:nvSpPr>
        <p:spPr>
          <a:xfrm>
            <a:off x="457200" y="2002536"/>
            <a:ext cx="310896" cy="310896"/>
          </a:xfrm>
          <a:prstGeom prst="rect">
            <a:avLst/>
          </a:prstGeom>
          <a:noFill/>
          <a:ln/>
        </p:spPr>
        <p:txBody>
          <a:bodyPr wrap="square" lIns="0" tIns="0" rIns="0" bIns="0" rtlCol="0" anchor="ctr"/>
          <a:lstStyle/>
          <a:p>
            <a:pPr algn="ctr" indent="0" marL="0">
              <a:buNone/>
            </a:pPr>
            <a:r>
              <a:rPr lang="en-US" sz="1100" b="1" dirty="0">
                <a:solidFill>
                  <a:srgbClr val="A23200"/>
                </a:solidFill>
                <a:latin typeface="Arial" pitchFamily="34" charset="0"/>
                <a:ea typeface="Arial" pitchFamily="34" charset="-122"/>
                <a:cs typeface="Arial" pitchFamily="34" charset="-120"/>
              </a:rPr>
              <a:t>2</a:t>
            </a:r>
            <a:endParaRPr lang="en-US" sz="1100" dirty="0"/>
          </a:p>
        </p:txBody>
      </p:sp>
      <p:sp>
        <p:nvSpPr>
          <p:cNvPr id="11" name="Text 9"/>
          <p:cNvSpPr txBox="1"/>
          <p:nvPr/>
        </p:nvSpPr>
        <p:spPr>
          <a:xfrm>
            <a:off x="960120" y="1965960"/>
            <a:ext cx="4297680" cy="347472"/>
          </a:xfrm>
          <a:prstGeom prst="rect">
            <a:avLst/>
          </a:prstGeom>
          <a:noFill/>
          <a:ln/>
        </p:spPr>
        <p:txBody>
          <a:bodyPr wrap="square" lIns="0" tIns="0" rIns="0" bIns="0" rtlCol="0" anchor="ctr"/>
          <a:lstStyle/>
          <a:p>
            <a:pPr indent="0" marL="0">
              <a:buNone/>
            </a:pPr>
            <a:r>
              <a:rPr lang="en-US" sz="2200" b="1" dirty="0">
                <a:solidFill>
                  <a:srgbClr val="C2410C"/>
                </a:solidFill>
                <a:latin typeface="Arial" pitchFamily="34" charset="0"/>
                <a:ea typeface="Arial" pitchFamily="34" charset="-122"/>
                <a:cs typeface="Arial" pitchFamily="34" charset="-120"/>
              </a:rPr>
              <a:t>5</a:t>
            </a:r>
            <a:endParaRPr lang="en-US" sz="2200" dirty="0"/>
          </a:p>
        </p:txBody>
      </p:sp>
      <p:sp>
        <p:nvSpPr>
          <p:cNvPr id="12" name="Text 10"/>
          <p:cNvSpPr txBox="1"/>
          <p:nvPr/>
        </p:nvSpPr>
        <p:spPr>
          <a:xfrm>
            <a:off x="960120" y="2313432"/>
            <a:ext cx="4297680" cy="219456"/>
          </a:xfrm>
          <a:prstGeom prst="rect">
            <a:avLst/>
          </a:prstGeom>
          <a:noFill/>
          <a:ln/>
        </p:spPr>
        <p:txBody>
          <a:bodyPr wrap="square" lIns="0" tIns="0" rIns="0" bIns="0" rtlCol="0" anchor="t"/>
          <a:lstStyle/>
          <a:p>
            <a:pPr indent="0" marL="0">
              <a:buNone/>
            </a:pPr>
            <a:r>
              <a:rPr lang="en-US" sz="1200" dirty="0">
                <a:solidFill>
                  <a:srgbClr val="1A1A1A"/>
                </a:solidFill>
                <a:latin typeface="Arial" pitchFamily="34" charset="0"/>
                <a:ea typeface="Arial" pitchFamily="34" charset="-122"/>
                <a:cs typeface="Arial" pitchFamily="34" charset="-120"/>
              </a:rPr>
              <a:t>closest matches in size, pool, age and neighborhood</a:t>
            </a:r>
            <a:endParaRPr lang="en-US" sz="1200" dirty="0"/>
          </a:p>
        </p:txBody>
      </p:sp>
      <p:sp>
        <p:nvSpPr>
          <p:cNvPr id="13" name="Shape 11"/>
          <p:cNvSpPr/>
          <p:nvPr/>
        </p:nvSpPr>
        <p:spPr>
          <a:xfrm>
            <a:off x="457200" y="2679192"/>
            <a:ext cx="310896" cy="310896"/>
          </a:xfrm>
          <a:prstGeom prst="ellipse">
            <a:avLst/>
          </a:prstGeom>
          <a:solidFill>
            <a:srgbClr val="FBF2EE"/>
          </a:solidFill>
          <a:ln w="12700">
            <a:solidFill>
              <a:srgbClr val="C2410C"/>
            </a:solidFill>
            <a:prstDash val="solid"/>
          </a:ln>
        </p:spPr>
      </p:sp>
      <p:sp>
        <p:nvSpPr>
          <p:cNvPr id="14" name="Text 12"/>
          <p:cNvSpPr txBox="1"/>
          <p:nvPr/>
        </p:nvSpPr>
        <p:spPr>
          <a:xfrm>
            <a:off x="457200" y="2679192"/>
            <a:ext cx="310896" cy="310896"/>
          </a:xfrm>
          <a:prstGeom prst="rect">
            <a:avLst/>
          </a:prstGeom>
          <a:noFill/>
          <a:ln/>
        </p:spPr>
        <p:txBody>
          <a:bodyPr wrap="square" lIns="0" tIns="0" rIns="0" bIns="0" rtlCol="0" anchor="ctr"/>
          <a:lstStyle/>
          <a:p>
            <a:pPr algn="ctr" indent="0" marL="0">
              <a:buNone/>
            </a:pPr>
            <a:r>
              <a:rPr lang="en-US" sz="1100" b="1" dirty="0">
                <a:solidFill>
                  <a:srgbClr val="A23200"/>
                </a:solidFill>
                <a:latin typeface="Arial" pitchFamily="34" charset="0"/>
                <a:ea typeface="Arial" pitchFamily="34" charset="-122"/>
                <a:cs typeface="Arial" pitchFamily="34" charset="-120"/>
              </a:rPr>
              <a:t>3</a:t>
            </a:r>
            <a:endParaRPr lang="en-US" sz="1100" dirty="0"/>
          </a:p>
        </p:txBody>
      </p:sp>
      <p:sp>
        <p:nvSpPr>
          <p:cNvPr id="15" name="Text 13"/>
          <p:cNvSpPr txBox="1"/>
          <p:nvPr/>
        </p:nvSpPr>
        <p:spPr>
          <a:xfrm>
            <a:off x="960120" y="2642616"/>
            <a:ext cx="4297680" cy="347472"/>
          </a:xfrm>
          <a:prstGeom prst="rect">
            <a:avLst/>
          </a:prstGeom>
          <a:noFill/>
          <a:ln/>
        </p:spPr>
        <p:txBody>
          <a:bodyPr wrap="square" lIns="0" tIns="0" rIns="0" bIns="0" rtlCol="0" anchor="ctr"/>
          <a:lstStyle/>
          <a:p>
            <a:pPr indent="0" marL="0">
              <a:buNone/>
            </a:pPr>
            <a:r>
              <a:rPr lang="en-US" sz="2200" b="1" dirty="0">
                <a:solidFill>
                  <a:srgbClr val="C2410C"/>
                </a:solidFill>
                <a:latin typeface="Arial" pitchFamily="34" charset="0"/>
                <a:ea typeface="Arial" pitchFamily="34" charset="-122"/>
                <a:cs typeface="Arial" pitchFamily="34" charset="-120"/>
              </a:rPr>
              <a:t>$431K–$486K</a:t>
            </a:r>
            <a:endParaRPr lang="en-US" sz="2200" dirty="0"/>
          </a:p>
        </p:txBody>
      </p:sp>
      <p:sp>
        <p:nvSpPr>
          <p:cNvPr id="16" name="Text 14"/>
          <p:cNvSpPr txBox="1"/>
          <p:nvPr/>
        </p:nvSpPr>
        <p:spPr>
          <a:xfrm>
            <a:off x="960120" y="2990088"/>
            <a:ext cx="4297680" cy="219456"/>
          </a:xfrm>
          <a:prstGeom prst="rect">
            <a:avLst/>
          </a:prstGeom>
          <a:noFill/>
          <a:ln/>
        </p:spPr>
        <p:txBody>
          <a:bodyPr wrap="square" lIns="0" tIns="0" rIns="0" bIns="0" rtlCol="0" anchor="t"/>
          <a:lstStyle/>
          <a:p>
            <a:pPr indent="0" marL="0">
              <a:buNone/>
            </a:pPr>
            <a:r>
              <a:rPr lang="en-US" sz="1200" dirty="0">
                <a:solidFill>
                  <a:srgbClr val="1A1A1A"/>
                </a:solidFill>
                <a:latin typeface="Arial" pitchFamily="34" charset="0"/>
                <a:ea typeface="Arial" pitchFamily="34" charset="-122"/>
                <a:cs typeface="Arial" pitchFamily="34" charset="-120"/>
              </a:rPr>
              <a:t>after adjusting each for differences from your home</a:t>
            </a:r>
            <a:endParaRPr lang="en-US" sz="1200" dirty="0"/>
          </a:p>
        </p:txBody>
      </p:sp>
      <p:sp>
        <p:nvSpPr>
          <p:cNvPr id="17" name="Shape 15"/>
          <p:cNvSpPr/>
          <p:nvPr/>
        </p:nvSpPr>
        <p:spPr>
          <a:xfrm>
            <a:off x="457200" y="3355848"/>
            <a:ext cx="310896" cy="310896"/>
          </a:xfrm>
          <a:prstGeom prst="ellipse">
            <a:avLst/>
          </a:prstGeom>
          <a:solidFill>
            <a:srgbClr val="FBF2EE"/>
          </a:solidFill>
          <a:ln w="12700">
            <a:solidFill>
              <a:srgbClr val="C2410C"/>
            </a:solidFill>
            <a:prstDash val="solid"/>
          </a:ln>
        </p:spPr>
      </p:sp>
      <p:sp>
        <p:nvSpPr>
          <p:cNvPr id="18" name="Text 16"/>
          <p:cNvSpPr txBox="1"/>
          <p:nvPr/>
        </p:nvSpPr>
        <p:spPr>
          <a:xfrm>
            <a:off x="457200" y="3355848"/>
            <a:ext cx="310896" cy="310896"/>
          </a:xfrm>
          <a:prstGeom prst="rect">
            <a:avLst/>
          </a:prstGeom>
          <a:noFill/>
          <a:ln/>
        </p:spPr>
        <p:txBody>
          <a:bodyPr wrap="square" lIns="0" tIns="0" rIns="0" bIns="0" rtlCol="0" anchor="ctr"/>
          <a:lstStyle/>
          <a:p>
            <a:pPr algn="ctr" indent="0" marL="0">
              <a:buNone/>
            </a:pPr>
            <a:r>
              <a:rPr lang="en-US" sz="1100" b="1" dirty="0">
                <a:solidFill>
                  <a:srgbClr val="A23200"/>
                </a:solidFill>
                <a:latin typeface="Arial" pitchFamily="34" charset="0"/>
                <a:ea typeface="Arial" pitchFamily="34" charset="-122"/>
                <a:cs typeface="Arial" pitchFamily="34" charset="-120"/>
              </a:rPr>
              <a:t>4</a:t>
            </a:r>
            <a:endParaRPr lang="en-US" sz="1100" dirty="0"/>
          </a:p>
        </p:txBody>
      </p:sp>
      <p:sp>
        <p:nvSpPr>
          <p:cNvPr id="19" name="Text 17"/>
          <p:cNvSpPr txBox="1"/>
          <p:nvPr/>
        </p:nvSpPr>
        <p:spPr>
          <a:xfrm>
            <a:off x="960120" y="3319272"/>
            <a:ext cx="4297680" cy="347472"/>
          </a:xfrm>
          <a:prstGeom prst="rect">
            <a:avLst/>
          </a:prstGeom>
          <a:noFill/>
          <a:ln/>
        </p:spPr>
        <p:txBody>
          <a:bodyPr wrap="square" lIns="0" tIns="0" rIns="0" bIns="0" rtlCol="0" anchor="ctr"/>
          <a:lstStyle/>
          <a:p>
            <a:pPr indent="0" marL="0">
              <a:buNone/>
            </a:pPr>
            <a:r>
              <a:rPr lang="en-US" sz="2200" b="1" dirty="0">
                <a:solidFill>
                  <a:srgbClr val="C2410C"/>
                </a:solidFill>
                <a:latin typeface="Arial" pitchFamily="34" charset="0"/>
                <a:ea typeface="Arial" pitchFamily="34" charset="-122"/>
                <a:cs typeface="Arial" pitchFamily="34" charset="-120"/>
              </a:rPr>
              <a:t>$469,900</a:t>
            </a:r>
            <a:endParaRPr lang="en-US" sz="2200" dirty="0"/>
          </a:p>
        </p:txBody>
      </p:sp>
      <p:sp>
        <p:nvSpPr>
          <p:cNvPr id="20" name="Text 18"/>
          <p:cNvSpPr txBox="1"/>
          <p:nvPr/>
        </p:nvSpPr>
        <p:spPr>
          <a:xfrm>
            <a:off x="960120" y="3666744"/>
            <a:ext cx="4297680" cy="219456"/>
          </a:xfrm>
          <a:prstGeom prst="rect">
            <a:avLst/>
          </a:prstGeom>
          <a:noFill/>
          <a:ln/>
        </p:spPr>
        <p:txBody>
          <a:bodyPr wrap="square" lIns="0" tIns="0" rIns="0" bIns="0" rtlCol="0" anchor="t"/>
          <a:lstStyle/>
          <a:p>
            <a:pPr indent="0" marL="0">
              <a:buNone/>
            </a:pPr>
            <a:r>
              <a:rPr lang="en-US" sz="1200" dirty="0">
                <a:solidFill>
                  <a:srgbClr val="1A1A1A"/>
                </a:solidFill>
                <a:latin typeface="Arial" pitchFamily="34" charset="0"/>
                <a:ea typeface="Arial" pitchFamily="34" charset="-122"/>
                <a:cs typeface="Arial" pitchFamily="34" charset="-120"/>
              </a:rPr>
              <a:t>median adjusted value</a:t>
            </a:r>
            <a:endParaRPr lang="en-US" sz="1200" dirty="0"/>
          </a:p>
        </p:txBody>
      </p:sp>
      <p:sp>
        <p:nvSpPr>
          <p:cNvPr id="21" name="Shape 19"/>
          <p:cNvSpPr/>
          <p:nvPr/>
        </p:nvSpPr>
        <p:spPr>
          <a:xfrm>
            <a:off x="5669280" y="1280160"/>
            <a:ext cx="3017520" cy="2651760"/>
          </a:xfrm>
          <a:prstGeom prst="roundRect">
            <a:avLst>
              <a:gd name="adj" fmla="val 2759"/>
            </a:avLst>
          </a:prstGeom>
          <a:solidFill>
            <a:srgbClr val="C2410C"/>
          </a:solidFill>
          <a:ln w="12700">
            <a:solidFill>
              <a:srgbClr val="C2410C"/>
            </a:solidFill>
            <a:prstDash val="solid"/>
          </a:ln>
        </p:spPr>
      </p:sp>
      <p:sp>
        <p:nvSpPr>
          <p:cNvPr id="22" name="Text 20"/>
          <p:cNvSpPr txBox="1"/>
          <p:nvPr/>
        </p:nvSpPr>
        <p:spPr>
          <a:xfrm>
            <a:off x="5943600" y="1554480"/>
            <a:ext cx="2468880" cy="274320"/>
          </a:xfrm>
          <a:prstGeom prst="rect">
            <a:avLst/>
          </a:prstGeom>
          <a:noFill/>
          <a:ln/>
        </p:spPr>
        <p:txBody>
          <a:bodyPr wrap="square" lIns="0" tIns="0" rIns="0" bIns="0" rtlCol="0" anchor="ctr"/>
          <a:lstStyle/>
          <a:p>
            <a:pPr indent="0" marL="0">
              <a:buNone/>
            </a:pPr>
            <a:r>
              <a:rPr lang="en-US" sz="1300" dirty="0">
                <a:solidFill>
                  <a:srgbClr val="FFFFFF"/>
                </a:solidFill>
                <a:latin typeface="Arial" pitchFamily="34" charset="0"/>
                <a:ea typeface="Arial" pitchFamily="34" charset="-122"/>
                <a:cs typeface="Arial" pitchFamily="34" charset="-120"/>
              </a:rPr>
              <a:t>Recommended List Price</a:t>
            </a:r>
            <a:endParaRPr lang="en-US" sz="1300" dirty="0"/>
          </a:p>
        </p:txBody>
      </p:sp>
      <p:sp>
        <p:nvSpPr>
          <p:cNvPr id="23" name="Text 21"/>
          <p:cNvSpPr txBox="1"/>
          <p:nvPr/>
        </p:nvSpPr>
        <p:spPr>
          <a:xfrm>
            <a:off x="5943600" y="1874520"/>
            <a:ext cx="2468880" cy="731520"/>
          </a:xfrm>
          <a:prstGeom prst="rect">
            <a:avLst/>
          </a:prstGeom>
          <a:noFill/>
          <a:ln/>
        </p:spPr>
        <p:txBody>
          <a:bodyPr wrap="square" lIns="0" tIns="0" rIns="0" bIns="0" rtlCol="0" anchor="ctr"/>
          <a:lstStyle/>
          <a:p>
            <a:pPr indent="0" marL="0">
              <a:buNone/>
            </a:pPr>
            <a:r>
              <a:rPr lang="en-US" sz="4000" b="1" dirty="0">
                <a:solidFill>
                  <a:srgbClr val="FFFFFF"/>
                </a:solidFill>
                <a:latin typeface="Arial" pitchFamily="34" charset="0"/>
                <a:ea typeface="Arial" pitchFamily="34" charset="-122"/>
                <a:cs typeface="Arial" pitchFamily="34" charset="-120"/>
              </a:rPr>
              <a:t>$470,000</a:t>
            </a:r>
            <a:endParaRPr lang="en-US" sz="4000" dirty="0"/>
          </a:p>
        </p:txBody>
      </p:sp>
      <p:sp>
        <p:nvSpPr>
          <p:cNvPr id="24" name="Text 22"/>
          <p:cNvSpPr txBox="1"/>
          <p:nvPr/>
        </p:nvSpPr>
        <p:spPr>
          <a:xfrm>
            <a:off x="5943600" y="3154680"/>
            <a:ext cx="2468880" cy="228600"/>
          </a:xfrm>
          <a:prstGeom prst="rect">
            <a:avLst/>
          </a:prstGeom>
          <a:noFill/>
          <a:ln/>
        </p:spPr>
        <p:txBody>
          <a:bodyPr wrap="square" lIns="0" tIns="0" rIns="0" bIns="0" rtlCol="0" anchor="ctr"/>
          <a:lstStyle/>
          <a:p>
            <a:pPr indent="0" marL="0">
              <a:buNone/>
            </a:pPr>
            <a:r>
              <a:rPr lang="en-US" sz="1100" dirty="0">
                <a:solidFill>
                  <a:srgbClr val="FFFFFF"/>
                </a:solidFill>
                <a:latin typeface="Arial" pitchFamily="34" charset="0"/>
                <a:ea typeface="Arial" pitchFamily="34" charset="-122"/>
                <a:cs typeface="Arial" pitchFamily="34" charset="-120"/>
              </a:rPr>
              <a:t>Supported Value Range</a:t>
            </a:r>
            <a:endParaRPr lang="en-US" sz="1100" dirty="0"/>
          </a:p>
        </p:txBody>
      </p:sp>
      <p:sp>
        <p:nvSpPr>
          <p:cNvPr id="25" name="Text 23"/>
          <p:cNvSpPr txBox="1"/>
          <p:nvPr/>
        </p:nvSpPr>
        <p:spPr>
          <a:xfrm>
            <a:off x="5943600" y="3383280"/>
            <a:ext cx="2468880" cy="3200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$455K–$480K</a:t>
            </a:r>
            <a:endParaRPr lang="en-US" sz="1800" dirty="0"/>
          </a:p>
        </p:txBody>
      </p:sp>
      <p:sp>
        <p:nvSpPr>
          <p:cNvPr id="26" name="Text 24"/>
          <p:cNvSpPr txBox="1"/>
          <p:nvPr/>
        </p:nvSpPr>
        <p:spPr>
          <a:xfrm>
            <a:off x="457200" y="4078224"/>
            <a:ext cx="8229600" cy="626364"/>
          </a:xfrm>
          <a:prstGeom prst="rect">
            <a:avLst/>
          </a:prstGeom>
          <a:noFill/>
          <a:ln/>
        </p:spPr>
        <p:txBody>
          <a:bodyPr wrap="square" lIns="0" tIns="0" rIns="0" bIns="0" rtlCol="0" anchor="t"/>
          <a:lstStyle/>
          <a:p>
            <a:pPr indent="0" marL="0">
              <a:buNone/>
            </a:pPr>
            <a:r>
              <a:rPr lang="en-US" sz="1100" dirty="0">
                <a:solidFill>
                  <a:srgbClr val="5E5E5E"/>
                </a:solidFill>
                <a:latin typeface="Arial" pitchFamily="34" charset="0"/>
                <a:ea typeface="Arial" pitchFamily="34" charset="-122"/>
                <a:cs typeface="Arial" pitchFamily="34" charset="-120"/>
              </a:rPr>
              <a:t>Adjusted for size ($1,200 to $1,875); lot ($5,000 to $10,000); market changes since each sale (2% a quarter off sales before July); roof and systems ($5,000); condition and updates ($30,000 to $45,000, against this home's full renovation); and seller credits (taken off each sale price).</a:t>
            </a:r>
            <a:endParaRPr lang="en-US" sz="1100" dirty="0"/>
          </a:p>
        </p:txBody>
      </p:sp>
      <p:sp>
        <p:nvSpPr>
          <p:cNvPr id="27" name="Text 25"/>
          <p:cNvSpPr txBox="1"/>
          <p:nvPr/>
        </p:nvSpPr>
        <p:spPr>
          <a:xfrm>
            <a:off x="457200" y="4796028"/>
            <a:ext cx="6858000" cy="228600"/>
          </a:xfrm>
          <a:prstGeom prst="rect">
            <a:avLst/>
          </a:prstGeom>
          <a:noFill/>
          <a:ln/>
        </p:spPr>
        <p:txBody>
          <a:bodyPr wrap="square" lIns="0" tIns="0" rIns="0" bIns="0" rtlCol="0" anchor="ctr"/>
          <a:lstStyle/>
          <a:p>
            <a:pPr indent="0" marL="0">
              <a:buNone/>
            </a:pPr>
            <a:r>
              <a:rPr lang="en-US" sz="800" dirty="0">
                <a:solidFill>
                  <a:srgbClr val="5E5E5E"/>
                </a:solidFill>
                <a:latin typeface="Arial" pitchFamily="34" charset="0"/>
                <a:ea typeface="Arial" pitchFamily="34" charset="-122"/>
                <a:cs typeface="Arial" pitchFamily="34" charset="-120"/>
              </a:rPr>
              <a:t>SAMPLE DATA · 517 Larkwood Ave · Jordan Avery, REALTOR®, Sample Realty, LLC</a:t>
            </a:r>
            <a:endParaRPr lang="en-US" sz="800" dirty="0"/>
          </a:p>
        </p:txBody>
      </p:sp>
      <p:sp>
        <p:nvSpPr>
          <p:cNvPr id="28" name="Text 26"/>
          <p:cNvSpPr txBox="1"/>
          <p:nvPr/>
        </p:nvSpPr>
        <p:spPr>
          <a:xfrm>
            <a:off x="8229600" y="4796028"/>
            <a:ext cx="457200" cy="228600"/>
          </a:xfrm>
          <a:prstGeom prst="rect">
            <a:avLst/>
          </a:prstGeom>
          <a:noFill/>
          <a:ln/>
        </p:spPr>
        <p:txBody>
          <a:bodyPr wrap="square" lIns="0" tIns="0" rIns="0" bIns="0" rtlCol="0" anchor="ctr"/>
          <a:lstStyle/>
          <a:p>
            <a:pPr algn="r" indent="0" marL="0">
              <a:buNone/>
            </a:pPr>
            <a:r>
              <a:rPr lang="en-US" sz="800" dirty="0">
                <a:solidFill>
                  <a:srgbClr val="5E5E5E"/>
                </a:solidFill>
                <a:latin typeface="Arial" pitchFamily="34" charset="0"/>
                <a:ea typeface="Arial" pitchFamily="34" charset="-122"/>
                <a:cs typeface="Arial" pitchFamily="34" charset="-120"/>
              </a:rPr>
              <a:t>3</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8229600" cy="566928"/>
          </a:xfrm>
          <a:prstGeom prst="rect">
            <a:avLst/>
          </a:prstGeom>
          <a:noFill/>
          <a:ln/>
        </p:spPr>
        <p:txBody>
          <a:bodyPr wrap="square" lIns="0" tIns="0" rIns="0" bIns="0" rtlCol="0" anchor="t"/>
          <a:lstStyle/>
          <a:p>
            <a:pPr indent="0" marL="0">
              <a:buNone/>
            </a:pPr>
            <a:r>
              <a:rPr lang="en-US" sz="2600" b="1" dirty="0">
                <a:solidFill>
                  <a:srgbClr val="1A1A1A"/>
                </a:solidFill>
                <a:latin typeface="Arial" pitchFamily="34" charset="0"/>
                <a:ea typeface="Arial" pitchFamily="34" charset="-122"/>
                <a:cs typeface="Arial" pitchFamily="34" charset="-120"/>
              </a:rPr>
              <a:t>What Buyers Will Pay For</a:t>
            </a:r>
            <a:endParaRPr lang="en-US" sz="2600" dirty="0"/>
          </a:p>
        </p:txBody>
      </p:sp>
      <p:sp>
        <p:nvSpPr>
          <p:cNvPr id="3" name="Shape 1"/>
          <p:cNvSpPr/>
          <p:nvPr/>
        </p:nvSpPr>
        <p:spPr>
          <a:xfrm>
            <a:off x="457200" y="1143000"/>
            <a:ext cx="502920" cy="502920"/>
          </a:xfrm>
          <a:prstGeom prst="ellipse">
            <a:avLst/>
          </a:prstGeom>
          <a:solidFill>
            <a:srgbClr val="C2410C"/>
          </a:solidFill>
          <a:ln w="12700">
            <a:solidFill>
              <a:srgbClr val="C2410C"/>
            </a:solidFill>
            <a:prstDash val="solid"/>
          </a:ln>
        </p:spPr>
      </p:sp>
      <p:pic>
        <p:nvPicPr>
          <p:cNvPr id="4" name="Image 0" descr="preencoded.png">    </p:cNvPr>
          <p:cNvPicPr>
            <a:picLocks noChangeAspect="1"/>
          </p:cNvPicPr>
          <p:nvPr/>
        </p:nvPicPr>
        <p:blipFill>
          <a:blip r:embed="rId1"/>
          <a:stretch>
            <a:fillRect/>
          </a:stretch>
        </p:blipFill>
        <p:spPr>
          <a:xfrm>
            <a:off x="577901" y="1263701"/>
            <a:ext cx="261518" cy="261518"/>
          </a:xfrm>
          <a:prstGeom prst="rect">
            <a:avLst/>
          </a:prstGeom>
        </p:spPr>
      </p:pic>
      <p:sp>
        <p:nvSpPr>
          <p:cNvPr id="5" name="Text 2"/>
          <p:cNvSpPr txBox="1"/>
          <p:nvPr/>
        </p:nvSpPr>
        <p:spPr>
          <a:xfrm>
            <a:off x="1143000" y="1143000"/>
            <a:ext cx="4114800" cy="274320"/>
          </a:xfrm>
          <a:prstGeom prst="rect">
            <a:avLst/>
          </a:prstGeom>
          <a:noFill/>
          <a:ln/>
        </p:spPr>
        <p:txBody>
          <a:bodyPr wrap="square" lIns="0" tIns="0" rIns="0" bIns="0" rtlCol="0" anchor="ctr"/>
          <a:lstStyle/>
          <a:p>
            <a:pPr indent="0" marL="0">
              <a:buNone/>
            </a:pPr>
            <a:r>
              <a:rPr lang="en-US" sz="1500" b="1" dirty="0">
                <a:solidFill>
                  <a:srgbClr val="1A1A1A"/>
                </a:solidFill>
                <a:latin typeface="Arial" pitchFamily="34" charset="0"/>
                <a:ea typeface="Arial" pitchFamily="34" charset="-122"/>
                <a:cs typeface="Arial" pitchFamily="34" charset="-120"/>
              </a:rPr>
              <a:t>Renovated Kitchen and Baths</a:t>
            </a:r>
            <a:endParaRPr lang="en-US" sz="1500" dirty="0"/>
          </a:p>
        </p:txBody>
      </p:sp>
      <p:sp>
        <p:nvSpPr>
          <p:cNvPr id="6" name="Text 3"/>
          <p:cNvSpPr txBox="1"/>
          <p:nvPr/>
        </p:nvSpPr>
        <p:spPr>
          <a:xfrm>
            <a:off x="1143000" y="1426464"/>
            <a:ext cx="4114800" cy="420624"/>
          </a:xfrm>
          <a:prstGeom prst="rect">
            <a:avLst/>
          </a:prstGeom>
          <a:noFill/>
          <a:ln/>
        </p:spPr>
        <p:txBody>
          <a:bodyPr wrap="square" lIns="0" tIns="0" rIns="0" bIns="0" rtlCol="0" anchor="t"/>
          <a:lstStyle/>
          <a:p>
            <a:pPr indent="0" marL="0">
              <a:buNone/>
            </a:pPr>
            <a:r>
              <a:rPr lang="en-US" sz="1200" dirty="0">
                <a:solidFill>
                  <a:srgbClr val="5E5E5E"/>
                </a:solidFill>
                <a:latin typeface="Arial" pitchFamily="34" charset="0"/>
                <a:ea typeface="Arial" pitchFamily="34" charset="-122"/>
                <a:cs typeface="Arial" pitchFamily="34" charset="-120"/>
              </a:rPr>
              <a:t>The single biggest reason your home sells near the top of the neighborhood.</a:t>
            </a:r>
            <a:endParaRPr lang="en-US" sz="1200" dirty="0"/>
          </a:p>
        </p:txBody>
      </p:sp>
      <p:sp>
        <p:nvSpPr>
          <p:cNvPr id="7" name="Shape 4"/>
          <p:cNvSpPr/>
          <p:nvPr/>
        </p:nvSpPr>
        <p:spPr>
          <a:xfrm>
            <a:off x="457200" y="1947672"/>
            <a:ext cx="502920" cy="502920"/>
          </a:xfrm>
          <a:prstGeom prst="ellipse">
            <a:avLst/>
          </a:prstGeom>
          <a:solidFill>
            <a:srgbClr val="C2410C"/>
          </a:solidFill>
          <a:ln w="12700">
            <a:solidFill>
              <a:srgbClr val="C2410C"/>
            </a:solidFill>
            <a:prstDash val="solid"/>
          </a:ln>
        </p:spPr>
      </p:sp>
      <p:pic>
        <p:nvPicPr>
          <p:cNvPr id="8" name="Image 1" descr="preencoded.png">    </p:cNvPr>
          <p:cNvPicPr>
            <a:picLocks noChangeAspect="1"/>
          </p:cNvPicPr>
          <p:nvPr/>
        </p:nvPicPr>
        <p:blipFill>
          <a:blip r:embed="rId2"/>
          <a:stretch>
            <a:fillRect/>
          </a:stretch>
        </p:blipFill>
        <p:spPr>
          <a:xfrm>
            <a:off x="577901" y="2068373"/>
            <a:ext cx="261518" cy="261518"/>
          </a:xfrm>
          <a:prstGeom prst="rect">
            <a:avLst/>
          </a:prstGeom>
        </p:spPr>
      </p:pic>
      <p:sp>
        <p:nvSpPr>
          <p:cNvPr id="9" name="Text 5"/>
          <p:cNvSpPr txBox="1"/>
          <p:nvPr/>
        </p:nvSpPr>
        <p:spPr>
          <a:xfrm>
            <a:off x="1143000" y="1947672"/>
            <a:ext cx="4114800" cy="274320"/>
          </a:xfrm>
          <a:prstGeom prst="rect">
            <a:avLst/>
          </a:prstGeom>
          <a:noFill/>
          <a:ln/>
        </p:spPr>
        <p:txBody>
          <a:bodyPr wrap="square" lIns="0" tIns="0" rIns="0" bIns="0" rtlCol="0" anchor="ctr"/>
          <a:lstStyle/>
          <a:p>
            <a:pPr indent="0" marL="0">
              <a:buNone/>
            </a:pPr>
            <a:r>
              <a:rPr lang="en-US" sz="1500" b="1" dirty="0">
                <a:solidFill>
                  <a:srgbClr val="1A1A1A"/>
                </a:solidFill>
                <a:latin typeface="Arial" pitchFamily="34" charset="0"/>
                <a:ea typeface="Arial" pitchFamily="34" charset="-122"/>
                <a:cs typeface="Arial" pitchFamily="34" charset="-120"/>
              </a:rPr>
              <a:t>Private Pool</a:t>
            </a:r>
            <a:endParaRPr lang="en-US" sz="1500" dirty="0"/>
          </a:p>
        </p:txBody>
      </p:sp>
      <p:sp>
        <p:nvSpPr>
          <p:cNvPr id="10" name="Text 6"/>
          <p:cNvSpPr txBox="1"/>
          <p:nvPr/>
        </p:nvSpPr>
        <p:spPr>
          <a:xfrm>
            <a:off x="1143000" y="2231136"/>
            <a:ext cx="4114800" cy="420624"/>
          </a:xfrm>
          <a:prstGeom prst="rect">
            <a:avLst/>
          </a:prstGeom>
          <a:noFill/>
          <a:ln/>
        </p:spPr>
        <p:txBody>
          <a:bodyPr wrap="square" lIns="0" tIns="0" rIns="0" bIns="0" rtlCol="0" anchor="t"/>
          <a:lstStyle/>
          <a:p>
            <a:pPr indent="0" marL="0">
              <a:buNone/>
            </a:pPr>
            <a:r>
              <a:rPr lang="en-US" sz="1200" dirty="0">
                <a:solidFill>
                  <a:srgbClr val="5E5E5E"/>
                </a:solidFill>
                <a:latin typeface="Arial" pitchFamily="34" charset="0"/>
                <a:ea typeface="Arial" pitchFamily="34" charset="-122"/>
                <a:cs typeface="Arial" pitchFamily="34" charset="-120"/>
              </a:rPr>
              <a:t>Every one of the closest sales had one, so it keeps your home in that group.</a:t>
            </a:r>
            <a:endParaRPr lang="en-US" sz="1200" dirty="0"/>
          </a:p>
        </p:txBody>
      </p:sp>
      <p:sp>
        <p:nvSpPr>
          <p:cNvPr id="11" name="Shape 7"/>
          <p:cNvSpPr/>
          <p:nvPr/>
        </p:nvSpPr>
        <p:spPr>
          <a:xfrm>
            <a:off x="457200" y="2752344"/>
            <a:ext cx="502920" cy="502920"/>
          </a:xfrm>
          <a:prstGeom prst="ellipse">
            <a:avLst/>
          </a:prstGeom>
          <a:solidFill>
            <a:srgbClr val="C2410C"/>
          </a:solidFill>
          <a:ln w="12700">
            <a:solidFill>
              <a:srgbClr val="C2410C"/>
            </a:solidFill>
            <a:prstDash val="solid"/>
          </a:ln>
        </p:spPr>
      </p:sp>
      <p:pic>
        <p:nvPicPr>
          <p:cNvPr id="12" name="Image 2" descr="preencoded.png">    </p:cNvPr>
          <p:cNvPicPr>
            <a:picLocks noChangeAspect="1"/>
          </p:cNvPicPr>
          <p:nvPr/>
        </p:nvPicPr>
        <p:blipFill>
          <a:blip r:embed="rId3"/>
          <a:stretch>
            <a:fillRect/>
          </a:stretch>
        </p:blipFill>
        <p:spPr>
          <a:xfrm>
            <a:off x="577901" y="2873045"/>
            <a:ext cx="261518" cy="261518"/>
          </a:xfrm>
          <a:prstGeom prst="rect">
            <a:avLst/>
          </a:prstGeom>
        </p:spPr>
      </p:pic>
      <p:sp>
        <p:nvSpPr>
          <p:cNvPr id="13" name="Text 8"/>
          <p:cNvSpPr txBox="1"/>
          <p:nvPr/>
        </p:nvSpPr>
        <p:spPr>
          <a:xfrm>
            <a:off x="1143000" y="2752344"/>
            <a:ext cx="4114800" cy="274320"/>
          </a:xfrm>
          <a:prstGeom prst="rect">
            <a:avLst/>
          </a:prstGeom>
          <a:noFill/>
          <a:ln/>
        </p:spPr>
        <p:txBody>
          <a:bodyPr wrap="square" lIns="0" tIns="0" rIns="0" bIns="0" rtlCol="0" anchor="ctr"/>
          <a:lstStyle/>
          <a:p>
            <a:pPr indent="0" marL="0">
              <a:buNone/>
            </a:pPr>
            <a:r>
              <a:rPr lang="en-US" sz="1500" b="1" dirty="0">
                <a:solidFill>
                  <a:srgbClr val="1A1A1A"/>
                </a:solidFill>
                <a:latin typeface="Arial" pitchFamily="34" charset="0"/>
                <a:ea typeface="Arial" pitchFamily="34" charset="-122"/>
                <a:cs typeface="Arial" pitchFamily="34" charset="-120"/>
              </a:rPr>
              <a:t>Four Bedrooms, No HOA or CDD</a:t>
            </a:r>
            <a:endParaRPr lang="en-US" sz="1500" dirty="0"/>
          </a:p>
        </p:txBody>
      </p:sp>
      <p:sp>
        <p:nvSpPr>
          <p:cNvPr id="14" name="Text 9"/>
          <p:cNvSpPr txBox="1"/>
          <p:nvPr/>
        </p:nvSpPr>
        <p:spPr>
          <a:xfrm>
            <a:off x="1143000" y="3035808"/>
            <a:ext cx="4114800" cy="420624"/>
          </a:xfrm>
          <a:prstGeom prst="rect">
            <a:avLst/>
          </a:prstGeom>
          <a:noFill/>
          <a:ln/>
        </p:spPr>
        <p:txBody>
          <a:bodyPr wrap="square" lIns="0" tIns="0" rIns="0" bIns="0" rtlCol="0" anchor="t"/>
          <a:lstStyle/>
          <a:p>
            <a:pPr indent="0" marL="0">
              <a:buNone/>
            </a:pPr>
            <a:r>
              <a:rPr lang="en-US" sz="1200" dirty="0">
                <a:solidFill>
                  <a:srgbClr val="5E5E5E"/>
                </a:solidFill>
                <a:latin typeface="Arial" pitchFamily="34" charset="0"/>
                <a:ea typeface="Arial" pitchFamily="34" charset="-122"/>
                <a:cs typeface="Arial" pitchFamily="34" charset="-120"/>
              </a:rPr>
              <a:t>Flexible space and no monthly association costs.</a:t>
            </a:r>
            <a:endParaRPr lang="en-US" sz="1200" dirty="0"/>
          </a:p>
        </p:txBody>
      </p:sp>
      <p:sp>
        <p:nvSpPr>
          <p:cNvPr id="15" name="Shape 10"/>
          <p:cNvSpPr/>
          <p:nvPr/>
        </p:nvSpPr>
        <p:spPr>
          <a:xfrm>
            <a:off x="457200" y="3557016"/>
            <a:ext cx="502920" cy="502920"/>
          </a:xfrm>
          <a:prstGeom prst="ellipse">
            <a:avLst/>
          </a:prstGeom>
          <a:solidFill>
            <a:srgbClr val="C2410C"/>
          </a:solidFill>
          <a:ln w="12700">
            <a:solidFill>
              <a:srgbClr val="C2410C"/>
            </a:solidFill>
            <a:prstDash val="solid"/>
          </a:ln>
        </p:spPr>
      </p:sp>
      <p:pic>
        <p:nvPicPr>
          <p:cNvPr id="16" name="Image 3" descr="preencoded.png">    </p:cNvPr>
          <p:cNvPicPr>
            <a:picLocks noChangeAspect="1"/>
          </p:cNvPicPr>
          <p:nvPr/>
        </p:nvPicPr>
        <p:blipFill>
          <a:blip r:embed="rId4"/>
          <a:stretch>
            <a:fillRect/>
          </a:stretch>
        </p:blipFill>
        <p:spPr>
          <a:xfrm>
            <a:off x="577901" y="3677717"/>
            <a:ext cx="261518" cy="261518"/>
          </a:xfrm>
          <a:prstGeom prst="rect">
            <a:avLst/>
          </a:prstGeom>
        </p:spPr>
      </p:pic>
      <p:sp>
        <p:nvSpPr>
          <p:cNvPr id="17" name="Text 11"/>
          <p:cNvSpPr txBox="1"/>
          <p:nvPr/>
        </p:nvSpPr>
        <p:spPr>
          <a:xfrm>
            <a:off x="1143000" y="3557016"/>
            <a:ext cx="4114800" cy="274320"/>
          </a:xfrm>
          <a:prstGeom prst="rect">
            <a:avLst/>
          </a:prstGeom>
          <a:noFill/>
          <a:ln/>
        </p:spPr>
        <p:txBody>
          <a:bodyPr wrap="square" lIns="0" tIns="0" rIns="0" bIns="0" rtlCol="0" anchor="ctr"/>
          <a:lstStyle/>
          <a:p>
            <a:pPr indent="0" marL="0">
              <a:buNone/>
            </a:pPr>
            <a:r>
              <a:rPr lang="en-US" sz="1500" b="1" dirty="0">
                <a:solidFill>
                  <a:srgbClr val="1A1A1A"/>
                </a:solidFill>
                <a:latin typeface="Arial" pitchFamily="34" charset="0"/>
                <a:ea typeface="Arial" pitchFamily="34" charset="-122"/>
                <a:cs typeface="Arial" pitchFamily="34" charset="-120"/>
              </a:rPr>
              <a:t>Flood Zone X</a:t>
            </a:r>
            <a:endParaRPr lang="en-US" sz="1500" dirty="0"/>
          </a:p>
        </p:txBody>
      </p:sp>
      <p:sp>
        <p:nvSpPr>
          <p:cNvPr id="18" name="Text 12"/>
          <p:cNvSpPr txBox="1"/>
          <p:nvPr/>
        </p:nvSpPr>
        <p:spPr>
          <a:xfrm>
            <a:off x="1143000" y="3840480"/>
            <a:ext cx="4114800" cy="420624"/>
          </a:xfrm>
          <a:prstGeom prst="rect">
            <a:avLst/>
          </a:prstGeom>
          <a:noFill/>
          <a:ln/>
        </p:spPr>
        <p:txBody>
          <a:bodyPr wrap="square" lIns="0" tIns="0" rIns="0" bIns="0" rtlCol="0" anchor="t"/>
          <a:lstStyle/>
          <a:p>
            <a:pPr indent="0" marL="0">
              <a:buNone/>
            </a:pPr>
            <a:r>
              <a:rPr lang="en-US" sz="1200" dirty="0">
                <a:solidFill>
                  <a:srgbClr val="5E5E5E"/>
                </a:solidFill>
                <a:latin typeface="Arial" pitchFamily="34" charset="0"/>
                <a:ea typeface="Arial" pitchFamily="34" charset="-122"/>
                <a:cs typeface="Arial" pitchFamily="34" charset="-120"/>
              </a:rPr>
              <a:t>Outside the high-risk flood zones; buyers still get their own flood insurance quote.</a:t>
            </a:r>
            <a:endParaRPr lang="en-US" sz="1200" dirty="0"/>
          </a:p>
        </p:txBody>
      </p:sp>
      <p:sp>
        <p:nvSpPr>
          <p:cNvPr id="19" name="Shape 13"/>
          <p:cNvSpPr/>
          <p:nvPr/>
        </p:nvSpPr>
        <p:spPr>
          <a:xfrm>
            <a:off x="5486400" y="1143000"/>
            <a:ext cx="3200400" cy="3154680"/>
          </a:xfrm>
          <a:prstGeom prst="roundRect">
            <a:avLst>
              <a:gd name="adj" fmla="val 2319"/>
            </a:avLst>
          </a:prstGeom>
          <a:solidFill>
            <a:srgbClr val="F8E8E2"/>
          </a:solidFill>
          <a:ln w="12700">
            <a:solidFill>
              <a:srgbClr val="F8E8E2"/>
            </a:solidFill>
            <a:prstDash val="solid"/>
          </a:ln>
        </p:spPr>
      </p:sp>
      <p:sp>
        <p:nvSpPr>
          <p:cNvPr id="20" name="Text 14"/>
          <p:cNvSpPr txBox="1"/>
          <p:nvPr/>
        </p:nvSpPr>
        <p:spPr>
          <a:xfrm>
            <a:off x="5715000" y="1325880"/>
            <a:ext cx="2788920" cy="320040"/>
          </a:xfrm>
          <a:prstGeom prst="rect">
            <a:avLst/>
          </a:prstGeom>
          <a:noFill/>
          <a:ln/>
        </p:spPr>
        <p:txBody>
          <a:bodyPr wrap="square" lIns="0" tIns="0" rIns="0" bIns="0" rtlCol="0" anchor="ctr"/>
          <a:lstStyle/>
          <a:p>
            <a:pPr indent="0" marL="0">
              <a:buNone/>
            </a:pPr>
            <a:r>
              <a:rPr lang="en-US" sz="1500" b="1" dirty="0">
                <a:solidFill>
                  <a:srgbClr val="A23200"/>
                </a:solidFill>
                <a:latin typeface="Arial" pitchFamily="34" charset="0"/>
                <a:ea typeface="Arial" pitchFamily="34" charset="-122"/>
                <a:cs typeface="Arial" pitchFamily="34" charset="-120"/>
              </a:rPr>
              <a:t>Needs Paperwork to Count</a:t>
            </a:r>
            <a:endParaRPr lang="en-US" sz="1500" dirty="0"/>
          </a:p>
        </p:txBody>
      </p:sp>
      <p:sp>
        <p:nvSpPr>
          <p:cNvPr id="21" name="Shape 15"/>
          <p:cNvSpPr/>
          <p:nvPr/>
        </p:nvSpPr>
        <p:spPr>
          <a:xfrm>
            <a:off x="5715000" y="1828800"/>
            <a:ext cx="411480" cy="411480"/>
          </a:xfrm>
          <a:prstGeom prst="ellipse">
            <a:avLst/>
          </a:prstGeom>
          <a:solidFill>
            <a:srgbClr val="7B2400"/>
          </a:solidFill>
          <a:ln w="12700">
            <a:solidFill>
              <a:srgbClr val="7B2400"/>
            </a:solidFill>
            <a:prstDash val="solid"/>
          </a:ln>
        </p:spPr>
      </p:sp>
      <p:pic>
        <p:nvPicPr>
          <p:cNvPr id="22" name="Image 4" descr="preencoded.png">    </p:cNvPr>
          <p:cNvPicPr>
            <a:picLocks noChangeAspect="1"/>
          </p:cNvPicPr>
          <p:nvPr/>
        </p:nvPicPr>
        <p:blipFill>
          <a:blip r:embed="rId5"/>
          <a:stretch>
            <a:fillRect/>
          </a:stretch>
        </p:blipFill>
        <p:spPr>
          <a:xfrm>
            <a:off x="5813755" y="1927555"/>
            <a:ext cx="213970" cy="213970"/>
          </a:xfrm>
          <a:prstGeom prst="rect">
            <a:avLst/>
          </a:prstGeom>
        </p:spPr>
      </p:pic>
      <p:sp>
        <p:nvSpPr>
          <p:cNvPr id="23" name="Text 16"/>
          <p:cNvSpPr txBox="1"/>
          <p:nvPr/>
        </p:nvSpPr>
        <p:spPr>
          <a:xfrm>
            <a:off x="6263640" y="1828800"/>
            <a:ext cx="2286000" cy="274320"/>
          </a:xfrm>
          <a:prstGeom prst="rect">
            <a:avLst/>
          </a:prstGeom>
          <a:noFill/>
          <a:ln/>
        </p:spPr>
        <p:txBody>
          <a:bodyPr wrap="square" lIns="0" tIns="0" rIns="0" bIns="0" rtlCol="0" anchor="ctr"/>
          <a:lstStyle/>
          <a:p>
            <a:pPr indent="0" marL="0">
              <a:buNone/>
            </a:pPr>
            <a:r>
              <a:rPr lang="en-US" sz="1300" b="1" dirty="0">
                <a:solidFill>
                  <a:srgbClr val="1A1A1A"/>
                </a:solidFill>
                <a:latin typeface="Arial" pitchFamily="34" charset="0"/>
                <a:ea typeface="Arial" pitchFamily="34" charset="-122"/>
                <a:cs typeface="Arial" pitchFamily="34" charset="-120"/>
              </a:rPr>
              <a:t>The Roof</a:t>
            </a:r>
            <a:endParaRPr lang="en-US" sz="1300" dirty="0"/>
          </a:p>
        </p:txBody>
      </p:sp>
      <p:sp>
        <p:nvSpPr>
          <p:cNvPr id="24" name="Text 17"/>
          <p:cNvSpPr txBox="1"/>
          <p:nvPr/>
        </p:nvSpPr>
        <p:spPr>
          <a:xfrm>
            <a:off x="6263640" y="2121408"/>
            <a:ext cx="2286000" cy="777240"/>
          </a:xfrm>
          <a:prstGeom prst="rect">
            <a:avLst/>
          </a:prstGeom>
          <a:noFill/>
          <a:ln/>
        </p:spPr>
        <p:txBody>
          <a:bodyPr wrap="square" lIns="0" tIns="0" rIns="0" bIns="0" rtlCol="0" anchor="t"/>
          <a:lstStyle/>
          <a:p>
            <a:pPr indent="0" marL="0">
              <a:buNone/>
            </a:pPr>
            <a:r>
              <a:rPr lang="en-US" sz="1100" dirty="0">
                <a:solidFill>
                  <a:srgbClr val="1A1A1A"/>
                </a:solidFill>
                <a:latin typeface="Arial" pitchFamily="34" charset="0"/>
                <a:ea typeface="Arial" pitchFamily="34" charset="-122"/>
                <a:cs typeface="Arial" pitchFamily="34" charset="-120"/>
              </a:rPr>
              <a:t>Permit and date. Roof age decides whether a buyer can insure the home.</a:t>
            </a:r>
            <a:endParaRPr lang="en-US" sz="1100" dirty="0"/>
          </a:p>
        </p:txBody>
      </p:sp>
      <p:sp>
        <p:nvSpPr>
          <p:cNvPr id="25" name="Shape 18"/>
          <p:cNvSpPr/>
          <p:nvPr/>
        </p:nvSpPr>
        <p:spPr>
          <a:xfrm>
            <a:off x="5715000" y="3017520"/>
            <a:ext cx="411480" cy="411480"/>
          </a:xfrm>
          <a:prstGeom prst="ellipse">
            <a:avLst/>
          </a:prstGeom>
          <a:solidFill>
            <a:srgbClr val="7B2400"/>
          </a:solidFill>
          <a:ln w="12700">
            <a:solidFill>
              <a:srgbClr val="7B2400"/>
            </a:solidFill>
            <a:prstDash val="solid"/>
          </a:ln>
        </p:spPr>
      </p:sp>
      <p:pic>
        <p:nvPicPr>
          <p:cNvPr id="26" name="Image 5" descr="preencoded.png">    </p:cNvPr>
          <p:cNvPicPr>
            <a:picLocks noChangeAspect="1"/>
          </p:cNvPicPr>
          <p:nvPr/>
        </p:nvPicPr>
        <p:blipFill>
          <a:blip r:embed="rId6"/>
          <a:stretch>
            <a:fillRect/>
          </a:stretch>
        </p:blipFill>
        <p:spPr>
          <a:xfrm>
            <a:off x="5813755" y="3116275"/>
            <a:ext cx="213970" cy="213970"/>
          </a:xfrm>
          <a:prstGeom prst="rect">
            <a:avLst/>
          </a:prstGeom>
        </p:spPr>
      </p:pic>
      <p:sp>
        <p:nvSpPr>
          <p:cNvPr id="27" name="Text 19"/>
          <p:cNvSpPr txBox="1"/>
          <p:nvPr/>
        </p:nvSpPr>
        <p:spPr>
          <a:xfrm>
            <a:off x="6263640" y="3017520"/>
            <a:ext cx="2286000" cy="274320"/>
          </a:xfrm>
          <a:prstGeom prst="rect">
            <a:avLst/>
          </a:prstGeom>
          <a:noFill/>
          <a:ln/>
        </p:spPr>
        <p:txBody>
          <a:bodyPr wrap="square" lIns="0" tIns="0" rIns="0" bIns="0" rtlCol="0" anchor="ctr"/>
          <a:lstStyle/>
          <a:p>
            <a:pPr indent="0" marL="0">
              <a:buNone/>
            </a:pPr>
            <a:r>
              <a:rPr lang="en-US" sz="1300" b="1" dirty="0">
                <a:solidFill>
                  <a:srgbClr val="1A1A1A"/>
                </a:solidFill>
                <a:latin typeface="Arial" pitchFamily="34" charset="0"/>
                <a:ea typeface="Arial" pitchFamily="34" charset="-122"/>
                <a:cs typeface="Arial" pitchFamily="34" charset="-120"/>
              </a:rPr>
              <a:t>The Permits</a:t>
            </a:r>
            <a:endParaRPr lang="en-US" sz="1300" dirty="0"/>
          </a:p>
        </p:txBody>
      </p:sp>
      <p:sp>
        <p:nvSpPr>
          <p:cNvPr id="28" name="Text 20"/>
          <p:cNvSpPr txBox="1"/>
          <p:nvPr/>
        </p:nvSpPr>
        <p:spPr>
          <a:xfrm>
            <a:off x="6263640" y="3310128"/>
            <a:ext cx="2286000" cy="777240"/>
          </a:xfrm>
          <a:prstGeom prst="rect">
            <a:avLst/>
          </a:prstGeom>
          <a:noFill/>
          <a:ln/>
        </p:spPr>
        <p:txBody>
          <a:bodyPr wrap="square" lIns="0" tIns="0" rIns="0" bIns="0" rtlCol="0" anchor="t"/>
          <a:lstStyle/>
          <a:p>
            <a:pPr indent="0" marL="0">
              <a:buNone/>
            </a:pPr>
            <a:r>
              <a:rPr lang="en-US" sz="1100" dirty="0">
                <a:solidFill>
                  <a:srgbClr val="1A1A1A"/>
                </a:solidFill>
                <a:latin typeface="Arial" pitchFamily="34" charset="0"/>
                <a:ea typeface="Arial" pitchFamily="34" charset="-122"/>
                <a:cs typeface="Arial" pitchFamily="34" charset="-120"/>
              </a:rPr>
              <a:t>Kitchen, bath, electrical, and plumbing work. Undocumented upgrades count for less.</a:t>
            </a:r>
            <a:endParaRPr lang="en-US" sz="1100" dirty="0"/>
          </a:p>
        </p:txBody>
      </p:sp>
      <p:sp>
        <p:nvSpPr>
          <p:cNvPr id="29" name="Text 21"/>
          <p:cNvSpPr txBox="1"/>
          <p:nvPr/>
        </p:nvSpPr>
        <p:spPr>
          <a:xfrm>
            <a:off x="457200" y="4796028"/>
            <a:ext cx="6858000" cy="228600"/>
          </a:xfrm>
          <a:prstGeom prst="rect">
            <a:avLst/>
          </a:prstGeom>
          <a:noFill/>
          <a:ln/>
        </p:spPr>
        <p:txBody>
          <a:bodyPr wrap="square" lIns="0" tIns="0" rIns="0" bIns="0" rtlCol="0" anchor="ctr"/>
          <a:lstStyle/>
          <a:p>
            <a:pPr indent="0" marL="0">
              <a:buNone/>
            </a:pPr>
            <a:r>
              <a:rPr lang="en-US" sz="800" dirty="0">
                <a:solidFill>
                  <a:srgbClr val="5E5E5E"/>
                </a:solidFill>
                <a:latin typeface="Arial" pitchFamily="34" charset="0"/>
                <a:ea typeface="Arial" pitchFamily="34" charset="-122"/>
                <a:cs typeface="Arial" pitchFamily="34" charset="-120"/>
              </a:rPr>
              <a:t>SAMPLE DATA · 517 Larkwood Ave · Jordan Avery, REALTOR®, Sample Realty, LLC</a:t>
            </a:r>
            <a:endParaRPr lang="en-US" sz="800" dirty="0"/>
          </a:p>
        </p:txBody>
      </p:sp>
      <p:sp>
        <p:nvSpPr>
          <p:cNvPr id="30" name="Text 22"/>
          <p:cNvSpPr txBox="1"/>
          <p:nvPr/>
        </p:nvSpPr>
        <p:spPr>
          <a:xfrm>
            <a:off x="8229600" y="4796028"/>
            <a:ext cx="457200" cy="228600"/>
          </a:xfrm>
          <a:prstGeom prst="rect">
            <a:avLst/>
          </a:prstGeom>
          <a:noFill/>
          <a:ln/>
        </p:spPr>
        <p:txBody>
          <a:bodyPr wrap="square" lIns="0" tIns="0" rIns="0" bIns="0" rtlCol="0" anchor="ctr"/>
          <a:lstStyle/>
          <a:p>
            <a:pPr algn="r" indent="0" marL="0">
              <a:buNone/>
            </a:pPr>
            <a:r>
              <a:rPr lang="en-US" sz="800" dirty="0">
                <a:solidFill>
                  <a:srgbClr val="5E5E5E"/>
                </a:solidFill>
                <a:latin typeface="Arial" pitchFamily="34" charset="0"/>
                <a:ea typeface="Arial" pitchFamily="34" charset="-122"/>
                <a:cs typeface="Arial" pitchFamily="34" charset="-120"/>
              </a:rPr>
              <a:t>4</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8229600" cy="566928"/>
          </a:xfrm>
          <a:prstGeom prst="rect">
            <a:avLst/>
          </a:prstGeom>
          <a:noFill/>
          <a:ln/>
        </p:spPr>
        <p:txBody>
          <a:bodyPr wrap="square" lIns="0" tIns="0" rIns="0" bIns="0" rtlCol="0" anchor="t"/>
          <a:lstStyle/>
          <a:p>
            <a:pPr indent="0" marL="0">
              <a:buNone/>
            </a:pPr>
            <a:r>
              <a:rPr lang="en-US" sz="2600" b="1" dirty="0">
                <a:solidFill>
                  <a:srgbClr val="1A1A1A"/>
                </a:solidFill>
                <a:latin typeface="Arial" pitchFamily="34" charset="0"/>
                <a:ea typeface="Arial" pitchFamily="34" charset="-122"/>
                <a:cs typeface="Arial" pitchFamily="34" charset="-120"/>
              </a:rPr>
              <a:t>What Comparable Homes Sold For</a:t>
            </a:r>
            <a:endParaRPr lang="en-US" sz="2600" dirty="0"/>
          </a:p>
        </p:txBody>
      </p:sp>
      <p:sp>
        <p:nvSpPr>
          <p:cNvPr id="3" name="Text 1"/>
          <p:cNvSpPr txBox="1"/>
          <p:nvPr/>
        </p:nvSpPr>
        <p:spPr>
          <a:xfrm>
            <a:off x="457200" y="841248"/>
            <a:ext cx="8229600" cy="201422"/>
          </a:xfrm>
          <a:prstGeom prst="rect">
            <a:avLst/>
          </a:prstGeom>
          <a:noFill/>
          <a:ln/>
        </p:spPr>
        <p:txBody>
          <a:bodyPr wrap="square" lIns="0" tIns="0" rIns="0" bIns="0" rtlCol="0" anchor="t"/>
          <a:lstStyle/>
          <a:p>
            <a:pPr indent="0" marL="0">
              <a:buNone/>
            </a:pPr>
            <a:r>
              <a:rPr lang="en-US" sz="1300" dirty="0">
                <a:solidFill>
                  <a:srgbClr val="5E5E5E"/>
                </a:solidFill>
                <a:latin typeface="Arial" pitchFamily="34" charset="0"/>
                <a:ea typeface="Arial" pitchFamily="34" charset="-122"/>
                <a:cs typeface="Arial" pitchFamily="34" charset="-120"/>
              </a:rPr>
              <a:t>Each sale adjusted to what it would have sold for as your home</a:t>
            </a:r>
            <a:endParaRPr lang="en-US" sz="1300" dirty="0"/>
          </a:p>
        </p:txBody>
      </p:sp>
      <p:sp>
        <p:nvSpPr>
          <p:cNvPr id="4" name="Shape 2"/>
          <p:cNvSpPr/>
          <p:nvPr/>
        </p:nvSpPr>
        <p:spPr>
          <a:xfrm>
            <a:off x="5932170" y="1463294"/>
            <a:ext cx="1428750" cy="2468880"/>
          </a:xfrm>
          <a:prstGeom prst="rect">
            <a:avLst/>
          </a:prstGeom>
          <a:solidFill>
            <a:srgbClr val="FBF2EE"/>
          </a:solidFill>
          <a:ln w="12700">
            <a:solidFill>
              <a:srgbClr val="FBF2EE"/>
            </a:solidFill>
            <a:prstDash val="solid"/>
          </a:ln>
        </p:spPr>
      </p:sp>
      <p:sp>
        <p:nvSpPr>
          <p:cNvPr id="5" name="Shape 3"/>
          <p:cNvSpPr/>
          <p:nvPr/>
        </p:nvSpPr>
        <p:spPr>
          <a:xfrm>
            <a:off x="3931920" y="1463294"/>
            <a:ext cx="0" cy="2468880"/>
          </a:xfrm>
          <a:prstGeom prst="line">
            <a:avLst/>
          </a:prstGeom>
          <a:noFill/>
          <a:ln w="9525">
            <a:solidFill>
              <a:srgbClr val="F8E8E2"/>
            </a:solidFill>
            <a:prstDash val="solid"/>
          </a:ln>
        </p:spPr>
      </p:sp>
      <p:sp>
        <p:nvSpPr>
          <p:cNvPr id="6" name="Text 4"/>
          <p:cNvSpPr txBox="1"/>
          <p:nvPr/>
        </p:nvSpPr>
        <p:spPr>
          <a:xfrm>
            <a:off x="3520440" y="3977894"/>
            <a:ext cx="822960" cy="228600"/>
          </a:xfrm>
          <a:prstGeom prst="rect">
            <a:avLst/>
          </a:prstGeom>
          <a:noFill/>
          <a:ln/>
        </p:spPr>
        <p:txBody>
          <a:bodyPr wrap="square" lIns="0" tIns="0" rIns="0" bIns="0" rtlCol="0" anchor="ctr"/>
          <a:lstStyle/>
          <a:p>
            <a:pPr algn="ctr" indent="0" marL="0">
              <a:buNone/>
            </a:pPr>
            <a:r>
              <a:rPr lang="en-US" sz="1000" dirty="0">
                <a:solidFill>
                  <a:srgbClr val="5E5E5E"/>
                </a:solidFill>
                <a:latin typeface="Arial" pitchFamily="34" charset="0"/>
                <a:ea typeface="Arial" pitchFamily="34" charset="-122"/>
                <a:cs typeface="Arial" pitchFamily="34" charset="-120"/>
              </a:rPr>
              <a:t>$420K</a:t>
            </a:r>
            <a:endParaRPr lang="en-US" sz="1000" dirty="0"/>
          </a:p>
        </p:txBody>
      </p:sp>
      <p:sp>
        <p:nvSpPr>
          <p:cNvPr id="7" name="Shape 5"/>
          <p:cNvSpPr/>
          <p:nvPr/>
        </p:nvSpPr>
        <p:spPr>
          <a:xfrm>
            <a:off x="5074920" y="1463294"/>
            <a:ext cx="0" cy="2468880"/>
          </a:xfrm>
          <a:prstGeom prst="line">
            <a:avLst/>
          </a:prstGeom>
          <a:noFill/>
          <a:ln w="9525">
            <a:solidFill>
              <a:srgbClr val="F8E8E2"/>
            </a:solidFill>
            <a:prstDash val="solid"/>
          </a:ln>
        </p:spPr>
      </p:sp>
      <p:sp>
        <p:nvSpPr>
          <p:cNvPr id="8" name="Text 6"/>
          <p:cNvSpPr txBox="1"/>
          <p:nvPr/>
        </p:nvSpPr>
        <p:spPr>
          <a:xfrm>
            <a:off x="4663440" y="3977894"/>
            <a:ext cx="822960" cy="228600"/>
          </a:xfrm>
          <a:prstGeom prst="rect">
            <a:avLst/>
          </a:prstGeom>
          <a:noFill/>
          <a:ln/>
        </p:spPr>
        <p:txBody>
          <a:bodyPr wrap="square" lIns="0" tIns="0" rIns="0" bIns="0" rtlCol="0" anchor="ctr"/>
          <a:lstStyle/>
          <a:p>
            <a:pPr algn="ctr" indent="0" marL="0">
              <a:buNone/>
            </a:pPr>
            <a:r>
              <a:rPr lang="en-US" sz="1000" dirty="0">
                <a:solidFill>
                  <a:srgbClr val="5E5E5E"/>
                </a:solidFill>
                <a:latin typeface="Arial" pitchFamily="34" charset="0"/>
                <a:ea typeface="Arial" pitchFamily="34" charset="-122"/>
                <a:cs typeface="Arial" pitchFamily="34" charset="-120"/>
              </a:rPr>
              <a:t>$440K</a:t>
            </a:r>
            <a:endParaRPr lang="en-US" sz="1000" dirty="0"/>
          </a:p>
        </p:txBody>
      </p:sp>
      <p:sp>
        <p:nvSpPr>
          <p:cNvPr id="9" name="Shape 7"/>
          <p:cNvSpPr/>
          <p:nvPr/>
        </p:nvSpPr>
        <p:spPr>
          <a:xfrm>
            <a:off x="6217920" y="1463294"/>
            <a:ext cx="0" cy="2468880"/>
          </a:xfrm>
          <a:prstGeom prst="line">
            <a:avLst/>
          </a:prstGeom>
          <a:noFill/>
          <a:ln w="9525">
            <a:solidFill>
              <a:srgbClr val="F8E8E2"/>
            </a:solidFill>
            <a:prstDash val="solid"/>
          </a:ln>
        </p:spPr>
      </p:sp>
      <p:sp>
        <p:nvSpPr>
          <p:cNvPr id="10" name="Text 8"/>
          <p:cNvSpPr txBox="1"/>
          <p:nvPr/>
        </p:nvSpPr>
        <p:spPr>
          <a:xfrm>
            <a:off x="5806440" y="3977894"/>
            <a:ext cx="822960" cy="228600"/>
          </a:xfrm>
          <a:prstGeom prst="rect">
            <a:avLst/>
          </a:prstGeom>
          <a:noFill/>
          <a:ln/>
        </p:spPr>
        <p:txBody>
          <a:bodyPr wrap="square" lIns="0" tIns="0" rIns="0" bIns="0" rtlCol="0" anchor="ctr"/>
          <a:lstStyle/>
          <a:p>
            <a:pPr algn="ctr" indent="0" marL="0">
              <a:buNone/>
            </a:pPr>
            <a:r>
              <a:rPr lang="en-US" sz="1000" dirty="0">
                <a:solidFill>
                  <a:srgbClr val="5E5E5E"/>
                </a:solidFill>
                <a:latin typeface="Arial" pitchFamily="34" charset="0"/>
                <a:ea typeface="Arial" pitchFamily="34" charset="-122"/>
                <a:cs typeface="Arial" pitchFamily="34" charset="-120"/>
              </a:rPr>
              <a:t>$460K</a:t>
            </a:r>
            <a:endParaRPr lang="en-US" sz="1000" dirty="0"/>
          </a:p>
        </p:txBody>
      </p:sp>
      <p:sp>
        <p:nvSpPr>
          <p:cNvPr id="11" name="Shape 9"/>
          <p:cNvSpPr/>
          <p:nvPr/>
        </p:nvSpPr>
        <p:spPr>
          <a:xfrm>
            <a:off x="7360920" y="1463294"/>
            <a:ext cx="0" cy="2468880"/>
          </a:xfrm>
          <a:prstGeom prst="line">
            <a:avLst/>
          </a:prstGeom>
          <a:noFill/>
          <a:ln w="9525">
            <a:solidFill>
              <a:srgbClr val="F8E8E2"/>
            </a:solidFill>
            <a:prstDash val="solid"/>
          </a:ln>
        </p:spPr>
      </p:sp>
      <p:sp>
        <p:nvSpPr>
          <p:cNvPr id="12" name="Text 10"/>
          <p:cNvSpPr txBox="1"/>
          <p:nvPr/>
        </p:nvSpPr>
        <p:spPr>
          <a:xfrm>
            <a:off x="6949440" y="3977894"/>
            <a:ext cx="822960" cy="228600"/>
          </a:xfrm>
          <a:prstGeom prst="rect">
            <a:avLst/>
          </a:prstGeom>
          <a:noFill/>
          <a:ln/>
        </p:spPr>
        <p:txBody>
          <a:bodyPr wrap="square" lIns="0" tIns="0" rIns="0" bIns="0" rtlCol="0" anchor="ctr"/>
          <a:lstStyle/>
          <a:p>
            <a:pPr algn="ctr" indent="0" marL="0">
              <a:buNone/>
            </a:pPr>
            <a:r>
              <a:rPr lang="en-US" sz="1000" dirty="0">
                <a:solidFill>
                  <a:srgbClr val="5E5E5E"/>
                </a:solidFill>
                <a:latin typeface="Arial" pitchFamily="34" charset="0"/>
                <a:ea typeface="Arial" pitchFamily="34" charset="-122"/>
                <a:cs typeface="Arial" pitchFamily="34" charset="-120"/>
              </a:rPr>
              <a:t>$480K</a:t>
            </a:r>
            <a:endParaRPr lang="en-US" sz="1000" dirty="0"/>
          </a:p>
        </p:txBody>
      </p:sp>
      <p:sp>
        <p:nvSpPr>
          <p:cNvPr id="13" name="Shape 11"/>
          <p:cNvSpPr/>
          <p:nvPr/>
        </p:nvSpPr>
        <p:spPr>
          <a:xfrm>
            <a:off x="8503920" y="1463294"/>
            <a:ext cx="0" cy="2468880"/>
          </a:xfrm>
          <a:prstGeom prst="line">
            <a:avLst/>
          </a:prstGeom>
          <a:noFill/>
          <a:ln w="9525">
            <a:solidFill>
              <a:srgbClr val="F8E8E2"/>
            </a:solidFill>
            <a:prstDash val="solid"/>
          </a:ln>
        </p:spPr>
      </p:sp>
      <p:sp>
        <p:nvSpPr>
          <p:cNvPr id="14" name="Text 12"/>
          <p:cNvSpPr txBox="1"/>
          <p:nvPr/>
        </p:nvSpPr>
        <p:spPr>
          <a:xfrm>
            <a:off x="8092440" y="3977894"/>
            <a:ext cx="822960" cy="228600"/>
          </a:xfrm>
          <a:prstGeom prst="rect">
            <a:avLst/>
          </a:prstGeom>
          <a:noFill/>
          <a:ln/>
        </p:spPr>
        <p:txBody>
          <a:bodyPr wrap="square" lIns="0" tIns="0" rIns="0" bIns="0" rtlCol="0" anchor="ctr"/>
          <a:lstStyle/>
          <a:p>
            <a:pPr algn="ctr" indent="0" marL="0">
              <a:buNone/>
            </a:pPr>
            <a:r>
              <a:rPr lang="en-US" sz="1000" dirty="0">
                <a:solidFill>
                  <a:srgbClr val="5E5E5E"/>
                </a:solidFill>
                <a:latin typeface="Arial" pitchFamily="34" charset="0"/>
                <a:ea typeface="Arial" pitchFamily="34" charset="-122"/>
                <a:cs typeface="Arial" pitchFamily="34" charset="-120"/>
              </a:rPr>
              <a:t>$500K</a:t>
            </a:r>
            <a:endParaRPr lang="en-US" sz="1000" dirty="0"/>
          </a:p>
        </p:txBody>
      </p:sp>
      <p:sp>
        <p:nvSpPr>
          <p:cNvPr id="15" name="Shape 13"/>
          <p:cNvSpPr/>
          <p:nvPr/>
        </p:nvSpPr>
        <p:spPr>
          <a:xfrm>
            <a:off x="6789420" y="1326134"/>
            <a:ext cx="0" cy="2606040"/>
          </a:xfrm>
          <a:prstGeom prst="line">
            <a:avLst/>
          </a:prstGeom>
          <a:noFill/>
          <a:ln w="25400">
            <a:solidFill>
              <a:srgbClr val="1A1A1A"/>
            </a:solidFill>
            <a:prstDash val="dash"/>
          </a:ln>
        </p:spPr>
      </p:sp>
      <p:sp>
        <p:nvSpPr>
          <p:cNvPr id="16" name="Text 14"/>
          <p:cNvSpPr txBox="1"/>
          <p:nvPr/>
        </p:nvSpPr>
        <p:spPr>
          <a:xfrm>
            <a:off x="5783580" y="1097534"/>
            <a:ext cx="2011680" cy="228600"/>
          </a:xfrm>
          <a:prstGeom prst="rect">
            <a:avLst/>
          </a:prstGeom>
          <a:noFill/>
          <a:ln/>
        </p:spPr>
        <p:txBody>
          <a:bodyPr wrap="square" lIns="0" tIns="0" rIns="0" bIns="0" rtlCol="0" anchor="ctr"/>
          <a:lstStyle/>
          <a:p>
            <a:pPr algn="ctr" indent="0" marL="0">
              <a:buNone/>
            </a:pPr>
            <a:r>
              <a:rPr lang="en-US" sz="1000" b="1" dirty="0">
                <a:solidFill>
                  <a:srgbClr val="1A1A1A"/>
                </a:solidFill>
                <a:latin typeface="Arial" pitchFamily="34" charset="0"/>
                <a:ea typeface="Arial" pitchFamily="34" charset="-122"/>
                <a:cs typeface="Arial" pitchFamily="34" charset="-120"/>
              </a:rPr>
              <a:t>Recommended $470,000</a:t>
            </a:r>
            <a:endParaRPr lang="en-US" sz="1000" dirty="0"/>
          </a:p>
        </p:txBody>
      </p:sp>
      <p:sp>
        <p:nvSpPr>
          <p:cNvPr id="17" name="Text 15"/>
          <p:cNvSpPr txBox="1"/>
          <p:nvPr/>
        </p:nvSpPr>
        <p:spPr>
          <a:xfrm>
            <a:off x="457200" y="1554734"/>
            <a:ext cx="3291840" cy="219456"/>
          </a:xfrm>
          <a:prstGeom prst="rect">
            <a:avLst/>
          </a:prstGeom>
          <a:noFill/>
          <a:ln/>
        </p:spPr>
        <p:txBody>
          <a:bodyPr wrap="square" lIns="0" tIns="0" rIns="0" bIns="0" rtlCol="0" anchor="ctr"/>
          <a:lstStyle/>
          <a:p>
            <a:pPr indent="0" marL="0">
              <a:buNone/>
            </a:pPr>
            <a:r>
              <a:rPr lang="en-US" sz="1200" b="1" dirty="0">
                <a:solidFill>
                  <a:srgbClr val="1A1A1A"/>
                </a:solidFill>
                <a:latin typeface="Arial" pitchFamily="34" charset="0"/>
                <a:ea typeface="Arial" pitchFamily="34" charset="-122"/>
                <a:cs typeface="Arial" pitchFamily="34" charset="-120"/>
              </a:rPr>
              <a:t>622 Fernwood Park Blvd</a:t>
            </a:r>
            <a:endParaRPr lang="en-US" sz="1200" dirty="0"/>
          </a:p>
        </p:txBody>
      </p:sp>
      <p:sp>
        <p:nvSpPr>
          <p:cNvPr id="18" name="Text 16"/>
          <p:cNvSpPr txBox="1"/>
          <p:nvPr/>
        </p:nvSpPr>
        <p:spPr>
          <a:xfrm>
            <a:off x="457200" y="1755902"/>
            <a:ext cx="3291840" cy="201168"/>
          </a:xfrm>
          <a:prstGeom prst="rect">
            <a:avLst/>
          </a:prstGeom>
          <a:noFill/>
          <a:ln/>
        </p:spPr>
        <p:txBody>
          <a:bodyPr wrap="square" lIns="0" tIns="0" rIns="0" bIns="0" rtlCol="0" anchor="ctr"/>
          <a:lstStyle/>
          <a:p>
            <a:pPr indent="0" marL="0">
              <a:buNone/>
            </a:pPr>
            <a:r>
              <a:rPr lang="en-US" sz="950" dirty="0">
                <a:solidFill>
                  <a:srgbClr val="5E5E5E"/>
                </a:solidFill>
                <a:latin typeface="Arial" pitchFamily="34" charset="0"/>
                <a:ea typeface="Arial" pitchFamily="34" charset="-122"/>
                <a:cs typeface="Arial" pitchFamily="34" charset="-120"/>
              </a:rPr>
              <a:t>Renovated pool home; sold earlier in the year</a:t>
            </a:r>
            <a:endParaRPr lang="en-US" sz="950" dirty="0"/>
          </a:p>
        </p:txBody>
      </p:sp>
      <p:sp>
        <p:nvSpPr>
          <p:cNvPr id="19" name="Shape 17"/>
          <p:cNvSpPr/>
          <p:nvPr/>
        </p:nvSpPr>
        <p:spPr>
          <a:xfrm>
            <a:off x="7602950" y="1673606"/>
            <a:ext cx="164592" cy="164592"/>
          </a:xfrm>
          <a:prstGeom prst="ellipse">
            <a:avLst/>
          </a:prstGeom>
          <a:solidFill>
            <a:srgbClr val="C2410C"/>
          </a:solidFill>
          <a:ln w="12700">
            <a:solidFill>
              <a:srgbClr val="FFFFFF"/>
            </a:solidFill>
            <a:prstDash val="solid"/>
          </a:ln>
        </p:spPr>
      </p:sp>
      <p:sp>
        <p:nvSpPr>
          <p:cNvPr id="20" name="Text 18"/>
          <p:cNvSpPr txBox="1"/>
          <p:nvPr/>
        </p:nvSpPr>
        <p:spPr>
          <a:xfrm>
            <a:off x="7794974" y="1627886"/>
            <a:ext cx="640080" cy="237744"/>
          </a:xfrm>
          <a:prstGeom prst="rect">
            <a:avLst/>
          </a:prstGeom>
          <a:noFill/>
          <a:ln/>
        </p:spPr>
        <p:txBody>
          <a:bodyPr wrap="square" lIns="0" tIns="0" rIns="0" bIns="0" rtlCol="0" anchor="ctr"/>
          <a:lstStyle/>
          <a:p>
            <a:pPr algn="l" indent="0" marL="0">
              <a:buNone/>
            </a:pPr>
            <a:r>
              <a:rPr lang="en-US" sz="1000" dirty="0">
                <a:solidFill>
                  <a:srgbClr val="1A1A1A"/>
                </a:solidFill>
                <a:latin typeface="Arial" pitchFamily="34" charset="0"/>
                <a:ea typeface="Arial" pitchFamily="34" charset="-122"/>
                <a:cs typeface="Arial" pitchFamily="34" charset="-120"/>
              </a:rPr>
              <a:t>$486K</a:t>
            </a:r>
            <a:endParaRPr lang="en-US" sz="1000" dirty="0"/>
          </a:p>
        </p:txBody>
      </p:sp>
      <p:sp>
        <p:nvSpPr>
          <p:cNvPr id="21" name="Text 19"/>
          <p:cNvSpPr txBox="1"/>
          <p:nvPr/>
        </p:nvSpPr>
        <p:spPr>
          <a:xfrm>
            <a:off x="457200" y="2011934"/>
            <a:ext cx="3291840" cy="219456"/>
          </a:xfrm>
          <a:prstGeom prst="rect">
            <a:avLst/>
          </a:prstGeom>
          <a:noFill/>
          <a:ln/>
        </p:spPr>
        <p:txBody>
          <a:bodyPr wrap="square" lIns="0" tIns="0" rIns="0" bIns="0" rtlCol="0" anchor="ctr"/>
          <a:lstStyle/>
          <a:p>
            <a:pPr indent="0" marL="0">
              <a:buNone/>
            </a:pPr>
            <a:r>
              <a:rPr lang="en-US" sz="1200" b="1" dirty="0">
                <a:solidFill>
                  <a:srgbClr val="1A1A1A"/>
                </a:solidFill>
                <a:latin typeface="Arial" pitchFamily="34" charset="0"/>
                <a:ea typeface="Arial" pitchFamily="34" charset="-122"/>
                <a:cs typeface="Arial" pitchFamily="34" charset="-120"/>
              </a:rPr>
              <a:t>516 Tallow Ct</a:t>
            </a:r>
            <a:endParaRPr lang="en-US" sz="1200" dirty="0"/>
          </a:p>
        </p:txBody>
      </p:sp>
      <p:sp>
        <p:nvSpPr>
          <p:cNvPr id="22" name="Text 20"/>
          <p:cNvSpPr txBox="1"/>
          <p:nvPr/>
        </p:nvSpPr>
        <p:spPr>
          <a:xfrm>
            <a:off x="457200" y="2213102"/>
            <a:ext cx="3291840" cy="201168"/>
          </a:xfrm>
          <a:prstGeom prst="rect">
            <a:avLst/>
          </a:prstGeom>
          <a:noFill/>
          <a:ln/>
        </p:spPr>
        <p:txBody>
          <a:bodyPr wrap="square" lIns="0" tIns="0" rIns="0" bIns="0" rtlCol="0" anchor="ctr"/>
          <a:lstStyle/>
          <a:p>
            <a:pPr indent="0" marL="0">
              <a:buNone/>
            </a:pPr>
            <a:r>
              <a:rPr lang="en-US" sz="900" dirty="0">
                <a:solidFill>
                  <a:srgbClr val="5E5E5E"/>
                </a:solidFill>
                <a:latin typeface="Arial" pitchFamily="34" charset="0"/>
                <a:ea typeface="Arial" pitchFamily="34" charset="-122"/>
                <a:cs typeface="Arial" pitchFamily="34" charset="-120"/>
              </a:rPr>
              <a:t>Strongest match · Same era and size; systems documented</a:t>
            </a:r>
            <a:endParaRPr lang="en-US" sz="900" dirty="0"/>
          </a:p>
        </p:txBody>
      </p:sp>
      <p:sp>
        <p:nvSpPr>
          <p:cNvPr id="23" name="Shape 21"/>
          <p:cNvSpPr/>
          <p:nvPr/>
        </p:nvSpPr>
        <p:spPr>
          <a:xfrm>
            <a:off x="7238619" y="2130806"/>
            <a:ext cx="164592" cy="164592"/>
          </a:xfrm>
          <a:prstGeom prst="ellipse">
            <a:avLst/>
          </a:prstGeom>
          <a:solidFill>
            <a:srgbClr val="C2410C"/>
          </a:solidFill>
          <a:ln w="12700">
            <a:solidFill>
              <a:srgbClr val="FFFFFF"/>
            </a:solidFill>
            <a:prstDash val="solid"/>
          </a:ln>
        </p:spPr>
      </p:sp>
      <p:sp>
        <p:nvSpPr>
          <p:cNvPr id="24" name="Text 22"/>
          <p:cNvSpPr txBox="1"/>
          <p:nvPr/>
        </p:nvSpPr>
        <p:spPr>
          <a:xfrm>
            <a:off x="7430643" y="2085086"/>
            <a:ext cx="640080" cy="237744"/>
          </a:xfrm>
          <a:prstGeom prst="rect">
            <a:avLst/>
          </a:prstGeom>
          <a:noFill/>
          <a:ln/>
        </p:spPr>
        <p:txBody>
          <a:bodyPr wrap="square" lIns="0" tIns="0" rIns="0" bIns="0" rtlCol="0" anchor="ctr"/>
          <a:lstStyle/>
          <a:p>
            <a:pPr algn="l" indent="0" marL="0">
              <a:buNone/>
            </a:pPr>
            <a:r>
              <a:rPr lang="en-US" sz="1000" dirty="0">
                <a:solidFill>
                  <a:srgbClr val="1A1A1A"/>
                </a:solidFill>
                <a:latin typeface="Arial" pitchFamily="34" charset="0"/>
                <a:ea typeface="Arial" pitchFamily="34" charset="-122"/>
                <a:cs typeface="Arial" pitchFamily="34" charset="-120"/>
              </a:rPr>
              <a:t>$479K</a:t>
            </a:r>
            <a:endParaRPr lang="en-US" sz="1000" dirty="0"/>
          </a:p>
        </p:txBody>
      </p:sp>
      <p:sp>
        <p:nvSpPr>
          <p:cNvPr id="25" name="Text 23"/>
          <p:cNvSpPr txBox="1"/>
          <p:nvPr/>
        </p:nvSpPr>
        <p:spPr>
          <a:xfrm>
            <a:off x="457200" y="2469134"/>
            <a:ext cx="3291840" cy="219456"/>
          </a:xfrm>
          <a:prstGeom prst="rect">
            <a:avLst/>
          </a:prstGeom>
          <a:noFill/>
          <a:ln/>
        </p:spPr>
        <p:txBody>
          <a:bodyPr wrap="square" lIns="0" tIns="0" rIns="0" bIns="0" rtlCol="0" anchor="ctr"/>
          <a:lstStyle/>
          <a:p>
            <a:pPr indent="0" marL="0">
              <a:buNone/>
            </a:pPr>
            <a:r>
              <a:rPr lang="en-US" sz="1200" b="1" dirty="0">
                <a:solidFill>
                  <a:srgbClr val="1A1A1A"/>
                </a:solidFill>
                <a:latin typeface="Arial" pitchFamily="34" charset="0"/>
                <a:ea typeface="Arial" pitchFamily="34" charset="-122"/>
                <a:cs typeface="Arial" pitchFamily="34" charset="-120"/>
              </a:rPr>
              <a:t>745 Little Heron Cir</a:t>
            </a:r>
            <a:endParaRPr lang="en-US" sz="1200" dirty="0"/>
          </a:p>
        </p:txBody>
      </p:sp>
      <p:sp>
        <p:nvSpPr>
          <p:cNvPr id="26" name="Text 24"/>
          <p:cNvSpPr txBox="1"/>
          <p:nvPr/>
        </p:nvSpPr>
        <p:spPr>
          <a:xfrm>
            <a:off x="457200" y="2670302"/>
            <a:ext cx="3291840" cy="201168"/>
          </a:xfrm>
          <a:prstGeom prst="rect">
            <a:avLst/>
          </a:prstGeom>
          <a:noFill/>
          <a:ln/>
        </p:spPr>
        <p:txBody>
          <a:bodyPr wrap="square" lIns="0" tIns="0" rIns="0" bIns="0" rtlCol="0" anchor="ctr"/>
          <a:lstStyle/>
          <a:p>
            <a:pPr indent="0" marL="0">
              <a:buNone/>
            </a:pPr>
            <a:r>
              <a:rPr lang="en-US" sz="950" dirty="0">
                <a:solidFill>
                  <a:srgbClr val="5E5E5E"/>
                </a:solidFill>
                <a:latin typeface="Arial" pitchFamily="34" charset="0"/>
                <a:ea typeface="Arial" pitchFamily="34" charset="-122"/>
                <a:cs typeface="Arial" pitchFamily="34" charset="-120"/>
              </a:rPr>
              <a:t>Most recent pool sale; not renovated</a:t>
            </a:r>
            <a:endParaRPr lang="en-US" sz="950" dirty="0"/>
          </a:p>
        </p:txBody>
      </p:sp>
      <p:sp>
        <p:nvSpPr>
          <p:cNvPr id="27" name="Shape 25"/>
          <p:cNvSpPr/>
          <p:nvPr/>
        </p:nvSpPr>
        <p:spPr>
          <a:xfrm>
            <a:off x="6698552" y="2588006"/>
            <a:ext cx="164592" cy="164592"/>
          </a:xfrm>
          <a:prstGeom prst="ellipse">
            <a:avLst/>
          </a:prstGeom>
          <a:solidFill>
            <a:srgbClr val="C2410C"/>
          </a:solidFill>
          <a:ln w="12700">
            <a:solidFill>
              <a:srgbClr val="FFFFFF"/>
            </a:solidFill>
            <a:prstDash val="solid"/>
          </a:ln>
        </p:spPr>
      </p:sp>
      <p:sp>
        <p:nvSpPr>
          <p:cNvPr id="28" name="Text 26"/>
          <p:cNvSpPr txBox="1"/>
          <p:nvPr/>
        </p:nvSpPr>
        <p:spPr>
          <a:xfrm>
            <a:off x="6890576" y="2542286"/>
            <a:ext cx="640080" cy="237744"/>
          </a:xfrm>
          <a:prstGeom prst="rect">
            <a:avLst/>
          </a:prstGeom>
          <a:noFill/>
          <a:ln/>
        </p:spPr>
        <p:txBody>
          <a:bodyPr wrap="square" lIns="0" tIns="0" rIns="0" bIns="0" rtlCol="0" anchor="ctr"/>
          <a:lstStyle/>
          <a:p>
            <a:pPr algn="l" indent="0" marL="0">
              <a:buNone/>
            </a:pPr>
            <a:r>
              <a:rPr lang="en-US" sz="1000" dirty="0">
                <a:solidFill>
                  <a:srgbClr val="1A1A1A"/>
                </a:solidFill>
                <a:latin typeface="Arial" pitchFamily="34" charset="0"/>
                <a:ea typeface="Arial" pitchFamily="34" charset="-122"/>
                <a:cs typeface="Arial" pitchFamily="34" charset="-120"/>
              </a:rPr>
              <a:t>$470K</a:t>
            </a:r>
            <a:endParaRPr lang="en-US" sz="1000" dirty="0"/>
          </a:p>
        </p:txBody>
      </p:sp>
      <p:sp>
        <p:nvSpPr>
          <p:cNvPr id="29" name="Text 27"/>
          <p:cNvSpPr txBox="1"/>
          <p:nvPr/>
        </p:nvSpPr>
        <p:spPr>
          <a:xfrm>
            <a:off x="457200" y="2926334"/>
            <a:ext cx="3291840" cy="219456"/>
          </a:xfrm>
          <a:prstGeom prst="rect">
            <a:avLst/>
          </a:prstGeom>
          <a:noFill/>
          <a:ln/>
        </p:spPr>
        <p:txBody>
          <a:bodyPr wrap="square" lIns="0" tIns="0" rIns="0" bIns="0" rtlCol="0" anchor="ctr"/>
          <a:lstStyle/>
          <a:p>
            <a:pPr indent="0" marL="0">
              <a:buNone/>
            </a:pPr>
            <a:r>
              <a:rPr lang="en-US" sz="1200" b="1" dirty="0">
                <a:solidFill>
                  <a:srgbClr val="1A1A1A"/>
                </a:solidFill>
                <a:latin typeface="Arial" pitchFamily="34" charset="0"/>
                <a:ea typeface="Arial" pitchFamily="34" charset="-122"/>
                <a:cs typeface="Arial" pitchFamily="34" charset="-120"/>
              </a:rPr>
              <a:t>602 Thrasher Ln</a:t>
            </a:r>
            <a:endParaRPr lang="en-US" sz="1200" dirty="0"/>
          </a:p>
        </p:txBody>
      </p:sp>
      <p:sp>
        <p:nvSpPr>
          <p:cNvPr id="30" name="Text 28"/>
          <p:cNvSpPr txBox="1"/>
          <p:nvPr/>
        </p:nvSpPr>
        <p:spPr>
          <a:xfrm>
            <a:off x="457200" y="3127502"/>
            <a:ext cx="3291840" cy="201168"/>
          </a:xfrm>
          <a:prstGeom prst="rect">
            <a:avLst/>
          </a:prstGeom>
          <a:noFill/>
          <a:ln/>
        </p:spPr>
        <p:txBody>
          <a:bodyPr wrap="square" lIns="0" tIns="0" rIns="0" bIns="0" rtlCol="0" anchor="ctr"/>
          <a:lstStyle/>
          <a:p>
            <a:pPr indent="0" marL="0">
              <a:buNone/>
            </a:pPr>
            <a:r>
              <a:rPr lang="en-US" sz="950" dirty="0">
                <a:solidFill>
                  <a:srgbClr val="5E5E5E"/>
                </a:solidFill>
                <a:latin typeface="Arial" pitchFamily="34" charset="0"/>
                <a:ea typeface="Arial" pitchFamily="34" charset="-122"/>
                <a:cs typeface="Arial" pitchFamily="34" charset="-120"/>
              </a:rPr>
              <a:t>Same floor plan; partly updated</a:t>
            </a:r>
            <a:endParaRPr lang="en-US" sz="950" dirty="0"/>
          </a:p>
        </p:txBody>
      </p:sp>
      <p:sp>
        <p:nvSpPr>
          <p:cNvPr id="31" name="Shape 29"/>
          <p:cNvSpPr/>
          <p:nvPr/>
        </p:nvSpPr>
        <p:spPr>
          <a:xfrm>
            <a:off x="4621149" y="3045206"/>
            <a:ext cx="164592" cy="164592"/>
          </a:xfrm>
          <a:prstGeom prst="ellipse">
            <a:avLst/>
          </a:prstGeom>
          <a:solidFill>
            <a:srgbClr val="C2410C"/>
          </a:solidFill>
          <a:ln w="12700">
            <a:solidFill>
              <a:srgbClr val="FFFFFF"/>
            </a:solidFill>
            <a:prstDash val="solid"/>
          </a:ln>
        </p:spPr>
      </p:sp>
      <p:sp>
        <p:nvSpPr>
          <p:cNvPr id="32" name="Text 30"/>
          <p:cNvSpPr txBox="1"/>
          <p:nvPr/>
        </p:nvSpPr>
        <p:spPr>
          <a:xfrm>
            <a:off x="4813173" y="2999486"/>
            <a:ext cx="640080" cy="237744"/>
          </a:xfrm>
          <a:prstGeom prst="rect">
            <a:avLst/>
          </a:prstGeom>
          <a:noFill/>
          <a:ln/>
        </p:spPr>
        <p:txBody>
          <a:bodyPr wrap="square" lIns="0" tIns="0" rIns="0" bIns="0" rtlCol="0" anchor="ctr"/>
          <a:lstStyle/>
          <a:p>
            <a:pPr algn="l" indent="0" marL="0">
              <a:buNone/>
            </a:pPr>
            <a:r>
              <a:rPr lang="en-US" sz="1000" dirty="0">
                <a:solidFill>
                  <a:srgbClr val="1A1A1A"/>
                </a:solidFill>
                <a:latin typeface="Arial" pitchFamily="34" charset="0"/>
                <a:ea typeface="Arial" pitchFamily="34" charset="-122"/>
                <a:cs typeface="Arial" pitchFamily="34" charset="-120"/>
              </a:rPr>
              <a:t>$434K</a:t>
            </a:r>
            <a:endParaRPr lang="en-US" sz="1000" dirty="0"/>
          </a:p>
        </p:txBody>
      </p:sp>
      <p:sp>
        <p:nvSpPr>
          <p:cNvPr id="33" name="Text 31"/>
          <p:cNvSpPr txBox="1"/>
          <p:nvPr/>
        </p:nvSpPr>
        <p:spPr>
          <a:xfrm>
            <a:off x="457200" y="3383534"/>
            <a:ext cx="3291840" cy="219456"/>
          </a:xfrm>
          <a:prstGeom prst="rect">
            <a:avLst/>
          </a:prstGeom>
          <a:noFill/>
          <a:ln/>
        </p:spPr>
        <p:txBody>
          <a:bodyPr wrap="square" lIns="0" tIns="0" rIns="0" bIns="0" rtlCol="0" anchor="ctr"/>
          <a:lstStyle/>
          <a:p>
            <a:pPr indent="0" marL="0">
              <a:buNone/>
            </a:pPr>
            <a:r>
              <a:rPr lang="en-US" sz="1200" b="1" dirty="0">
                <a:solidFill>
                  <a:srgbClr val="1A1A1A"/>
                </a:solidFill>
                <a:latin typeface="Arial" pitchFamily="34" charset="0"/>
                <a:ea typeface="Arial" pitchFamily="34" charset="-122"/>
                <a:cs typeface="Arial" pitchFamily="34" charset="-120"/>
              </a:rPr>
              <a:t>621 Little Heron Rd</a:t>
            </a:r>
            <a:endParaRPr lang="en-US" sz="1200" dirty="0"/>
          </a:p>
        </p:txBody>
      </p:sp>
      <p:sp>
        <p:nvSpPr>
          <p:cNvPr id="34" name="Text 32"/>
          <p:cNvSpPr txBox="1"/>
          <p:nvPr/>
        </p:nvSpPr>
        <p:spPr>
          <a:xfrm>
            <a:off x="457200" y="3584702"/>
            <a:ext cx="3291840" cy="201168"/>
          </a:xfrm>
          <a:prstGeom prst="rect">
            <a:avLst/>
          </a:prstGeom>
          <a:noFill/>
          <a:ln/>
        </p:spPr>
        <p:txBody>
          <a:bodyPr wrap="square" lIns="0" tIns="0" rIns="0" bIns="0" rtlCol="0" anchor="ctr"/>
          <a:lstStyle/>
          <a:p>
            <a:pPr indent="0" marL="0">
              <a:buNone/>
            </a:pPr>
            <a:r>
              <a:rPr lang="en-US" sz="950" dirty="0">
                <a:solidFill>
                  <a:srgbClr val="5E5E5E"/>
                </a:solidFill>
                <a:latin typeface="Arial" pitchFamily="34" charset="0"/>
                <a:ea typeface="Arial" pitchFamily="34" charset="-122"/>
                <a:cs typeface="Arial" pitchFamily="34" charset="-120"/>
              </a:rPr>
              <a:t>Renovated; bigger canal lot</a:t>
            </a:r>
            <a:endParaRPr lang="en-US" sz="950" dirty="0"/>
          </a:p>
        </p:txBody>
      </p:sp>
      <p:sp>
        <p:nvSpPr>
          <p:cNvPr id="35" name="Shape 33"/>
          <p:cNvSpPr/>
          <p:nvPr/>
        </p:nvSpPr>
        <p:spPr>
          <a:xfrm>
            <a:off x="4491361" y="3502406"/>
            <a:ext cx="164592" cy="164592"/>
          </a:xfrm>
          <a:prstGeom prst="ellipse">
            <a:avLst/>
          </a:prstGeom>
          <a:solidFill>
            <a:srgbClr val="C2410C"/>
          </a:solidFill>
          <a:ln w="12700">
            <a:solidFill>
              <a:srgbClr val="FFFFFF"/>
            </a:solidFill>
            <a:prstDash val="solid"/>
          </a:ln>
        </p:spPr>
      </p:sp>
      <p:sp>
        <p:nvSpPr>
          <p:cNvPr id="36" name="Text 34"/>
          <p:cNvSpPr txBox="1"/>
          <p:nvPr/>
        </p:nvSpPr>
        <p:spPr>
          <a:xfrm>
            <a:off x="4683385" y="3456686"/>
            <a:ext cx="640080" cy="237744"/>
          </a:xfrm>
          <a:prstGeom prst="rect">
            <a:avLst/>
          </a:prstGeom>
          <a:noFill/>
          <a:ln/>
        </p:spPr>
        <p:txBody>
          <a:bodyPr wrap="square" lIns="0" tIns="0" rIns="0" bIns="0" rtlCol="0" anchor="ctr"/>
          <a:lstStyle/>
          <a:p>
            <a:pPr algn="l" indent="0" marL="0">
              <a:buNone/>
            </a:pPr>
            <a:r>
              <a:rPr lang="en-US" sz="1000" dirty="0">
                <a:solidFill>
                  <a:srgbClr val="1A1A1A"/>
                </a:solidFill>
                <a:latin typeface="Arial" pitchFamily="34" charset="0"/>
                <a:ea typeface="Arial" pitchFamily="34" charset="-122"/>
                <a:cs typeface="Arial" pitchFamily="34" charset="-120"/>
              </a:rPr>
              <a:t>$431K</a:t>
            </a:r>
            <a:endParaRPr lang="en-US" sz="1000" dirty="0"/>
          </a:p>
        </p:txBody>
      </p:sp>
      <p:sp>
        <p:nvSpPr>
          <p:cNvPr id="37" name="Text 35"/>
          <p:cNvSpPr txBox="1"/>
          <p:nvPr/>
        </p:nvSpPr>
        <p:spPr>
          <a:xfrm>
            <a:off x="457200" y="4297934"/>
            <a:ext cx="8229600" cy="406654"/>
          </a:xfrm>
          <a:prstGeom prst="rect">
            <a:avLst/>
          </a:prstGeom>
          <a:noFill/>
          <a:ln/>
        </p:spPr>
        <p:txBody>
          <a:bodyPr wrap="square" lIns="0" tIns="0" rIns="0" bIns="0" rtlCol="0" anchor="t"/>
          <a:lstStyle/>
          <a:p>
            <a:pPr indent="0" marL="0">
              <a:buNone/>
            </a:pPr>
            <a:r>
              <a:rPr lang="en-US" sz="1200" b="1" dirty="0">
                <a:solidFill>
                  <a:srgbClr val="C2410C"/>
                </a:solidFill>
                <a:latin typeface="Arial" pitchFamily="34" charset="0"/>
                <a:ea typeface="Arial" pitchFamily="34" charset="-122"/>
                <a:cs typeface="Arial" pitchFamily="34" charset="-120"/>
              </a:rPr>
              <a:t>Shaded: Supported Range $455K–$480K. </a:t>
            </a:r>
            <a:pPr indent="0" marL="0">
              <a:buNone/>
            </a:pPr>
            <a:r>
              <a:rPr lang="en-US" sz="1200" dirty="0">
                <a:solidFill>
                  <a:srgbClr val="1A1A1A"/>
                </a:solidFill>
                <a:latin typeface="Arial" pitchFamily="34" charset="0"/>
                <a:ea typeface="Arial" pitchFamily="34" charset="-122"/>
                <a:cs typeface="Arial" pitchFamily="34" charset="-120"/>
              </a:rPr>
              <a:t>The two highest sold earlier in the year. The recent sales point to the middle of the range.</a:t>
            </a:r>
            <a:endParaRPr lang="en-US" sz="1200" dirty="0"/>
          </a:p>
        </p:txBody>
      </p:sp>
      <p:sp>
        <p:nvSpPr>
          <p:cNvPr id="38" name="Text 36"/>
          <p:cNvSpPr txBox="1"/>
          <p:nvPr/>
        </p:nvSpPr>
        <p:spPr>
          <a:xfrm>
            <a:off x="457200" y="4796028"/>
            <a:ext cx="6858000" cy="228600"/>
          </a:xfrm>
          <a:prstGeom prst="rect">
            <a:avLst/>
          </a:prstGeom>
          <a:noFill/>
          <a:ln/>
        </p:spPr>
        <p:txBody>
          <a:bodyPr wrap="square" lIns="0" tIns="0" rIns="0" bIns="0" rtlCol="0" anchor="ctr"/>
          <a:lstStyle/>
          <a:p>
            <a:pPr indent="0" marL="0">
              <a:buNone/>
            </a:pPr>
            <a:r>
              <a:rPr lang="en-US" sz="800" dirty="0">
                <a:solidFill>
                  <a:srgbClr val="5E5E5E"/>
                </a:solidFill>
                <a:latin typeface="Arial" pitchFamily="34" charset="0"/>
                <a:ea typeface="Arial" pitchFamily="34" charset="-122"/>
                <a:cs typeface="Arial" pitchFamily="34" charset="-120"/>
              </a:rPr>
              <a:t>SAMPLE DATA · 517 Larkwood Ave · Jordan Avery, REALTOR®, Sample Realty, LLC</a:t>
            </a:r>
            <a:endParaRPr lang="en-US" sz="800" dirty="0"/>
          </a:p>
        </p:txBody>
      </p:sp>
      <p:sp>
        <p:nvSpPr>
          <p:cNvPr id="39" name="Text 37"/>
          <p:cNvSpPr txBox="1"/>
          <p:nvPr/>
        </p:nvSpPr>
        <p:spPr>
          <a:xfrm>
            <a:off x="8229600" y="4796028"/>
            <a:ext cx="457200" cy="228600"/>
          </a:xfrm>
          <a:prstGeom prst="rect">
            <a:avLst/>
          </a:prstGeom>
          <a:noFill/>
          <a:ln/>
        </p:spPr>
        <p:txBody>
          <a:bodyPr wrap="square" lIns="0" tIns="0" rIns="0" bIns="0" rtlCol="0" anchor="ctr"/>
          <a:lstStyle/>
          <a:p>
            <a:pPr algn="r" indent="0" marL="0">
              <a:buNone/>
            </a:pPr>
            <a:r>
              <a:rPr lang="en-US" sz="800" dirty="0">
                <a:solidFill>
                  <a:srgbClr val="5E5E5E"/>
                </a:solidFill>
                <a:latin typeface="Arial" pitchFamily="34" charset="0"/>
                <a:ea typeface="Arial" pitchFamily="34" charset="-122"/>
                <a:cs typeface="Arial" pitchFamily="34" charset="-120"/>
              </a:rPr>
              <a:t>5</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8229600" cy="566928"/>
          </a:xfrm>
          <a:prstGeom prst="rect">
            <a:avLst/>
          </a:prstGeom>
          <a:noFill/>
          <a:ln/>
        </p:spPr>
        <p:txBody>
          <a:bodyPr wrap="square" lIns="0" tIns="0" rIns="0" bIns="0" rtlCol="0" anchor="t"/>
          <a:lstStyle/>
          <a:p>
            <a:pPr indent="0" marL="0">
              <a:buNone/>
            </a:pPr>
            <a:r>
              <a:rPr lang="en-US" sz="2600" b="1" dirty="0">
                <a:solidFill>
                  <a:srgbClr val="1A1A1A"/>
                </a:solidFill>
                <a:latin typeface="Arial" pitchFamily="34" charset="0"/>
                <a:ea typeface="Arial" pitchFamily="34" charset="-122"/>
                <a:cs typeface="Arial" pitchFamily="34" charset="-120"/>
              </a:rPr>
              <a:t>Where Your Home Fits in the Neighborhood</a:t>
            </a:r>
            <a:endParaRPr lang="en-US" sz="2600" dirty="0"/>
          </a:p>
        </p:txBody>
      </p:sp>
      <p:sp>
        <p:nvSpPr>
          <p:cNvPr id="3" name="Shape 1"/>
          <p:cNvSpPr/>
          <p:nvPr/>
        </p:nvSpPr>
        <p:spPr>
          <a:xfrm>
            <a:off x="1150315" y="2303961"/>
            <a:ext cx="5557266" cy="195943"/>
          </a:xfrm>
          <a:prstGeom prst="rect">
            <a:avLst/>
          </a:prstGeom>
          <a:solidFill>
            <a:srgbClr val="FBF2EE"/>
          </a:solidFill>
          <a:ln w="12700">
            <a:solidFill>
              <a:srgbClr val="FBF2EE"/>
            </a:solidFill>
            <a:prstDash val="solid"/>
          </a:ln>
        </p:spPr>
      </p:sp>
      <p:graphicFrame>
        <p:nvGraphicFramePr>
          <p:cNvPr id="4" name="Chart 0" descr=""/>
          <p:cNvGraphicFramePr/>
          <p:nvPr/>
        </p:nvGraphicFramePr>
        <p:xfrm>
          <a:off x="365760" y="868680"/>
          <a:ext cx="6537960" cy="3429000"/>
        </p:xfrm>
        <a:graphic xmlns:a="http://schemas.openxmlformats.org/drawingml/2006/main">
          <a:graphicData uri="http://schemas.openxmlformats.org/drawingml/2006/chart">
            <c:chart xmlns:c="http://schemas.openxmlformats.org/drawingml/2006/chart" r:id="rId1"/>
          </a:graphicData>
        </a:graphic>
      </p:graphicFrame>
      <p:sp>
        <p:nvSpPr>
          <p:cNvPr id="5" name="Text 2"/>
          <p:cNvSpPr txBox="1"/>
          <p:nvPr/>
        </p:nvSpPr>
        <p:spPr>
          <a:xfrm rot="16200000">
            <a:off x="-175565" y="2233422"/>
            <a:ext cx="1097280" cy="219456"/>
          </a:xfrm>
          <a:prstGeom prst="rect">
            <a:avLst/>
          </a:prstGeom>
          <a:noFill/>
          <a:ln/>
        </p:spPr>
        <p:txBody>
          <a:bodyPr wrap="square" lIns="0" tIns="0" rIns="0" bIns="0" rtlCol="0" anchor="ctr"/>
          <a:lstStyle/>
          <a:p>
            <a:pPr algn="ctr" indent="0" marL="0">
              <a:buNone/>
            </a:pPr>
            <a:r>
              <a:rPr lang="en-US" sz="1000" dirty="0">
                <a:solidFill>
                  <a:srgbClr val="5E5E5E"/>
                </a:solidFill>
                <a:latin typeface="Arial" pitchFamily="34" charset="0"/>
                <a:ea typeface="Arial" pitchFamily="34" charset="-122"/>
                <a:cs typeface="Arial" pitchFamily="34" charset="-120"/>
              </a:rPr>
              <a:t>Price</a:t>
            </a:r>
            <a:endParaRPr lang="en-US" sz="1000" dirty="0"/>
          </a:p>
        </p:txBody>
      </p:sp>
      <p:sp>
        <p:nvSpPr>
          <p:cNvPr id="6" name="Text 3"/>
          <p:cNvSpPr txBox="1"/>
          <p:nvPr/>
        </p:nvSpPr>
        <p:spPr>
          <a:xfrm>
            <a:off x="583387" y="3623310"/>
            <a:ext cx="512064" cy="182880"/>
          </a:xfrm>
          <a:prstGeom prst="rect">
            <a:avLst/>
          </a:prstGeom>
          <a:noFill/>
          <a:ln/>
        </p:spPr>
        <p:txBody>
          <a:bodyPr wrap="square" lIns="0" tIns="0" rIns="0" bIns="0" rtlCol="0" anchor="ctr"/>
          <a:lstStyle/>
          <a:p>
            <a:pPr algn="r" indent="0" marL="0">
              <a:buNone/>
            </a:pPr>
            <a:r>
              <a:rPr lang="en-US" sz="900" dirty="0">
                <a:solidFill>
                  <a:srgbClr val="5E5E5E"/>
                </a:solidFill>
                <a:latin typeface="Arial" pitchFamily="34" charset="0"/>
                <a:ea typeface="Arial" pitchFamily="34" charset="-122"/>
                <a:cs typeface="Arial" pitchFamily="34" charset="-120"/>
              </a:rPr>
              <a:t>$300K</a:t>
            </a:r>
            <a:endParaRPr lang="en-US" sz="900" dirty="0"/>
          </a:p>
        </p:txBody>
      </p:sp>
      <p:sp>
        <p:nvSpPr>
          <p:cNvPr id="7" name="Text 4"/>
          <p:cNvSpPr txBox="1"/>
          <p:nvPr/>
        </p:nvSpPr>
        <p:spPr>
          <a:xfrm>
            <a:off x="583387" y="3231424"/>
            <a:ext cx="512064" cy="182880"/>
          </a:xfrm>
          <a:prstGeom prst="rect">
            <a:avLst/>
          </a:prstGeom>
          <a:noFill/>
          <a:ln/>
        </p:spPr>
        <p:txBody>
          <a:bodyPr wrap="square" lIns="0" tIns="0" rIns="0" bIns="0" rtlCol="0" anchor="ctr"/>
          <a:lstStyle/>
          <a:p>
            <a:pPr algn="r" indent="0" marL="0">
              <a:buNone/>
            </a:pPr>
            <a:r>
              <a:rPr lang="en-US" sz="900" dirty="0">
                <a:solidFill>
                  <a:srgbClr val="5E5E5E"/>
                </a:solidFill>
                <a:latin typeface="Arial" pitchFamily="34" charset="0"/>
                <a:ea typeface="Arial" pitchFamily="34" charset="-122"/>
                <a:cs typeface="Arial" pitchFamily="34" charset="-120"/>
              </a:rPr>
              <a:t>$350K</a:t>
            </a:r>
            <a:endParaRPr lang="en-US" sz="900" dirty="0"/>
          </a:p>
        </p:txBody>
      </p:sp>
      <p:sp>
        <p:nvSpPr>
          <p:cNvPr id="8" name="Text 5"/>
          <p:cNvSpPr txBox="1"/>
          <p:nvPr/>
        </p:nvSpPr>
        <p:spPr>
          <a:xfrm>
            <a:off x="583387" y="2839539"/>
            <a:ext cx="512064" cy="182880"/>
          </a:xfrm>
          <a:prstGeom prst="rect">
            <a:avLst/>
          </a:prstGeom>
          <a:noFill/>
          <a:ln/>
        </p:spPr>
        <p:txBody>
          <a:bodyPr wrap="square" lIns="0" tIns="0" rIns="0" bIns="0" rtlCol="0" anchor="ctr"/>
          <a:lstStyle/>
          <a:p>
            <a:pPr algn="r" indent="0" marL="0">
              <a:buNone/>
            </a:pPr>
            <a:r>
              <a:rPr lang="en-US" sz="900" dirty="0">
                <a:solidFill>
                  <a:srgbClr val="5E5E5E"/>
                </a:solidFill>
                <a:latin typeface="Arial" pitchFamily="34" charset="0"/>
                <a:ea typeface="Arial" pitchFamily="34" charset="-122"/>
                <a:cs typeface="Arial" pitchFamily="34" charset="-120"/>
              </a:rPr>
              <a:t>$400K</a:t>
            </a:r>
            <a:endParaRPr lang="en-US" sz="900" dirty="0"/>
          </a:p>
        </p:txBody>
      </p:sp>
      <p:sp>
        <p:nvSpPr>
          <p:cNvPr id="9" name="Text 6"/>
          <p:cNvSpPr txBox="1"/>
          <p:nvPr/>
        </p:nvSpPr>
        <p:spPr>
          <a:xfrm>
            <a:off x="583387" y="2447653"/>
            <a:ext cx="512064" cy="182880"/>
          </a:xfrm>
          <a:prstGeom prst="rect">
            <a:avLst/>
          </a:prstGeom>
          <a:noFill/>
          <a:ln/>
        </p:spPr>
        <p:txBody>
          <a:bodyPr wrap="square" lIns="0" tIns="0" rIns="0" bIns="0" rtlCol="0" anchor="ctr"/>
          <a:lstStyle/>
          <a:p>
            <a:pPr algn="r" indent="0" marL="0">
              <a:buNone/>
            </a:pPr>
            <a:r>
              <a:rPr lang="en-US" sz="900" dirty="0">
                <a:solidFill>
                  <a:srgbClr val="5E5E5E"/>
                </a:solidFill>
                <a:latin typeface="Arial" pitchFamily="34" charset="0"/>
                <a:ea typeface="Arial" pitchFamily="34" charset="-122"/>
                <a:cs typeface="Arial" pitchFamily="34" charset="-120"/>
              </a:rPr>
              <a:t>$450K</a:t>
            </a:r>
            <a:endParaRPr lang="en-US" sz="900" dirty="0"/>
          </a:p>
        </p:txBody>
      </p:sp>
      <p:sp>
        <p:nvSpPr>
          <p:cNvPr id="10" name="Text 7"/>
          <p:cNvSpPr txBox="1"/>
          <p:nvPr/>
        </p:nvSpPr>
        <p:spPr>
          <a:xfrm>
            <a:off x="583387" y="2055767"/>
            <a:ext cx="512064" cy="182880"/>
          </a:xfrm>
          <a:prstGeom prst="rect">
            <a:avLst/>
          </a:prstGeom>
          <a:noFill/>
          <a:ln/>
        </p:spPr>
        <p:txBody>
          <a:bodyPr wrap="square" lIns="0" tIns="0" rIns="0" bIns="0" rtlCol="0" anchor="ctr"/>
          <a:lstStyle/>
          <a:p>
            <a:pPr algn="r" indent="0" marL="0">
              <a:buNone/>
            </a:pPr>
            <a:r>
              <a:rPr lang="en-US" sz="900" dirty="0">
                <a:solidFill>
                  <a:srgbClr val="5E5E5E"/>
                </a:solidFill>
                <a:latin typeface="Arial" pitchFamily="34" charset="0"/>
                <a:ea typeface="Arial" pitchFamily="34" charset="-122"/>
                <a:cs typeface="Arial" pitchFamily="34" charset="-120"/>
              </a:rPr>
              <a:t>$500K</a:t>
            </a:r>
            <a:endParaRPr lang="en-US" sz="900" dirty="0"/>
          </a:p>
        </p:txBody>
      </p:sp>
      <p:sp>
        <p:nvSpPr>
          <p:cNvPr id="11" name="Text 8"/>
          <p:cNvSpPr txBox="1"/>
          <p:nvPr/>
        </p:nvSpPr>
        <p:spPr>
          <a:xfrm>
            <a:off x="583387" y="1663881"/>
            <a:ext cx="512064" cy="182880"/>
          </a:xfrm>
          <a:prstGeom prst="rect">
            <a:avLst/>
          </a:prstGeom>
          <a:noFill/>
          <a:ln/>
        </p:spPr>
        <p:txBody>
          <a:bodyPr wrap="square" lIns="0" tIns="0" rIns="0" bIns="0" rtlCol="0" anchor="ctr"/>
          <a:lstStyle/>
          <a:p>
            <a:pPr algn="r" indent="0" marL="0">
              <a:buNone/>
            </a:pPr>
            <a:r>
              <a:rPr lang="en-US" sz="900" dirty="0">
                <a:solidFill>
                  <a:srgbClr val="5E5E5E"/>
                </a:solidFill>
                <a:latin typeface="Arial" pitchFamily="34" charset="0"/>
                <a:ea typeface="Arial" pitchFamily="34" charset="-122"/>
                <a:cs typeface="Arial" pitchFamily="34" charset="-120"/>
              </a:rPr>
              <a:t>$550K</a:t>
            </a:r>
            <a:endParaRPr lang="en-US" sz="900" dirty="0"/>
          </a:p>
        </p:txBody>
      </p:sp>
      <p:sp>
        <p:nvSpPr>
          <p:cNvPr id="12" name="Text 9"/>
          <p:cNvSpPr txBox="1"/>
          <p:nvPr/>
        </p:nvSpPr>
        <p:spPr>
          <a:xfrm>
            <a:off x="583387" y="1271996"/>
            <a:ext cx="512064" cy="182880"/>
          </a:xfrm>
          <a:prstGeom prst="rect">
            <a:avLst/>
          </a:prstGeom>
          <a:noFill/>
          <a:ln/>
        </p:spPr>
        <p:txBody>
          <a:bodyPr wrap="square" lIns="0" tIns="0" rIns="0" bIns="0" rtlCol="0" anchor="ctr"/>
          <a:lstStyle/>
          <a:p>
            <a:pPr algn="r" indent="0" marL="0">
              <a:buNone/>
            </a:pPr>
            <a:r>
              <a:rPr lang="en-US" sz="900" dirty="0">
                <a:solidFill>
                  <a:srgbClr val="5E5E5E"/>
                </a:solidFill>
                <a:latin typeface="Arial" pitchFamily="34" charset="0"/>
                <a:ea typeface="Arial" pitchFamily="34" charset="-122"/>
                <a:cs typeface="Arial" pitchFamily="34" charset="-120"/>
              </a:rPr>
              <a:t>$600K</a:t>
            </a:r>
            <a:endParaRPr lang="en-US" sz="900" dirty="0"/>
          </a:p>
        </p:txBody>
      </p:sp>
      <p:sp>
        <p:nvSpPr>
          <p:cNvPr id="13" name="Text 10"/>
          <p:cNvSpPr txBox="1"/>
          <p:nvPr/>
        </p:nvSpPr>
        <p:spPr>
          <a:xfrm>
            <a:off x="583387" y="880110"/>
            <a:ext cx="512064" cy="182880"/>
          </a:xfrm>
          <a:prstGeom prst="rect">
            <a:avLst/>
          </a:prstGeom>
          <a:noFill/>
          <a:ln/>
        </p:spPr>
        <p:txBody>
          <a:bodyPr wrap="square" lIns="0" tIns="0" rIns="0" bIns="0" rtlCol="0" anchor="ctr"/>
          <a:lstStyle/>
          <a:p>
            <a:pPr algn="r" indent="0" marL="0">
              <a:buNone/>
            </a:pPr>
            <a:r>
              <a:rPr lang="en-US" sz="900" dirty="0">
                <a:solidFill>
                  <a:srgbClr val="5E5E5E"/>
                </a:solidFill>
                <a:latin typeface="Arial" pitchFamily="34" charset="0"/>
                <a:ea typeface="Arial" pitchFamily="34" charset="-122"/>
                <a:cs typeface="Arial" pitchFamily="34" charset="-120"/>
              </a:rPr>
              <a:t>$650K</a:t>
            </a:r>
            <a:endParaRPr lang="en-US" sz="900" dirty="0"/>
          </a:p>
        </p:txBody>
      </p:sp>
      <p:sp>
        <p:nvSpPr>
          <p:cNvPr id="14" name="Text 11"/>
          <p:cNvSpPr txBox="1"/>
          <p:nvPr/>
        </p:nvSpPr>
        <p:spPr>
          <a:xfrm>
            <a:off x="1205179" y="2331393"/>
            <a:ext cx="1899940" cy="182880"/>
          </a:xfrm>
          <a:prstGeom prst="rect">
            <a:avLst/>
          </a:prstGeom>
          <a:solidFill>
            <a:srgbClr val="FBF2EE"/>
          </a:solidFill>
          <a:ln/>
        </p:spPr>
        <p:txBody>
          <a:bodyPr wrap="square" lIns="0" tIns="762" rIns="762" bIns="0" rtlCol="0" anchor="ctr"/>
          <a:lstStyle/>
          <a:p>
            <a:pPr indent="0" marL="0">
              <a:buNone/>
            </a:pPr>
            <a:r>
              <a:rPr lang="en-US" sz="900" b="1" dirty="0">
                <a:solidFill>
                  <a:srgbClr val="A23200"/>
                </a:solidFill>
                <a:latin typeface="Arial" pitchFamily="34" charset="0"/>
                <a:ea typeface="Arial" pitchFamily="34" charset="-122"/>
                <a:cs typeface="Arial" pitchFamily="34" charset="-120"/>
              </a:rPr>
              <a:t>Supported Range $455K–$480K</a:t>
            </a:r>
            <a:endParaRPr lang="en-US" sz="900" dirty="0"/>
          </a:p>
        </p:txBody>
      </p:sp>
      <p:sp>
        <p:nvSpPr>
          <p:cNvPr id="15" name="Shape 12"/>
          <p:cNvSpPr/>
          <p:nvPr/>
        </p:nvSpPr>
        <p:spPr>
          <a:xfrm>
            <a:off x="626237" y="4439285"/>
            <a:ext cx="82550" cy="82550"/>
          </a:xfrm>
          <a:prstGeom prst="ellipse">
            <a:avLst/>
          </a:prstGeom>
          <a:solidFill>
            <a:srgbClr val="DBDBDB"/>
          </a:solidFill>
          <a:ln w="6350">
            <a:solidFill>
              <a:srgbClr val="DBDBDB"/>
            </a:solidFill>
            <a:prstDash val="solid"/>
          </a:ln>
        </p:spPr>
      </p:sp>
      <p:sp>
        <p:nvSpPr>
          <p:cNvPr id="16" name="Text 13"/>
          <p:cNvSpPr txBox="1"/>
          <p:nvPr/>
        </p:nvSpPr>
        <p:spPr>
          <a:xfrm>
            <a:off x="841248" y="4407408"/>
            <a:ext cx="673364" cy="164592"/>
          </a:xfrm>
          <a:prstGeom prst="rect">
            <a:avLst/>
          </a:prstGeom>
          <a:noFill/>
          <a:ln/>
        </p:spPr>
        <p:txBody>
          <a:bodyPr wrap="square" lIns="0" tIns="0" rIns="0" bIns="0" rtlCol="0" anchor="ctr"/>
          <a:lstStyle/>
          <a:p>
            <a:pPr indent="0" marL="0">
              <a:buNone/>
            </a:pPr>
            <a:r>
              <a:rPr lang="en-US" sz="900" dirty="0">
                <a:solidFill>
                  <a:srgbClr val="1A1A1A"/>
                </a:solidFill>
                <a:latin typeface="Arial" pitchFamily="34" charset="0"/>
                <a:ea typeface="Arial" pitchFamily="34" charset="-122"/>
                <a:cs typeface="Arial" pitchFamily="34" charset="-120"/>
              </a:rPr>
              <a:t>Other Sales</a:t>
            </a:r>
            <a:endParaRPr lang="en-US" sz="900" dirty="0"/>
          </a:p>
        </p:txBody>
      </p:sp>
      <p:sp>
        <p:nvSpPr>
          <p:cNvPr id="17" name="Shape 14"/>
          <p:cNvSpPr/>
          <p:nvPr/>
        </p:nvSpPr>
        <p:spPr>
          <a:xfrm>
            <a:off x="1766834" y="4431030"/>
            <a:ext cx="99060" cy="99060"/>
          </a:xfrm>
          <a:prstGeom prst="rect">
            <a:avLst/>
          </a:prstGeom>
          <a:solidFill>
            <a:srgbClr val="5E5E5E"/>
          </a:solidFill>
          <a:ln w="6350">
            <a:solidFill>
              <a:srgbClr val="5E5E5E"/>
            </a:solidFill>
            <a:prstDash val="solid"/>
          </a:ln>
        </p:spPr>
      </p:sp>
      <p:sp>
        <p:nvSpPr>
          <p:cNvPr id="18" name="Text 15"/>
          <p:cNvSpPr txBox="1"/>
          <p:nvPr/>
        </p:nvSpPr>
        <p:spPr>
          <a:xfrm>
            <a:off x="1990100" y="4407408"/>
            <a:ext cx="765728" cy="164592"/>
          </a:xfrm>
          <a:prstGeom prst="rect">
            <a:avLst/>
          </a:prstGeom>
          <a:noFill/>
          <a:ln/>
        </p:spPr>
        <p:txBody>
          <a:bodyPr wrap="square" lIns="0" tIns="0" rIns="0" bIns="0" rtlCol="0" anchor="ctr"/>
          <a:lstStyle/>
          <a:p>
            <a:pPr indent="0" marL="0">
              <a:buNone/>
            </a:pPr>
            <a:r>
              <a:rPr lang="en-US" sz="900" dirty="0">
                <a:solidFill>
                  <a:srgbClr val="1A1A1A"/>
                </a:solidFill>
                <a:latin typeface="Arial" pitchFamily="34" charset="0"/>
                <a:ea typeface="Arial" pitchFamily="34" charset="-122"/>
                <a:cs typeface="Arial" pitchFamily="34" charset="-120"/>
              </a:rPr>
              <a:t>For Sale Now</a:t>
            </a:r>
            <a:endParaRPr lang="en-US" sz="900" dirty="0"/>
          </a:p>
        </p:txBody>
      </p:sp>
      <p:sp>
        <p:nvSpPr>
          <p:cNvPr id="19" name="Shape 16"/>
          <p:cNvSpPr/>
          <p:nvPr/>
        </p:nvSpPr>
        <p:spPr>
          <a:xfrm>
            <a:off x="2938708" y="4480560"/>
            <a:ext cx="237744" cy="0"/>
          </a:xfrm>
          <a:prstGeom prst="line">
            <a:avLst/>
          </a:prstGeom>
          <a:noFill/>
          <a:ln w="15875">
            <a:solidFill>
              <a:srgbClr val="5E5E5E"/>
            </a:solidFill>
            <a:prstDash val="dash"/>
          </a:ln>
        </p:spPr>
      </p:sp>
      <p:sp>
        <p:nvSpPr>
          <p:cNvPr id="20" name="Text 17"/>
          <p:cNvSpPr txBox="1"/>
          <p:nvPr/>
        </p:nvSpPr>
        <p:spPr>
          <a:xfrm>
            <a:off x="3231316" y="4407408"/>
            <a:ext cx="904451" cy="164592"/>
          </a:xfrm>
          <a:prstGeom prst="rect">
            <a:avLst/>
          </a:prstGeom>
          <a:noFill/>
          <a:ln/>
        </p:spPr>
        <p:txBody>
          <a:bodyPr wrap="square" lIns="0" tIns="0" rIns="0" bIns="0" rtlCol="0" anchor="ctr"/>
          <a:lstStyle/>
          <a:p>
            <a:pPr indent="0" marL="0">
              <a:buNone/>
            </a:pPr>
            <a:r>
              <a:rPr lang="en-US" sz="900" dirty="0">
                <a:solidFill>
                  <a:srgbClr val="1A1A1A"/>
                </a:solidFill>
                <a:latin typeface="Arial" pitchFamily="34" charset="0"/>
                <a:ea typeface="Arial" pitchFamily="34" charset="-122"/>
                <a:cs typeface="Arial" pitchFamily="34" charset="-120"/>
              </a:rPr>
              <a:t>Size-Only Trend</a:t>
            </a:r>
            <a:endParaRPr lang="en-US" sz="900" dirty="0"/>
          </a:p>
        </p:txBody>
      </p:sp>
      <p:sp>
        <p:nvSpPr>
          <p:cNvPr id="21" name="Shape 18"/>
          <p:cNvSpPr/>
          <p:nvPr/>
        </p:nvSpPr>
        <p:spPr>
          <a:xfrm>
            <a:off x="4371479" y="4414520"/>
            <a:ext cx="132080" cy="132080"/>
          </a:xfrm>
          <a:prstGeom prst="ellipse">
            <a:avLst/>
          </a:prstGeom>
          <a:solidFill>
            <a:srgbClr val="C2410C"/>
          </a:solidFill>
          <a:ln w="6350">
            <a:solidFill>
              <a:srgbClr val="C2410C"/>
            </a:solidFill>
            <a:prstDash val="solid"/>
          </a:ln>
        </p:spPr>
      </p:sp>
      <p:sp>
        <p:nvSpPr>
          <p:cNvPr id="22" name="Text 19"/>
          <p:cNvSpPr txBox="1"/>
          <p:nvPr/>
        </p:nvSpPr>
        <p:spPr>
          <a:xfrm>
            <a:off x="4611255" y="4407408"/>
            <a:ext cx="1023442" cy="164592"/>
          </a:xfrm>
          <a:prstGeom prst="rect">
            <a:avLst/>
          </a:prstGeom>
          <a:noFill/>
          <a:ln/>
        </p:spPr>
        <p:txBody>
          <a:bodyPr wrap="square" lIns="0" tIns="0" rIns="0" bIns="0" rtlCol="0" anchor="ctr"/>
          <a:lstStyle/>
          <a:p>
            <a:pPr indent="0" marL="0">
              <a:buNone/>
            </a:pPr>
            <a:r>
              <a:rPr lang="en-US" sz="900" dirty="0">
                <a:solidFill>
                  <a:srgbClr val="1A1A1A"/>
                </a:solidFill>
                <a:latin typeface="Arial" pitchFamily="34" charset="0"/>
                <a:ea typeface="Arial" pitchFamily="34" charset="-122"/>
                <a:cs typeface="Arial" pitchFamily="34" charset="-120"/>
              </a:rPr>
              <a:t>Comparable Sales</a:t>
            </a:r>
            <a:endParaRPr lang="en-US" sz="900" dirty="0"/>
          </a:p>
        </p:txBody>
      </p:sp>
      <p:sp>
        <p:nvSpPr>
          <p:cNvPr id="23" name="Shape 20"/>
          <p:cNvSpPr/>
          <p:nvPr/>
        </p:nvSpPr>
        <p:spPr>
          <a:xfrm>
            <a:off x="5854153" y="4398264"/>
            <a:ext cx="164592" cy="164592"/>
          </a:xfrm>
          <a:prstGeom prst="diamond">
            <a:avLst/>
          </a:prstGeom>
          <a:solidFill>
            <a:srgbClr val="1A1A1A"/>
          </a:solidFill>
          <a:ln w="6350">
            <a:solidFill>
              <a:srgbClr val="FFFFFF"/>
            </a:solidFill>
            <a:prstDash val="solid"/>
          </a:ln>
        </p:spPr>
      </p:sp>
      <p:sp>
        <p:nvSpPr>
          <p:cNvPr id="24" name="Text 21"/>
          <p:cNvSpPr txBox="1"/>
          <p:nvPr/>
        </p:nvSpPr>
        <p:spPr>
          <a:xfrm>
            <a:off x="6110185" y="4407408"/>
            <a:ext cx="1518901" cy="164592"/>
          </a:xfrm>
          <a:prstGeom prst="rect">
            <a:avLst/>
          </a:prstGeom>
          <a:noFill/>
          <a:ln/>
        </p:spPr>
        <p:txBody>
          <a:bodyPr wrap="square" lIns="0" tIns="0" rIns="0" bIns="0" rtlCol="0" anchor="ctr"/>
          <a:lstStyle/>
          <a:p>
            <a:pPr indent="0" marL="0">
              <a:buNone/>
            </a:pPr>
            <a:r>
              <a:rPr lang="en-US" sz="900" dirty="0">
                <a:solidFill>
                  <a:srgbClr val="1A1A1A"/>
                </a:solidFill>
                <a:latin typeface="Arial" pitchFamily="34" charset="0"/>
                <a:ea typeface="Arial" pitchFamily="34" charset="-122"/>
                <a:cs typeface="Arial" pitchFamily="34" charset="-120"/>
              </a:rPr>
              <a:t>Your Home, Recommended</a:t>
            </a:r>
            <a:endParaRPr lang="en-US" sz="900" dirty="0"/>
          </a:p>
        </p:txBody>
      </p:sp>
      <p:sp>
        <p:nvSpPr>
          <p:cNvPr id="25" name="Shape 22"/>
          <p:cNvSpPr/>
          <p:nvPr/>
        </p:nvSpPr>
        <p:spPr>
          <a:xfrm>
            <a:off x="6949440" y="1143000"/>
            <a:ext cx="45720" cy="3017520"/>
          </a:xfrm>
          <a:prstGeom prst="rect">
            <a:avLst/>
          </a:prstGeom>
          <a:solidFill>
            <a:srgbClr val="C2410C"/>
          </a:solidFill>
          <a:ln w="12700">
            <a:solidFill>
              <a:srgbClr val="C2410C"/>
            </a:solidFill>
            <a:prstDash val="solid"/>
          </a:ln>
        </p:spPr>
      </p:sp>
      <p:sp>
        <p:nvSpPr>
          <p:cNvPr id="26" name="Text 23"/>
          <p:cNvSpPr txBox="1"/>
          <p:nvPr/>
        </p:nvSpPr>
        <p:spPr>
          <a:xfrm>
            <a:off x="7086600" y="1143000"/>
            <a:ext cx="1600200" cy="2011680"/>
          </a:xfrm>
          <a:prstGeom prst="rect">
            <a:avLst/>
          </a:prstGeom>
          <a:noFill/>
          <a:ln/>
        </p:spPr>
        <p:txBody>
          <a:bodyPr wrap="square" lIns="0" tIns="0" rIns="0" bIns="0" rtlCol="0" anchor="t"/>
          <a:lstStyle/>
          <a:p>
            <a:pPr indent="0" marL="0">
              <a:buNone/>
            </a:pPr>
            <a:r>
              <a:rPr lang="en-US" sz="1300" dirty="0">
                <a:solidFill>
                  <a:srgbClr val="1A1A1A"/>
                </a:solidFill>
                <a:latin typeface="Arial" pitchFamily="34" charset="0"/>
                <a:ea typeface="Arial" pitchFamily="34" charset="-122"/>
                <a:cs typeface="Arial" pitchFamily="34" charset="-120"/>
              </a:rPr>
              <a:t>The renovated comparable sales sit well above the neighborhood trend, and yours sits among them without testing the ceiling.</a:t>
            </a:r>
            <a:endParaRPr lang="en-US" sz="1300" dirty="0"/>
          </a:p>
        </p:txBody>
      </p:sp>
      <p:sp>
        <p:nvSpPr>
          <p:cNvPr id="27" name="Text 24"/>
          <p:cNvSpPr txBox="1"/>
          <p:nvPr/>
        </p:nvSpPr>
        <p:spPr>
          <a:xfrm>
            <a:off x="7086600" y="2735834"/>
            <a:ext cx="1600200" cy="1424686"/>
          </a:xfrm>
          <a:prstGeom prst="rect">
            <a:avLst/>
          </a:prstGeom>
          <a:noFill/>
          <a:ln/>
        </p:spPr>
        <p:txBody>
          <a:bodyPr wrap="square" lIns="0" tIns="0" rIns="0" bIns="0" rtlCol="0" anchor="t"/>
          <a:lstStyle/>
          <a:p>
            <a:pPr indent="0" marL="0">
              <a:buNone/>
            </a:pPr>
            <a:r>
              <a:rPr lang="en-US" sz="1100" dirty="0">
                <a:solidFill>
                  <a:srgbClr val="5E5E5E"/>
                </a:solidFill>
                <a:latin typeface="Arial" pitchFamily="34" charset="0"/>
                <a:ea typeface="Arial" pitchFamily="34" charset="-122"/>
                <a:cs typeface="Arial" pitchFamily="34" charset="-120"/>
              </a:rPr>
              <a:t>Size alone predicts about $443K at your size. Your price is about $27,000 above the line.</a:t>
            </a:r>
            <a:endParaRPr lang="en-US" sz="1100" dirty="0"/>
          </a:p>
        </p:txBody>
      </p:sp>
      <p:sp>
        <p:nvSpPr>
          <p:cNvPr id="28" name="Text 25"/>
          <p:cNvSpPr txBox="1"/>
          <p:nvPr/>
        </p:nvSpPr>
        <p:spPr>
          <a:xfrm>
            <a:off x="457200" y="4796028"/>
            <a:ext cx="6858000" cy="228600"/>
          </a:xfrm>
          <a:prstGeom prst="rect">
            <a:avLst/>
          </a:prstGeom>
          <a:noFill/>
          <a:ln/>
        </p:spPr>
        <p:txBody>
          <a:bodyPr wrap="square" lIns="0" tIns="0" rIns="0" bIns="0" rtlCol="0" anchor="ctr"/>
          <a:lstStyle/>
          <a:p>
            <a:pPr indent="0" marL="0">
              <a:buNone/>
            </a:pPr>
            <a:r>
              <a:rPr lang="en-US" sz="800" dirty="0">
                <a:solidFill>
                  <a:srgbClr val="5E5E5E"/>
                </a:solidFill>
                <a:latin typeface="Arial" pitchFamily="34" charset="0"/>
                <a:ea typeface="Arial" pitchFamily="34" charset="-122"/>
                <a:cs typeface="Arial" pitchFamily="34" charset="-120"/>
              </a:rPr>
              <a:t>SAMPLE DATA · 517 Larkwood Ave · Jordan Avery, REALTOR®, Sample Realty, LLC</a:t>
            </a:r>
            <a:endParaRPr lang="en-US" sz="800" dirty="0"/>
          </a:p>
        </p:txBody>
      </p:sp>
      <p:sp>
        <p:nvSpPr>
          <p:cNvPr id="29" name="Text 26"/>
          <p:cNvSpPr txBox="1"/>
          <p:nvPr/>
        </p:nvSpPr>
        <p:spPr>
          <a:xfrm>
            <a:off x="8229600" y="4796028"/>
            <a:ext cx="457200" cy="228600"/>
          </a:xfrm>
          <a:prstGeom prst="rect">
            <a:avLst/>
          </a:prstGeom>
          <a:noFill/>
          <a:ln/>
        </p:spPr>
        <p:txBody>
          <a:bodyPr wrap="square" lIns="0" tIns="0" rIns="0" bIns="0" rtlCol="0" anchor="ctr"/>
          <a:lstStyle/>
          <a:p>
            <a:pPr algn="r" indent="0" marL="0">
              <a:buNone/>
            </a:pPr>
            <a:r>
              <a:rPr lang="en-US" sz="800" dirty="0">
                <a:solidFill>
                  <a:srgbClr val="5E5E5E"/>
                </a:solidFill>
                <a:latin typeface="Arial" pitchFamily="34" charset="0"/>
                <a:ea typeface="Arial" pitchFamily="34" charset="-122"/>
                <a:cs typeface="Arial" pitchFamily="34" charset="-120"/>
              </a:rPr>
              <a:t>6</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8229600" cy="566928"/>
          </a:xfrm>
          <a:prstGeom prst="rect">
            <a:avLst/>
          </a:prstGeom>
          <a:noFill/>
          <a:ln/>
        </p:spPr>
        <p:txBody>
          <a:bodyPr wrap="square" lIns="0" tIns="0" rIns="0" bIns="0" rtlCol="0" anchor="t"/>
          <a:lstStyle/>
          <a:p>
            <a:pPr indent="0" marL="0">
              <a:buNone/>
            </a:pPr>
            <a:r>
              <a:rPr lang="en-US" sz="2600" b="1" dirty="0">
                <a:solidFill>
                  <a:srgbClr val="1A1A1A"/>
                </a:solidFill>
                <a:latin typeface="Arial" pitchFamily="34" charset="0"/>
                <a:ea typeface="Arial" pitchFamily="34" charset="-122"/>
                <a:cs typeface="Arial" pitchFamily="34" charset="-120"/>
              </a:rPr>
              <a:t>The Market Has Shifted</a:t>
            </a:r>
            <a:endParaRPr lang="en-US" sz="2600" dirty="0"/>
          </a:p>
        </p:txBody>
      </p:sp>
      <p:sp>
        <p:nvSpPr>
          <p:cNvPr id="3" name="Text 1"/>
          <p:cNvSpPr txBox="1"/>
          <p:nvPr/>
        </p:nvSpPr>
        <p:spPr>
          <a:xfrm>
            <a:off x="457200" y="841248"/>
            <a:ext cx="8229600" cy="201422"/>
          </a:xfrm>
          <a:prstGeom prst="rect">
            <a:avLst/>
          </a:prstGeom>
          <a:noFill/>
          <a:ln/>
        </p:spPr>
        <p:txBody>
          <a:bodyPr wrap="square" lIns="0" tIns="0" rIns="0" bIns="0" rtlCol="0" anchor="t"/>
          <a:lstStyle/>
          <a:p>
            <a:pPr indent="0" marL="0">
              <a:buNone/>
            </a:pPr>
            <a:r>
              <a:rPr lang="en-US" sz="1300" dirty="0">
                <a:solidFill>
                  <a:srgbClr val="5E5E5E"/>
                </a:solidFill>
                <a:latin typeface="Arial" pitchFamily="34" charset="0"/>
                <a:ea typeface="Arial" pitchFamily="34" charset="-122"/>
                <a:cs typeface="Arial" pitchFamily="34" charset="-120"/>
              </a:rPr>
              <a:t>Nearby sales, April–June vs. July–September</a:t>
            </a:r>
            <a:endParaRPr lang="en-US" sz="1300" dirty="0"/>
          </a:p>
        </p:txBody>
      </p:sp>
      <p:sp>
        <p:nvSpPr>
          <p:cNvPr id="4" name="Shape 2"/>
          <p:cNvSpPr/>
          <p:nvPr/>
        </p:nvSpPr>
        <p:spPr>
          <a:xfrm>
            <a:off x="457200" y="1325880"/>
            <a:ext cx="1885950" cy="2423160"/>
          </a:xfrm>
          <a:prstGeom prst="roundRect">
            <a:avLst>
              <a:gd name="adj" fmla="val 3879"/>
            </a:avLst>
          </a:prstGeom>
          <a:solidFill>
            <a:srgbClr val="FBF2EE"/>
          </a:solidFill>
          <a:ln w="12700">
            <a:solidFill>
              <a:srgbClr val="FBF2EE"/>
            </a:solidFill>
            <a:prstDash val="solid"/>
          </a:ln>
        </p:spPr>
      </p:sp>
      <p:sp>
        <p:nvSpPr>
          <p:cNvPr id="5" name="Shape 3"/>
          <p:cNvSpPr/>
          <p:nvPr/>
        </p:nvSpPr>
        <p:spPr>
          <a:xfrm>
            <a:off x="640080" y="1508760"/>
            <a:ext cx="411480" cy="411480"/>
          </a:xfrm>
          <a:prstGeom prst="ellipse">
            <a:avLst/>
          </a:prstGeom>
          <a:solidFill>
            <a:srgbClr val="C2410C"/>
          </a:solidFill>
          <a:ln w="12700">
            <a:solidFill>
              <a:srgbClr val="C2410C"/>
            </a:solidFill>
            <a:prstDash val="solid"/>
          </a:ln>
        </p:spPr>
      </p:sp>
      <p:pic>
        <p:nvPicPr>
          <p:cNvPr id="6" name="Image 0" descr="preencoded.png">    </p:cNvPr>
          <p:cNvPicPr>
            <a:picLocks noChangeAspect="1"/>
          </p:cNvPicPr>
          <p:nvPr/>
        </p:nvPicPr>
        <p:blipFill>
          <a:blip r:embed="rId1"/>
          <a:stretch>
            <a:fillRect/>
          </a:stretch>
        </p:blipFill>
        <p:spPr>
          <a:xfrm>
            <a:off x="738835" y="1607515"/>
            <a:ext cx="213970" cy="213970"/>
          </a:xfrm>
          <a:prstGeom prst="rect">
            <a:avLst/>
          </a:prstGeom>
        </p:spPr>
      </p:pic>
      <p:sp>
        <p:nvSpPr>
          <p:cNvPr id="7" name="Text 4"/>
          <p:cNvSpPr txBox="1"/>
          <p:nvPr/>
        </p:nvSpPr>
        <p:spPr>
          <a:xfrm>
            <a:off x="640080" y="2011680"/>
            <a:ext cx="1520190" cy="384048"/>
          </a:xfrm>
          <a:prstGeom prst="rect">
            <a:avLst/>
          </a:prstGeom>
          <a:noFill/>
          <a:ln/>
        </p:spPr>
        <p:txBody>
          <a:bodyPr wrap="square" lIns="0" tIns="0" rIns="0" bIns="0" rtlCol="0" anchor="t"/>
          <a:lstStyle/>
          <a:p>
            <a:pPr indent="0" marL="0">
              <a:buNone/>
            </a:pPr>
            <a:r>
              <a:rPr lang="en-US" sz="1200" b="1" dirty="0">
                <a:solidFill>
                  <a:srgbClr val="1A1A1A"/>
                </a:solidFill>
                <a:latin typeface="Arial" pitchFamily="34" charset="0"/>
                <a:ea typeface="Arial" pitchFamily="34" charset="-122"/>
                <a:cs typeface="Arial" pitchFamily="34" charset="-120"/>
              </a:rPr>
              <a:t>Sale vs. Original Price</a:t>
            </a:r>
            <a:endParaRPr lang="en-US" sz="1200" dirty="0"/>
          </a:p>
        </p:txBody>
      </p:sp>
      <p:sp>
        <p:nvSpPr>
          <p:cNvPr id="8" name="Text 5"/>
          <p:cNvSpPr txBox="1"/>
          <p:nvPr/>
        </p:nvSpPr>
        <p:spPr>
          <a:xfrm>
            <a:off x="640080" y="2487168"/>
            <a:ext cx="1520190" cy="182880"/>
          </a:xfrm>
          <a:prstGeom prst="rect">
            <a:avLst/>
          </a:prstGeom>
          <a:noFill/>
          <a:ln/>
        </p:spPr>
        <p:txBody>
          <a:bodyPr wrap="square" lIns="0" tIns="0" rIns="0" bIns="0" rtlCol="0" anchor="ctr"/>
          <a:lstStyle/>
          <a:p>
            <a:pPr indent="0" marL="0">
              <a:buNone/>
            </a:pPr>
            <a:r>
              <a:rPr lang="en-US" sz="900" dirty="0">
                <a:solidFill>
                  <a:srgbClr val="5E5E5E"/>
                </a:solidFill>
                <a:latin typeface="Arial" pitchFamily="34" charset="0"/>
                <a:ea typeface="Arial" pitchFamily="34" charset="-122"/>
                <a:cs typeface="Arial" pitchFamily="34" charset="-120"/>
              </a:rPr>
              <a:t>Earlier</a:t>
            </a:r>
            <a:endParaRPr lang="en-US" sz="900" dirty="0"/>
          </a:p>
        </p:txBody>
      </p:sp>
      <p:sp>
        <p:nvSpPr>
          <p:cNvPr id="9" name="Text 6"/>
          <p:cNvSpPr txBox="1"/>
          <p:nvPr/>
        </p:nvSpPr>
        <p:spPr>
          <a:xfrm>
            <a:off x="640080" y="2660904"/>
            <a:ext cx="1520190" cy="274320"/>
          </a:xfrm>
          <a:prstGeom prst="rect">
            <a:avLst/>
          </a:prstGeom>
          <a:noFill/>
          <a:ln/>
        </p:spPr>
        <p:txBody>
          <a:bodyPr wrap="square" lIns="0" tIns="0" rIns="0" bIns="0" rtlCol="0" anchor="ctr"/>
          <a:lstStyle/>
          <a:p>
            <a:pPr indent="0" marL="0">
              <a:buNone/>
            </a:pPr>
            <a:r>
              <a:rPr lang="en-US" sz="1500" dirty="0">
                <a:solidFill>
                  <a:srgbClr val="5E5E5E"/>
                </a:solidFill>
                <a:latin typeface="Arial" pitchFamily="34" charset="0"/>
                <a:ea typeface="Arial" pitchFamily="34" charset="-122"/>
                <a:cs typeface="Arial" pitchFamily="34" charset="-120"/>
              </a:rPr>
              <a:t>98.7%</a:t>
            </a:r>
            <a:endParaRPr lang="en-US" sz="1500" dirty="0"/>
          </a:p>
        </p:txBody>
      </p:sp>
      <p:sp>
        <p:nvSpPr>
          <p:cNvPr id="10" name="Text 7"/>
          <p:cNvSpPr txBox="1"/>
          <p:nvPr/>
        </p:nvSpPr>
        <p:spPr>
          <a:xfrm>
            <a:off x="640080" y="3026664"/>
            <a:ext cx="1520190" cy="182880"/>
          </a:xfrm>
          <a:prstGeom prst="rect">
            <a:avLst/>
          </a:prstGeom>
          <a:noFill/>
          <a:ln/>
        </p:spPr>
        <p:txBody>
          <a:bodyPr wrap="square" lIns="0" tIns="0" rIns="0" bIns="0" rtlCol="0" anchor="ctr"/>
          <a:lstStyle/>
          <a:p>
            <a:pPr indent="0" marL="0">
              <a:buNone/>
            </a:pPr>
            <a:r>
              <a:rPr lang="en-US" sz="900" b="1" dirty="0">
                <a:solidFill>
                  <a:srgbClr val="A23200"/>
                </a:solidFill>
                <a:latin typeface="Arial" pitchFamily="34" charset="0"/>
                <a:ea typeface="Arial" pitchFamily="34" charset="-122"/>
                <a:cs typeface="Arial" pitchFamily="34" charset="-120"/>
              </a:rPr>
              <a:t>Now</a:t>
            </a:r>
            <a:endParaRPr lang="en-US" sz="900" dirty="0"/>
          </a:p>
        </p:txBody>
      </p:sp>
      <p:sp>
        <p:nvSpPr>
          <p:cNvPr id="11" name="Text 8"/>
          <p:cNvSpPr txBox="1"/>
          <p:nvPr/>
        </p:nvSpPr>
        <p:spPr>
          <a:xfrm>
            <a:off x="640080" y="3191256"/>
            <a:ext cx="1520190" cy="438912"/>
          </a:xfrm>
          <a:prstGeom prst="rect">
            <a:avLst/>
          </a:prstGeom>
          <a:noFill/>
          <a:ln/>
        </p:spPr>
        <p:txBody>
          <a:bodyPr wrap="square" lIns="0" tIns="0" rIns="0" bIns="0" rtlCol="0" anchor="ctr"/>
          <a:lstStyle/>
          <a:p>
            <a:pPr indent="0" marL="0">
              <a:buNone/>
            </a:pPr>
            <a:r>
              <a:rPr lang="en-US" sz="2800" b="1" dirty="0">
                <a:solidFill>
                  <a:srgbClr val="C2410C"/>
                </a:solidFill>
                <a:latin typeface="Arial" pitchFamily="34" charset="0"/>
                <a:ea typeface="Arial" pitchFamily="34" charset="-122"/>
                <a:cs typeface="Arial" pitchFamily="34" charset="-120"/>
              </a:rPr>
              <a:t>93.9%</a:t>
            </a:r>
            <a:endParaRPr lang="en-US" sz="2800" dirty="0"/>
          </a:p>
        </p:txBody>
      </p:sp>
      <p:sp>
        <p:nvSpPr>
          <p:cNvPr id="12" name="Shape 9"/>
          <p:cNvSpPr/>
          <p:nvPr/>
        </p:nvSpPr>
        <p:spPr>
          <a:xfrm>
            <a:off x="2571750" y="1325880"/>
            <a:ext cx="1885950" cy="2423160"/>
          </a:xfrm>
          <a:prstGeom prst="roundRect">
            <a:avLst>
              <a:gd name="adj" fmla="val 3879"/>
            </a:avLst>
          </a:prstGeom>
          <a:solidFill>
            <a:srgbClr val="FBF2EE"/>
          </a:solidFill>
          <a:ln w="12700">
            <a:solidFill>
              <a:srgbClr val="FBF2EE"/>
            </a:solidFill>
            <a:prstDash val="solid"/>
          </a:ln>
        </p:spPr>
      </p:sp>
      <p:sp>
        <p:nvSpPr>
          <p:cNvPr id="13" name="Shape 10"/>
          <p:cNvSpPr/>
          <p:nvPr/>
        </p:nvSpPr>
        <p:spPr>
          <a:xfrm>
            <a:off x="2754630" y="1508760"/>
            <a:ext cx="411480" cy="411480"/>
          </a:xfrm>
          <a:prstGeom prst="ellipse">
            <a:avLst/>
          </a:prstGeom>
          <a:solidFill>
            <a:srgbClr val="C2410C"/>
          </a:solidFill>
          <a:ln w="12700">
            <a:solidFill>
              <a:srgbClr val="C2410C"/>
            </a:solidFill>
            <a:prstDash val="solid"/>
          </a:ln>
        </p:spPr>
      </p:sp>
      <p:pic>
        <p:nvPicPr>
          <p:cNvPr id="14" name="Image 1" descr="preencoded.png">    </p:cNvPr>
          <p:cNvPicPr>
            <a:picLocks noChangeAspect="1"/>
          </p:cNvPicPr>
          <p:nvPr/>
        </p:nvPicPr>
        <p:blipFill>
          <a:blip r:embed="rId2"/>
          <a:stretch>
            <a:fillRect/>
          </a:stretch>
        </p:blipFill>
        <p:spPr>
          <a:xfrm>
            <a:off x="2853385" y="1607515"/>
            <a:ext cx="213970" cy="213970"/>
          </a:xfrm>
          <a:prstGeom prst="rect">
            <a:avLst/>
          </a:prstGeom>
        </p:spPr>
      </p:pic>
      <p:sp>
        <p:nvSpPr>
          <p:cNvPr id="15" name="Text 11"/>
          <p:cNvSpPr txBox="1"/>
          <p:nvPr/>
        </p:nvSpPr>
        <p:spPr>
          <a:xfrm>
            <a:off x="2754630" y="2011680"/>
            <a:ext cx="1520190" cy="384048"/>
          </a:xfrm>
          <a:prstGeom prst="rect">
            <a:avLst/>
          </a:prstGeom>
          <a:noFill/>
          <a:ln/>
        </p:spPr>
        <p:txBody>
          <a:bodyPr wrap="square" lIns="0" tIns="0" rIns="0" bIns="0" rtlCol="0" anchor="t"/>
          <a:lstStyle/>
          <a:p>
            <a:pPr indent="0" marL="0">
              <a:buNone/>
            </a:pPr>
            <a:r>
              <a:rPr lang="en-US" sz="1200" b="1" dirty="0">
                <a:solidFill>
                  <a:srgbClr val="1A1A1A"/>
                </a:solidFill>
                <a:latin typeface="Arial" pitchFamily="34" charset="0"/>
                <a:ea typeface="Arial" pitchFamily="34" charset="-122"/>
                <a:cs typeface="Arial" pitchFamily="34" charset="-120"/>
              </a:rPr>
              <a:t>Days to Contract</a:t>
            </a:r>
            <a:endParaRPr lang="en-US" sz="1200" dirty="0"/>
          </a:p>
        </p:txBody>
      </p:sp>
      <p:sp>
        <p:nvSpPr>
          <p:cNvPr id="16" name="Text 12"/>
          <p:cNvSpPr txBox="1"/>
          <p:nvPr/>
        </p:nvSpPr>
        <p:spPr>
          <a:xfrm>
            <a:off x="2754630" y="2487168"/>
            <a:ext cx="1520190" cy="182880"/>
          </a:xfrm>
          <a:prstGeom prst="rect">
            <a:avLst/>
          </a:prstGeom>
          <a:noFill/>
          <a:ln/>
        </p:spPr>
        <p:txBody>
          <a:bodyPr wrap="square" lIns="0" tIns="0" rIns="0" bIns="0" rtlCol="0" anchor="ctr"/>
          <a:lstStyle/>
          <a:p>
            <a:pPr indent="0" marL="0">
              <a:buNone/>
            </a:pPr>
            <a:r>
              <a:rPr lang="en-US" sz="900" dirty="0">
                <a:solidFill>
                  <a:srgbClr val="5E5E5E"/>
                </a:solidFill>
                <a:latin typeface="Arial" pitchFamily="34" charset="0"/>
                <a:ea typeface="Arial" pitchFamily="34" charset="-122"/>
                <a:cs typeface="Arial" pitchFamily="34" charset="-120"/>
              </a:rPr>
              <a:t>Earlier</a:t>
            </a:r>
            <a:endParaRPr lang="en-US" sz="900" dirty="0"/>
          </a:p>
        </p:txBody>
      </p:sp>
      <p:sp>
        <p:nvSpPr>
          <p:cNvPr id="17" name="Text 13"/>
          <p:cNvSpPr txBox="1"/>
          <p:nvPr/>
        </p:nvSpPr>
        <p:spPr>
          <a:xfrm>
            <a:off x="2754630" y="2660904"/>
            <a:ext cx="1520190" cy="274320"/>
          </a:xfrm>
          <a:prstGeom prst="rect">
            <a:avLst/>
          </a:prstGeom>
          <a:noFill/>
          <a:ln/>
        </p:spPr>
        <p:txBody>
          <a:bodyPr wrap="square" lIns="0" tIns="0" rIns="0" bIns="0" rtlCol="0" anchor="ctr"/>
          <a:lstStyle/>
          <a:p>
            <a:pPr indent="0" marL="0">
              <a:buNone/>
            </a:pPr>
            <a:r>
              <a:rPr lang="en-US" sz="1500" dirty="0">
                <a:solidFill>
                  <a:srgbClr val="5E5E5E"/>
                </a:solidFill>
                <a:latin typeface="Arial" pitchFamily="34" charset="0"/>
                <a:ea typeface="Arial" pitchFamily="34" charset="-122"/>
                <a:cs typeface="Arial" pitchFamily="34" charset="-120"/>
              </a:rPr>
              <a:t>8 days</a:t>
            </a:r>
            <a:endParaRPr lang="en-US" sz="1500" dirty="0"/>
          </a:p>
        </p:txBody>
      </p:sp>
      <p:sp>
        <p:nvSpPr>
          <p:cNvPr id="18" name="Text 14"/>
          <p:cNvSpPr txBox="1"/>
          <p:nvPr/>
        </p:nvSpPr>
        <p:spPr>
          <a:xfrm>
            <a:off x="2754630" y="3026664"/>
            <a:ext cx="1520190" cy="182880"/>
          </a:xfrm>
          <a:prstGeom prst="rect">
            <a:avLst/>
          </a:prstGeom>
          <a:noFill/>
          <a:ln/>
        </p:spPr>
        <p:txBody>
          <a:bodyPr wrap="square" lIns="0" tIns="0" rIns="0" bIns="0" rtlCol="0" anchor="ctr"/>
          <a:lstStyle/>
          <a:p>
            <a:pPr indent="0" marL="0">
              <a:buNone/>
            </a:pPr>
            <a:r>
              <a:rPr lang="en-US" sz="900" b="1" dirty="0">
                <a:solidFill>
                  <a:srgbClr val="A23200"/>
                </a:solidFill>
                <a:latin typeface="Arial" pitchFamily="34" charset="0"/>
                <a:ea typeface="Arial" pitchFamily="34" charset="-122"/>
                <a:cs typeface="Arial" pitchFamily="34" charset="-120"/>
              </a:rPr>
              <a:t>Now</a:t>
            </a:r>
            <a:endParaRPr lang="en-US" sz="900" dirty="0"/>
          </a:p>
        </p:txBody>
      </p:sp>
      <p:sp>
        <p:nvSpPr>
          <p:cNvPr id="19" name="Text 15"/>
          <p:cNvSpPr txBox="1"/>
          <p:nvPr/>
        </p:nvSpPr>
        <p:spPr>
          <a:xfrm>
            <a:off x="2754630" y="3191256"/>
            <a:ext cx="1520190" cy="438912"/>
          </a:xfrm>
          <a:prstGeom prst="rect">
            <a:avLst/>
          </a:prstGeom>
          <a:noFill/>
          <a:ln/>
        </p:spPr>
        <p:txBody>
          <a:bodyPr wrap="square" lIns="0" tIns="0" rIns="0" bIns="0" rtlCol="0" anchor="ctr"/>
          <a:lstStyle/>
          <a:p>
            <a:pPr indent="0" marL="0">
              <a:buNone/>
            </a:pPr>
            <a:r>
              <a:rPr lang="en-US" sz="2800" b="1" dirty="0">
                <a:solidFill>
                  <a:srgbClr val="C2410C"/>
                </a:solidFill>
                <a:latin typeface="Arial" pitchFamily="34" charset="0"/>
                <a:ea typeface="Arial" pitchFamily="34" charset="-122"/>
                <a:cs typeface="Arial" pitchFamily="34" charset="-120"/>
              </a:rPr>
              <a:t>22 days</a:t>
            </a:r>
            <a:endParaRPr lang="en-US" sz="2800" dirty="0"/>
          </a:p>
        </p:txBody>
      </p:sp>
      <p:sp>
        <p:nvSpPr>
          <p:cNvPr id="20" name="Shape 16"/>
          <p:cNvSpPr/>
          <p:nvPr/>
        </p:nvSpPr>
        <p:spPr>
          <a:xfrm>
            <a:off x="4686300" y="1325880"/>
            <a:ext cx="1885950" cy="2423160"/>
          </a:xfrm>
          <a:prstGeom prst="roundRect">
            <a:avLst>
              <a:gd name="adj" fmla="val 3879"/>
            </a:avLst>
          </a:prstGeom>
          <a:solidFill>
            <a:srgbClr val="FBF2EE"/>
          </a:solidFill>
          <a:ln w="12700">
            <a:solidFill>
              <a:srgbClr val="FBF2EE"/>
            </a:solidFill>
            <a:prstDash val="solid"/>
          </a:ln>
        </p:spPr>
      </p:sp>
      <p:sp>
        <p:nvSpPr>
          <p:cNvPr id="21" name="Shape 17"/>
          <p:cNvSpPr/>
          <p:nvPr/>
        </p:nvSpPr>
        <p:spPr>
          <a:xfrm>
            <a:off x="4869180" y="1508760"/>
            <a:ext cx="411480" cy="411480"/>
          </a:xfrm>
          <a:prstGeom prst="ellipse">
            <a:avLst/>
          </a:prstGeom>
          <a:solidFill>
            <a:srgbClr val="C2410C"/>
          </a:solidFill>
          <a:ln w="12700">
            <a:solidFill>
              <a:srgbClr val="C2410C"/>
            </a:solidFill>
            <a:prstDash val="solid"/>
          </a:ln>
        </p:spPr>
      </p:sp>
      <p:pic>
        <p:nvPicPr>
          <p:cNvPr id="22" name="Image 2" descr="preencoded.png">    </p:cNvPr>
          <p:cNvPicPr>
            <a:picLocks noChangeAspect="1"/>
          </p:cNvPicPr>
          <p:nvPr/>
        </p:nvPicPr>
        <p:blipFill>
          <a:blip r:embed="rId3"/>
          <a:stretch>
            <a:fillRect/>
          </a:stretch>
        </p:blipFill>
        <p:spPr>
          <a:xfrm>
            <a:off x="4967935" y="1607515"/>
            <a:ext cx="213970" cy="213970"/>
          </a:xfrm>
          <a:prstGeom prst="rect">
            <a:avLst/>
          </a:prstGeom>
        </p:spPr>
      </p:pic>
      <p:sp>
        <p:nvSpPr>
          <p:cNvPr id="23" name="Text 18"/>
          <p:cNvSpPr txBox="1"/>
          <p:nvPr/>
        </p:nvSpPr>
        <p:spPr>
          <a:xfrm>
            <a:off x="4869180" y="2011680"/>
            <a:ext cx="1520190" cy="384048"/>
          </a:xfrm>
          <a:prstGeom prst="rect">
            <a:avLst/>
          </a:prstGeom>
          <a:noFill/>
          <a:ln/>
        </p:spPr>
        <p:txBody>
          <a:bodyPr wrap="square" lIns="0" tIns="0" rIns="0" bIns="0" rtlCol="0" anchor="t"/>
          <a:lstStyle/>
          <a:p>
            <a:pPr indent="0" marL="0">
              <a:buNone/>
            </a:pPr>
            <a:r>
              <a:rPr lang="en-US" sz="1200" b="1" dirty="0">
                <a:solidFill>
                  <a:srgbClr val="1A1A1A"/>
                </a:solidFill>
                <a:latin typeface="Arial" pitchFamily="34" charset="0"/>
                <a:ea typeface="Arial" pitchFamily="34" charset="-122"/>
                <a:cs typeface="Arial" pitchFamily="34" charset="-120"/>
              </a:rPr>
              <a:t>Sales with Seller Credits</a:t>
            </a:r>
            <a:endParaRPr lang="en-US" sz="1200" dirty="0"/>
          </a:p>
        </p:txBody>
      </p:sp>
      <p:sp>
        <p:nvSpPr>
          <p:cNvPr id="24" name="Text 19"/>
          <p:cNvSpPr txBox="1"/>
          <p:nvPr/>
        </p:nvSpPr>
        <p:spPr>
          <a:xfrm>
            <a:off x="4869180" y="2487168"/>
            <a:ext cx="1520190" cy="182880"/>
          </a:xfrm>
          <a:prstGeom prst="rect">
            <a:avLst/>
          </a:prstGeom>
          <a:noFill/>
          <a:ln/>
        </p:spPr>
        <p:txBody>
          <a:bodyPr wrap="square" lIns="0" tIns="0" rIns="0" bIns="0" rtlCol="0" anchor="ctr"/>
          <a:lstStyle/>
          <a:p>
            <a:pPr indent="0" marL="0">
              <a:buNone/>
            </a:pPr>
            <a:r>
              <a:rPr lang="en-US" sz="900" dirty="0">
                <a:solidFill>
                  <a:srgbClr val="5E5E5E"/>
                </a:solidFill>
                <a:latin typeface="Arial" pitchFamily="34" charset="0"/>
                <a:ea typeface="Arial" pitchFamily="34" charset="-122"/>
                <a:cs typeface="Arial" pitchFamily="34" charset="-120"/>
              </a:rPr>
              <a:t>Earlier</a:t>
            </a:r>
            <a:endParaRPr lang="en-US" sz="900" dirty="0"/>
          </a:p>
        </p:txBody>
      </p:sp>
      <p:sp>
        <p:nvSpPr>
          <p:cNvPr id="25" name="Text 20"/>
          <p:cNvSpPr txBox="1"/>
          <p:nvPr/>
        </p:nvSpPr>
        <p:spPr>
          <a:xfrm>
            <a:off x="4869180" y="2660904"/>
            <a:ext cx="1520190" cy="274320"/>
          </a:xfrm>
          <a:prstGeom prst="rect">
            <a:avLst/>
          </a:prstGeom>
          <a:noFill/>
          <a:ln/>
        </p:spPr>
        <p:txBody>
          <a:bodyPr wrap="square" lIns="0" tIns="0" rIns="0" bIns="0" rtlCol="0" anchor="ctr"/>
          <a:lstStyle/>
          <a:p>
            <a:pPr indent="0" marL="0">
              <a:buNone/>
            </a:pPr>
            <a:r>
              <a:rPr lang="en-US" sz="1500" dirty="0">
                <a:solidFill>
                  <a:srgbClr val="5E5E5E"/>
                </a:solidFill>
                <a:latin typeface="Arial" pitchFamily="34" charset="0"/>
                <a:ea typeface="Arial" pitchFamily="34" charset="-122"/>
                <a:cs typeface="Arial" pitchFamily="34" charset="-120"/>
              </a:rPr>
              <a:t>50%</a:t>
            </a:r>
            <a:endParaRPr lang="en-US" sz="1500" dirty="0"/>
          </a:p>
        </p:txBody>
      </p:sp>
      <p:sp>
        <p:nvSpPr>
          <p:cNvPr id="26" name="Text 21"/>
          <p:cNvSpPr txBox="1"/>
          <p:nvPr/>
        </p:nvSpPr>
        <p:spPr>
          <a:xfrm>
            <a:off x="4869180" y="3026664"/>
            <a:ext cx="1520190" cy="182880"/>
          </a:xfrm>
          <a:prstGeom prst="rect">
            <a:avLst/>
          </a:prstGeom>
          <a:noFill/>
          <a:ln/>
        </p:spPr>
        <p:txBody>
          <a:bodyPr wrap="square" lIns="0" tIns="0" rIns="0" bIns="0" rtlCol="0" anchor="ctr"/>
          <a:lstStyle/>
          <a:p>
            <a:pPr indent="0" marL="0">
              <a:buNone/>
            </a:pPr>
            <a:r>
              <a:rPr lang="en-US" sz="900" b="1" dirty="0">
                <a:solidFill>
                  <a:srgbClr val="A23200"/>
                </a:solidFill>
                <a:latin typeface="Arial" pitchFamily="34" charset="0"/>
                <a:ea typeface="Arial" pitchFamily="34" charset="-122"/>
                <a:cs typeface="Arial" pitchFamily="34" charset="-120"/>
              </a:rPr>
              <a:t>Now</a:t>
            </a:r>
            <a:endParaRPr lang="en-US" sz="900" dirty="0"/>
          </a:p>
        </p:txBody>
      </p:sp>
      <p:sp>
        <p:nvSpPr>
          <p:cNvPr id="27" name="Text 22"/>
          <p:cNvSpPr txBox="1"/>
          <p:nvPr/>
        </p:nvSpPr>
        <p:spPr>
          <a:xfrm>
            <a:off x="4869180" y="3191256"/>
            <a:ext cx="1520190" cy="438912"/>
          </a:xfrm>
          <a:prstGeom prst="rect">
            <a:avLst/>
          </a:prstGeom>
          <a:noFill/>
          <a:ln/>
        </p:spPr>
        <p:txBody>
          <a:bodyPr wrap="square" lIns="0" tIns="0" rIns="0" bIns="0" rtlCol="0" anchor="ctr"/>
          <a:lstStyle/>
          <a:p>
            <a:pPr indent="0" marL="0">
              <a:buNone/>
            </a:pPr>
            <a:r>
              <a:rPr lang="en-US" sz="2800" b="1" dirty="0">
                <a:solidFill>
                  <a:srgbClr val="C2410C"/>
                </a:solidFill>
                <a:latin typeface="Arial" pitchFamily="34" charset="0"/>
                <a:ea typeface="Arial" pitchFamily="34" charset="-122"/>
                <a:cs typeface="Arial" pitchFamily="34" charset="-120"/>
              </a:rPr>
              <a:t>89%</a:t>
            </a:r>
            <a:endParaRPr lang="en-US" sz="2800" dirty="0"/>
          </a:p>
        </p:txBody>
      </p:sp>
      <p:sp>
        <p:nvSpPr>
          <p:cNvPr id="28" name="Shape 23"/>
          <p:cNvSpPr/>
          <p:nvPr/>
        </p:nvSpPr>
        <p:spPr>
          <a:xfrm>
            <a:off x="6800850" y="1325880"/>
            <a:ext cx="1885950" cy="2423160"/>
          </a:xfrm>
          <a:prstGeom prst="roundRect">
            <a:avLst>
              <a:gd name="adj" fmla="val 3879"/>
            </a:avLst>
          </a:prstGeom>
          <a:solidFill>
            <a:srgbClr val="FBF2EE"/>
          </a:solidFill>
          <a:ln w="12700">
            <a:solidFill>
              <a:srgbClr val="FBF2EE"/>
            </a:solidFill>
            <a:prstDash val="solid"/>
          </a:ln>
        </p:spPr>
      </p:sp>
      <p:sp>
        <p:nvSpPr>
          <p:cNvPr id="29" name="Shape 24"/>
          <p:cNvSpPr/>
          <p:nvPr/>
        </p:nvSpPr>
        <p:spPr>
          <a:xfrm>
            <a:off x="6983730" y="1508760"/>
            <a:ext cx="411480" cy="411480"/>
          </a:xfrm>
          <a:prstGeom prst="ellipse">
            <a:avLst/>
          </a:prstGeom>
          <a:solidFill>
            <a:srgbClr val="C2410C"/>
          </a:solidFill>
          <a:ln w="12700">
            <a:solidFill>
              <a:srgbClr val="C2410C"/>
            </a:solidFill>
            <a:prstDash val="solid"/>
          </a:ln>
        </p:spPr>
      </p:sp>
      <p:pic>
        <p:nvPicPr>
          <p:cNvPr id="30" name="Image 3" descr="preencoded.png">    </p:cNvPr>
          <p:cNvPicPr>
            <a:picLocks noChangeAspect="1"/>
          </p:cNvPicPr>
          <p:nvPr/>
        </p:nvPicPr>
        <p:blipFill>
          <a:blip r:embed="rId4"/>
          <a:stretch>
            <a:fillRect/>
          </a:stretch>
        </p:blipFill>
        <p:spPr>
          <a:xfrm>
            <a:off x="7082485" y="1607515"/>
            <a:ext cx="213970" cy="213970"/>
          </a:xfrm>
          <a:prstGeom prst="rect">
            <a:avLst/>
          </a:prstGeom>
        </p:spPr>
      </p:pic>
      <p:sp>
        <p:nvSpPr>
          <p:cNvPr id="31" name="Text 25"/>
          <p:cNvSpPr txBox="1"/>
          <p:nvPr/>
        </p:nvSpPr>
        <p:spPr>
          <a:xfrm>
            <a:off x="6983730" y="2011680"/>
            <a:ext cx="1520190" cy="384048"/>
          </a:xfrm>
          <a:prstGeom prst="rect">
            <a:avLst/>
          </a:prstGeom>
          <a:noFill/>
          <a:ln/>
        </p:spPr>
        <p:txBody>
          <a:bodyPr wrap="square" lIns="0" tIns="0" rIns="0" bIns="0" rtlCol="0" anchor="t"/>
          <a:lstStyle/>
          <a:p>
            <a:pPr indent="0" marL="0">
              <a:buNone/>
            </a:pPr>
            <a:r>
              <a:rPr lang="en-US" sz="1200" b="1" dirty="0">
                <a:solidFill>
                  <a:srgbClr val="1A1A1A"/>
                </a:solidFill>
                <a:latin typeface="Arial" pitchFamily="34" charset="0"/>
                <a:ea typeface="Arial" pitchFamily="34" charset="-122"/>
                <a:cs typeface="Arial" pitchFamily="34" charset="-120"/>
              </a:rPr>
              <a:t>Typical Seller Credit</a:t>
            </a:r>
            <a:endParaRPr lang="en-US" sz="1200" dirty="0"/>
          </a:p>
        </p:txBody>
      </p:sp>
      <p:sp>
        <p:nvSpPr>
          <p:cNvPr id="32" name="Text 26"/>
          <p:cNvSpPr txBox="1"/>
          <p:nvPr/>
        </p:nvSpPr>
        <p:spPr>
          <a:xfrm>
            <a:off x="6983730" y="2487168"/>
            <a:ext cx="1520190" cy="182880"/>
          </a:xfrm>
          <a:prstGeom prst="rect">
            <a:avLst/>
          </a:prstGeom>
          <a:noFill/>
          <a:ln/>
        </p:spPr>
        <p:txBody>
          <a:bodyPr wrap="square" lIns="0" tIns="0" rIns="0" bIns="0" rtlCol="0" anchor="ctr"/>
          <a:lstStyle/>
          <a:p>
            <a:pPr indent="0" marL="0">
              <a:buNone/>
            </a:pPr>
            <a:r>
              <a:rPr lang="en-US" sz="900" dirty="0">
                <a:solidFill>
                  <a:srgbClr val="5E5E5E"/>
                </a:solidFill>
                <a:latin typeface="Arial" pitchFamily="34" charset="0"/>
                <a:ea typeface="Arial" pitchFamily="34" charset="-122"/>
                <a:cs typeface="Arial" pitchFamily="34" charset="-120"/>
              </a:rPr>
              <a:t>Earlier</a:t>
            </a:r>
            <a:endParaRPr lang="en-US" sz="900" dirty="0"/>
          </a:p>
        </p:txBody>
      </p:sp>
      <p:sp>
        <p:nvSpPr>
          <p:cNvPr id="33" name="Text 27"/>
          <p:cNvSpPr txBox="1"/>
          <p:nvPr/>
        </p:nvSpPr>
        <p:spPr>
          <a:xfrm>
            <a:off x="6983730" y="2660904"/>
            <a:ext cx="1520190" cy="274320"/>
          </a:xfrm>
          <a:prstGeom prst="rect">
            <a:avLst/>
          </a:prstGeom>
          <a:noFill/>
          <a:ln/>
        </p:spPr>
        <p:txBody>
          <a:bodyPr wrap="square" lIns="0" tIns="0" rIns="0" bIns="0" rtlCol="0" anchor="ctr"/>
          <a:lstStyle/>
          <a:p>
            <a:pPr indent="0" marL="0">
              <a:buNone/>
            </a:pPr>
            <a:r>
              <a:rPr lang="en-US" sz="1500" dirty="0">
                <a:solidFill>
                  <a:srgbClr val="5E5E5E"/>
                </a:solidFill>
                <a:latin typeface="Arial" pitchFamily="34" charset="0"/>
                <a:ea typeface="Arial" pitchFamily="34" charset="-122"/>
                <a:cs typeface="Arial" pitchFamily="34" charset="-120"/>
              </a:rPr>
              <a:t>$8,250</a:t>
            </a:r>
            <a:endParaRPr lang="en-US" sz="1500" dirty="0"/>
          </a:p>
        </p:txBody>
      </p:sp>
      <p:sp>
        <p:nvSpPr>
          <p:cNvPr id="34" name="Text 28"/>
          <p:cNvSpPr txBox="1"/>
          <p:nvPr/>
        </p:nvSpPr>
        <p:spPr>
          <a:xfrm>
            <a:off x="6983730" y="3026664"/>
            <a:ext cx="1520190" cy="182880"/>
          </a:xfrm>
          <a:prstGeom prst="rect">
            <a:avLst/>
          </a:prstGeom>
          <a:noFill/>
          <a:ln/>
        </p:spPr>
        <p:txBody>
          <a:bodyPr wrap="square" lIns="0" tIns="0" rIns="0" bIns="0" rtlCol="0" anchor="ctr"/>
          <a:lstStyle/>
          <a:p>
            <a:pPr indent="0" marL="0">
              <a:buNone/>
            </a:pPr>
            <a:r>
              <a:rPr lang="en-US" sz="900" b="1" dirty="0">
                <a:solidFill>
                  <a:srgbClr val="A23200"/>
                </a:solidFill>
                <a:latin typeface="Arial" pitchFamily="34" charset="0"/>
                <a:ea typeface="Arial" pitchFamily="34" charset="-122"/>
                <a:cs typeface="Arial" pitchFamily="34" charset="-120"/>
              </a:rPr>
              <a:t>Now</a:t>
            </a:r>
            <a:endParaRPr lang="en-US" sz="900" dirty="0"/>
          </a:p>
        </p:txBody>
      </p:sp>
      <p:sp>
        <p:nvSpPr>
          <p:cNvPr id="35" name="Text 29"/>
          <p:cNvSpPr txBox="1"/>
          <p:nvPr/>
        </p:nvSpPr>
        <p:spPr>
          <a:xfrm>
            <a:off x="6983730" y="3191256"/>
            <a:ext cx="1520190" cy="438912"/>
          </a:xfrm>
          <a:prstGeom prst="rect">
            <a:avLst/>
          </a:prstGeom>
          <a:noFill/>
          <a:ln/>
        </p:spPr>
        <p:txBody>
          <a:bodyPr wrap="square" lIns="0" tIns="0" rIns="0" bIns="0" rtlCol="0" anchor="ctr"/>
          <a:lstStyle/>
          <a:p>
            <a:pPr indent="0" marL="0">
              <a:buNone/>
            </a:pPr>
            <a:r>
              <a:rPr lang="en-US" sz="2800" b="1" dirty="0">
                <a:solidFill>
                  <a:srgbClr val="C2410C"/>
                </a:solidFill>
                <a:latin typeface="Arial" pitchFamily="34" charset="0"/>
                <a:ea typeface="Arial" pitchFamily="34" charset="-122"/>
                <a:cs typeface="Arial" pitchFamily="34" charset="-120"/>
              </a:rPr>
              <a:t>$12,100</a:t>
            </a:r>
            <a:endParaRPr lang="en-US" sz="2800" dirty="0"/>
          </a:p>
        </p:txBody>
      </p:sp>
      <p:sp>
        <p:nvSpPr>
          <p:cNvPr id="36" name="Text 30"/>
          <p:cNvSpPr txBox="1"/>
          <p:nvPr/>
        </p:nvSpPr>
        <p:spPr>
          <a:xfrm>
            <a:off x="457200" y="3931920"/>
            <a:ext cx="8229600" cy="772668"/>
          </a:xfrm>
          <a:prstGeom prst="rect">
            <a:avLst/>
          </a:prstGeom>
          <a:noFill/>
          <a:ln/>
        </p:spPr>
        <p:txBody>
          <a:bodyPr wrap="square" lIns="0" tIns="0" rIns="0" bIns="0" rtlCol="0" anchor="t"/>
          <a:lstStyle/>
          <a:p>
            <a:pPr indent="0" marL="0">
              <a:buNone/>
            </a:pPr>
            <a:r>
              <a:rPr lang="en-US" sz="1400" b="1" dirty="0">
                <a:solidFill>
                  <a:srgbClr val="1A1A1A"/>
                </a:solidFill>
                <a:latin typeface="Arial" pitchFamily="34" charset="0"/>
                <a:ea typeface="Arial" pitchFamily="34" charset="-122"/>
                <a:cs typeface="Arial" pitchFamily="34" charset="-120"/>
              </a:rPr>
              <a:t>Buyers are negotiating again. Price for the market we have now, not the one from earlier in the year.</a:t>
            </a:r>
            <a:endParaRPr lang="en-US" sz="1400" dirty="0"/>
          </a:p>
        </p:txBody>
      </p:sp>
      <p:sp>
        <p:nvSpPr>
          <p:cNvPr id="37" name="Text 31"/>
          <p:cNvSpPr txBox="1"/>
          <p:nvPr/>
        </p:nvSpPr>
        <p:spPr>
          <a:xfrm>
            <a:off x="457200" y="4796028"/>
            <a:ext cx="6858000" cy="228600"/>
          </a:xfrm>
          <a:prstGeom prst="rect">
            <a:avLst/>
          </a:prstGeom>
          <a:noFill/>
          <a:ln/>
        </p:spPr>
        <p:txBody>
          <a:bodyPr wrap="square" lIns="0" tIns="0" rIns="0" bIns="0" rtlCol="0" anchor="ctr"/>
          <a:lstStyle/>
          <a:p>
            <a:pPr indent="0" marL="0">
              <a:buNone/>
            </a:pPr>
            <a:r>
              <a:rPr lang="en-US" sz="800" dirty="0">
                <a:solidFill>
                  <a:srgbClr val="5E5E5E"/>
                </a:solidFill>
                <a:latin typeface="Arial" pitchFamily="34" charset="0"/>
                <a:ea typeface="Arial" pitchFamily="34" charset="-122"/>
                <a:cs typeface="Arial" pitchFamily="34" charset="-120"/>
              </a:rPr>
              <a:t>SAMPLE DATA · 517 Larkwood Ave · Jordan Avery, REALTOR®, Sample Realty, LLC</a:t>
            </a:r>
            <a:endParaRPr lang="en-US" sz="800" dirty="0"/>
          </a:p>
        </p:txBody>
      </p:sp>
      <p:sp>
        <p:nvSpPr>
          <p:cNvPr id="38" name="Text 32"/>
          <p:cNvSpPr txBox="1"/>
          <p:nvPr/>
        </p:nvSpPr>
        <p:spPr>
          <a:xfrm>
            <a:off x="8229600" y="4796028"/>
            <a:ext cx="457200" cy="228600"/>
          </a:xfrm>
          <a:prstGeom prst="rect">
            <a:avLst/>
          </a:prstGeom>
          <a:noFill/>
          <a:ln/>
        </p:spPr>
        <p:txBody>
          <a:bodyPr wrap="square" lIns="0" tIns="0" rIns="0" bIns="0" rtlCol="0" anchor="ctr"/>
          <a:lstStyle/>
          <a:p>
            <a:pPr algn="r" indent="0" marL="0">
              <a:buNone/>
            </a:pPr>
            <a:r>
              <a:rPr lang="en-US" sz="800" dirty="0">
                <a:solidFill>
                  <a:srgbClr val="5E5E5E"/>
                </a:solidFill>
                <a:latin typeface="Arial" pitchFamily="34" charset="0"/>
                <a:ea typeface="Arial" pitchFamily="34" charset="-122"/>
                <a:cs typeface="Arial" pitchFamily="34" charset="-120"/>
              </a:rPr>
              <a:t>7</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8229600" cy="566928"/>
          </a:xfrm>
          <a:prstGeom prst="rect">
            <a:avLst/>
          </a:prstGeom>
          <a:noFill/>
          <a:ln/>
        </p:spPr>
        <p:txBody>
          <a:bodyPr wrap="square" lIns="0" tIns="0" rIns="0" bIns="0" rtlCol="0" anchor="t"/>
          <a:lstStyle/>
          <a:p>
            <a:pPr indent="0" marL="0">
              <a:buNone/>
            </a:pPr>
            <a:r>
              <a:rPr lang="en-US" sz="2600" b="1" dirty="0">
                <a:solidFill>
                  <a:srgbClr val="1A1A1A"/>
                </a:solidFill>
                <a:latin typeface="Arial" pitchFamily="34" charset="0"/>
                <a:ea typeface="Arial" pitchFamily="34" charset="-122"/>
                <a:cs typeface="Arial" pitchFamily="34" charset="-120"/>
              </a:rPr>
              <a:t>Your Competition</a:t>
            </a:r>
            <a:endParaRPr lang="en-US" sz="2600" dirty="0"/>
          </a:p>
        </p:txBody>
      </p:sp>
      <p:sp>
        <p:nvSpPr>
          <p:cNvPr id="3" name="Text 1"/>
          <p:cNvSpPr txBox="1"/>
          <p:nvPr/>
        </p:nvSpPr>
        <p:spPr>
          <a:xfrm>
            <a:off x="457200" y="841248"/>
            <a:ext cx="8229600" cy="201422"/>
          </a:xfrm>
          <a:prstGeom prst="rect">
            <a:avLst/>
          </a:prstGeom>
          <a:noFill/>
          <a:ln/>
        </p:spPr>
        <p:txBody>
          <a:bodyPr wrap="square" lIns="0" tIns="0" rIns="0" bIns="0" rtlCol="0" anchor="t"/>
          <a:lstStyle/>
          <a:p>
            <a:pPr indent="0" marL="0">
              <a:buNone/>
            </a:pPr>
            <a:r>
              <a:rPr lang="en-US" sz="1300" dirty="0">
                <a:solidFill>
                  <a:srgbClr val="5E5E5E"/>
                </a:solidFill>
                <a:latin typeface="Arial" pitchFamily="34" charset="0"/>
                <a:ea typeface="Arial" pitchFamily="34" charset="-122"/>
                <a:cs typeface="Arial" pitchFamily="34" charset="-120"/>
              </a:rPr>
              <a:t>The homes buyers will tour alongside yours</a:t>
            </a:r>
            <a:endParaRPr lang="en-US" sz="1300" dirty="0"/>
          </a:p>
        </p:txBody>
      </p:sp>
      <p:sp>
        <p:nvSpPr>
          <p:cNvPr id="4" name="Shape 2"/>
          <p:cNvSpPr/>
          <p:nvPr/>
        </p:nvSpPr>
        <p:spPr>
          <a:xfrm>
            <a:off x="457200" y="1371600"/>
            <a:ext cx="2560320" cy="2377440"/>
          </a:xfrm>
          <a:prstGeom prst="roundRect">
            <a:avLst>
              <a:gd name="adj" fmla="val 3077"/>
            </a:avLst>
          </a:prstGeom>
          <a:solidFill>
            <a:srgbClr val="FFFFFF"/>
          </a:solidFill>
          <a:ln w="12700">
            <a:solidFill>
              <a:srgbClr val="F8E8E2"/>
            </a:solidFill>
            <a:prstDash val="solid"/>
          </a:ln>
        </p:spPr>
      </p:sp>
      <p:sp>
        <p:nvSpPr>
          <p:cNvPr id="5" name="Text 3"/>
          <p:cNvSpPr txBox="1"/>
          <p:nvPr/>
        </p:nvSpPr>
        <p:spPr>
          <a:xfrm>
            <a:off x="658368" y="1554480"/>
            <a:ext cx="2157984" cy="274320"/>
          </a:xfrm>
          <a:prstGeom prst="rect">
            <a:avLst/>
          </a:prstGeom>
          <a:noFill/>
          <a:ln/>
        </p:spPr>
        <p:txBody>
          <a:bodyPr wrap="square" lIns="0" tIns="0" rIns="0" bIns="0" rtlCol="0" anchor="t"/>
          <a:lstStyle/>
          <a:p>
            <a:pPr indent="0" marL="0">
              <a:buNone/>
            </a:pPr>
            <a:r>
              <a:rPr lang="en-US" sz="1400" b="1" dirty="0">
                <a:solidFill>
                  <a:srgbClr val="1A1A1A"/>
                </a:solidFill>
                <a:latin typeface="Arial" pitchFamily="34" charset="0"/>
                <a:ea typeface="Arial" pitchFamily="34" charset="-122"/>
                <a:cs typeface="Arial" pitchFamily="34" charset="-120"/>
              </a:rPr>
              <a:t>644 Quillwood Dr</a:t>
            </a:r>
            <a:endParaRPr lang="en-US" sz="1400" dirty="0"/>
          </a:p>
        </p:txBody>
      </p:sp>
      <p:sp>
        <p:nvSpPr>
          <p:cNvPr id="6" name="Text 4"/>
          <p:cNvSpPr txBox="1"/>
          <p:nvPr/>
        </p:nvSpPr>
        <p:spPr>
          <a:xfrm>
            <a:off x="658368" y="1847088"/>
            <a:ext cx="2157984" cy="457200"/>
          </a:xfrm>
          <a:prstGeom prst="rect">
            <a:avLst/>
          </a:prstGeom>
          <a:noFill/>
          <a:ln/>
        </p:spPr>
        <p:txBody>
          <a:bodyPr wrap="square" lIns="0" tIns="0" rIns="0" bIns="0" rtlCol="0" anchor="ctr"/>
          <a:lstStyle/>
          <a:p>
            <a:pPr indent="0" marL="0">
              <a:buNone/>
            </a:pPr>
            <a:r>
              <a:rPr lang="en-US" sz="2600" b="1" dirty="0">
                <a:solidFill>
                  <a:srgbClr val="C2410C"/>
                </a:solidFill>
                <a:latin typeface="Arial" pitchFamily="34" charset="0"/>
                <a:ea typeface="Arial" pitchFamily="34" charset="-122"/>
                <a:cs typeface="Arial" pitchFamily="34" charset="-120"/>
              </a:rPr>
              <a:t>$400,000</a:t>
            </a:r>
            <a:endParaRPr lang="en-US" sz="2600" dirty="0"/>
          </a:p>
        </p:txBody>
      </p:sp>
      <p:sp>
        <p:nvSpPr>
          <p:cNvPr id="7" name="Text 5"/>
          <p:cNvSpPr txBox="1"/>
          <p:nvPr/>
        </p:nvSpPr>
        <p:spPr>
          <a:xfrm>
            <a:off x="658368" y="2331720"/>
            <a:ext cx="2157984" cy="256032"/>
          </a:xfrm>
          <a:prstGeom prst="rect">
            <a:avLst/>
          </a:prstGeom>
          <a:noFill/>
          <a:ln/>
        </p:spPr>
        <p:txBody>
          <a:bodyPr wrap="square" lIns="0" tIns="0" rIns="0" bIns="0" rtlCol="0" anchor="ctr"/>
          <a:lstStyle/>
          <a:p>
            <a:pPr indent="0" marL="0">
              <a:buNone/>
            </a:pPr>
            <a:r>
              <a:rPr lang="en-US" sz="1100" b="1" dirty="0">
                <a:solidFill>
                  <a:srgbClr val="A23200"/>
                </a:solidFill>
                <a:latin typeface="Arial" pitchFamily="34" charset="0"/>
                <a:ea typeface="Arial" pitchFamily="34" charset="-122"/>
                <a:cs typeface="Arial" pitchFamily="34" charset="-120"/>
              </a:rPr>
              <a:t>For sale · 91 days</a:t>
            </a:r>
            <a:endParaRPr lang="en-US" sz="1100" dirty="0"/>
          </a:p>
        </p:txBody>
      </p:sp>
      <p:sp>
        <p:nvSpPr>
          <p:cNvPr id="8" name="Text 6"/>
          <p:cNvSpPr txBox="1"/>
          <p:nvPr/>
        </p:nvSpPr>
        <p:spPr>
          <a:xfrm>
            <a:off x="658368" y="2651760"/>
            <a:ext cx="2157984" cy="960120"/>
          </a:xfrm>
          <a:prstGeom prst="rect">
            <a:avLst/>
          </a:prstGeom>
          <a:noFill/>
          <a:ln/>
        </p:spPr>
        <p:txBody>
          <a:bodyPr wrap="square" lIns="0" tIns="0" rIns="0" bIns="0" rtlCol="0" anchor="t"/>
          <a:lstStyle/>
          <a:p>
            <a:pPr indent="0" marL="0">
              <a:buNone/>
            </a:pPr>
            <a:r>
              <a:rPr lang="en-US" sz="1200" dirty="0">
                <a:solidFill>
                  <a:srgbClr val="1A1A1A"/>
                </a:solidFill>
                <a:latin typeface="Arial" pitchFamily="34" charset="0"/>
                <a:ea typeface="Arial" pitchFamily="34" charset="-122"/>
                <a:cs typeface="Arial" pitchFamily="34" charset="-120"/>
              </a:rPr>
              <a:t>Renovated, same size, no pool. The value alternative buyers will tour.</a:t>
            </a:r>
            <a:endParaRPr lang="en-US" sz="1200" dirty="0"/>
          </a:p>
        </p:txBody>
      </p:sp>
      <p:sp>
        <p:nvSpPr>
          <p:cNvPr id="9" name="Shape 7"/>
          <p:cNvSpPr/>
          <p:nvPr/>
        </p:nvSpPr>
        <p:spPr>
          <a:xfrm>
            <a:off x="3291840" y="1371600"/>
            <a:ext cx="2560320" cy="2377440"/>
          </a:xfrm>
          <a:prstGeom prst="roundRect">
            <a:avLst>
              <a:gd name="adj" fmla="val 3077"/>
            </a:avLst>
          </a:prstGeom>
          <a:solidFill>
            <a:srgbClr val="FFFFFF"/>
          </a:solidFill>
          <a:ln w="12700">
            <a:solidFill>
              <a:srgbClr val="F8E8E2"/>
            </a:solidFill>
            <a:prstDash val="solid"/>
          </a:ln>
        </p:spPr>
      </p:sp>
      <p:sp>
        <p:nvSpPr>
          <p:cNvPr id="10" name="Text 8"/>
          <p:cNvSpPr txBox="1"/>
          <p:nvPr/>
        </p:nvSpPr>
        <p:spPr>
          <a:xfrm>
            <a:off x="3493008" y="1554480"/>
            <a:ext cx="2157984" cy="274320"/>
          </a:xfrm>
          <a:prstGeom prst="rect">
            <a:avLst/>
          </a:prstGeom>
          <a:noFill/>
          <a:ln/>
        </p:spPr>
        <p:txBody>
          <a:bodyPr wrap="square" lIns="0" tIns="0" rIns="0" bIns="0" rtlCol="0" anchor="t"/>
          <a:lstStyle/>
          <a:p>
            <a:pPr indent="0" marL="0">
              <a:buNone/>
            </a:pPr>
            <a:r>
              <a:rPr lang="en-US" sz="1400" b="1" dirty="0">
                <a:solidFill>
                  <a:srgbClr val="1A1A1A"/>
                </a:solidFill>
                <a:latin typeface="Arial" pitchFamily="34" charset="0"/>
                <a:ea typeface="Arial" pitchFamily="34" charset="-122"/>
                <a:cs typeface="Arial" pitchFamily="34" charset="-120"/>
              </a:rPr>
              <a:t>412 Calloway Ave</a:t>
            </a:r>
            <a:endParaRPr lang="en-US" sz="1400" dirty="0"/>
          </a:p>
        </p:txBody>
      </p:sp>
      <p:sp>
        <p:nvSpPr>
          <p:cNvPr id="11" name="Text 9"/>
          <p:cNvSpPr txBox="1"/>
          <p:nvPr/>
        </p:nvSpPr>
        <p:spPr>
          <a:xfrm>
            <a:off x="3493008" y="1847088"/>
            <a:ext cx="2157984" cy="457200"/>
          </a:xfrm>
          <a:prstGeom prst="rect">
            <a:avLst/>
          </a:prstGeom>
          <a:noFill/>
          <a:ln/>
        </p:spPr>
        <p:txBody>
          <a:bodyPr wrap="square" lIns="0" tIns="0" rIns="0" bIns="0" rtlCol="0" anchor="ctr"/>
          <a:lstStyle/>
          <a:p>
            <a:pPr indent="0" marL="0">
              <a:buNone/>
            </a:pPr>
            <a:r>
              <a:rPr lang="en-US" sz="2600" b="1" dirty="0">
                <a:solidFill>
                  <a:srgbClr val="C2410C"/>
                </a:solidFill>
                <a:latin typeface="Arial" pitchFamily="34" charset="0"/>
                <a:ea typeface="Arial" pitchFamily="34" charset="-122"/>
                <a:cs typeface="Arial" pitchFamily="34" charset="-120"/>
              </a:rPr>
              <a:t>$454,900</a:t>
            </a:r>
            <a:endParaRPr lang="en-US" sz="2600" dirty="0"/>
          </a:p>
        </p:txBody>
      </p:sp>
      <p:sp>
        <p:nvSpPr>
          <p:cNvPr id="12" name="Text 10"/>
          <p:cNvSpPr txBox="1"/>
          <p:nvPr/>
        </p:nvSpPr>
        <p:spPr>
          <a:xfrm>
            <a:off x="3493008" y="2331720"/>
            <a:ext cx="2157984" cy="256032"/>
          </a:xfrm>
          <a:prstGeom prst="rect">
            <a:avLst/>
          </a:prstGeom>
          <a:noFill/>
          <a:ln/>
        </p:spPr>
        <p:txBody>
          <a:bodyPr wrap="square" lIns="0" tIns="0" rIns="0" bIns="0" rtlCol="0" anchor="ctr"/>
          <a:lstStyle/>
          <a:p>
            <a:pPr indent="0" marL="0">
              <a:buNone/>
            </a:pPr>
            <a:r>
              <a:rPr lang="en-US" sz="1100" b="1" dirty="0">
                <a:solidFill>
                  <a:srgbClr val="A23200"/>
                </a:solidFill>
                <a:latin typeface="Arial" pitchFamily="34" charset="0"/>
                <a:ea typeface="Arial" pitchFamily="34" charset="-122"/>
                <a:cs typeface="Arial" pitchFamily="34" charset="-120"/>
              </a:rPr>
              <a:t>Under contract · 9 days</a:t>
            </a:r>
            <a:endParaRPr lang="en-US" sz="1100" dirty="0"/>
          </a:p>
        </p:txBody>
      </p:sp>
      <p:sp>
        <p:nvSpPr>
          <p:cNvPr id="13" name="Text 11"/>
          <p:cNvSpPr txBox="1"/>
          <p:nvPr/>
        </p:nvSpPr>
        <p:spPr>
          <a:xfrm>
            <a:off x="3493008" y="2651760"/>
            <a:ext cx="2157984" cy="960120"/>
          </a:xfrm>
          <a:prstGeom prst="rect">
            <a:avLst/>
          </a:prstGeom>
          <a:noFill/>
          <a:ln/>
        </p:spPr>
        <p:txBody>
          <a:bodyPr wrap="square" lIns="0" tIns="0" rIns="0" bIns="0" rtlCol="0" anchor="t"/>
          <a:lstStyle/>
          <a:p>
            <a:pPr indent="0" marL="0">
              <a:buNone/>
            </a:pPr>
            <a:r>
              <a:rPr lang="en-US" sz="1200" dirty="0">
                <a:solidFill>
                  <a:srgbClr val="1A1A1A"/>
                </a:solidFill>
                <a:latin typeface="Arial" pitchFamily="34" charset="0"/>
                <a:ea typeface="Arial" pitchFamily="34" charset="-122"/>
                <a:cs typeface="Arial" pitchFamily="34" charset="-120"/>
              </a:rPr>
              <a:t>Renovated pool home. Priced right, it sold fast.</a:t>
            </a:r>
            <a:endParaRPr lang="en-US" sz="1200" dirty="0"/>
          </a:p>
        </p:txBody>
      </p:sp>
      <p:sp>
        <p:nvSpPr>
          <p:cNvPr id="14" name="Shape 12"/>
          <p:cNvSpPr/>
          <p:nvPr/>
        </p:nvSpPr>
        <p:spPr>
          <a:xfrm>
            <a:off x="6126480" y="1371600"/>
            <a:ext cx="2560320" cy="2377440"/>
          </a:xfrm>
          <a:prstGeom prst="roundRect">
            <a:avLst>
              <a:gd name="adj" fmla="val 3077"/>
            </a:avLst>
          </a:prstGeom>
          <a:solidFill>
            <a:srgbClr val="FFFFFF"/>
          </a:solidFill>
          <a:ln w="12700">
            <a:solidFill>
              <a:srgbClr val="F8E8E2"/>
            </a:solidFill>
            <a:prstDash val="solid"/>
          </a:ln>
        </p:spPr>
      </p:sp>
      <p:sp>
        <p:nvSpPr>
          <p:cNvPr id="15" name="Text 13"/>
          <p:cNvSpPr txBox="1"/>
          <p:nvPr/>
        </p:nvSpPr>
        <p:spPr>
          <a:xfrm>
            <a:off x="6327648" y="1554480"/>
            <a:ext cx="2157984" cy="274320"/>
          </a:xfrm>
          <a:prstGeom prst="rect">
            <a:avLst/>
          </a:prstGeom>
          <a:noFill/>
          <a:ln/>
        </p:spPr>
        <p:txBody>
          <a:bodyPr wrap="square" lIns="0" tIns="0" rIns="0" bIns="0" rtlCol="0" anchor="t"/>
          <a:lstStyle/>
          <a:p>
            <a:pPr indent="0" marL="0">
              <a:buNone/>
            </a:pPr>
            <a:r>
              <a:rPr lang="en-US" sz="1400" b="1" dirty="0">
                <a:solidFill>
                  <a:srgbClr val="1A1A1A"/>
                </a:solidFill>
                <a:latin typeface="Arial" pitchFamily="34" charset="0"/>
                <a:ea typeface="Arial" pitchFamily="34" charset="-122"/>
                <a:cs typeface="Arial" pitchFamily="34" charset="-120"/>
              </a:rPr>
              <a:t>394 Tansy Ln</a:t>
            </a:r>
            <a:endParaRPr lang="en-US" sz="1400" dirty="0"/>
          </a:p>
        </p:txBody>
      </p:sp>
      <p:sp>
        <p:nvSpPr>
          <p:cNvPr id="16" name="Text 14"/>
          <p:cNvSpPr txBox="1"/>
          <p:nvPr/>
        </p:nvSpPr>
        <p:spPr>
          <a:xfrm>
            <a:off x="6327648" y="1847088"/>
            <a:ext cx="2157984" cy="457200"/>
          </a:xfrm>
          <a:prstGeom prst="rect">
            <a:avLst/>
          </a:prstGeom>
          <a:noFill/>
          <a:ln/>
        </p:spPr>
        <p:txBody>
          <a:bodyPr wrap="square" lIns="0" tIns="0" rIns="0" bIns="0" rtlCol="0" anchor="ctr"/>
          <a:lstStyle/>
          <a:p>
            <a:pPr indent="0" marL="0">
              <a:buNone/>
            </a:pPr>
            <a:r>
              <a:rPr lang="en-US" sz="2600" b="1" dirty="0">
                <a:solidFill>
                  <a:srgbClr val="C2410C"/>
                </a:solidFill>
                <a:latin typeface="Arial" pitchFamily="34" charset="0"/>
                <a:ea typeface="Arial" pitchFamily="34" charset="-122"/>
                <a:cs typeface="Arial" pitchFamily="34" charset="-120"/>
              </a:rPr>
              <a:t>$565,000</a:t>
            </a:r>
            <a:endParaRPr lang="en-US" sz="2600" dirty="0"/>
          </a:p>
        </p:txBody>
      </p:sp>
      <p:sp>
        <p:nvSpPr>
          <p:cNvPr id="17" name="Text 15"/>
          <p:cNvSpPr txBox="1"/>
          <p:nvPr/>
        </p:nvSpPr>
        <p:spPr>
          <a:xfrm>
            <a:off x="6327648" y="2331720"/>
            <a:ext cx="2157984" cy="256032"/>
          </a:xfrm>
          <a:prstGeom prst="rect">
            <a:avLst/>
          </a:prstGeom>
          <a:noFill/>
          <a:ln/>
        </p:spPr>
        <p:txBody>
          <a:bodyPr wrap="square" lIns="0" tIns="0" rIns="0" bIns="0" rtlCol="0" anchor="ctr"/>
          <a:lstStyle/>
          <a:p>
            <a:pPr indent="0" marL="0">
              <a:buNone/>
            </a:pPr>
            <a:r>
              <a:rPr lang="en-US" sz="1100" b="1" dirty="0">
                <a:solidFill>
                  <a:srgbClr val="A23200"/>
                </a:solidFill>
                <a:latin typeface="Arial" pitchFamily="34" charset="0"/>
                <a:ea typeface="Arial" pitchFamily="34" charset="-122"/>
                <a:cs typeface="Arial" pitchFamily="34" charset="-120"/>
              </a:rPr>
              <a:t>For sale · 57 days</a:t>
            </a:r>
            <a:endParaRPr lang="en-US" sz="1100" dirty="0"/>
          </a:p>
        </p:txBody>
      </p:sp>
      <p:sp>
        <p:nvSpPr>
          <p:cNvPr id="18" name="Text 16"/>
          <p:cNvSpPr txBox="1"/>
          <p:nvPr/>
        </p:nvSpPr>
        <p:spPr>
          <a:xfrm>
            <a:off x="6327648" y="2651760"/>
            <a:ext cx="2157984" cy="960120"/>
          </a:xfrm>
          <a:prstGeom prst="rect">
            <a:avLst/>
          </a:prstGeom>
          <a:noFill/>
          <a:ln/>
        </p:spPr>
        <p:txBody>
          <a:bodyPr wrap="square" lIns="0" tIns="0" rIns="0" bIns="0" rtlCol="0" anchor="t"/>
          <a:lstStyle/>
          <a:p>
            <a:pPr indent="0" marL="0">
              <a:buNone/>
            </a:pPr>
            <a:r>
              <a:rPr lang="en-US" sz="1200" dirty="0">
                <a:solidFill>
                  <a:srgbClr val="1A1A1A"/>
                </a:solidFill>
                <a:latin typeface="Arial" pitchFamily="34" charset="0"/>
                <a:ea typeface="Arial" pitchFamily="34" charset="-122"/>
                <a:cs typeface="Arial" pitchFamily="34" charset="-120"/>
              </a:rPr>
              <a:t>Updated pool home. Priced above the market, and sitting.</a:t>
            </a:r>
            <a:endParaRPr lang="en-US" sz="1200" dirty="0"/>
          </a:p>
        </p:txBody>
      </p:sp>
      <p:sp>
        <p:nvSpPr>
          <p:cNvPr id="19" name="Text 17"/>
          <p:cNvSpPr txBox="1"/>
          <p:nvPr/>
        </p:nvSpPr>
        <p:spPr>
          <a:xfrm>
            <a:off x="457200" y="3931920"/>
            <a:ext cx="8229600" cy="772668"/>
          </a:xfrm>
          <a:prstGeom prst="rect">
            <a:avLst/>
          </a:prstGeom>
          <a:noFill/>
          <a:ln/>
        </p:spPr>
        <p:txBody>
          <a:bodyPr wrap="square" lIns="0" tIns="0" rIns="0" bIns="0" rtlCol="0" anchor="t"/>
          <a:lstStyle/>
          <a:p>
            <a:pPr indent="0" marL="0">
              <a:buNone/>
            </a:pPr>
            <a:r>
              <a:rPr lang="en-US" sz="1400" b="1" dirty="0">
                <a:solidFill>
                  <a:srgbClr val="1A1A1A"/>
                </a:solidFill>
                <a:latin typeface="Arial" pitchFamily="34" charset="0"/>
                <a:ea typeface="Arial" pitchFamily="34" charset="-122"/>
                <a:cs typeface="Arial" pitchFamily="34" charset="-120"/>
              </a:rPr>
              <a:t>Well-priced renovated pool homes are moving. Overpriced ones sit.</a:t>
            </a:r>
            <a:endParaRPr lang="en-US" sz="1400" dirty="0"/>
          </a:p>
        </p:txBody>
      </p:sp>
      <p:sp>
        <p:nvSpPr>
          <p:cNvPr id="20" name="Text 18"/>
          <p:cNvSpPr txBox="1"/>
          <p:nvPr/>
        </p:nvSpPr>
        <p:spPr>
          <a:xfrm>
            <a:off x="457200" y="4796028"/>
            <a:ext cx="6858000" cy="228600"/>
          </a:xfrm>
          <a:prstGeom prst="rect">
            <a:avLst/>
          </a:prstGeom>
          <a:noFill/>
          <a:ln/>
        </p:spPr>
        <p:txBody>
          <a:bodyPr wrap="square" lIns="0" tIns="0" rIns="0" bIns="0" rtlCol="0" anchor="ctr"/>
          <a:lstStyle/>
          <a:p>
            <a:pPr indent="0" marL="0">
              <a:buNone/>
            </a:pPr>
            <a:r>
              <a:rPr lang="en-US" sz="800" dirty="0">
                <a:solidFill>
                  <a:srgbClr val="5E5E5E"/>
                </a:solidFill>
                <a:latin typeface="Arial" pitchFamily="34" charset="0"/>
                <a:ea typeface="Arial" pitchFamily="34" charset="-122"/>
                <a:cs typeface="Arial" pitchFamily="34" charset="-120"/>
              </a:rPr>
              <a:t>SAMPLE DATA · 517 Larkwood Ave · Jordan Avery, REALTOR®, Sample Realty, LLC</a:t>
            </a:r>
            <a:endParaRPr lang="en-US" sz="800" dirty="0"/>
          </a:p>
        </p:txBody>
      </p:sp>
      <p:sp>
        <p:nvSpPr>
          <p:cNvPr id="21" name="Text 19"/>
          <p:cNvSpPr txBox="1"/>
          <p:nvPr/>
        </p:nvSpPr>
        <p:spPr>
          <a:xfrm>
            <a:off x="8229600" y="4796028"/>
            <a:ext cx="457200" cy="228600"/>
          </a:xfrm>
          <a:prstGeom prst="rect">
            <a:avLst/>
          </a:prstGeom>
          <a:noFill/>
          <a:ln/>
        </p:spPr>
        <p:txBody>
          <a:bodyPr wrap="square" lIns="0" tIns="0" rIns="0" bIns="0" rtlCol="0" anchor="ctr"/>
          <a:lstStyle/>
          <a:p>
            <a:pPr algn="r" indent="0" marL="0">
              <a:buNone/>
            </a:pPr>
            <a:r>
              <a:rPr lang="en-US" sz="800" dirty="0">
                <a:solidFill>
                  <a:srgbClr val="5E5E5E"/>
                </a:solidFill>
                <a:latin typeface="Arial" pitchFamily="34" charset="0"/>
                <a:ea typeface="Arial" pitchFamily="34" charset="-122"/>
                <a:cs typeface="Arial" pitchFamily="34" charset="-120"/>
              </a:rPr>
              <a:t>8</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8229600" cy="566928"/>
          </a:xfrm>
          <a:prstGeom prst="rect">
            <a:avLst/>
          </a:prstGeom>
          <a:noFill/>
          <a:ln/>
        </p:spPr>
        <p:txBody>
          <a:bodyPr wrap="square" lIns="0" tIns="0" rIns="0" bIns="0" rtlCol="0" anchor="t"/>
          <a:lstStyle/>
          <a:p>
            <a:pPr indent="0" marL="0">
              <a:buNone/>
            </a:pPr>
            <a:r>
              <a:rPr lang="en-US" sz="2600" b="1" dirty="0">
                <a:solidFill>
                  <a:srgbClr val="1A1A1A"/>
                </a:solidFill>
                <a:latin typeface="Arial" pitchFamily="34" charset="0"/>
                <a:ea typeface="Arial" pitchFamily="34" charset="-122"/>
                <a:cs typeface="Arial" pitchFamily="34" charset="-120"/>
              </a:rPr>
              <a:t>Three Ways to Price It</a:t>
            </a:r>
            <a:endParaRPr lang="en-US" sz="2600" dirty="0"/>
          </a:p>
        </p:txBody>
      </p:sp>
      <p:sp>
        <p:nvSpPr>
          <p:cNvPr id="3" name="Shape 1"/>
          <p:cNvSpPr/>
          <p:nvPr/>
        </p:nvSpPr>
        <p:spPr>
          <a:xfrm>
            <a:off x="457200" y="1051560"/>
            <a:ext cx="2560320" cy="2926080"/>
          </a:xfrm>
          <a:prstGeom prst="roundRect">
            <a:avLst>
              <a:gd name="adj" fmla="val 2857"/>
            </a:avLst>
          </a:prstGeom>
          <a:solidFill>
            <a:srgbClr val="FBF2EE"/>
          </a:solidFill>
          <a:ln w="12700">
            <a:solidFill>
              <a:srgbClr val="FBF2EE"/>
            </a:solidFill>
            <a:prstDash val="solid"/>
          </a:ln>
        </p:spPr>
      </p:sp>
      <p:sp>
        <p:nvSpPr>
          <p:cNvPr id="4" name="Text 2"/>
          <p:cNvSpPr txBox="1"/>
          <p:nvPr/>
        </p:nvSpPr>
        <p:spPr>
          <a:xfrm>
            <a:off x="658368" y="1188720"/>
            <a:ext cx="2157984" cy="228600"/>
          </a:xfrm>
          <a:prstGeom prst="rect">
            <a:avLst/>
          </a:prstGeom>
          <a:noFill/>
          <a:ln/>
        </p:spPr>
        <p:txBody>
          <a:bodyPr wrap="square" lIns="0" tIns="0" rIns="0" bIns="0" rtlCol="0" anchor="ctr"/>
          <a:lstStyle/>
          <a:p>
            <a:pPr indent="0" marL="0">
              <a:buNone/>
            </a:pPr>
            <a:r>
              <a:rPr lang="en-US" sz="1000" b="1" dirty="0">
                <a:solidFill>
                  <a:srgbClr val="C2410C"/>
                </a:solidFill>
                <a:latin typeface="Arial" pitchFamily="34" charset="0"/>
                <a:ea typeface="Arial" pitchFamily="34" charset="-122"/>
                <a:cs typeface="Arial" pitchFamily="34" charset="-120"/>
              </a:rPr>
              <a:t>PREMIUM</a:t>
            </a:r>
            <a:endParaRPr lang="en-US" sz="1000" dirty="0"/>
          </a:p>
        </p:txBody>
      </p:sp>
      <p:sp>
        <p:nvSpPr>
          <p:cNvPr id="5" name="Text 3"/>
          <p:cNvSpPr txBox="1"/>
          <p:nvPr/>
        </p:nvSpPr>
        <p:spPr>
          <a:xfrm>
            <a:off x="658368" y="1435608"/>
            <a:ext cx="2157984" cy="548640"/>
          </a:xfrm>
          <a:prstGeom prst="rect">
            <a:avLst/>
          </a:prstGeom>
          <a:noFill/>
          <a:ln/>
        </p:spPr>
        <p:txBody>
          <a:bodyPr wrap="square" lIns="0" tIns="0" rIns="0" bIns="0" rtlCol="0" anchor="ctr"/>
          <a:lstStyle/>
          <a:p>
            <a:pPr indent="0" marL="0">
              <a:buNone/>
            </a:pPr>
            <a:r>
              <a:rPr lang="en-US" sz="3000" b="1" dirty="0">
                <a:solidFill>
                  <a:srgbClr val="C2410C"/>
                </a:solidFill>
                <a:latin typeface="Arial" pitchFamily="34" charset="0"/>
                <a:ea typeface="Arial" pitchFamily="34" charset="-122"/>
                <a:cs typeface="Arial" pitchFamily="34" charset="-120"/>
              </a:rPr>
              <a:t>$475,000</a:t>
            </a:r>
            <a:endParaRPr lang="en-US" sz="3000" dirty="0"/>
          </a:p>
        </p:txBody>
      </p:sp>
      <p:sp>
        <p:nvSpPr>
          <p:cNvPr id="6" name="Text 4"/>
          <p:cNvSpPr txBox="1"/>
          <p:nvPr/>
        </p:nvSpPr>
        <p:spPr>
          <a:xfrm>
            <a:off x="658368" y="2075688"/>
            <a:ext cx="1180377" cy="347472"/>
          </a:xfrm>
          <a:prstGeom prst="rect">
            <a:avLst/>
          </a:prstGeom>
          <a:noFill/>
          <a:ln/>
        </p:spPr>
        <p:txBody>
          <a:bodyPr wrap="square" lIns="0" tIns="0" rIns="0" bIns="0" rtlCol="0" anchor="ctr"/>
          <a:lstStyle/>
          <a:p>
            <a:pPr indent="0" marL="0">
              <a:buNone/>
            </a:pPr>
            <a:r>
              <a:rPr lang="en-US" sz="1100" dirty="0">
                <a:solidFill>
                  <a:srgbClr val="5E5E5E"/>
                </a:solidFill>
                <a:latin typeface="Arial" pitchFamily="34" charset="0"/>
                <a:ea typeface="Arial" pitchFamily="34" charset="-122"/>
                <a:cs typeface="Arial" pitchFamily="34" charset="-120"/>
              </a:rPr>
              <a:t>Time to Contract</a:t>
            </a:r>
            <a:endParaRPr lang="en-US" sz="1100" dirty="0"/>
          </a:p>
        </p:txBody>
      </p:sp>
      <p:sp>
        <p:nvSpPr>
          <p:cNvPr id="7" name="Text 5"/>
          <p:cNvSpPr txBox="1"/>
          <p:nvPr/>
        </p:nvSpPr>
        <p:spPr>
          <a:xfrm>
            <a:off x="1930185" y="2075688"/>
            <a:ext cx="886167" cy="347472"/>
          </a:xfrm>
          <a:prstGeom prst="rect">
            <a:avLst/>
          </a:prstGeom>
          <a:noFill/>
          <a:ln/>
        </p:spPr>
        <p:txBody>
          <a:bodyPr wrap="square" lIns="0" tIns="0" rIns="0" bIns="0" rtlCol="0" anchor="ctr"/>
          <a:lstStyle/>
          <a:p>
            <a:pPr algn="r" indent="0" marL="0">
              <a:buNone/>
            </a:pPr>
            <a:r>
              <a:rPr lang="en-US" sz="1300" b="1" dirty="0">
                <a:solidFill>
                  <a:srgbClr val="1A1A1A"/>
                </a:solidFill>
                <a:latin typeface="Arial" pitchFamily="34" charset="0"/>
                <a:ea typeface="Arial" pitchFamily="34" charset="-122"/>
                <a:cs typeface="Arial" pitchFamily="34" charset="-120"/>
              </a:rPr>
              <a:t>5–9 weeks</a:t>
            </a:r>
            <a:endParaRPr lang="en-US" sz="1300" dirty="0"/>
          </a:p>
        </p:txBody>
      </p:sp>
      <p:sp>
        <p:nvSpPr>
          <p:cNvPr id="8" name="Text 6"/>
          <p:cNvSpPr txBox="1"/>
          <p:nvPr/>
        </p:nvSpPr>
        <p:spPr>
          <a:xfrm>
            <a:off x="658368" y="2459736"/>
            <a:ext cx="1313962" cy="347472"/>
          </a:xfrm>
          <a:prstGeom prst="rect">
            <a:avLst/>
          </a:prstGeom>
          <a:noFill/>
          <a:ln/>
        </p:spPr>
        <p:txBody>
          <a:bodyPr wrap="square" lIns="0" tIns="0" rIns="0" bIns="0" rtlCol="0" anchor="ctr"/>
          <a:lstStyle/>
          <a:p>
            <a:pPr indent="0" marL="0">
              <a:buNone/>
            </a:pPr>
            <a:r>
              <a:rPr lang="en-US" sz="1100" dirty="0">
                <a:solidFill>
                  <a:srgbClr val="5E5E5E"/>
                </a:solidFill>
                <a:latin typeface="Arial" pitchFamily="34" charset="0"/>
                <a:ea typeface="Arial" pitchFamily="34" charset="-122"/>
                <a:cs typeface="Arial" pitchFamily="34" charset="-120"/>
              </a:rPr>
              <a:t>Expected Sale</a:t>
            </a:r>
            <a:endParaRPr lang="en-US" sz="1100" dirty="0"/>
          </a:p>
        </p:txBody>
      </p:sp>
      <p:sp>
        <p:nvSpPr>
          <p:cNvPr id="9" name="Text 7"/>
          <p:cNvSpPr txBox="1"/>
          <p:nvPr/>
        </p:nvSpPr>
        <p:spPr>
          <a:xfrm>
            <a:off x="2063770" y="2459736"/>
            <a:ext cx="752582" cy="347472"/>
          </a:xfrm>
          <a:prstGeom prst="rect">
            <a:avLst/>
          </a:prstGeom>
          <a:noFill/>
          <a:ln/>
        </p:spPr>
        <p:txBody>
          <a:bodyPr wrap="square" lIns="0" tIns="0" rIns="0" bIns="0" rtlCol="0" anchor="ctr"/>
          <a:lstStyle/>
          <a:p>
            <a:pPr algn="r" indent="0" marL="0">
              <a:buNone/>
            </a:pPr>
            <a:r>
              <a:rPr lang="en-US" sz="1300" b="1" dirty="0">
                <a:solidFill>
                  <a:srgbClr val="1A1A1A"/>
                </a:solidFill>
                <a:latin typeface="Arial" pitchFamily="34" charset="0"/>
                <a:ea typeface="Arial" pitchFamily="34" charset="-122"/>
                <a:cs typeface="Arial" pitchFamily="34" charset="-120"/>
              </a:rPr>
              <a:t>$467,500</a:t>
            </a:r>
            <a:endParaRPr lang="en-US" sz="1300" dirty="0"/>
          </a:p>
        </p:txBody>
      </p:sp>
      <p:sp>
        <p:nvSpPr>
          <p:cNvPr id="10" name="Text 8"/>
          <p:cNvSpPr txBox="1"/>
          <p:nvPr/>
        </p:nvSpPr>
        <p:spPr>
          <a:xfrm>
            <a:off x="658368" y="2843784"/>
            <a:ext cx="1409430" cy="347472"/>
          </a:xfrm>
          <a:prstGeom prst="rect">
            <a:avLst/>
          </a:prstGeom>
          <a:noFill/>
          <a:ln/>
        </p:spPr>
        <p:txBody>
          <a:bodyPr wrap="square" lIns="0" tIns="0" rIns="0" bIns="0" rtlCol="0" anchor="ctr"/>
          <a:lstStyle/>
          <a:p>
            <a:pPr indent="0" marL="0">
              <a:buNone/>
            </a:pPr>
            <a:r>
              <a:rPr lang="en-US" sz="1100" dirty="0">
                <a:solidFill>
                  <a:srgbClr val="5E5E5E"/>
                </a:solidFill>
                <a:latin typeface="Arial" pitchFamily="34" charset="0"/>
                <a:ea typeface="Arial" pitchFamily="34" charset="-122"/>
                <a:cs typeface="Arial" pitchFamily="34" charset="-120"/>
              </a:rPr>
              <a:t>Seller Credit</a:t>
            </a:r>
            <a:endParaRPr lang="en-US" sz="1100" dirty="0"/>
          </a:p>
        </p:txBody>
      </p:sp>
      <p:sp>
        <p:nvSpPr>
          <p:cNvPr id="11" name="Text 9"/>
          <p:cNvSpPr txBox="1"/>
          <p:nvPr/>
        </p:nvSpPr>
        <p:spPr>
          <a:xfrm>
            <a:off x="2159238" y="2843784"/>
            <a:ext cx="657114" cy="347472"/>
          </a:xfrm>
          <a:prstGeom prst="rect">
            <a:avLst/>
          </a:prstGeom>
          <a:noFill/>
          <a:ln/>
        </p:spPr>
        <p:txBody>
          <a:bodyPr wrap="square" lIns="0" tIns="0" rIns="0" bIns="0" rtlCol="0" anchor="ctr"/>
          <a:lstStyle/>
          <a:p>
            <a:pPr algn="r" indent="0" marL="0">
              <a:buNone/>
            </a:pPr>
            <a:r>
              <a:rPr lang="en-US" sz="1300" b="1" dirty="0">
                <a:solidFill>
                  <a:srgbClr val="1A1A1A"/>
                </a:solidFill>
                <a:latin typeface="Arial" pitchFamily="34" charset="0"/>
                <a:ea typeface="Arial" pitchFamily="34" charset="-122"/>
                <a:cs typeface="Arial" pitchFamily="34" charset="-120"/>
              </a:rPr>
              <a:t>$11,000</a:t>
            </a:r>
            <a:endParaRPr lang="en-US" sz="1300" dirty="0"/>
          </a:p>
        </p:txBody>
      </p:sp>
      <p:sp>
        <p:nvSpPr>
          <p:cNvPr id="12" name="Text 10"/>
          <p:cNvSpPr txBox="1"/>
          <p:nvPr/>
        </p:nvSpPr>
        <p:spPr>
          <a:xfrm>
            <a:off x="658368" y="3264408"/>
            <a:ext cx="2157984" cy="640080"/>
          </a:xfrm>
          <a:prstGeom prst="rect">
            <a:avLst/>
          </a:prstGeom>
          <a:noFill/>
          <a:ln/>
        </p:spPr>
        <p:txBody>
          <a:bodyPr wrap="square" lIns="0" tIns="0" rIns="0" bIns="0" rtlCol="0" anchor="t"/>
          <a:lstStyle/>
          <a:p>
            <a:pPr indent="0" marL="0">
              <a:buNone/>
            </a:pPr>
            <a:r>
              <a:rPr lang="en-US" sz="1100" dirty="0">
                <a:solidFill>
                  <a:srgbClr val="1A1A1A"/>
                </a:solidFill>
                <a:latin typeface="Arial" pitchFamily="34" charset="0"/>
                <a:ea typeface="Arial" pitchFamily="34" charset="-122"/>
                <a:cs typeface="Arial" pitchFamily="34" charset="-120"/>
              </a:rPr>
              <a:t>Tests the upper part of the range; takes longer and may need a price cut before an offer</a:t>
            </a:r>
            <a:endParaRPr lang="en-US" sz="1100" dirty="0"/>
          </a:p>
        </p:txBody>
      </p:sp>
      <p:sp>
        <p:nvSpPr>
          <p:cNvPr id="13" name="Shape 11"/>
          <p:cNvSpPr/>
          <p:nvPr/>
        </p:nvSpPr>
        <p:spPr>
          <a:xfrm>
            <a:off x="3291840" y="1051560"/>
            <a:ext cx="2560320" cy="2926080"/>
          </a:xfrm>
          <a:prstGeom prst="roundRect">
            <a:avLst>
              <a:gd name="adj" fmla="val 2857"/>
            </a:avLst>
          </a:prstGeom>
          <a:solidFill>
            <a:srgbClr val="C2410C"/>
          </a:solidFill>
          <a:ln w="12700">
            <a:solidFill>
              <a:srgbClr val="C2410C"/>
            </a:solidFill>
            <a:prstDash val="solid"/>
          </a:ln>
        </p:spPr>
      </p:sp>
      <p:sp>
        <p:nvSpPr>
          <p:cNvPr id="14" name="Text 12"/>
          <p:cNvSpPr txBox="1"/>
          <p:nvPr/>
        </p:nvSpPr>
        <p:spPr>
          <a:xfrm>
            <a:off x="3493008" y="1188720"/>
            <a:ext cx="2157984" cy="228600"/>
          </a:xfrm>
          <a:prstGeom prst="rect">
            <a:avLst/>
          </a:prstGeom>
          <a:noFill/>
          <a:ln/>
        </p:spPr>
        <p:txBody>
          <a:bodyPr wrap="square" lIns="0" tIns="0" rIns="0" bIns="0" rtlCol="0" anchor="ctr"/>
          <a:lstStyle/>
          <a:p>
            <a:pPr indent="0" marL="0">
              <a:buNone/>
            </a:pPr>
            <a:r>
              <a:rPr lang="en-US" sz="950" b="1" dirty="0">
                <a:solidFill>
                  <a:srgbClr val="FFFFFF"/>
                </a:solidFill>
                <a:latin typeface="Arial" pitchFamily="34" charset="0"/>
                <a:ea typeface="Arial" pitchFamily="34" charset="-122"/>
                <a:cs typeface="Arial" pitchFamily="34" charset="-120"/>
              </a:rPr>
              <a:t>MARKET PRICE · RECOMMENDED</a:t>
            </a:r>
            <a:endParaRPr lang="en-US" sz="950" dirty="0"/>
          </a:p>
        </p:txBody>
      </p:sp>
      <p:sp>
        <p:nvSpPr>
          <p:cNvPr id="15" name="Text 13"/>
          <p:cNvSpPr txBox="1"/>
          <p:nvPr/>
        </p:nvSpPr>
        <p:spPr>
          <a:xfrm>
            <a:off x="3493008" y="1435608"/>
            <a:ext cx="2157984" cy="548640"/>
          </a:xfrm>
          <a:prstGeom prst="rect">
            <a:avLst/>
          </a:prstGeom>
          <a:noFill/>
          <a:ln/>
        </p:spPr>
        <p:txBody>
          <a:bodyPr wrap="square" lIns="0" tIns="0" rIns="0" bIns="0" rtlCol="0" anchor="ctr"/>
          <a:lstStyle/>
          <a:p>
            <a:pPr indent="0" marL="0">
              <a:buNone/>
            </a:pPr>
            <a:r>
              <a:rPr lang="en-US" sz="3000" b="1" dirty="0">
                <a:solidFill>
                  <a:srgbClr val="FFFFFF"/>
                </a:solidFill>
                <a:latin typeface="Arial" pitchFamily="34" charset="0"/>
                <a:ea typeface="Arial" pitchFamily="34" charset="-122"/>
                <a:cs typeface="Arial" pitchFamily="34" charset="-120"/>
              </a:rPr>
              <a:t>$470,000</a:t>
            </a:r>
            <a:endParaRPr lang="en-US" sz="3000" dirty="0"/>
          </a:p>
        </p:txBody>
      </p:sp>
      <p:sp>
        <p:nvSpPr>
          <p:cNvPr id="16" name="Text 14"/>
          <p:cNvSpPr txBox="1"/>
          <p:nvPr/>
        </p:nvSpPr>
        <p:spPr>
          <a:xfrm>
            <a:off x="3493008" y="2075688"/>
            <a:ext cx="1180377" cy="347472"/>
          </a:xfrm>
          <a:prstGeom prst="rect">
            <a:avLst/>
          </a:prstGeom>
          <a:noFill/>
          <a:ln/>
        </p:spPr>
        <p:txBody>
          <a:bodyPr wrap="square" lIns="0" tIns="0" rIns="0" bIns="0" rtlCol="0" anchor="ctr"/>
          <a:lstStyle/>
          <a:p>
            <a:pPr indent="0" marL="0">
              <a:buNone/>
            </a:pPr>
            <a:r>
              <a:rPr lang="en-US" sz="1100" dirty="0">
                <a:solidFill>
                  <a:srgbClr val="FFFFFF"/>
                </a:solidFill>
                <a:latin typeface="Arial" pitchFamily="34" charset="0"/>
                <a:ea typeface="Arial" pitchFamily="34" charset="-122"/>
                <a:cs typeface="Arial" pitchFamily="34" charset="-120"/>
              </a:rPr>
              <a:t>Time to Contract</a:t>
            </a:r>
            <a:endParaRPr lang="en-US" sz="1100" dirty="0"/>
          </a:p>
        </p:txBody>
      </p:sp>
      <p:sp>
        <p:nvSpPr>
          <p:cNvPr id="17" name="Text 15"/>
          <p:cNvSpPr txBox="1"/>
          <p:nvPr/>
        </p:nvSpPr>
        <p:spPr>
          <a:xfrm>
            <a:off x="4764825" y="2075688"/>
            <a:ext cx="886167" cy="347472"/>
          </a:xfrm>
          <a:prstGeom prst="rect">
            <a:avLst/>
          </a:prstGeom>
          <a:noFill/>
          <a:ln/>
        </p:spPr>
        <p:txBody>
          <a:bodyPr wrap="square" lIns="0" tIns="0" rIns="0" bIns="0" rtlCol="0" anchor="ctr"/>
          <a:lstStyle/>
          <a:p>
            <a:pPr algn="r" indent="0" marL="0">
              <a:buNone/>
            </a:pPr>
            <a:r>
              <a:rPr lang="en-US" sz="1300" b="1" dirty="0">
                <a:solidFill>
                  <a:srgbClr val="FFFFFF"/>
                </a:solidFill>
                <a:latin typeface="Arial" pitchFamily="34" charset="0"/>
                <a:ea typeface="Arial" pitchFamily="34" charset="-122"/>
                <a:cs typeface="Arial" pitchFamily="34" charset="-120"/>
              </a:rPr>
              <a:t>2–5 weeks</a:t>
            </a:r>
            <a:endParaRPr lang="en-US" sz="1300" dirty="0"/>
          </a:p>
        </p:txBody>
      </p:sp>
      <p:sp>
        <p:nvSpPr>
          <p:cNvPr id="18" name="Text 16"/>
          <p:cNvSpPr txBox="1"/>
          <p:nvPr/>
        </p:nvSpPr>
        <p:spPr>
          <a:xfrm>
            <a:off x="3493008" y="2459736"/>
            <a:ext cx="1313962" cy="347472"/>
          </a:xfrm>
          <a:prstGeom prst="rect">
            <a:avLst/>
          </a:prstGeom>
          <a:noFill/>
          <a:ln/>
        </p:spPr>
        <p:txBody>
          <a:bodyPr wrap="square" lIns="0" tIns="0" rIns="0" bIns="0" rtlCol="0" anchor="ctr"/>
          <a:lstStyle/>
          <a:p>
            <a:pPr indent="0" marL="0">
              <a:buNone/>
            </a:pPr>
            <a:r>
              <a:rPr lang="en-US" sz="1100" dirty="0">
                <a:solidFill>
                  <a:srgbClr val="FFFFFF"/>
                </a:solidFill>
                <a:latin typeface="Arial" pitchFamily="34" charset="0"/>
                <a:ea typeface="Arial" pitchFamily="34" charset="-122"/>
                <a:cs typeface="Arial" pitchFamily="34" charset="-120"/>
              </a:rPr>
              <a:t>Expected Sale</a:t>
            </a:r>
            <a:endParaRPr lang="en-US" sz="1100" dirty="0"/>
          </a:p>
        </p:txBody>
      </p:sp>
      <p:sp>
        <p:nvSpPr>
          <p:cNvPr id="19" name="Text 17"/>
          <p:cNvSpPr txBox="1"/>
          <p:nvPr/>
        </p:nvSpPr>
        <p:spPr>
          <a:xfrm>
            <a:off x="4898410" y="2459736"/>
            <a:ext cx="752582" cy="347472"/>
          </a:xfrm>
          <a:prstGeom prst="rect">
            <a:avLst/>
          </a:prstGeom>
          <a:noFill/>
          <a:ln/>
        </p:spPr>
        <p:txBody>
          <a:bodyPr wrap="square" lIns="0" tIns="0" rIns="0" bIns="0" rtlCol="0" anchor="ctr"/>
          <a:lstStyle/>
          <a:p>
            <a:pPr algn="r" indent="0" marL="0">
              <a:buNone/>
            </a:pPr>
            <a:r>
              <a:rPr lang="en-US" sz="1300" b="1" dirty="0">
                <a:solidFill>
                  <a:srgbClr val="FFFFFF"/>
                </a:solidFill>
                <a:latin typeface="Arial" pitchFamily="34" charset="0"/>
                <a:ea typeface="Arial" pitchFamily="34" charset="-122"/>
                <a:cs typeface="Arial" pitchFamily="34" charset="-120"/>
              </a:rPr>
              <a:t>$467,000</a:t>
            </a:r>
            <a:endParaRPr lang="en-US" sz="1300" dirty="0"/>
          </a:p>
        </p:txBody>
      </p:sp>
      <p:sp>
        <p:nvSpPr>
          <p:cNvPr id="20" name="Text 18"/>
          <p:cNvSpPr txBox="1"/>
          <p:nvPr/>
        </p:nvSpPr>
        <p:spPr>
          <a:xfrm>
            <a:off x="3493008" y="2843784"/>
            <a:ext cx="1409430" cy="347472"/>
          </a:xfrm>
          <a:prstGeom prst="rect">
            <a:avLst/>
          </a:prstGeom>
          <a:noFill/>
          <a:ln/>
        </p:spPr>
        <p:txBody>
          <a:bodyPr wrap="square" lIns="0" tIns="0" rIns="0" bIns="0" rtlCol="0" anchor="ctr"/>
          <a:lstStyle/>
          <a:p>
            <a:pPr indent="0" marL="0">
              <a:buNone/>
            </a:pPr>
            <a:r>
              <a:rPr lang="en-US" sz="1100" dirty="0">
                <a:solidFill>
                  <a:srgbClr val="FFFFFF"/>
                </a:solidFill>
                <a:latin typeface="Arial" pitchFamily="34" charset="0"/>
                <a:ea typeface="Arial" pitchFamily="34" charset="-122"/>
                <a:cs typeface="Arial" pitchFamily="34" charset="-120"/>
              </a:rPr>
              <a:t>Seller Credit</a:t>
            </a:r>
            <a:endParaRPr lang="en-US" sz="1100" dirty="0"/>
          </a:p>
        </p:txBody>
      </p:sp>
      <p:sp>
        <p:nvSpPr>
          <p:cNvPr id="21" name="Text 19"/>
          <p:cNvSpPr txBox="1"/>
          <p:nvPr/>
        </p:nvSpPr>
        <p:spPr>
          <a:xfrm>
            <a:off x="4993878" y="2843784"/>
            <a:ext cx="657114" cy="347472"/>
          </a:xfrm>
          <a:prstGeom prst="rect">
            <a:avLst/>
          </a:prstGeom>
          <a:noFill/>
          <a:ln/>
        </p:spPr>
        <p:txBody>
          <a:bodyPr wrap="square" lIns="0" tIns="0" rIns="0" bIns="0" rtlCol="0" anchor="ctr"/>
          <a:lstStyle/>
          <a:p>
            <a:pPr algn="r" indent="0" marL="0">
              <a:buNone/>
            </a:pPr>
            <a:r>
              <a:rPr lang="en-US" sz="1300" b="1" dirty="0">
                <a:solidFill>
                  <a:srgbClr val="FFFFFF"/>
                </a:solidFill>
                <a:latin typeface="Arial" pitchFamily="34" charset="0"/>
                <a:ea typeface="Arial" pitchFamily="34" charset="-122"/>
                <a:cs typeface="Arial" pitchFamily="34" charset="-120"/>
              </a:rPr>
              <a:t>$11,000</a:t>
            </a:r>
            <a:endParaRPr lang="en-US" sz="1300" dirty="0"/>
          </a:p>
        </p:txBody>
      </p:sp>
      <p:sp>
        <p:nvSpPr>
          <p:cNvPr id="22" name="Text 20"/>
          <p:cNvSpPr txBox="1"/>
          <p:nvPr/>
        </p:nvSpPr>
        <p:spPr>
          <a:xfrm>
            <a:off x="3493008" y="3264408"/>
            <a:ext cx="2157984" cy="640080"/>
          </a:xfrm>
          <a:prstGeom prst="rect">
            <a:avLst/>
          </a:prstGeom>
          <a:noFill/>
          <a:ln/>
        </p:spPr>
        <p:txBody>
          <a:bodyPr wrap="square" lIns="0" tIns="0" rIns="0" bIns="0" rtlCol="0" anchor="t"/>
          <a:lstStyle/>
          <a:p>
            <a:pPr indent="0" marL="0">
              <a:buNone/>
            </a:pPr>
            <a:r>
              <a:rPr lang="en-US" sz="1100" dirty="0">
                <a:solidFill>
                  <a:srgbClr val="FFFFFF"/>
                </a:solidFill>
                <a:latin typeface="Arial" pitchFamily="34" charset="0"/>
                <a:ea typeface="Arial" pitchFamily="34" charset="-122"/>
                <a:cs typeface="Arial" pitchFamily="34" charset="-120"/>
              </a:rPr>
              <a:t>Priced where recent adjusted sales support; room to negotiate</a:t>
            </a:r>
            <a:endParaRPr lang="en-US" sz="1100" dirty="0"/>
          </a:p>
        </p:txBody>
      </p:sp>
      <p:sp>
        <p:nvSpPr>
          <p:cNvPr id="23" name="Shape 21"/>
          <p:cNvSpPr/>
          <p:nvPr/>
        </p:nvSpPr>
        <p:spPr>
          <a:xfrm>
            <a:off x="6126480" y="1051560"/>
            <a:ext cx="2560320" cy="2926080"/>
          </a:xfrm>
          <a:prstGeom prst="roundRect">
            <a:avLst>
              <a:gd name="adj" fmla="val 2857"/>
            </a:avLst>
          </a:prstGeom>
          <a:solidFill>
            <a:srgbClr val="FBF2EE"/>
          </a:solidFill>
          <a:ln w="12700">
            <a:solidFill>
              <a:srgbClr val="FBF2EE"/>
            </a:solidFill>
            <a:prstDash val="solid"/>
          </a:ln>
        </p:spPr>
      </p:sp>
      <p:sp>
        <p:nvSpPr>
          <p:cNvPr id="24" name="Text 22"/>
          <p:cNvSpPr txBox="1"/>
          <p:nvPr/>
        </p:nvSpPr>
        <p:spPr>
          <a:xfrm>
            <a:off x="6327648" y="1188720"/>
            <a:ext cx="2157984" cy="228600"/>
          </a:xfrm>
          <a:prstGeom prst="rect">
            <a:avLst/>
          </a:prstGeom>
          <a:noFill/>
          <a:ln/>
        </p:spPr>
        <p:txBody>
          <a:bodyPr wrap="square" lIns="0" tIns="0" rIns="0" bIns="0" rtlCol="0" anchor="ctr"/>
          <a:lstStyle/>
          <a:p>
            <a:pPr indent="0" marL="0">
              <a:buNone/>
            </a:pPr>
            <a:r>
              <a:rPr lang="en-US" sz="1000" b="1" dirty="0">
                <a:solidFill>
                  <a:srgbClr val="C2410C"/>
                </a:solidFill>
                <a:latin typeface="Arial" pitchFamily="34" charset="0"/>
                <a:ea typeface="Arial" pitchFamily="34" charset="-122"/>
                <a:cs typeface="Arial" pitchFamily="34" charset="-120"/>
              </a:rPr>
              <a:t>DRAW OFFERS</a:t>
            </a:r>
            <a:endParaRPr lang="en-US" sz="1000" dirty="0"/>
          </a:p>
        </p:txBody>
      </p:sp>
      <p:sp>
        <p:nvSpPr>
          <p:cNvPr id="25" name="Text 23"/>
          <p:cNvSpPr txBox="1"/>
          <p:nvPr/>
        </p:nvSpPr>
        <p:spPr>
          <a:xfrm>
            <a:off x="6327648" y="1435608"/>
            <a:ext cx="2157984" cy="548640"/>
          </a:xfrm>
          <a:prstGeom prst="rect">
            <a:avLst/>
          </a:prstGeom>
          <a:noFill/>
          <a:ln/>
        </p:spPr>
        <p:txBody>
          <a:bodyPr wrap="square" lIns="0" tIns="0" rIns="0" bIns="0" rtlCol="0" anchor="ctr"/>
          <a:lstStyle/>
          <a:p>
            <a:pPr indent="0" marL="0">
              <a:buNone/>
            </a:pPr>
            <a:r>
              <a:rPr lang="en-US" sz="3000" b="1" dirty="0">
                <a:solidFill>
                  <a:srgbClr val="C2410C"/>
                </a:solidFill>
                <a:latin typeface="Arial" pitchFamily="34" charset="0"/>
                <a:ea typeface="Arial" pitchFamily="34" charset="-122"/>
                <a:cs typeface="Arial" pitchFamily="34" charset="-120"/>
              </a:rPr>
              <a:t>$460,000</a:t>
            </a:r>
            <a:endParaRPr lang="en-US" sz="3000" dirty="0"/>
          </a:p>
        </p:txBody>
      </p:sp>
      <p:sp>
        <p:nvSpPr>
          <p:cNvPr id="26" name="Text 24"/>
          <p:cNvSpPr txBox="1"/>
          <p:nvPr/>
        </p:nvSpPr>
        <p:spPr>
          <a:xfrm>
            <a:off x="6327648" y="2075688"/>
            <a:ext cx="1180377" cy="347472"/>
          </a:xfrm>
          <a:prstGeom prst="rect">
            <a:avLst/>
          </a:prstGeom>
          <a:noFill/>
          <a:ln/>
        </p:spPr>
        <p:txBody>
          <a:bodyPr wrap="square" lIns="0" tIns="0" rIns="0" bIns="0" rtlCol="0" anchor="ctr"/>
          <a:lstStyle/>
          <a:p>
            <a:pPr indent="0" marL="0">
              <a:buNone/>
            </a:pPr>
            <a:r>
              <a:rPr lang="en-US" sz="1100" dirty="0">
                <a:solidFill>
                  <a:srgbClr val="5E5E5E"/>
                </a:solidFill>
                <a:latin typeface="Arial" pitchFamily="34" charset="0"/>
                <a:ea typeface="Arial" pitchFamily="34" charset="-122"/>
                <a:cs typeface="Arial" pitchFamily="34" charset="-120"/>
              </a:rPr>
              <a:t>Time to Contract</a:t>
            </a:r>
            <a:endParaRPr lang="en-US" sz="1100" dirty="0"/>
          </a:p>
        </p:txBody>
      </p:sp>
      <p:sp>
        <p:nvSpPr>
          <p:cNvPr id="27" name="Text 25"/>
          <p:cNvSpPr txBox="1"/>
          <p:nvPr/>
        </p:nvSpPr>
        <p:spPr>
          <a:xfrm>
            <a:off x="7599465" y="2075688"/>
            <a:ext cx="886167" cy="347472"/>
          </a:xfrm>
          <a:prstGeom prst="rect">
            <a:avLst/>
          </a:prstGeom>
          <a:noFill/>
          <a:ln/>
        </p:spPr>
        <p:txBody>
          <a:bodyPr wrap="square" lIns="0" tIns="0" rIns="0" bIns="0" rtlCol="0" anchor="ctr"/>
          <a:lstStyle/>
          <a:p>
            <a:pPr algn="r" indent="0" marL="0">
              <a:buNone/>
            </a:pPr>
            <a:r>
              <a:rPr lang="en-US" sz="1300" b="1" dirty="0">
                <a:solidFill>
                  <a:srgbClr val="1A1A1A"/>
                </a:solidFill>
                <a:latin typeface="Arial" pitchFamily="34" charset="0"/>
                <a:ea typeface="Arial" pitchFamily="34" charset="-122"/>
                <a:cs typeface="Arial" pitchFamily="34" charset="-120"/>
              </a:rPr>
              <a:t>1–2 weeks</a:t>
            </a:r>
            <a:endParaRPr lang="en-US" sz="1300" dirty="0"/>
          </a:p>
        </p:txBody>
      </p:sp>
      <p:sp>
        <p:nvSpPr>
          <p:cNvPr id="28" name="Text 26"/>
          <p:cNvSpPr txBox="1"/>
          <p:nvPr/>
        </p:nvSpPr>
        <p:spPr>
          <a:xfrm>
            <a:off x="6327648" y="2459736"/>
            <a:ext cx="1313962" cy="347472"/>
          </a:xfrm>
          <a:prstGeom prst="rect">
            <a:avLst/>
          </a:prstGeom>
          <a:noFill/>
          <a:ln/>
        </p:spPr>
        <p:txBody>
          <a:bodyPr wrap="square" lIns="0" tIns="0" rIns="0" bIns="0" rtlCol="0" anchor="ctr"/>
          <a:lstStyle/>
          <a:p>
            <a:pPr indent="0" marL="0">
              <a:buNone/>
            </a:pPr>
            <a:r>
              <a:rPr lang="en-US" sz="1100" dirty="0">
                <a:solidFill>
                  <a:srgbClr val="5E5E5E"/>
                </a:solidFill>
                <a:latin typeface="Arial" pitchFamily="34" charset="0"/>
                <a:ea typeface="Arial" pitchFamily="34" charset="-122"/>
                <a:cs typeface="Arial" pitchFamily="34" charset="-120"/>
              </a:rPr>
              <a:t>Expected Sale</a:t>
            </a:r>
            <a:endParaRPr lang="en-US" sz="1100" dirty="0"/>
          </a:p>
        </p:txBody>
      </p:sp>
      <p:sp>
        <p:nvSpPr>
          <p:cNvPr id="29" name="Text 27"/>
          <p:cNvSpPr txBox="1"/>
          <p:nvPr/>
        </p:nvSpPr>
        <p:spPr>
          <a:xfrm>
            <a:off x="7733050" y="2459736"/>
            <a:ext cx="752582" cy="347472"/>
          </a:xfrm>
          <a:prstGeom prst="rect">
            <a:avLst/>
          </a:prstGeom>
          <a:noFill/>
          <a:ln/>
        </p:spPr>
        <p:txBody>
          <a:bodyPr wrap="square" lIns="0" tIns="0" rIns="0" bIns="0" rtlCol="0" anchor="ctr"/>
          <a:lstStyle/>
          <a:p>
            <a:pPr algn="r" indent="0" marL="0">
              <a:buNone/>
            </a:pPr>
            <a:r>
              <a:rPr lang="en-US" sz="1300" b="1" dirty="0">
                <a:solidFill>
                  <a:srgbClr val="1A1A1A"/>
                </a:solidFill>
                <a:latin typeface="Arial" pitchFamily="34" charset="0"/>
                <a:ea typeface="Arial" pitchFamily="34" charset="-122"/>
                <a:cs typeface="Arial" pitchFamily="34" charset="-120"/>
              </a:rPr>
              <a:t>$457,000</a:t>
            </a:r>
            <a:endParaRPr lang="en-US" sz="1300" dirty="0"/>
          </a:p>
        </p:txBody>
      </p:sp>
      <p:sp>
        <p:nvSpPr>
          <p:cNvPr id="30" name="Text 28"/>
          <p:cNvSpPr txBox="1"/>
          <p:nvPr/>
        </p:nvSpPr>
        <p:spPr>
          <a:xfrm>
            <a:off x="6327648" y="2843784"/>
            <a:ext cx="1409430" cy="347472"/>
          </a:xfrm>
          <a:prstGeom prst="rect">
            <a:avLst/>
          </a:prstGeom>
          <a:noFill/>
          <a:ln/>
        </p:spPr>
        <p:txBody>
          <a:bodyPr wrap="square" lIns="0" tIns="0" rIns="0" bIns="0" rtlCol="0" anchor="ctr"/>
          <a:lstStyle/>
          <a:p>
            <a:pPr indent="0" marL="0">
              <a:buNone/>
            </a:pPr>
            <a:r>
              <a:rPr lang="en-US" sz="1100" dirty="0">
                <a:solidFill>
                  <a:srgbClr val="5E5E5E"/>
                </a:solidFill>
                <a:latin typeface="Arial" pitchFamily="34" charset="0"/>
                <a:ea typeface="Arial" pitchFamily="34" charset="-122"/>
                <a:cs typeface="Arial" pitchFamily="34" charset="-120"/>
              </a:rPr>
              <a:t>Seller Credit</a:t>
            </a:r>
            <a:endParaRPr lang="en-US" sz="1100" dirty="0"/>
          </a:p>
        </p:txBody>
      </p:sp>
      <p:sp>
        <p:nvSpPr>
          <p:cNvPr id="31" name="Text 29"/>
          <p:cNvSpPr txBox="1"/>
          <p:nvPr/>
        </p:nvSpPr>
        <p:spPr>
          <a:xfrm>
            <a:off x="7828518" y="2843784"/>
            <a:ext cx="657114" cy="347472"/>
          </a:xfrm>
          <a:prstGeom prst="rect">
            <a:avLst/>
          </a:prstGeom>
          <a:noFill/>
          <a:ln/>
        </p:spPr>
        <p:txBody>
          <a:bodyPr wrap="square" lIns="0" tIns="0" rIns="0" bIns="0" rtlCol="0" anchor="ctr"/>
          <a:lstStyle/>
          <a:p>
            <a:pPr algn="r" indent="0" marL="0">
              <a:buNone/>
            </a:pPr>
            <a:r>
              <a:rPr lang="en-US" sz="1300" b="1" dirty="0">
                <a:solidFill>
                  <a:srgbClr val="1A1A1A"/>
                </a:solidFill>
                <a:latin typeface="Arial" pitchFamily="34" charset="0"/>
                <a:ea typeface="Arial" pitchFamily="34" charset="-122"/>
                <a:cs typeface="Arial" pitchFamily="34" charset="-120"/>
              </a:rPr>
              <a:t>$11,000</a:t>
            </a:r>
            <a:endParaRPr lang="en-US" sz="1300" dirty="0"/>
          </a:p>
        </p:txBody>
      </p:sp>
      <p:sp>
        <p:nvSpPr>
          <p:cNvPr id="32" name="Text 30"/>
          <p:cNvSpPr txBox="1"/>
          <p:nvPr/>
        </p:nvSpPr>
        <p:spPr>
          <a:xfrm>
            <a:off x="6327648" y="3264408"/>
            <a:ext cx="2157984" cy="640080"/>
          </a:xfrm>
          <a:prstGeom prst="rect">
            <a:avLst/>
          </a:prstGeom>
          <a:noFill/>
          <a:ln/>
        </p:spPr>
        <p:txBody>
          <a:bodyPr wrap="square" lIns="0" tIns="0" rIns="0" bIns="0" rtlCol="0" anchor="t"/>
          <a:lstStyle/>
          <a:p>
            <a:pPr indent="0" marL="0">
              <a:buNone/>
            </a:pPr>
            <a:r>
              <a:rPr lang="en-US" sz="1100" dirty="0">
                <a:solidFill>
                  <a:srgbClr val="1A1A1A"/>
                </a:solidFill>
                <a:latin typeface="Arial" pitchFamily="34" charset="0"/>
                <a:ea typeface="Arial" pitchFamily="34" charset="-122"/>
                <a:cs typeface="Arial" pitchFamily="34" charset="-120"/>
              </a:rPr>
              <a:t>Priced to bring the most buyers in early and draw offers; usually the fastest to contract</a:t>
            </a:r>
            <a:endParaRPr lang="en-US" sz="1100" dirty="0"/>
          </a:p>
        </p:txBody>
      </p:sp>
      <p:sp>
        <p:nvSpPr>
          <p:cNvPr id="33" name="Text 31"/>
          <p:cNvSpPr txBox="1"/>
          <p:nvPr/>
        </p:nvSpPr>
        <p:spPr>
          <a:xfrm>
            <a:off x="457200" y="4114800"/>
            <a:ext cx="8229600" cy="589788"/>
          </a:xfrm>
          <a:prstGeom prst="rect">
            <a:avLst/>
          </a:prstGeom>
          <a:noFill/>
          <a:ln/>
        </p:spPr>
        <p:txBody>
          <a:bodyPr wrap="square" lIns="0" tIns="0" rIns="0" bIns="0" rtlCol="0" anchor="ctr"/>
          <a:lstStyle/>
          <a:p>
            <a:pPr indent="0" marL="0">
              <a:buNone/>
            </a:pPr>
            <a:r>
              <a:rPr lang="en-US" sz="1400" b="1" dirty="0">
                <a:solidFill>
                  <a:srgbClr val="1A1A1A"/>
                </a:solidFill>
                <a:latin typeface="Arial" pitchFamily="34" charset="0"/>
                <a:ea typeface="Arial" pitchFamily="34" charset="-122"/>
                <a:cs typeface="Arial" pitchFamily="34" charset="-120"/>
              </a:rPr>
              <a:t>The nets are close. The real choice is time and risk.</a:t>
            </a:r>
            <a:endParaRPr lang="en-US" sz="1400" dirty="0"/>
          </a:p>
        </p:txBody>
      </p:sp>
      <p:sp>
        <p:nvSpPr>
          <p:cNvPr id="34" name="Text 32"/>
          <p:cNvSpPr txBox="1"/>
          <p:nvPr/>
        </p:nvSpPr>
        <p:spPr>
          <a:xfrm>
            <a:off x="457200" y="4796028"/>
            <a:ext cx="6858000" cy="228600"/>
          </a:xfrm>
          <a:prstGeom prst="rect">
            <a:avLst/>
          </a:prstGeom>
          <a:noFill/>
          <a:ln/>
        </p:spPr>
        <p:txBody>
          <a:bodyPr wrap="square" lIns="0" tIns="0" rIns="0" bIns="0" rtlCol="0" anchor="ctr"/>
          <a:lstStyle/>
          <a:p>
            <a:pPr indent="0" marL="0">
              <a:buNone/>
            </a:pPr>
            <a:r>
              <a:rPr lang="en-US" sz="800" dirty="0">
                <a:solidFill>
                  <a:srgbClr val="5E5E5E"/>
                </a:solidFill>
                <a:latin typeface="Arial" pitchFamily="34" charset="0"/>
                <a:ea typeface="Arial" pitchFamily="34" charset="-122"/>
                <a:cs typeface="Arial" pitchFamily="34" charset="-120"/>
              </a:rPr>
              <a:t>SAMPLE DATA · 517 Larkwood Ave · Jordan Avery, REALTOR®, Sample Realty, LLC</a:t>
            </a:r>
            <a:endParaRPr lang="en-US" sz="800" dirty="0"/>
          </a:p>
        </p:txBody>
      </p:sp>
      <p:sp>
        <p:nvSpPr>
          <p:cNvPr id="35" name="Text 33"/>
          <p:cNvSpPr txBox="1"/>
          <p:nvPr/>
        </p:nvSpPr>
        <p:spPr>
          <a:xfrm>
            <a:off x="8229600" y="4796028"/>
            <a:ext cx="457200" cy="228600"/>
          </a:xfrm>
          <a:prstGeom prst="rect">
            <a:avLst/>
          </a:prstGeom>
          <a:noFill/>
          <a:ln/>
        </p:spPr>
        <p:txBody>
          <a:bodyPr wrap="square" lIns="0" tIns="0" rIns="0" bIns="0" rtlCol="0" anchor="ctr"/>
          <a:lstStyle/>
          <a:p>
            <a:pPr algn="r" indent="0" marL="0">
              <a:buNone/>
            </a:pPr>
            <a:r>
              <a:rPr lang="en-US" sz="800" dirty="0">
                <a:solidFill>
                  <a:srgbClr val="5E5E5E"/>
                </a:solidFill>
                <a:latin typeface="Arial" pitchFamily="34" charset="0"/>
                <a:ea typeface="Arial" pitchFamily="34" charset="-122"/>
                <a:cs typeface="Arial" pitchFamily="34" charset="-120"/>
              </a:rPr>
              <a:t>9</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8229600" cy="566928"/>
          </a:xfrm>
          <a:prstGeom prst="rect">
            <a:avLst/>
          </a:prstGeom>
          <a:noFill/>
          <a:ln/>
        </p:spPr>
        <p:txBody>
          <a:bodyPr wrap="square" lIns="0" tIns="0" rIns="0" bIns="0" rtlCol="0" anchor="t"/>
          <a:lstStyle/>
          <a:p>
            <a:pPr indent="0" marL="0">
              <a:buNone/>
            </a:pPr>
            <a:r>
              <a:rPr lang="en-US" sz="2600" b="1" dirty="0">
                <a:solidFill>
                  <a:srgbClr val="1A1A1A"/>
                </a:solidFill>
                <a:latin typeface="Arial" pitchFamily="34" charset="0"/>
                <a:ea typeface="Arial" pitchFamily="34" charset="-122"/>
                <a:cs typeface="Arial" pitchFamily="34" charset="-120"/>
              </a:rPr>
              <a:t>What You Walk Away With</a:t>
            </a:r>
            <a:endParaRPr lang="en-US" sz="2600" dirty="0"/>
          </a:p>
        </p:txBody>
      </p:sp>
      <p:sp>
        <p:nvSpPr>
          <p:cNvPr id="3" name="Text 1"/>
          <p:cNvSpPr txBox="1"/>
          <p:nvPr/>
        </p:nvSpPr>
        <p:spPr>
          <a:xfrm>
            <a:off x="457200" y="841248"/>
            <a:ext cx="8229600" cy="201422"/>
          </a:xfrm>
          <a:prstGeom prst="rect">
            <a:avLst/>
          </a:prstGeom>
          <a:noFill/>
          <a:ln/>
        </p:spPr>
        <p:txBody>
          <a:bodyPr wrap="square" lIns="0" tIns="0" rIns="0" bIns="0" rtlCol="0" anchor="t"/>
          <a:lstStyle/>
          <a:p>
            <a:pPr indent="0" marL="0">
              <a:buNone/>
            </a:pPr>
            <a:r>
              <a:rPr lang="en-US" sz="1300" dirty="0">
                <a:solidFill>
                  <a:srgbClr val="5E5E5E"/>
                </a:solidFill>
                <a:latin typeface="Arial" pitchFamily="34" charset="0"/>
                <a:ea typeface="Arial" pitchFamily="34" charset="-122"/>
                <a:cs typeface="Arial" pitchFamily="34" charset="-120"/>
              </a:rPr>
              <a:t>Net after holding costs, before mortgage payoff</a:t>
            </a:r>
            <a:endParaRPr lang="en-US" sz="1300" dirty="0"/>
          </a:p>
        </p:txBody>
      </p:sp>
      <p:graphicFrame>
        <p:nvGraphicFramePr>
          <p:cNvPr id="4" name="Chart 0" descr=""/>
          <p:cNvGraphicFramePr/>
          <p:nvPr/>
        </p:nvGraphicFramePr>
        <p:xfrm>
          <a:off x="457200" y="1234440"/>
          <a:ext cx="5120640" cy="310896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5943600" y="1325880"/>
            <a:ext cx="2743200" cy="2926080"/>
          </a:xfrm>
          <a:prstGeom prst="roundRect">
            <a:avLst>
              <a:gd name="adj" fmla="val 2667"/>
            </a:avLst>
          </a:prstGeom>
          <a:solidFill>
            <a:srgbClr val="FBF2EE"/>
          </a:solidFill>
          <a:ln w="12700">
            <a:solidFill>
              <a:srgbClr val="FBF2EE"/>
            </a:solidFill>
            <a:prstDash val="solid"/>
          </a:ln>
        </p:spPr>
      </p:sp>
      <p:sp>
        <p:nvSpPr>
          <p:cNvPr id="6" name="Text 3"/>
          <p:cNvSpPr txBox="1"/>
          <p:nvPr/>
        </p:nvSpPr>
        <p:spPr>
          <a:xfrm>
            <a:off x="6172200" y="1508760"/>
            <a:ext cx="2286000" cy="548640"/>
          </a:xfrm>
          <a:prstGeom prst="rect">
            <a:avLst/>
          </a:prstGeom>
          <a:noFill/>
          <a:ln/>
        </p:spPr>
        <p:txBody>
          <a:bodyPr wrap="square" lIns="0" tIns="0" rIns="0" bIns="0" rtlCol="0" anchor="ctr"/>
          <a:lstStyle/>
          <a:p>
            <a:pPr indent="0" marL="0">
              <a:buNone/>
            </a:pPr>
            <a:r>
              <a:rPr lang="en-US" sz="3200" b="1" dirty="0">
                <a:solidFill>
                  <a:srgbClr val="C2410C"/>
                </a:solidFill>
                <a:latin typeface="Arial" pitchFamily="34" charset="0"/>
                <a:ea typeface="Arial" pitchFamily="34" charset="-122"/>
                <a:cs typeface="Arial" pitchFamily="34" charset="-120"/>
              </a:rPr>
              <a:t>$9,193</a:t>
            </a:r>
            <a:endParaRPr lang="en-US" sz="3200" dirty="0"/>
          </a:p>
        </p:txBody>
      </p:sp>
      <p:sp>
        <p:nvSpPr>
          <p:cNvPr id="7" name="Text 4"/>
          <p:cNvSpPr txBox="1"/>
          <p:nvPr/>
        </p:nvSpPr>
        <p:spPr>
          <a:xfrm>
            <a:off x="6172200" y="2057400"/>
            <a:ext cx="2286000" cy="457200"/>
          </a:xfrm>
          <a:prstGeom prst="rect">
            <a:avLst/>
          </a:prstGeom>
          <a:noFill/>
          <a:ln/>
        </p:spPr>
        <p:txBody>
          <a:bodyPr wrap="square" lIns="0" tIns="0" rIns="0" bIns="0" rtlCol="0" anchor="t"/>
          <a:lstStyle/>
          <a:p>
            <a:pPr indent="0" marL="0">
              <a:buNone/>
            </a:pPr>
            <a:r>
              <a:rPr lang="en-US" sz="1100" dirty="0">
                <a:solidFill>
                  <a:srgbClr val="5E5E5E"/>
                </a:solidFill>
                <a:latin typeface="Arial" pitchFamily="34" charset="0"/>
                <a:ea typeface="Arial" pitchFamily="34" charset="-122"/>
                <a:cs typeface="Arial" pitchFamily="34" charset="-120"/>
              </a:rPr>
              <a:t>Difference Between the Highest and Lowest Net</a:t>
            </a:r>
            <a:endParaRPr lang="en-US" sz="1100" dirty="0"/>
          </a:p>
        </p:txBody>
      </p:sp>
      <p:sp>
        <p:nvSpPr>
          <p:cNvPr id="8" name="Text 5"/>
          <p:cNvSpPr txBox="1"/>
          <p:nvPr/>
        </p:nvSpPr>
        <p:spPr>
          <a:xfrm>
            <a:off x="6172200" y="2651760"/>
            <a:ext cx="2286000" cy="1463040"/>
          </a:xfrm>
          <a:prstGeom prst="rect">
            <a:avLst/>
          </a:prstGeom>
          <a:noFill/>
          <a:ln/>
        </p:spPr>
        <p:txBody>
          <a:bodyPr wrap="square" lIns="0" tIns="0" rIns="0" bIns="0" rtlCol="0" anchor="t"/>
          <a:lstStyle/>
          <a:p>
            <a:pPr indent="0" marL="0">
              <a:buNone/>
            </a:pPr>
            <a:r>
              <a:rPr lang="en-US" sz="1300" dirty="0">
                <a:solidFill>
                  <a:srgbClr val="1A1A1A"/>
                </a:solidFill>
                <a:latin typeface="Arial" pitchFamily="34" charset="0"/>
                <a:ea typeface="Arial" pitchFamily="34" charset="-122"/>
                <a:cs typeface="Arial" pitchFamily="34" charset="-120"/>
              </a:rPr>
              <a:t>The nets are close. The real choice is time and risk.</a:t>
            </a:r>
            <a:endParaRPr lang="en-US" sz="1300" dirty="0"/>
          </a:p>
        </p:txBody>
      </p:sp>
      <p:sp>
        <p:nvSpPr>
          <p:cNvPr id="9" name="Text 6"/>
          <p:cNvSpPr txBox="1"/>
          <p:nvPr/>
        </p:nvSpPr>
        <p:spPr>
          <a:xfrm>
            <a:off x="457200" y="4796028"/>
            <a:ext cx="6858000" cy="228600"/>
          </a:xfrm>
          <a:prstGeom prst="rect">
            <a:avLst/>
          </a:prstGeom>
          <a:noFill/>
          <a:ln/>
        </p:spPr>
        <p:txBody>
          <a:bodyPr wrap="square" lIns="0" tIns="0" rIns="0" bIns="0" rtlCol="0" anchor="ctr"/>
          <a:lstStyle/>
          <a:p>
            <a:pPr indent="0" marL="0">
              <a:buNone/>
            </a:pPr>
            <a:r>
              <a:rPr lang="en-US" sz="800" dirty="0">
                <a:solidFill>
                  <a:srgbClr val="5E5E5E"/>
                </a:solidFill>
                <a:latin typeface="Arial" pitchFamily="34" charset="0"/>
                <a:ea typeface="Arial" pitchFamily="34" charset="-122"/>
                <a:cs typeface="Arial" pitchFamily="34" charset="-120"/>
              </a:rPr>
              <a:t>SAMPLE DATA · 517 Larkwood Ave · Jordan Avery, REALTOR®, Sample Realty, LLC</a:t>
            </a:r>
            <a:endParaRPr lang="en-US" sz="800" dirty="0"/>
          </a:p>
        </p:txBody>
      </p:sp>
      <p:sp>
        <p:nvSpPr>
          <p:cNvPr id="10" name="Text 7"/>
          <p:cNvSpPr txBox="1"/>
          <p:nvPr/>
        </p:nvSpPr>
        <p:spPr>
          <a:xfrm>
            <a:off x="8229600" y="4796028"/>
            <a:ext cx="457200" cy="228600"/>
          </a:xfrm>
          <a:prstGeom prst="rect">
            <a:avLst/>
          </a:prstGeom>
          <a:noFill/>
          <a:ln/>
        </p:spPr>
        <p:txBody>
          <a:bodyPr wrap="square" lIns="0" tIns="0" rIns="0" bIns="0" rtlCol="0" anchor="ctr"/>
          <a:lstStyle/>
          <a:p>
            <a:pPr algn="r" indent="0" marL="0">
              <a:buNone/>
            </a:pPr>
            <a:r>
              <a:rPr lang="en-US" sz="800" dirty="0">
                <a:solidFill>
                  <a:srgbClr val="5E5E5E"/>
                </a:solidFill>
                <a:latin typeface="Arial" pitchFamily="34" charset="0"/>
                <a:ea typeface="Arial" pitchFamily="34" charset="-122"/>
                <a:cs typeface="Arial" pitchFamily="34" charset="-120"/>
              </a:rPr>
              <a:t>10</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8229600" cy="566928"/>
          </a:xfrm>
          <a:prstGeom prst="rect">
            <a:avLst/>
          </a:prstGeom>
          <a:noFill/>
          <a:ln/>
        </p:spPr>
        <p:txBody>
          <a:bodyPr wrap="square" lIns="0" tIns="0" rIns="0" bIns="0" rtlCol="0" anchor="t"/>
          <a:lstStyle/>
          <a:p>
            <a:pPr indent="0" marL="0">
              <a:buNone/>
            </a:pPr>
            <a:r>
              <a:rPr lang="en-US" sz="2600" b="1" dirty="0">
                <a:solidFill>
                  <a:srgbClr val="1A1A1A"/>
                </a:solidFill>
                <a:latin typeface="Arial" pitchFamily="34" charset="0"/>
                <a:ea typeface="Arial" pitchFamily="34" charset="-122"/>
                <a:cs typeface="Arial" pitchFamily="34" charset="-120"/>
              </a:rPr>
              <a:t>How Buyers See Your Price</a:t>
            </a:r>
            <a:endParaRPr lang="en-US" sz="2600" dirty="0"/>
          </a:p>
        </p:txBody>
      </p:sp>
      <p:sp>
        <p:nvSpPr>
          <p:cNvPr id="3" name="Text 1"/>
          <p:cNvSpPr txBox="1"/>
          <p:nvPr/>
        </p:nvSpPr>
        <p:spPr>
          <a:xfrm>
            <a:off x="457200" y="841248"/>
            <a:ext cx="8229600" cy="201422"/>
          </a:xfrm>
          <a:prstGeom prst="rect">
            <a:avLst/>
          </a:prstGeom>
          <a:noFill/>
          <a:ln/>
        </p:spPr>
        <p:txBody>
          <a:bodyPr wrap="square" lIns="0" tIns="0" rIns="0" bIns="0" rtlCol="0" anchor="t"/>
          <a:lstStyle/>
          <a:p>
            <a:pPr indent="0" marL="0">
              <a:buNone/>
            </a:pPr>
            <a:r>
              <a:rPr lang="en-US" sz="1300" dirty="0">
                <a:solidFill>
                  <a:srgbClr val="5E5E5E"/>
                </a:solidFill>
                <a:latin typeface="Arial" pitchFamily="34" charset="0"/>
                <a:ea typeface="Arial" pitchFamily="34" charset="-122"/>
                <a:cs typeface="Arial" pitchFamily="34" charset="-120"/>
              </a:rPr>
              <a:t>Estimated monthly payment, conventional loan with 5% down</a:t>
            </a:r>
            <a:endParaRPr lang="en-US" sz="1300" dirty="0"/>
          </a:p>
        </p:txBody>
      </p:sp>
      <p:sp>
        <p:nvSpPr>
          <p:cNvPr id="4" name="Shape 2"/>
          <p:cNvSpPr/>
          <p:nvPr/>
        </p:nvSpPr>
        <p:spPr>
          <a:xfrm>
            <a:off x="457200" y="1325880"/>
            <a:ext cx="2560320" cy="1737360"/>
          </a:xfrm>
          <a:prstGeom prst="roundRect">
            <a:avLst>
              <a:gd name="adj" fmla="val 4211"/>
            </a:avLst>
          </a:prstGeom>
          <a:solidFill>
            <a:srgbClr val="FFFFFF"/>
          </a:solidFill>
          <a:ln w="12700">
            <a:solidFill>
              <a:srgbClr val="F8E8E2"/>
            </a:solidFill>
            <a:prstDash val="solid"/>
          </a:ln>
        </p:spPr>
      </p:sp>
      <p:sp>
        <p:nvSpPr>
          <p:cNvPr id="5" name="Text 3"/>
          <p:cNvSpPr txBox="1"/>
          <p:nvPr/>
        </p:nvSpPr>
        <p:spPr>
          <a:xfrm>
            <a:off x="658368" y="1508760"/>
            <a:ext cx="2157984" cy="274320"/>
          </a:xfrm>
          <a:prstGeom prst="rect">
            <a:avLst/>
          </a:prstGeom>
          <a:noFill/>
          <a:ln/>
        </p:spPr>
        <p:txBody>
          <a:bodyPr wrap="square" lIns="0" tIns="0" rIns="0" bIns="0" rtlCol="0" anchor="ctr"/>
          <a:lstStyle/>
          <a:p>
            <a:pPr indent="0" marL="0">
              <a:buNone/>
            </a:pPr>
            <a:r>
              <a:rPr lang="en-US" sz="1300" b="1" dirty="0">
                <a:solidFill>
                  <a:srgbClr val="1A1A1A"/>
                </a:solidFill>
                <a:latin typeface="Arial" pitchFamily="34" charset="0"/>
                <a:ea typeface="Arial" pitchFamily="34" charset="-122"/>
                <a:cs typeface="Arial" pitchFamily="34" charset="-120"/>
              </a:rPr>
              <a:t>Premium at $475,000</a:t>
            </a:r>
            <a:endParaRPr lang="en-US" sz="1300" dirty="0"/>
          </a:p>
        </p:txBody>
      </p:sp>
      <p:sp>
        <p:nvSpPr>
          <p:cNvPr id="6" name="Text 4"/>
          <p:cNvSpPr txBox="1"/>
          <p:nvPr/>
        </p:nvSpPr>
        <p:spPr>
          <a:xfrm>
            <a:off x="658368" y="1874520"/>
            <a:ext cx="2157984" cy="548640"/>
          </a:xfrm>
          <a:prstGeom prst="rect">
            <a:avLst/>
          </a:prstGeom>
          <a:noFill/>
          <a:ln/>
        </p:spPr>
        <p:txBody>
          <a:bodyPr wrap="square" lIns="0" tIns="0" rIns="0" bIns="0" rtlCol="0" anchor="ctr"/>
          <a:lstStyle/>
          <a:p>
            <a:pPr indent="0" marL="0">
              <a:buNone/>
            </a:pPr>
            <a:r>
              <a:rPr lang="en-US" sz="2800" b="1" dirty="0">
                <a:solidFill>
                  <a:srgbClr val="C2410C"/>
                </a:solidFill>
                <a:latin typeface="Arial" pitchFamily="34" charset="0"/>
                <a:ea typeface="Arial" pitchFamily="34" charset="-122"/>
                <a:cs typeface="Arial" pitchFamily="34" charset="-120"/>
              </a:rPr>
              <a:t>$4,128/mo</a:t>
            </a:r>
            <a:endParaRPr lang="en-US" sz="2800" dirty="0"/>
          </a:p>
        </p:txBody>
      </p:sp>
      <p:sp>
        <p:nvSpPr>
          <p:cNvPr id="7" name="Text 5"/>
          <p:cNvSpPr txBox="1"/>
          <p:nvPr/>
        </p:nvSpPr>
        <p:spPr>
          <a:xfrm>
            <a:off x="658368" y="2514600"/>
            <a:ext cx="2157984" cy="274320"/>
          </a:xfrm>
          <a:prstGeom prst="rect">
            <a:avLst/>
          </a:prstGeom>
          <a:noFill/>
          <a:ln/>
        </p:spPr>
        <p:txBody>
          <a:bodyPr wrap="square" lIns="0" tIns="0" rIns="0" bIns="0" rtlCol="0" anchor="ctr"/>
          <a:lstStyle/>
          <a:p>
            <a:pPr indent="0" marL="0">
              <a:buNone/>
            </a:pPr>
            <a:r>
              <a:rPr lang="en-US" sz="1100" dirty="0">
                <a:solidFill>
                  <a:srgbClr val="5E5E5E"/>
                </a:solidFill>
                <a:latin typeface="Arial" pitchFamily="34" charset="0"/>
                <a:ea typeface="Arial" pitchFamily="34" charset="-122"/>
                <a:cs typeface="Arial" pitchFamily="34" charset="-120"/>
              </a:rPr>
              <a:t>$23,750 down (5%)</a:t>
            </a:r>
            <a:endParaRPr lang="en-US" sz="1100" dirty="0"/>
          </a:p>
        </p:txBody>
      </p:sp>
      <p:sp>
        <p:nvSpPr>
          <p:cNvPr id="8" name="Shape 6"/>
          <p:cNvSpPr/>
          <p:nvPr/>
        </p:nvSpPr>
        <p:spPr>
          <a:xfrm>
            <a:off x="3291840" y="1325880"/>
            <a:ext cx="2560320" cy="1737360"/>
          </a:xfrm>
          <a:prstGeom prst="roundRect">
            <a:avLst>
              <a:gd name="adj" fmla="val 4211"/>
            </a:avLst>
          </a:prstGeom>
          <a:solidFill>
            <a:srgbClr val="FBF2EE"/>
          </a:solidFill>
          <a:ln w="19050">
            <a:solidFill>
              <a:srgbClr val="C2410C"/>
            </a:solidFill>
            <a:prstDash val="solid"/>
          </a:ln>
        </p:spPr>
      </p:sp>
      <p:sp>
        <p:nvSpPr>
          <p:cNvPr id="9" name="Text 7"/>
          <p:cNvSpPr txBox="1"/>
          <p:nvPr/>
        </p:nvSpPr>
        <p:spPr>
          <a:xfrm>
            <a:off x="3493008" y="1508760"/>
            <a:ext cx="2157984" cy="274320"/>
          </a:xfrm>
          <a:prstGeom prst="rect">
            <a:avLst/>
          </a:prstGeom>
          <a:noFill/>
          <a:ln/>
        </p:spPr>
        <p:txBody>
          <a:bodyPr wrap="square" lIns="0" tIns="0" rIns="0" bIns="0" rtlCol="0" anchor="ctr"/>
          <a:lstStyle/>
          <a:p>
            <a:pPr indent="0" marL="0">
              <a:buNone/>
            </a:pPr>
            <a:r>
              <a:rPr lang="en-US" sz="1300" b="1" dirty="0">
                <a:solidFill>
                  <a:srgbClr val="1A1A1A"/>
                </a:solidFill>
                <a:latin typeface="Arial" pitchFamily="34" charset="0"/>
                <a:ea typeface="Arial" pitchFamily="34" charset="-122"/>
                <a:cs typeface="Arial" pitchFamily="34" charset="-120"/>
              </a:rPr>
              <a:t>Market Price at $470,000</a:t>
            </a:r>
            <a:endParaRPr lang="en-US" sz="1300" dirty="0"/>
          </a:p>
        </p:txBody>
      </p:sp>
      <p:sp>
        <p:nvSpPr>
          <p:cNvPr id="10" name="Text 8"/>
          <p:cNvSpPr txBox="1"/>
          <p:nvPr/>
        </p:nvSpPr>
        <p:spPr>
          <a:xfrm>
            <a:off x="3493008" y="1874520"/>
            <a:ext cx="2157984" cy="548640"/>
          </a:xfrm>
          <a:prstGeom prst="rect">
            <a:avLst/>
          </a:prstGeom>
          <a:noFill/>
          <a:ln/>
        </p:spPr>
        <p:txBody>
          <a:bodyPr wrap="square" lIns="0" tIns="0" rIns="0" bIns="0" rtlCol="0" anchor="ctr"/>
          <a:lstStyle/>
          <a:p>
            <a:pPr indent="0" marL="0">
              <a:buNone/>
            </a:pPr>
            <a:r>
              <a:rPr lang="en-US" sz="2800" b="1" dirty="0">
                <a:solidFill>
                  <a:srgbClr val="C2410C"/>
                </a:solidFill>
                <a:latin typeface="Arial" pitchFamily="34" charset="0"/>
                <a:ea typeface="Arial" pitchFamily="34" charset="-122"/>
                <a:cs typeface="Arial" pitchFamily="34" charset="-120"/>
              </a:rPr>
              <a:t>$4,088/mo</a:t>
            </a:r>
            <a:endParaRPr lang="en-US" sz="2800" dirty="0"/>
          </a:p>
        </p:txBody>
      </p:sp>
      <p:sp>
        <p:nvSpPr>
          <p:cNvPr id="11" name="Text 9"/>
          <p:cNvSpPr txBox="1"/>
          <p:nvPr/>
        </p:nvSpPr>
        <p:spPr>
          <a:xfrm>
            <a:off x="3493008" y="2514600"/>
            <a:ext cx="2157984" cy="274320"/>
          </a:xfrm>
          <a:prstGeom prst="rect">
            <a:avLst/>
          </a:prstGeom>
          <a:noFill/>
          <a:ln/>
        </p:spPr>
        <p:txBody>
          <a:bodyPr wrap="square" lIns="0" tIns="0" rIns="0" bIns="0" rtlCol="0" anchor="ctr"/>
          <a:lstStyle/>
          <a:p>
            <a:pPr indent="0" marL="0">
              <a:buNone/>
            </a:pPr>
            <a:r>
              <a:rPr lang="en-US" sz="1100" dirty="0">
                <a:solidFill>
                  <a:srgbClr val="5E5E5E"/>
                </a:solidFill>
                <a:latin typeface="Arial" pitchFamily="34" charset="0"/>
                <a:ea typeface="Arial" pitchFamily="34" charset="-122"/>
                <a:cs typeface="Arial" pitchFamily="34" charset="-120"/>
              </a:rPr>
              <a:t>$23,500 down (5%)</a:t>
            </a:r>
            <a:endParaRPr lang="en-US" sz="1100" dirty="0"/>
          </a:p>
        </p:txBody>
      </p:sp>
      <p:sp>
        <p:nvSpPr>
          <p:cNvPr id="12" name="Shape 10"/>
          <p:cNvSpPr/>
          <p:nvPr/>
        </p:nvSpPr>
        <p:spPr>
          <a:xfrm>
            <a:off x="6126480" y="1325880"/>
            <a:ext cx="2560320" cy="1737360"/>
          </a:xfrm>
          <a:prstGeom prst="roundRect">
            <a:avLst>
              <a:gd name="adj" fmla="val 4211"/>
            </a:avLst>
          </a:prstGeom>
          <a:solidFill>
            <a:srgbClr val="FFFFFF"/>
          </a:solidFill>
          <a:ln w="12700">
            <a:solidFill>
              <a:srgbClr val="F8E8E2"/>
            </a:solidFill>
            <a:prstDash val="solid"/>
          </a:ln>
        </p:spPr>
      </p:sp>
      <p:sp>
        <p:nvSpPr>
          <p:cNvPr id="13" name="Text 11"/>
          <p:cNvSpPr txBox="1"/>
          <p:nvPr/>
        </p:nvSpPr>
        <p:spPr>
          <a:xfrm>
            <a:off x="6327648" y="1508760"/>
            <a:ext cx="2157984" cy="274320"/>
          </a:xfrm>
          <a:prstGeom prst="rect">
            <a:avLst/>
          </a:prstGeom>
          <a:noFill/>
          <a:ln/>
        </p:spPr>
        <p:txBody>
          <a:bodyPr wrap="square" lIns="0" tIns="0" rIns="0" bIns="0" rtlCol="0" anchor="ctr"/>
          <a:lstStyle/>
          <a:p>
            <a:pPr indent="0" marL="0">
              <a:buNone/>
            </a:pPr>
            <a:r>
              <a:rPr lang="en-US" sz="1300" b="1" dirty="0">
                <a:solidFill>
                  <a:srgbClr val="1A1A1A"/>
                </a:solidFill>
                <a:latin typeface="Arial" pitchFamily="34" charset="0"/>
                <a:ea typeface="Arial" pitchFamily="34" charset="-122"/>
                <a:cs typeface="Arial" pitchFamily="34" charset="-120"/>
              </a:rPr>
              <a:t>Draw Offers at $460,000</a:t>
            </a:r>
            <a:endParaRPr lang="en-US" sz="1300" dirty="0"/>
          </a:p>
        </p:txBody>
      </p:sp>
      <p:sp>
        <p:nvSpPr>
          <p:cNvPr id="14" name="Text 12"/>
          <p:cNvSpPr txBox="1"/>
          <p:nvPr/>
        </p:nvSpPr>
        <p:spPr>
          <a:xfrm>
            <a:off x="6327648" y="1874520"/>
            <a:ext cx="2157984" cy="548640"/>
          </a:xfrm>
          <a:prstGeom prst="rect">
            <a:avLst/>
          </a:prstGeom>
          <a:noFill/>
          <a:ln/>
        </p:spPr>
        <p:txBody>
          <a:bodyPr wrap="square" lIns="0" tIns="0" rIns="0" bIns="0" rtlCol="0" anchor="ctr"/>
          <a:lstStyle/>
          <a:p>
            <a:pPr indent="0" marL="0">
              <a:buNone/>
            </a:pPr>
            <a:r>
              <a:rPr lang="en-US" sz="2800" b="1" dirty="0">
                <a:solidFill>
                  <a:srgbClr val="C2410C"/>
                </a:solidFill>
                <a:latin typeface="Arial" pitchFamily="34" charset="0"/>
                <a:ea typeface="Arial" pitchFamily="34" charset="-122"/>
                <a:cs typeface="Arial" pitchFamily="34" charset="-120"/>
              </a:rPr>
              <a:t>$4,006/mo</a:t>
            </a:r>
            <a:endParaRPr lang="en-US" sz="2800" dirty="0"/>
          </a:p>
        </p:txBody>
      </p:sp>
      <p:sp>
        <p:nvSpPr>
          <p:cNvPr id="15" name="Text 13"/>
          <p:cNvSpPr txBox="1"/>
          <p:nvPr/>
        </p:nvSpPr>
        <p:spPr>
          <a:xfrm>
            <a:off x="6327648" y="2514600"/>
            <a:ext cx="2157984" cy="274320"/>
          </a:xfrm>
          <a:prstGeom prst="rect">
            <a:avLst/>
          </a:prstGeom>
          <a:noFill/>
          <a:ln/>
        </p:spPr>
        <p:txBody>
          <a:bodyPr wrap="square" lIns="0" tIns="0" rIns="0" bIns="0" rtlCol="0" anchor="ctr"/>
          <a:lstStyle/>
          <a:p>
            <a:pPr indent="0" marL="0">
              <a:buNone/>
            </a:pPr>
            <a:r>
              <a:rPr lang="en-US" sz="1100" dirty="0">
                <a:solidFill>
                  <a:srgbClr val="5E5E5E"/>
                </a:solidFill>
                <a:latin typeface="Arial" pitchFamily="34" charset="0"/>
                <a:ea typeface="Arial" pitchFamily="34" charset="-122"/>
                <a:cs typeface="Arial" pitchFamily="34" charset="-120"/>
              </a:rPr>
              <a:t>$23,000 down (5%)</a:t>
            </a:r>
            <a:endParaRPr lang="en-US" sz="1100" dirty="0"/>
          </a:p>
        </p:txBody>
      </p:sp>
      <p:sp>
        <p:nvSpPr>
          <p:cNvPr id="16" name="Shape 14"/>
          <p:cNvSpPr/>
          <p:nvPr/>
        </p:nvSpPr>
        <p:spPr>
          <a:xfrm>
            <a:off x="457200" y="3383280"/>
            <a:ext cx="502920" cy="502920"/>
          </a:xfrm>
          <a:prstGeom prst="ellipse">
            <a:avLst/>
          </a:prstGeom>
          <a:solidFill>
            <a:srgbClr val="C2410C"/>
          </a:solidFill>
          <a:ln w="12700">
            <a:solidFill>
              <a:srgbClr val="C2410C"/>
            </a:solidFill>
            <a:prstDash val="solid"/>
          </a:ln>
        </p:spPr>
      </p:sp>
      <p:pic>
        <p:nvPicPr>
          <p:cNvPr id="17" name="Image 0" descr="preencoded.png">    </p:cNvPr>
          <p:cNvPicPr>
            <a:picLocks noChangeAspect="1"/>
          </p:cNvPicPr>
          <p:nvPr/>
        </p:nvPicPr>
        <p:blipFill>
          <a:blip r:embed="rId1"/>
          <a:stretch>
            <a:fillRect/>
          </a:stretch>
        </p:blipFill>
        <p:spPr>
          <a:xfrm>
            <a:off x="577901" y="3503981"/>
            <a:ext cx="261518" cy="261518"/>
          </a:xfrm>
          <a:prstGeom prst="rect">
            <a:avLst/>
          </a:prstGeom>
        </p:spPr>
      </p:pic>
      <p:sp>
        <p:nvSpPr>
          <p:cNvPr id="18" name="Text 15"/>
          <p:cNvSpPr txBox="1"/>
          <p:nvPr/>
        </p:nvSpPr>
        <p:spPr>
          <a:xfrm>
            <a:off x="1143000" y="3310128"/>
            <a:ext cx="7543800" cy="292608"/>
          </a:xfrm>
          <a:prstGeom prst="rect">
            <a:avLst/>
          </a:prstGeom>
          <a:noFill/>
          <a:ln/>
        </p:spPr>
        <p:txBody>
          <a:bodyPr wrap="square" lIns="0" tIns="0" rIns="0" bIns="0" rtlCol="0" anchor="ctr"/>
          <a:lstStyle/>
          <a:p>
            <a:pPr indent="0" marL="0">
              <a:buNone/>
            </a:pPr>
            <a:r>
              <a:rPr lang="en-US" sz="1400" b="1" dirty="0">
                <a:solidFill>
                  <a:srgbClr val="C2410C"/>
                </a:solidFill>
                <a:latin typeface="Arial" pitchFamily="34" charset="0"/>
                <a:ea typeface="Arial" pitchFamily="34" charset="-122"/>
                <a:cs typeface="Arial" pitchFamily="34" charset="-120"/>
              </a:rPr>
              <a:t>Every $10,000 in price is about $82 a month to a buyer.</a:t>
            </a:r>
            <a:endParaRPr lang="en-US" sz="1400" dirty="0"/>
          </a:p>
        </p:txBody>
      </p:sp>
      <p:sp>
        <p:nvSpPr>
          <p:cNvPr id="19" name="Text 16"/>
          <p:cNvSpPr txBox="1"/>
          <p:nvPr/>
        </p:nvSpPr>
        <p:spPr>
          <a:xfrm>
            <a:off x="1143000" y="3639312"/>
            <a:ext cx="7543800" cy="1065276"/>
          </a:xfrm>
          <a:prstGeom prst="rect">
            <a:avLst/>
          </a:prstGeom>
          <a:noFill/>
          <a:ln/>
        </p:spPr>
        <p:txBody>
          <a:bodyPr wrap="square" lIns="0" tIns="0" rIns="0" bIns="0" rtlCol="0" anchor="t"/>
          <a:lstStyle/>
          <a:p>
            <a:pPr indent="0" marL="0">
              <a:buNone/>
            </a:pPr>
            <a:r>
              <a:rPr lang="en-US" sz="1400" b="1" dirty="0">
                <a:solidFill>
                  <a:srgbClr val="1A1A1A"/>
                </a:solidFill>
                <a:latin typeface="Arial" pitchFamily="34" charset="0"/>
                <a:ea typeface="Arial" pitchFamily="34" charset="-122"/>
                <a:cs typeface="Arial" pitchFamily="34" charset="-120"/>
              </a:rPr>
              <a:t>Buyers shop by payment, so a small change in price moves the number they see.</a:t>
            </a:r>
            <a:endParaRPr lang="en-US" sz="1400" dirty="0"/>
          </a:p>
        </p:txBody>
      </p:sp>
      <p:sp>
        <p:nvSpPr>
          <p:cNvPr id="20" name="Text 17"/>
          <p:cNvSpPr txBox="1"/>
          <p:nvPr/>
        </p:nvSpPr>
        <p:spPr>
          <a:xfrm>
            <a:off x="457200" y="4796028"/>
            <a:ext cx="6858000" cy="228600"/>
          </a:xfrm>
          <a:prstGeom prst="rect">
            <a:avLst/>
          </a:prstGeom>
          <a:noFill/>
          <a:ln/>
        </p:spPr>
        <p:txBody>
          <a:bodyPr wrap="square" lIns="0" tIns="0" rIns="0" bIns="0" rtlCol="0" anchor="ctr"/>
          <a:lstStyle/>
          <a:p>
            <a:pPr indent="0" marL="0">
              <a:buNone/>
            </a:pPr>
            <a:r>
              <a:rPr lang="en-US" sz="800" dirty="0">
                <a:solidFill>
                  <a:srgbClr val="5E5E5E"/>
                </a:solidFill>
                <a:latin typeface="Arial" pitchFamily="34" charset="0"/>
                <a:ea typeface="Arial" pitchFamily="34" charset="-122"/>
                <a:cs typeface="Arial" pitchFamily="34" charset="-120"/>
              </a:rPr>
              <a:t>SAMPLE DATA · 517 Larkwood Ave · Jordan Avery, REALTOR®, Sample Realty, LLC</a:t>
            </a:r>
            <a:endParaRPr lang="en-US" sz="800" dirty="0"/>
          </a:p>
        </p:txBody>
      </p:sp>
      <p:sp>
        <p:nvSpPr>
          <p:cNvPr id="21" name="Text 18"/>
          <p:cNvSpPr txBox="1"/>
          <p:nvPr/>
        </p:nvSpPr>
        <p:spPr>
          <a:xfrm>
            <a:off x="8229600" y="4796028"/>
            <a:ext cx="457200" cy="228600"/>
          </a:xfrm>
          <a:prstGeom prst="rect">
            <a:avLst/>
          </a:prstGeom>
          <a:noFill/>
          <a:ln/>
        </p:spPr>
        <p:txBody>
          <a:bodyPr wrap="square" lIns="0" tIns="0" rIns="0" bIns="0" rtlCol="0" anchor="ctr"/>
          <a:lstStyle/>
          <a:p>
            <a:pPr algn="r" indent="0" marL="0">
              <a:buNone/>
            </a:pPr>
            <a:r>
              <a:rPr lang="en-US" sz="800" dirty="0">
                <a:solidFill>
                  <a:srgbClr val="5E5E5E"/>
                </a:solidFill>
                <a:latin typeface="Arial" pitchFamily="34" charset="0"/>
                <a:ea typeface="Arial" pitchFamily="34" charset="-122"/>
                <a:cs typeface="Arial" pitchFamily="34" charset="-120"/>
              </a:rPr>
              <a:t>11</a:t>
            </a:r>
            <a:endParaRPr lang="en-US" sz="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8229600" cy="566928"/>
          </a:xfrm>
          <a:prstGeom prst="rect">
            <a:avLst/>
          </a:prstGeom>
          <a:noFill/>
          <a:ln/>
        </p:spPr>
        <p:txBody>
          <a:bodyPr wrap="square" lIns="0" tIns="0" rIns="0" bIns="0" rtlCol="0" anchor="t"/>
          <a:lstStyle/>
          <a:p>
            <a:pPr indent="0" marL="0">
              <a:buNone/>
            </a:pPr>
            <a:r>
              <a:rPr lang="en-US" sz="2600" b="1" dirty="0">
                <a:solidFill>
                  <a:srgbClr val="1A1A1A"/>
                </a:solidFill>
                <a:latin typeface="Arial" pitchFamily="34" charset="0"/>
                <a:ea typeface="Arial" pitchFamily="34" charset="-122"/>
                <a:cs typeface="Arial" pitchFamily="34" charset="-120"/>
              </a:rPr>
              <a:t>Launch Plan</a:t>
            </a:r>
            <a:endParaRPr lang="en-US" sz="2600" dirty="0"/>
          </a:p>
        </p:txBody>
      </p:sp>
      <p:sp>
        <p:nvSpPr>
          <p:cNvPr id="3" name="Text 1"/>
          <p:cNvSpPr txBox="1"/>
          <p:nvPr/>
        </p:nvSpPr>
        <p:spPr>
          <a:xfrm>
            <a:off x="457200" y="841248"/>
            <a:ext cx="8229600" cy="201422"/>
          </a:xfrm>
          <a:prstGeom prst="rect">
            <a:avLst/>
          </a:prstGeom>
          <a:noFill/>
          <a:ln/>
        </p:spPr>
        <p:txBody>
          <a:bodyPr wrap="square" lIns="0" tIns="0" rIns="0" bIns="0" rtlCol="0" anchor="t"/>
          <a:lstStyle/>
          <a:p>
            <a:pPr indent="0" marL="0">
              <a:buNone/>
            </a:pPr>
            <a:r>
              <a:rPr lang="en-US" sz="1300" dirty="0">
                <a:solidFill>
                  <a:srgbClr val="5E5E5E"/>
                </a:solidFill>
                <a:latin typeface="Arial" pitchFamily="34" charset="0"/>
                <a:ea typeface="Arial" pitchFamily="34" charset="-122"/>
                <a:cs typeface="Arial" pitchFamily="34" charset="-120"/>
              </a:rPr>
              <a:t>Before we go live</a:t>
            </a:r>
            <a:endParaRPr lang="en-US" sz="1300" dirty="0"/>
          </a:p>
        </p:txBody>
      </p:sp>
      <p:sp>
        <p:nvSpPr>
          <p:cNvPr id="4" name="Shape 2"/>
          <p:cNvSpPr/>
          <p:nvPr/>
        </p:nvSpPr>
        <p:spPr>
          <a:xfrm>
            <a:off x="457200" y="1325880"/>
            <a:ext cx="2560320" cy="1280160"/>
          </a:xfrm>
          <a:prstGeom prst="roundRect">
            <a:avLst>
              <a:gd name="adj" fmla="val 5714"/>
            </a:avLst>
          </a:prstGeom>
          <a:solidFill>
            <a:srgbClr val="FBF2EE"/>
          </a:solidFill>
          <a:ln w="12700">
            <a:solidFill>
              <a:srgbClr val="FBF2EE"/>
            </a:solidFill>
            <a:prstDash val="solid"/>
          </a:ln>
        </p:spPr>
      </p:sp>
      <p:sp>
        <p:nvSpPr>
          <p:cNvPr id="5" name="Shape 3"/>
          <p:cNvSpPr/>
          <p:nvPr/>
        </p:nvSpPr>
        <p:spPr>
          <a:xfrm>
            <a:off x="621792" y="1508760"/>
            <a:ext cx="411480" cy="411480"/>
          </a:xfrm>
          <a:prstGeom prst="ellipse">
            <a:avLst/>
          </a:prstGeom>
          <a:solidFill>
            <a:srgbClr val="C2410C"/>
          </a:solidFill>
          <a:ln w="12700">
            <a:solidFill>
              <a:srgbClr val="C2410C"/>
            </a:solidFill>
            <a:prstDash val="solid"/>
          </a:ln>
        </p:spPr>
      </p:sp>
      <p:pic>
        <p:nvPicPr>
          <p:cNvPr id="6" name="Image 0" descr="preencoded.png">    </p:cNvPr>
          <p:cNvPicPr>
            <a:picLocks noChangeAspect="1"/>
          </p:cNvPicPr>
          <p:nvPr/>
        </p:nvPicPr>
        <p:blipFill>
          <a:blip r:embed="rId1"/>
          <a:stretch>
            <a:fillRect/>
          </a:stretch>
        </p:blipFill>
        <p:spPr>
          <a:xfrm>
            <a:off x="720547" y="1607515"/>
            <a:ext cx="213970" cy="213970"/>
          </a:xfrm>
          <a:prstGeom prst="rect">
            <a:avLst/>
          </a:prstGeom>
        </p:spPr>
      </p:pic>
      <p:sp>
        <p:nvSpPr>
          <p:cNvPr id="7" name="Text 4"/>
          <p:cNvSpPr txBox="1"/>
          <p:nvPr/>
        </p:nvSpPr>
        <p:spPr>
          <a:xfrm>
            <a:off x="1143000" y="1481328"/>
            <a:ext cx="1737360" cy="457200"/>
          </a:xfrm>
          <a:prstGeom prst="rect">
            <a:avLst/>
          </a:prstGeom>
          <a:noFill/>
          <a:ln/>
        </p:spPr>
        <p:txBody>
          <a:bodyPr wrap="square" lIns="0" tIns="0" rIns="0" bIns="0" rtlCol="0" anchor="ctr"/>
          <a:lstStyle/>
          <a:p>
            <a:pPr indent="0" marL="0">
              <a:buNone/>
            </a:pPr>
            <a:r>
              <a:rPr lang="en-US" sz="1300" b="1" dirty="0">
                <a:solidFill>
                  <a:srgbClr val="1A1A1A"/>
                </a:solidFill>
                <a:latin typeface="Arial" pitchFamily="34" charset="0"/>
                <a:ea typeface="Arial" pitchFamily="34" charset="-122"/>
                <a:cs typeface="Arial" pitchFamily="34" charset="-120"/>
              </a:rPr>
              <a:t>Document the Roof</a:t>
            </a:r>
            <a:endParaRPr lang="en-US" sz="1300" dirty="0"/>
          </a:p>
        </p:txBody>
      </p:sp>
      <p:sp>
        <p:nvSpPr>
          <p:cNvPr id="8" name="Text 5"/>
          <p:cNvSpPr txBox="1"/>
          <p:nvPr/>
        </p:nvSpPr>
        <p:spPr>
          <a:xfrm>
            <a:off x="640080" y="2057400"/>
            <a:ext cx="2194560" cy="475488"/>
          </a:xfrm>
          <a:prstGeom prst="rect">
            <a:avLst/>
          </a:prstGeom>
          <a:noFill/>
          <a:ln/>
        </p:spPr>
        <p:txBody>
          <a:bodyPr wrap="square" lIns="0" tIns="0" rIns="0" bIns="0" rtlCol="0" anchor="t"/>
          <a:lstStyle/>
          <a:p>
            <a:pPr indent="0" marL="0">
              <a:buNone/>
            </a:pPr>
            <a:r>
              <a:rPr lang="en-US" sz="1100" dirty="0">
                <a:solidFill>
                  <a:srgbClr val="5E5E5E"/>
                </a:solidFill>
                <a:latin typeface="Arial" pitchFamily="34" charset="0"/>
                <a:ea typeface="Arial" pitchFamily="34" charset="-122"/>
                <a:cs typeface="Arial" pitchFamily="34" charset="-120"/>
              </a:rPr>
              <a:t>Permit and date, ready for buyers and insurers</a:t>
            </a:r>
            <a:endParaRPr lang="en-US" sz="1100" dirty="0"/>
          </a:p>
        </p:txBody>
      </p:sp>
      <p:sp>
        <p:nvSpPr>
          <p:cNvPr id="9" name="Shape 6"/>
          <p:cNvSpPr/>
          <p:nvPr/>
        </p:nvSpPr>
        <p:spPr>
          <a:xfrm>
            <a:off x="3291840" y="1325880"/>
            <a:ext cx="2560320" cy="1280160"/>
          </a:xfrm>
          <a:prstGeom prst="roundRect">
            <a:avLst>
              <a:gd name="adj" fmla="val 5714"/>
            </a:avLst>
          </a:prstGeom>
          <a:solidFill>
            <a:srgbClr val="FBF2EE"/>
          </a:solidFill>
          <a:ln w="12700">
            <a:solidFill>
              <a:srgbClr val="FBF2EE"/>
            </a:solidFill>
            <a:prstDash val="solid"/>
          </a:ln>
        </p:spPr>
      </p:sp>
      <p:sp>
        <p:nvSpPr>
          <p:cNvPr id="10" name="Shape 7"/>
          <p:cNvSpPr/>
          <p:nvPr/>
        </p:nvSpPr>
        <p:spPr>
          <a:xfrm>
            <a:off x="3456432" y="1508760"/>
            <a:ext cx="411480" cy="411480"/>
          </a:xfrm>
          <a:prstGeom prst="ellipse">
            <a:avLst/>
          </a:prstGeom>
          <a:solidFill>
            <a:srgbClr val="C2410C"/>
          </a:solidFill>
          <a:ln w="12700">
            <a:solidFill>
              <a:srgbClr val="C2410C"/>
            </a:solidFill>
            <a:prstDash val="solid"/>
          </a:ln>
        </p:spPr>
      </p:sp>
      <p:pic>
        <p:nvPicPr>
          <p:cNvPr id="11" name="Image 1" descr="preencoded.png">    </p:cNvPr>
          <p:cNvPicPr>
            <a:picLocks noChangeAspect="1"/>
          </p:cNvPicPr>
          <p:nvPr/>
        </p:nvPicPr>
        <p:blipFill>
          <a:blip r:embed="rId2"/>
          <a:stretch>
            <a:fillRect/>
          </a:stretch>
        </p:blipFill>
        <p:spPr>
          <a:xfrm>
            <a:off x="3555187" y="1607515"/>
            <a:ext cx="213970" cy="213970"/>
          </a:xfrm>
          <a:prstGeom prst="rect">
            <a:avLst/>
          </a:prstGeom>
        </p:spPr>
      </p:pic>
      <p:sp>
        <p:nvSpPr>
          <p:cNvPr id="12" name="Text 8"/>
          <p:cNvSpPr txBox="1"/>
          <p:nvPr/>
        </p:nvSpPr>
        <p:spPr>
          <a:xfrm>
            <a:off x="3977640" y="1481328"/>
            <a:ext cx="1737360" cy="457200"/>
          </a:xfrm>
          <a:prstGeom prst="rect">
            <a:avLst/>
          </a:prstGeom>
          <a:noFill/>
          <a:ln/>
        </p:spPr>
        <p:txBody>
          <a:bodyPr wrap="square" lIns="0" tIns="0" rIns="0" bIns="0" rtlCol="0" anchor="ctr"/>
          <a:lstStyle/>
          <a:p>
            <a:pPr indent="0" marL="0">
              <a:buNone/>
            </a:pPr>
            <a:r>
              <a:rPr lang="en-US" sz="1300" b="1" dirty="0">
                <a:solidFill>
                  <a:srgbClr val="1A1A1A"/>
                </a:solidFill>
                <a:latin typeface="Arial" pitchFamily="34" charset="0"/>
                <a:ea typeface="Arial" pitchFamily="34" charset="-122"/>
                <a:cs typeface="Arial" pitchFamily="34" charset="-120"/>
              </a:rPr>
              <a:t>Get the Inspections</a:t>
            </a:r>
            <a:endParaRPr lang="en-US" sz="1300" dirty="0"/>
          </a:p>
        </p:txBody>
      </p:sp>
      <p:sp>
        <p:nvSpPr>
          <p:cNvPr id="13" name="Text 9"/>
          <p:cNvSpPr txBox="1"/>
          <p:nvPr/>
        </p:nvSpPr>
        <p:spPr>
          <a:xfrm>
            <a:off x="3474720" y="2057400"/>
            <a:ext cx="2194560" cy="475488"/>
          </a:xfrm>
          <a:prstGeom prst="rect">
            <a:avLst/>
          </a:prstGeom>
          <a:noFill/>
          <a:ln/>
        </p:spPr>
        <p:txBody>
          <a:bodyPr wrap="square" lIns="0" tIns="0" rIns="0" bIns="0" rtlCol="0" anchor="t"/>
          <a:lstStyle/>
          <a:p>
            <a:pPr indent="0" marL="0">
              <a:buNone/>
            </a:pPr>
            <a:r>
              <a:rPr lang="en-US" sz="1100" dirty="0">
                <a:solidFill>
                  <a:srgbClr val="5E5E5E"/>
                </a:solidFill>
                <a:latin typeface="Arial" pitchFamily="34" charset="0"/>
                <a:ea typeface="Arial" pitchFamily="34" charset="-122"/>
                <a:cs typeface="Arial" pitchFamily="34" charset="-120"/>
              </a:rPr>
              <a:t>Pre-listing, four-point and wind-mitigation reports</a:t>
            </a:r>
            <a:endParaRPr lang="en-US" sz="1100" dirty="0"/>
          </a:p>
        </p:txBody>
      </p:sp>
      <p:sp>
        <p:nvSpPr>
          <p:cNvPr id="14" name="Shape 10"/>
          <p:cNvSpPr/>
          <p:nvPr/>
        </p:nvSpPr>
        <p:spPr>
          <a:xfrm>
            <a:off x="6126480" y="1325880"/>
            <a:ext cx="2560320" cy="1280160"/>
          </a:xfrm>
          <a:prstGeom prst="roundRect">
            <a:avLst>
              <a:gd name="adj" fmla="val 5714"/>
            </a:avLst>
          </a:prstGeom>
          <a:solidFill>
            <a:srgbClr val="FBF2EE"/>
          </a:solidFill>
          <a:ln w="12700">
            <a:solidFill>
              <a:srgbClr val="FBF2EE"/>
            </a:solidFill>
            <a:prstDash val="solid"/>
          </a:ln>
        </p:spPr>
      </p:sp>
      <p:sp>
        <p:nvSpPr>
          <p:cNvPr id="15" name="Shape 11"/>
          <p:cNvSpPr/>
          <p:nvPr/>
        </p:nvSpPr>
        <p:spPr>
          <a:xfrm>
            <a:off x="6291072" y="1508760"/>
            <a:ext cx="411480" cy="411480"/>
          </a:xfrm>
          <a:prstGeom prst="ellipse">
            <a:avLst/>
          </a:prstGeom>
          <a:solidFill>
            <a:srgbClr val="C2410C"/>
          </a:solidFill>
          <a:ln w="12700">
            <a:solidFill>
              <a:srgbClr val="C2410C"/>
            </a:solidFill>
            <a:prstDash val="solid"/>
          </a:ln>
        </p:spPr>
      </p:sp>
      <p:pic>
        <p:nvPicPr>
          <p:cNvPr id="16" name="Image 2" descr="preencoded.png">    </p:cNvPr>
          <p:cNvPicPr>
            <a:picLocks noChangeAspect="1"/>
          </p:cNvPicPr>
          <p:nvPr/>
        </p:nvPicPr>
        <p:blipFill>
          <a:blip r:embed="rId3"/>
          <a:stretch>
            <a:fillRect/>
          </a:stretch>
        </p:blipFill>
        <p:spPr>
          <a:xfrm>
            <a:off x="6389827" y="1607515"/>
            <a:ext cx="213970" cy="213970"/>
          </a:xfrm>
          <a:prstGeom prst="rect">
            <a:avLst/>
          </a:prstGeom>
        </p:spPr>
      </p:pic>
      <p:sp>
        <p:nvSpPr>
          <p:cNvPr id="17" name="Text 12"/>
          <p:cNvSpPr txBox="1"/>
          <p:nvPr/>
        </p:nvSpPr>
        <p:spPr>
          <a:xfrm>
            <a:off x="6812280" y="1481328"/>
            <a:ext cx="1737360" cy="457200"/>
          </a:xfrm>
          <a:prstGeom prst="rect">
            <a:avLst/>
          </a:prstGeom>
          <a:noFill/>
          <a:ln/>
        </p:spPr>
        <p:txBody>
          <a:bodyPr wrap="square" lIns="0" tIns="0" rIns="0" bIns="0" rtlCol="0" anchor="ctr"/>
          <a:lstStyle/>
          <a:p>
            <a:pPr indent="0" marL="0">
              <a:buNone/>
            </a:pPr>
            <a:r>
              <a:rPr lang="en-US" sz="1300" b="1" dirty="0">
                <a:solidFill>
                  <a:srgbClr val="1A1A1A"/>
                </a:solidFill>
                <a:latin typeface="Arial" pitchFamily="34" charset="0"/>
                <a:ea typeface="Arial" pitchFamily="34" charset="-122"/>
                <a:cs typeface="Arial" pitchFamily="34" charset="-120"/>
              </a:rPr>
              <a:t>Gather the Renovation Permits</a:t>
            </a:r>
            <a:endParaRPr lang="en-US" sz="1300" dirty="0"/>
          </a:p>
        </p:txBody>
      </p:sp>
      <p:sp>
        <p:nvSpPr>
          <p:cNvPr id="18" name="Text 13"/>
          <p:cNvSpPr txBox="1"/>
          <p:nvPr/>
        </p:nvSpPr>
        <p:spPr>
          <a:xfrm>
            <a:off x="6309360" y="2057400"/>
            <a:ext cx="2194560" cy="475488"/>
          </a:xfrm>
          <a:prstGeom prst="rect">
            <a:avLst/>
          </a:prstGeom>
          <a:noFill/>
          <a:ln/>
        </p:spPr>
        <p:txBody>
          <a:bodyPr wrap="square" lIns="0" tIns="0" rIns="0" bIns="0" rtlCol="0" anchor="t"/>
          <a:lstStyle/>
          <a:p>
            <a:pPr indent="0" marL="0">
              <a:buNone/>
            </a:pPr>
            <a:r>
              <a:rPr lang="en-US" sz="1100" dirty="0">
                <a:solidFill>
                  <a:srgbClr val="5E5E5E"/>
                </a:solidFill>
                <a:latin typeface="Arial" pitchFamily="34" charset="0"/>
                <a:ea typeface="Arial" pitchFamily="34" charset="-122"/>
                <a:cs typeface="Arial" pitchFamily="34" charset="-120"/>
              </a:rPr>
              <a:t>Kitchen, baths, electrical, plumbing</a:t>
            </a:r>
            <a:endParaRPr lang="en-US" sz="1100" dirty="0"/>
          </a:p>
        </p:txBody>
      </p:sp>
      <p:sp>
        <p:nvSpPr>
          <p:cNvPr id="19" name="Shape 14"/>
          <p:cNvSpPr/>
          <p:nvPr/>
        </p:nvSpPr>
        <p:spPr>
          <a:xfrm>
            <a:off x="457200" y="2834640"/>
            <a:ext cx="2560320" cy="1280160"/>
          </a:xfrm>
          <a:prstGeom prst="roundRect">
            <a:avLst>
              <a:gd name="adj" fmla="val 5714"/>
            </a:avLst>
          </a:prstGeom>
          <a:solidFill>
            <a:srgbClr val="FBF2EE"/>
          </a:solidFill>
          <a:ln w="12700">
            <a:solidFill>
              <a:srgbClr val="FBF2EE"/>
            </a:solidFill>
            <a:prstDash val="solid"/>
          </a:ln>
        </p:spPr>
      </p:sp>
      <p:sp>
        <p:nvSpPr>
          <p:cNvPr id="20" name="Shape 15"/>
          <p:cNvSpPr/>
          <p:nvPr/>
        </p:nvSpPr>
        <p:spPr>
          <a:xfrm>
            <a:off x="621792" y="3017520"/>
            <a:ext cx="411480" cy="411480"/>
          </a:xfrm>
          <a:prstGeom prst="ellipse">
            <a:avLst/>
          </a:prstGeom>
          <a:solidFill>
            <a:srgbClr val="C2410C"/>
          </a:solidFill>
          <a:ln w="12700">
            <a:solidFill>
              <a:srgbClr val="C2410C"/>
            </a:solidFill>
            <a:prstDash val="solid"/>
          </a:ln>
        </p:spPr>
      </p:sp>
      <p:pic>
        <p:nvPicPr>
          <p:cNvPr id="21" name="Image 3" descr="preencoded.png">    </p:cNvPr>
          <p:cNvPicPr>
            <a:picLocks noChangeAspect="1"/>
          </p:cNvPicPr>
          <p:nvPr/>
        </p:nvPicPr>
        <p:blipFill>
          <a:blip r:embed="rId4"/>
          <a:stretch>
            <a:fillRect/>
          </a:stretch>
        </p:blipFill>
        <p:spPr>
          <a:xfrm>
            <a:off x="720547" y="3116275"/>
            <a:ext cx="213970" cy="213970"/>
          </a:xfrm>
          <a:prstGeom prst="rect">
            <a:avLst/>
          </a:prstGeom>
        </p:spPr>
      </p:pic>
      <p:sp>
        <p:nvSpPr>
          <p:cNvPr id="22" name="Text 16"/>
          <p:cNvSpPr txBox="1"/>
          <p:nvPr/>
        </p:nvSpPr>
        <p:spPr>
          <a:xfrm>
            <a:off x="1143000" y="2990088"/>
            <a:ext cx="1737360" cy="457200"/>
          </a:xfrm>
          <a:prstGeom prst="rect">
            <a:avLst/>
          </a:prstGeom>
          <a:noFill/>
          <a:ln/>
        </p:spPr>
        <p:txBody>
          <a:bodyPr wrap="square" lIns="0" tIns="0" rIns="0" bIns="0" rtlCol="0" anchor="ctr"/>
          <a:lstStyle/>
          <a:p>
            <a:pPr indent="0" marL="0">
              <a:buNone/>
            </a:pPr>
            <a:r>
              <a:rPr lang="en-US" sz="1250" b="1" dirty="0">
                <a:solidFill>
                  <a:srgbClr val="1A1A1A"/>
                </a:solidFill>
                <a:latin typeface="Arial" pitchFamily="34" charset="0"/>
                <a:ea typeface="Arial" pitchFamily="34" charset="-122"/>
                <a:cs typeface="Arial" pitchFamily="34" charset="-120"/>
              </a:rPr>
              <a:t>Make It Easy to Show</a:t>
            </a:r>
            <a:endParaRPr lang="en-US" sz="1250" dirty="0"/>
          </a:p>
        </p:txBody>
      </p:sp>
      <p:sp>
        <p:nvSpPr>
          <p:cNvPr id="23" name="Text 17"/>
          <p:cNvSpPr txBox="1"/>
          <p:nvPr/>
        </p:nvSpPr>
        <p:spPr>
          <a:xfrm>
            <a:off x="640080" y="3566160"/>
            <a:ext cx="2194560" cy="475488"/>
          </a:xfrm>
          <a:prstGeom prst="rect">
            <a:avLst/>
          </a:prstGeom>
          <a:noFill/>
          <a:ln/>
        </p:spPr>
        <p:txBody>
          <a:bodyPr wrap="square" lIns="0" tIns="0" rIns="0" bIns="0" rtlCol="0" anchor="t"/>
          <a:lstStyle/>
          <a:p>
            <a:pPr indent="0" marL="0">
              <a:buNone/>
            </a:pPr>
            <a:r>
              <a:rPr lang="en-US" sz="1100" dirty="0">
                <a:solidFill>
                  <a:srgbClr val="5E5E5E"/>
                </a:solidFill>
                <a:latin typeface="Arial" pitchFamily="34" charset="0"/>
                <a:ea typeface="Arial" pitchFamily="34" charset="-122"/>
                <a:cs typeface="Arial" pitchFamily="34" charset="-120"/>
              </a:rPr>
              <a:t>Short-notice showings in the first weeks</a:t>
            </a:r>
            <a:endParaRPr lang="en-US" sz="1100" dirty="0"/>
          </a:p>
        </p:txBody>
      </p:sp>
      <p:sp>
        <p:nvSpPr>
          <p:cNvPr id="24" name="Shape 18"/>
          <p:cNvSpPr/>
          <p:nvPr/>
        </p:nvSpPr>
        <p:spPr>
          <a:xfrm>
            <a:off x="3291840" y="2834640"/>
            <a:ext cx="2560320" cy="1280160"/>
          </a:xfrm>
          <a:prstGeom prst="roundRect">
            <a:avLst>
              <a:gd name="adj" fmla="val 5714"/>
            </a:avLst>
          </a:prstGeom>
          <a:solidFill>
            <a:srgbClr val="FBF2EE"/>
          </a:solidFill>
          <a:ln w="12700">
            <a:solidFill>
              <a:srgbClr val="FBF2EE"/>
            </a:solidFill>
            <a:prstDash val="solid"/>
          </a:ln>
        </p:spPr>
      </p:sp>
      <p:sp>
        <p:nvSpPr>
          <p:cNvPr id="25" name="Shape 19"/>
          <p:cNvSpPr/>
          <p:nvPr/>
        </p:nvSpPr>
        <p:spPr>
          <a:xfrm>
            <a:off x="3456432" y="3017520"/>
            <a:ext cx="411480" cy="411480"/>
          </a:xfrm>
          <a:prstGeom prst="ellipse">
            <a:avLst/>
          </a:prstGeom>
          <a:solidFill>
            <a:srgbClr val="C2410C"/>
          </a:solidFill>
          <a:ln w="12700">
            <a:solidFill>
              <a:srgbClr val="C2410C"/>
            </a:solidFill>
            <a:prstDash val="solid"/>
          </a:ln>
        </p:spPr>
      </p:sp>
      <p:pic>
        <p:nvPicPr>
          <p:cNvPr id="26" name="Image 4" descr="preencoded.png">    </p:cNvPr>
          <p:cNvPicPr>
            <a:picLocks noChangeAspect="1"/>
          </p:cNvPicPr>
          <p:nvPr/>
        </p:nvPicPr>
        <p:blipFill>
          <a:blip r:embed="rId5"/>
          <a:stretch>
            <a:fillRect/>
          </a:stretch>
        </p:blipFill>
        <p:spPr>
          <a:xfrm>
            <a:off x="3555187" y="3116275"/>
            <a:ext cx="213970" cy="213970"/>
          </a:xfrm>
          <a:prstGeom prst="rect">
            <a:avLst/>
          </a:prstGeom>
        </p:spPr>
      </p:pic>
      <p:sp>
        <p:nvSpPr>
          <p:cNvPr id="27" name="Text 20"/>
          <p:cNvSpPr txBox="1"/>
          <p:nvPr/>
        </p:nvSpPr>
        <p:spPr>
          <a:xfrm>
            <a:off x="3977640" y="2990088"/>
            <a:ext cx="1737360" cy="457200"/>
          </a:xfrm>
          <a:prstGeom prst="rect">
            <a:avLst/>
          </a:prstGeom>
          <a:noFill/>
          <a:ln/>
        </p:spPr>
        <p:txBody>
          <a:bodyPr wrap="square" lIns="0" tIns="0" rIns="0" bIns="0" rtlCol="0" anchor="ctr"/>
          <a:lstStyle/>
          <a:p>
            <a:pPr indent="0" marL="0">
              <a:buNone/>
            </a:pPr>
            <a:r>
              <a:rPr lang="en-US" sz="1300" b="1" dirty="0">
                <a:solidFill>
                  <a:srgbClr val="1A1A1A"/>
                </a:solidFill>
                <a:latin typeface="Arial" pitchFamily="34" charset="0"/>
                <a:ea typeface="Arial" pitchFamily="34" charset="-122"/>
                <a:cs typeface="Arial" pitchFamily="34" charset="-120"/>
              </a:rPr>
              <a:t>Decide on a Seller-Credit Budget</a:t>
            </a:r>
            <a:endParaRPr lang="en-US" sz="1300" dirty="0"/>
          </a:p>
        </p:txBody>
      </p:sp>
      <p:sp>
        <p:nvSpPr>
          <p:cNvPr id="28" name="Text 21"/>
          <p:cNvSpPr txBox="1"/>
          <p:nvPr/>
        </p:nvSpPr>
        <p:spPr>
          <a:xfrm>
            <a:off x="3474720" y="3566160"/>
            <a:ext cx="2194560" cy="475488"/>
          </a:xfrm>
          <a:prstGeom prst="rect">
            <a:avLst/>
          </a:prstGeom>
          <a:noFill/>
          <a:ln/>
        </p:spPr>
        <p:txBody>
          <a:bodyPr wrap="square" lIns="0" tIns="0" rIns="0" bIns="0" rtlCol="0" anchor="t"/>
          <a:lstStyle/>
          <a:p>
            <a:pPr indent="0" marL="0">
              <a:buNone/>
            </a:pPr>
            <a:r>
              <a:rPr lang="en-US" sz="1100" dirty="0">
                <a:solidFill>
                  <a:srgbClr val="5E5E5E"/>
                </a:solidFill>
                <a:latin typeface="Arial" pitchFamily="34" charset="0"/>
                <a:ea typeface="Arial" pitchFamily="34" charset="-122"/>
                <a:cs typeface="Arial" pitchFamily="34" charset="-120"/>
              </a:rPr>
              <a:t>Decide it now, before offers arrive</a:t>
            </a:r>
            <a:endParaRPr lang="en-US" sz="1100" dirty="0"/>
          </a:p>
        </p:txBody>
      </p:sp>
      <p:sp>
        <p:nvSpPr>
          <p:cNvPr id="29" name="Shape 22"/>
          <p:cNvSpPr/>
          <p:nvPr/>
        </p:nvSpPr>
        <p:spPr>
          <a:xfrm>
            <a:off x="6126480" y="2834640"/>
            <a:ext cx="2560320" cy="1280160"/>
          </a:xfrm>
          <a:prstGeom prst="roundRect">
            <a:avLst>
              <a:gd name="adj" fmla="val 5714"/>
            </a:avLst>
          </a:prstGeom>
          <a:solidFill>
            <a:srgbClr val="FBF2EE"/>
          </a:solidFill>
          <a:ln w="12700">
            <a:solidFill>
              <a:srgbClr val="FBF2EE"/>
            </a:solidFill>
            <a:prstDash val="solid"/>
          </a:ln>
        </p:spPr>
      </p:sp>
      <p:sp>
        <p:nvSpPr>
          <p:cNvPr id="30" name="Shape 23"/>
          <p:cNvSpPr/>
          <p:nvPr/>
        </p:nvSpPr>
        <p:spPr>
          <a:xfrm>
            <a:off x="6291072" y="3017520"/>
            <a:ext cx="411480" cy="411480"/>
          </a:xfrm>
          <a:prstGeom prst="ellipse">
            <a:avLst/>
          </a:prstGeom>
          <a:solidFill>
            <a:srgbClr val="C2410C"/>
          </a:solidFill>
          <a:ln w="12700">
            <a:solidFill>
              <a:srgbClr val="C2410C"/>
            </a:solidFill>
            <a:prstDash val="solid"/>
          </a:ln>
        </p:spPr>
      </p:sp>
      <p:pic>
        <p:nvPicPr>
          <p:cNvPr id="31" name="Image 5" descr="preencoded.png">    </p:cNvPr>
          <p:cNvPicPr>
            <a:picLocks noChangeAspect="1"/>
          </p:cNvPicPr>
          <p:nvPr/>
        </p:nvPicPr>
        <p:blipFill>
          <a:blip r:embed="rId6"/>
          <a:stretch>
            <a:fillRect/>
          </a:stretch>
        </p:blipFill>
        <p:spPr>
          <a:xfrm>
            <a:off x="6389827" y="3116275"/>
            <a:ext cx="213970" cy="213970"/>
          </a:xfrm>
          <a:prstGeom prst="rect">
            <a:avLst/>
          </a:prstGeom>
        </p:spPr>
      </p:pic>
      <p:sp>
        <p:nvSpPr>
          <p:cNvPr id="32" name="Text 24"/>
          <p:cNvSpPr txBox="1"/>
          <p:nvPr/>
        </p:nvSpPr>
        <p:spPr>
          <a:xfrm>
            <a:off x="6812280" y="2990088"/>
            <a:ext cx="1737360" cy="457200"/>
          </a:xfrm>
          <a:prstGeom prst="rect">
            <a:avLst/>
          </a:prstGeom>
          <a:noFill/>
          <a:ln/>
        </p:spPr>
        <p:txBody>
          <a:bodyPr wrap="square" lIns="0" tIns="0" rIns="0" bIns="0" rtlCol="0" anchor="ctr"/>
          <a:lstStyle/>
          <a:p>
            <a:pPr indent="0" marL="0">
              <a:buNone/>
            </a:pPr>
            <a:r>
              <a:rPr lang="en-US" sz="1300" b="1" dirty="0">
                <a:solidFill>
                  <a:srgbClr val="1A1A1A"/>
                </a:solidFill>
                <a:latin typeface="Arial" pitchFamily="34" charset="0"/>
                <a:ea typeface="Arial" pitchFamily="34" charset="-122"/>
                <a:cs typeface="Arial" pitchFamily="34" charset="-120"/>
              </a:rPr>
              <a:t>Agree on a Review Point</a:t>
            </a:r>
            <a:endParaRPr lang="en-US" sz="1300" dirty="0"/>
          </a:p>
        </p:txBody>
      </p:sp>
      <p:sp>
        <p:nvSpPr>
          <p:cNvPr id="33" name="Text 25"/>
          <p:cNvSpPr txBox="1"/>
          <p:nvPr/>
        </p:nvSpPr>
        <p:spPr>
          <a:xfrm>
            <a:off x="6309360" y="3566160"/>
            <a:ext cx="2194560" cy="475488"/>
          </a:xfrm>
          <a:prstGeom prst="rect">
            <a:avLst/>
          </a:prstGeom>
          <a:noFill/>
          <a:ln/>
        </p:spPr>
        <p:txBody>
          <a:bodyPr wrap="square" lIns="0" tIns="0" rIns="0" bIns="0" rtlCol="0" anchor="t"/>
          <a:lstStyle/>
          <a:p>
            <a:pPr indent="0" marL="0">
              <a:buNone/>
            </a:pPr>
            <a:r>
              <a:rPr lang="en-US" sz="1100" dirty="0">
                <a:solidFill>
                  <a:srgbClr val="5E5E5E"/>
                </a:solidFill>
                <a:latin typeface="Arial" pitchFamily="34" charset="0"/>
                <a:ea typeface="Arial" pitchFamily="34" charset="-122"/>
                <a:cs typeface="Arial" pitchFamily="34" charset="-120"/>
              </a:rPr>
              <a:t>Steady showings but no offer? Revisit the price</a:t>
            </a:r>
            <a:endParaRPr lang="en-US" sz="1100" dirty="0"/>
          </a:p>
        </p:txBody>
      </p:sp>
      <p:sp>
        <p:nvSpPr>
          <p:cNvPr id="34" name="Text 26"/>
          <p:cNvSpPr txBox="1"/>
          <p:nvPr/>
        </p:nvSpPr>
        <p:spPr>
          <a:xfrm>
            <a:off x="457200" y="4796028"/>
            <a:ext cx="6858000" cy="228600"/>
          </a:xfrm>
          <a:prstGeom prst="rect">
            <a:avLst/>
          </a:prstGeom>
          <a:noFill/>
          <a:ln/>
        </p:spPr>
        <p:txBody>
          <a:bodyPr wrap="square" lIns="0" tIns="0" rIns="0" bIns="0" rtlCol="0" anchor="ctr"/>
          <a:lstStyle/>
          <a:p>
            <a:pPr indent="0" marL="0">
              <a:buNone/>
            </a:pPr>
            <a:r>
              <a:rPr lang="en-US" sz="800" dirty="0">
                <a:solidFill>
                  <a:srgbClr val="5E5E5E"/>
                </a:solidFill>
                <a:latin typeface="Arial" pitchFamily="34" charset="0"/>
                <a:ea typeface="Arial" pitchFamily="34" charset="-122"/>
                <a:cs typeface="Arial" pitchFamily="34" charset="-120"/>
              </a:rPr>
              <a:t>SAMPLE DATA · 517 Larkwood Ave · Jordan Avery, REALTOR®, Sample Realty, LLC</a:t>
            </a:r>
            <a:endParaRPr lang="en-US" sz="800" dirty="0"/>
          </a:p>
        </p:txBody>
      </p:sp>
      <p:sp>
        <p:nvSpPr>
          <p:cNvPr id="35" name="Text 27"/>
          <p:cNvSpPr txBox="1"/>
          <p:nvPr/>
        </p:nvSpPr>
        <p:spPr>
          <a:xfrm>
            <a:off x="8229600" y="4796028"/>
            <a:ext cx="457200" cy="228600"/>
          </a:xfrm>
          <a:prstGeom prst="rect">
            <a:avLst/>
          </a:prstGeom>
          <a:noFill/>
          <a:ln/>
        </p:spPr>
        <p:txBody>
          <a:bodyPr wrap="square" lIns="0" tIns="0" rIns="0" bIns="0" rtlCol="0" anchor="ctr"/>
          <a:lstStyle/>
          <a:p>
            <a:pPr algn="r" indent="0" marL="0">
              <a:buNone/>
            </a:pPr>
            <a:r>
              <a:rPr lang="en-US" sz="800" dirty="0">
                <a:solidFill>
                  <a:srgbClr val="5E5E5E"/>
                </a:solidFill>
                <a:latin typeface="Arial" pitchFamily="34" charset="0"/>
                <a:ea typeface="Arial" pitchFamily="34" charset="-122"/>
                <a:cs typeface="Arial" pitchFamily="34" charset="-120"/>
              </a:rPr>
              <a:t>12</a:t>
            </a:r>
            <a:endParaRPr lang="en-US" sz="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7B2400"/>
        </a:solidFill>
      </p:bgPr>
    </p:bg>
    <p:spTree>
      <p:nvGrpSpPr>
        <p:cNvPr id="1" name=""/>
        <p:cNvGrpSpPr/>
        <p:nvPr/>
      </p:nvGrpSpPr>
      <p:grpSpPr>
        <a:xfrm>
          <a:off x="0" y="0"/>
          <a:ext cx="0" cy="0"/>
          <a:chOff x="0" y="0"/>
          <a:chExt cx="0" cy="0"/>
        </a:xfrm>
      </p:grpSpPr>
      <p:sp>
        <p:nvSpPr>
          <p:cNvPr id="2" name="Text 0"/>
          <p:cNvSpPr txBox="1"/>
          <p:nvPr/>
        </p:nvSpPr>
        <p:spPr>
          <a:xfrm>
            <a:off x="457200" y="292608"/>
            <a:ext cx="8229600" cy="566928"/>
          </a:xfrm>
          <a:prstGeom prst="rect">
            <a:avLst/>
          </a:prstGeom>
          <a:noFill/>
          <a:ln/>
        </p:spPr>
        <p:txBody>
          <a:bodyPr wrap="square" lIns="0" tIns="0" rIns="0" bIns="0" rtlCol="0" anchor="ctr"/>
          <a:lstStyle/>
          <a:p>
            <a:pPr indent="0" marL="0">
              <a:buNone/>
            </a:pPr>
            <a:r>
              <a:rPr lang="en-US" sz="2600" b="1" dirty="0">
                <a:solidFill>
                  <a:srgbClr val="FFFFFF"/>
                </a:solidFill>
                <a:latin typeface="Arial" pitchFamily="34" charset="0"/>
                <a:ea typeface="Arial" pitchFamily="34" charset="-122"/>
                <a:cs typeface="Arial" pitchFamily="34" charset="-120"/>
              </a:rPr>
              <a:t>Next Steps</a:t>
            </a:r>
            <a:endParaRPr lang="en-US" sz="2600" dirty="0"/>
          </a:p>
        </p:txBody>
      </p:sp>
      <p:sp>
        <p:nvSpPr>
          <p:cNvPr id="3" name="Text 1"/>
          <p:cNvSpPr txBox="1"/>
          <p:nvPr/>
        </p:nvSpPr>
        <p:spPr>
          <a:xfrm>
            <a:off x="457200" y="1051560"/>
            <a:ext cx="3931920" cy="320040"/>
          </a:xfrm>
          <a:prstGeom prst="rect">
            <a:avLst/>
          </a:prstGeom>
          <a:noFill/>
          <a:ln/>
        </p:spPr>
        <p:txBody>
          <a:bodyPr wrap="square" lIns="0" tIns="0" rIns="0" bIns="0" rtlCol="0" anchor="ctr"/>
          <a:lstStyle/>
          <a:p>
            <a:pPr indent="0" marL="0">
              <a:buNone/>
            </a:pPr>
            <a:r>
              <a:rPr lang="en-US" sz="1500" b="1" dirty="0">
                <a:solidFill>
                  <a:srgbClr val="F8E8E2"/>
                </a:solidFill>
                <a:latin typeface="Arial" pitchFamily="34" charset="0"/>
                <a:ea typeface="Arial" pitchFamily="34" charset="-122"/>
                <a:cs typeface="Arial" pitchFamily="34" charset="-120"/>
              </a:rPr>
              <a:t>What We Need from You</a:t>
            </a:r>
            <a:endParaRPr lang="en-US" sz="1500" dirty="0"/>
          </a:p>
        </p:txBody>
      </p:sp>
      <p:sp>
        <p:nvSpPr>
          <p:cNvPr id="4" name="Text 2"/>
          <p:cNvSpPr txBox="1"/>
          <p:nvPr/>
        </p:nvSpPr>
        <p:spPr>
          <a:xfrm>
            <a:off x="457200" y="1463040"/>
            <a:ext cx="3931920" cy="2834640"/>
          </a:xfrm>
          <a:prstGeom prst="rect">
            <a:avLst/>
          </a:prstGeom>
          <a:noFill/>
          <a:ln/>
        </p:spPr>
        <p:txBody>
          <a:bodyPr wrap="square" lIns="0" tIns="0" rIns="0" bIns="0" rtlCol="0" anchor="t"/>
          <a:lstStyle/>
          <a:p>
            <a:pPr marL="342900" indent="-342900">
              <a:spcAft>
                <a:spcPts val="600"/>
              </a:spcAft>
              <a:buSzPct val="100000"/>
              <a:buChar char="•"/>
            </a:pPr>
            <a:r>
              <a:rPr lang="en-US" sz="1250" dirty="0">
                <a:solidFill>
                  <a:srgbClr val="FFFFFF"/>
                </a:solidFill>
                <a:latin typeface="Arial" pitchFamily="34" charset="0"/>
                <a:ea typeface="Arial" pitchFamily="34" charset="-122"/>
                <a:cs typeface="Arial" pitchFamily="34" charset="-120"/>
              </a:rPr>
              <a:t>Roof permit and date, and any inspection reports</a:t>
            </a:r>
            <a:endParaRPr lang="en-US" sz="1250" dirty="0"/>
          </a:p>
          <a:p>
            <a:pPr marL="342900" indent="-342900">
              <a:spcAft>
                <a:spcPts val="600"/>
              </a:spcAft>
              <a:buSzPct val="100000"/>
              <a:buChar char="•"/>
            </a:pPr>
            <a:r>
              <a:rPr lang="en-US" sz="1250" dirty="0">
                <a:solidFill>
                  <a:srgbClr val="FFFFFF"/>
                </a:solidFill>
                <a:latin typeface="Arial" pitchFamily="34" charset="0"/>
                <a:ea typeface="Arial" pitchFamily="34" charset="-122"/>
                <a:cs typeface="Arial" pitchFamily="34" charset="-120"/>
              </a:rPr>
              <a:t>Ages of the AC, water heater and pool equipment</a:t>
            </a:r>
            <a:endParaRPr lang="en-US" sz="1250" dirty="0"/>
          </a:p>
          <a:p>
            <a:pPr marL="342900" indent="-342900">
              <a:spcAft>
                <a:spcPts val="600"/>
              </a:spcAft>
              <a:buSzPct val="100000"/>
              <a:buChar char="•"/>
            </a:pPr>
            <a:r>
              <a:rPr lang="en-US" sz="1250" dirty="0">
                <a:solidFill>
                  <a:srgbClr val="FFFFFF"/>
                </a:solidFill>
                <a:latin typeface="Arial" pitchFamily="34" charset="0"/>
                <a:ea typeface="Arial" pitchFamily="34" charset="-122"/>
                <a:cs typeface="Arial" pitchFamily="34" charset="-120"/>
              </a:rPr>
              <a:t>Renovation permits</a:t>
            </a:r>
            <a:endParaRPr lang="en-US" sz="1250" dirty="0"/>
          </a:p>
          <a:p>
            <a:pPr marL="342900" indent="-342900">
              <a:spcAft>
                <a:spcPts val="600"/>
              </a:spcAft>
              <a:buSzPct val="100000"/>
              <a:buChar char="•"/>
            </a:pPr>
            <a:r>
              <a:rPr lang="en-US" sz="1250" dirty="0">
                <a:solidFill>
                  <a:srgbClr val="FFFFFF"/>
                </a:solidFill>
                <a:latin typeface="Arial" pitchFamily="34" charset="0"/>
                <a:ea typeface="Arial" pitchFamily="34" charset="-122"/>
                <a:cs typeface="Arial" pitchFamily="34" charset="-120"/>
              </a:rPr>
              <a:t>Anything known about leaks, claims or repairs</a:t>
            </a:r>
            <a:endParaRPr lang="en-US" sz="1250" dirty="0"/>
          </a:p>
          <a:p>
            <a:pPr marL="342900" indent="-342900">
              <a:spcAft>
                <a:spcPts val="600"/>
              </a:spcAft>
              <a:buSzPct val="100000"/>
              <a:buChar char="•"/>
            </a:pPr>
            <a:r>
              <a:rPr lang="en-US" sz="1250" dirty="0">
                <a:solidFill>
                  <a:srgbClr val="FFFFFF"/>
                </a:solidFill>
                <a:latin typeface="Arial" pitchFamily="34" charset="0"/>
                <a:ea typeface="Arial" pitchFamily="34" charset="-122"/>
                <a:cs typeface="Arial" pitchFamily="34" charset="-120"/>
              </a:rPr>
              <a:t>Your mortgage payoff and target closing date</a:t>
            </a:r>
            <a:endParaRPr lang="en-US" sz="1250" dirty="0"/>
          </a:p>
        </p:txBody>
      </p:sp>
      <p:sp>
        <p:nvSpPr>
          <p:cNvPr id="5" name="Text 3"/>
          <p:cNvSpPr txBox="1"/>
          <p:nvPr/>
        </p:nvSpPr>
        <p:spPr>
          <a:xfrm>
            <a:off x="4937760" y="1051560"/>
            <a:ext cx="3749040" cy="320040"/>
          </a:xfrm>
          <a:prstGeom prst="rect">
            <a:avLst/>
          </a:prstGeom>
          <a:noFill/>
          <a:ln/>
        </p:spPr>
        <p:txBody>
          <a:bodyPr wrap="square" lIns="0" tIns="0" rIns="0" bIns="0" rtlCol="0" anchor="ctr"/>
          <a:lstStyle/>
          <a:p>
            <a:pPr indent="0" marL="0">
              <a:buNone/>
            </a:pPr>
            <a:r>
              <a:rPr lang="en-US" sz="1500" b="1" dirty="0">
                <a:solidFill>
                  <a:srgbClr val="F8E8E2"/>
                </a:solidFill>
                <a:latin typeface="Arial" pitchFamily="34" charset="0"/>
                <a:ea typeface="Arial" pitchFamily="34" charset="-122"/>
                <a:cs typeface="Arial" pitchFamily="34" charset="-120"/>
              </a:rPr>
              <a:t>Timeline to Go Live</a:t>
            </a:r>
            <a:endParaRPr lang="en-US" sz="1500" dirty="0"/>
          </a:p>
        </p:txBody>
      </p:sp>
      <p:sp>
        <p:nvSpPr>
          <p:cNvPr id="6" name="Shape 4"/>
          <p:cNvSpPr/>
          <p:nvPr/>
        </p:nvSpPr>
        <p:spPr>
          <a:xfrm>
            <a:off x="4937760" y="1508760"/>
            <a:ext cx="384048" cy="384048"/>
          </a:xfrm>
          <a:prstGeom prst="ellipse">
            <a:avLst/>
          </a:prstGeom>
          <a:solidFill>
            <a:srgbClr val="F8E8E2"/>
          </a:solidFill>
          <a:ln w="12700">
            <a:solidFill>
              <a:srgbClr val="F8E8E2"/>
            </a:solidFill>
            <a:prstDash val="solid"/>
          </a:ln>
        </p:spPr>
      </p:sp>
      <p:sp>
        <p:nvSpPr>
          <p:cNvPr id="7" name="Text 5"/>
          <p:cNvSpPr txBox="1"/>
          <p:nvPr/>
        </p:nvSpPr>
        <p:spPr>
          <a:xfrm>
            <a:off x="4937760" y="1508760"/>
            <a:ext cx="384048" cy="384048"/>
          </a:xfrm>
          <a:prstGeom prst="rect">
            <a:avLst/>
          </a:prstGeom>
          <a:noFill/>
          <a:ln/>
        </p:spPr>
        <p:txBody>
          <a:bodyPr wrap="square" lIns="0" tIns="0" rIns="0" bIns="0" rtlCol="0" anchor="ctr"/>
          <a:lstStyle/>
          <a:p>
            <a:pPr algn="ctr" indent="0" marL="0">
              <a:buNone/>
            </a:pPr>
            <a:r>
              <a:rPr lang="en-US" sz="1300" b="1" dirty="0">
                <a:solidFill>
                  <a:srgbClr val="7B2400"/>
                </a:solidFill>
                <a:latin typeface="Arial" pitchFamily="34" charset="0"/>
                <a:ea typeface="Arial" pitchFamily="34" charset="-122"/>
                <a:cs typeface="Arial" pitchFamily="34" charset="-120"/>
              </a:rPr>
              <a:t>1</a:t>
            </a:r>
            <a:endParaRPr lang="en-US" sz="1300" dirty="0"/>
          </a:p>
        </p:txBody>
      </p:sp>
      <p:sp>
        <p:nvSpPr>
          <p:cNvPr id="8" name="Text 6"/>
          <p:cNvSpPr txBox="1"/>
          <p:nvPr/>
        </p:nvSpPr>
        <p:spPr>
          <a:xfrm>
            <a:off x="5486400" y="1490472"/>
            <a:ext cx="3200400" cy="228600"/>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This Week</a:t>
            </a:r>
            <a:endParaRPr lang="en-US" sz="1200" dirty="0"/>
          </a:p>
        </p:txBody>
      </p:sp>
      <p:sp>
        <p:nvSpPr>
          <p:cNvPr id="9" name="Text 7"/>
          <p:cNvSpPr txBox="1"/>
          <p:nvPr/>
        </p:nvSpPr>
        <p:spPr>
          <a:xfrm>
            <a:off x="5486400" y="1709928"/>
            <a:ext cx="3200400" cy="384048"/>
          </a:xfrm>
          <a:prstGeom prst="rect">
            <a:avLst/>
          </a:prstGeom>
          <a:noFill/>
          <a:ln/>
        </p:spPr>
        <p:txBody>
          <a:bodyPr wrap="square" lIns="0" tIns="0" rIns="0" bIns="0" rtlCol="0" anchor="t"/>
          <a:lstStyle/>
          <a:p>
            <a:pPr indent="0" marL="0">
              <a:buNone/>
            </a:pPr>
            <a:r>
              <a:rPr lang="en-US" sz="1100" dirty="0">
                <a:solidFill>
                  <a:srgbClr val="F8E8E2"/>
                </a:solidFill>
                <a:latin typeface="Arial" pitchFamily="34" charset="0"/>
                <a:ea typeface="Arial" pitchFamily="34" charset="-122"/>
                <a:cs typeface="Arial" pitchFamily="34" charset="-120"/>
              </a:rPr>
              <a:t>Sign the listing agreement; order the inspections</a:t>
            </a:r>
            <a:endParaRPr lang="en-US" sz="1100" dirty="0"/>
          </a:p>
        </p:txBody>
      </p:sp>
      <p:sp>
        <p:nvSpPr>
          <p:cNvPr id="10" name="Shape 8"/>
          <p:cNvSpPr/>
          <p:nvPr/>
        </p:nvSpPr>
        <p:spPr>
          <a:xfrm>
            <a:off x="4937760" y="2194560"/>
            <a:ext cx="384048" cy="384048"/>
          </a:xfrm>
          <a:prstGeom prst="ellipse">
            <a:avLst/>
          </a:prstGeom>
          <a:solidFill>
            <a:srgbClr val="F8E8E2"/>
          </a:solidFill>
          <a:ln w="12700">
            <a:solidFill>
              <a:srgbClr val="F8E8E2"/>
            </a:solidFill>
            <a:prstDash val="solid"/>
          </a:ln>
        </p:spPr>
      </p:sp>
      <p:sp>
        <p:nvSpPr>
          <p:cNvPr id="11" name="Text 9"/>
          <p:cNvSpPr txBox="1"/>
          <p:nvPr/>
        </p:nvSpPr>
        <p:spPr>
          <a:xfrm>
            <a:off x="4937760" y="2194560"/>
            <a:ext cx="384048" cy="384048"/>
          </a:xfrm>
          <a:prstGeom prst="rect">
            <a:avLst/>
          </a:prstGeom>
          <a:noFill/>
          <a:ln/>
        </p:spPr>
        <p:txBody>
          <a:bodyPr wrap="square" lIns="0" tIns="0" rIns="0" bIns="0" rtlCol="0" anchor="ctr"/>
          <a:lstStyle/>
          <a:p>
            <a:pPr algn="ctr" indent="0" marL="0">
              <a:buNone/>
            </a:pPr>
            <a:r>
              <a:rPr lang="en-US" sz="1300" b="1" dirty="0">
                <a:solidFill>
                  <a:srgbClr val="7B2400"/>
                </a:solidFill>
                <a:latin typeface="Arial" pitchFamily="34" charset="0"/>
                <a:ea typeface="Arial" pitchFamily="34" charset="-122"/>
                <a:cs typeface="Arial" pitchFamily="34" charset="-120"/>
              </a:rPr>
              <a:t>2</a:t>
            </a:r>
            <a:endParaRPr lang="en-US" sz="1300" dirty="0"/>
          </a:p>
        </p:txBody>
      </p:sp>
      <p:sp>
        <p:nvSpPr>
          <p:cNvPr id="12" name="Text 10"/>
          <p:cNvSpPr txBox="1"/>
          <p:nvPr/>
        </p:nvSpPr>
        <p:spPr>
          <a:xfrm>
            <a:off x="5486400" y="2176272"/>
            <a:ext cx="3200400" cy="228600"/>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Before Launch</a:t>
            </a:r>
            <a:endParaRPr lang="en-US" sz="1200" dirty="0"/>
          </a:p>
        </p:txBody>
      </p:sp>
      <p:sp>
        <p:nvSpPr>
          <p:cNvPr id="13" name="Text 11"/>
          <p:cNvSpPr txBox="1"/>
          <p:nvPr/>
        </p:nvSpPr>
        <p:spPr>
          <a:xfrm>
            <a:off x="5486400" y="2395728"/>
            <a:ext cx="3200400" cy="384048"/>
          </a:xfrm>
          <a:prstGeom prst="rect">
            <a:avLst/>
          </a:prstGeom>
          <a:noFill/>
          <a:ln/>
        </p:spPr>
        <p:txBody>
          <a:bodyPr wrap="square" lIns="0" tIns="0" rIns="0" bIns="0" rtlCol="0" anchor="t"/>
          <a:lstStyle/>
          <a:p>
            <a:pPr indent="0" marL="0">
              <a:buNone/>
            </a:pPr>
            <a:r>
              <a:rPr lang="en-US" sz="1100" dirty="0">
                <a:solidFill>
                  <a:srgbClr val="F8E8E2"/>
                </a:solidFill>
                <a:latin typeface="Arial" pitchFamily="34" charset="0"/>
                <a:ea typeface="Arial" pitchFamily="34" charset="-122"/>
                <a:cs typeface="Arial" pitchFamily="34" charset="-120"/>
              </a:rPr>
              <a:t>Photos, documents and a final pricing review</a:t>
            </a:r>
            <a:endParaRPr lang="en-US" sz="1100" dirty="0"/>
          </a:p>
        </p:txBody>
      </p:sp>
      <p:sp>
        <p:nvSpPr>
          <p:cNvPr id="14" name="Shape 12"/>
          <p:cNvSpPr/>
          <p:nvPr/>
        </p:nvSpPr>
        <p:spPr>
          <a:xfrm>
            <a:off x="4937760" y="2880360"/>
            <a:ext cx="384048" cy="384048"/>
          </a:xfrm>
          <a:prstGeom prst="ellipse">
            <a:avLst/>
          </a:prstGeom>
          <a:solidFill>
            <a:srgbClr val="F8E8E2"/>
          </a:solidFill>
          <a:ln w="12700">
            <a:solidFill>
              <a:srgbClr val="F8E8E2"/>
            </a:solidFill>
            <a:prstDash val="solid"/>
          </a:ln>
        </p:spPr>
      </p:sp>
      <p:sp>
        <p:nvSpPr>
          <p:cNvPr id="15" name="Text 13"/>
          <p:cNvSpPr txBox="1"/>
          <p:nvPr/>
        </p:nvSpPr>
        <p:spPr>
          <a:xfrm>
            <a:off x="4937760" y="2880360"/>
            <a:ext cx="384048" cy="384048"/>
          </a:xfrm>
          <a:prstGeom prst="rect">
            <a:avLst/>
          </a:prstGeom>
          <a:noFill/>
          <a:ln/>
        </p:spPr>
        <p:txBody>
          <a:bodyPr wrap="square" lIns="0" tIns="0" rIns="0" bIns="0" rtlCol="0" anchor="ctr"/>
          <a:lstStyle/>
          <a:p>
            <a:pPr algn="ctr" indent="0" marL="0">
              <a:buNone/>
            </a:pPr>
            <a:r>
              <a:rPr lang="en-US" sz="1300" b="1" dirty="0">
                <a:solidFill>
                  <a:srgbClr val="7B2400"/>
                </a:solidFill>
                <a:latin typeface="Arial" pitchFamily="34" charset="0"/>
                <a:ea typeface="Arial" pitchFamily="34" charset="-122"/>
                <a:cs typeface="Arial" pitchFamily="34" charset="-120"/>
              </a:rPr>
              <a:t>3</a:t>
            </a:r>
            <a:endParaRPr lang="en-US" sz="1300" dirty="0"/>
          </a:p>
        </p:txBody>
      </p:sp>
      <p:sp>
        <p:nvSpPr>
          <p:cNvPr id="16" name="Text 14"/>
          <p:cNvSpPr txBox="1"/>
          <p:nvPr/>
        </p:nvSpPr>
        <p:spPr>
          <a:xfrm>
            <a:off x="5486400" y="2862072"/>
            <a:ext cx="3200400" cy="228600"/>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Oct 6</a:t>
            </a:r>
            <a:endParaRPr lang="en-US" sz="1200" dirty="0"/>
          </a:p>
        </p:txBody>
      </p:sp>
      <p:sp>
        <p:nvSpPr>
          <p:cNvPr id="17" name="Text 15"/>
          <p:cNvSpPr txBox="1"/>
          <p:nvPr/>
        </p:nvSpPr>
        <p:spPr>
          <a:xfrm>
            <a:off x="5486400" y="3081528"/>
            <a:ext cx="3200400" cy="384048"/>
          </a:xfrm>
          <a:prstGeom prst="rect">
            <a:avLst/>
          </a:prstGeom>
          <a:noFill/>
          <a:ln/>
        </p:spPr>
        <p:txBody>
          <a:bodyPr wrap="square" lIns="0" tIns="0" rIns="0" bIns="0" rtlCol="0" anchor="t"/>
          <a:lstStyle/>
          <a:p>
            <a:pPr indent="0" marL="0">
              <a:buNone/>
            </a:pPr>
            <a:r>
              <a:rPr lang="en-US" sz="1100" dirty="0">
                <a:solidFill>
                  <a:srgbClr val="F8E8E2"/>
                </a:solidFill>
                <a:latin typeface="Arial" pitchFamily="34" charset="0"/>
                <a:ea typeface="Arial" pitchFamily="34" charset="-122"/>
                <a:cs typeface="Arial" pitchFamily="34" charset="-120"/>
              </a:rPr>
              <a:t>Go live at $470,000</a:t>
            </a:r>
            <a:endParaRPr lang="en-US" sz="1100" dirty="0"/>
          </a:p>
        </p:txBody>
      </p:sp>
      <p:sp>
        <p:nvSpPr>
          <p:cNvPr id="18" name="Shape 16"/>
          <p:cNvSpPr/>
          <p:nvPr/>
        </p:nvSpPr>
        <p:spPr>
          <a:xfrm>
            <a:off x="4937760" y="3566160"/>
            <a:ext cx="384048" cy="384048"/>
          </a:xfrm>
          <a:prstGeom prst="ellipse">
            <a:avLst/>
          </a:prstGeom>
          <a:solidFill>
            <a:srgbClr val="F8E8E2"/>
          </a:solidFill>
          <a:ln w="12700">
            <a:solidFill>
              <a:srgbClr val="F8E8E2"/>
            </a:solidFill>
            <a:prstDash val="solid"/>
          </a:ln>
        </p:spPr>
      </p:sp>
      <p:sp>
        <p:nvSpPr>
          <p:cNvPr id="19" name="Text 17"/>
          <p:cNvSpPr txBox="1"/>
          <p:nvPr/>
        </p:nvSpPr>
        <p:spPr>
          <a:xfrm>
            <a:off x="4937760" y="3566160"/>
            <a:ext cx="384048" cy="384048"/>
          </a:xfrm>
          <a:prstGeom prst="rect">
            <a:avLst/>
          </a:prstGeom>
          <a:noFill/>
          <a:ln/>
        </p:spPr>
        <p:txBody>
          <a:bodyPr wrap="square" lIns="0" tIns="0" rIns="0" bIns="0" rtlCol="0" anchor="ctr"/>
          <a:lstStyle/>
          <a:p>
            <a:pPr algn="ctr" indent="0" marL="0">
              <a:buNone/>
            </a:pPr>
            <a:r>
              <a:rPr lang="en-US" sz="1300" b="1" dirty="0">
                <a:solidFill>
                  <a:srgbClr val="7B2400"/>
                </a:solidFill>
                <a:latin typeface="Arial" pitchFamily="34" charset="0"/>
                <a:ea typeface="Arial" pitchFamily="34" charset="-122"/>
                <a:cs typeface="Arial" pitchFamily="34" charset="-120"/>
              </a:rPr>
              <a:t>4</a:t>
            </a:r>
            <a:endParaRPr lang="en-US" sz="1300" dirty="0"/>
          </a:p>
        </p:txBody>
      </p:sp>
      <p:sp>
        <p:nvSpPr>
          <p:cNvPr id="20" name="Text 18"/>
          <p:cNvSpPr txBox="1"/>
          <p:nvPr/>
        </p:nvSpPr>
        <p:spPr>
          <a:xfrm>
            <a:off x="5486400" y="3547872"/>
            <a:ext cx="3200400" cy="228600"/>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After Launch</a:t>
            </a:r>
            <a:endParaRPr lang="en-US" sz="1200" dirty="0"/>
          </a:p>
        </p:txBody>
      </p:sp>
      <p:sp>
        <p:nvSpPr>
          <p:cNvPr id="21" name="Text 19"/>
          <p:cNvSpPr txBox="1"/>
          <p:nvPr/>
        </p:nvSpPr>
        <p:spPr>
          <a:xfrm>
            <a:off x="5486400" y="3767328"/>
            <a:ext cx="3200400" cy="384048"/>
          </a:xfrm>
          <a:prstGeom prst="rect">
            <a:avLst/>
          </a:prstGeom>
          <a:noFill/>
          <a:ln/>
        </p:spPr>
        <p:txBody>
          <a:bodyPr wrap="square" lIns="0" tIns="0" rIns="0" bIns="0" rtlCol="0" anchor="t"/>
          <a:lstStyle/>
          <a:p>
            <a:pPr indent="0" marL="0">
              <a:buNone/>
            </a:pPr>
            <a:r>
              <a:rPr lang="en-US" sz="1100" dirty="0">
                <a:solidFill>
                  <a:srgbClr val="F8E8E2"/>
                </a:solidFill>
                <a:latin typeface="Arial" pitchFamily="34" charset="0"/>
                <a:ea typeface="Arial" pitchFamily="34" charset="-122"/>
                <a:cs typeface="Arial" pitchFamily="34" charset="-120"/>
              </a:rPr>
              <a:t>Price review if steady showings bring no offer</a:t>
            </a:r>
            <a:endParaRPr lang="en-US" sz="1100" dirty="0"/>
          </a:p>
        </p:txBody>
      </p:sp>
      <p:sp>
        <p:nvSpPr>
          <p:cNvPr id="22" name="Text 20"/>
          <p:cNvSpPr txBox="1"/>
          <p:nvPr/>
        </p:nvSpPr>
        <p:spPr>
          <a:xfrm>
            <a:off x="457200" y="4732020"/>
            <a:ext cx="6400800" cy="274320"/>
          </a:xfrm>
          <a:prstGeom prst="rect">
            <a:avLst/>
          </a:prstGeom>
          <a:noFill/>
          <a:ln/>
        </p:spPr>
        <p:txBody>
          <a:bodyPr wrap="square" lIns="0" tIns="0" rIns="0" bIns="0" rtlCol="0" anchor="ctr"/>
          <a:lstStyle/>
          <a:p>
            <a:pPr indent="0" marL="0">
              <a:buNone/>
            </a:pPr>
            <a:r>
              <a:rPr lang="en-US" sz="1000" dirty="0">
                <a:solidFill>
                  <a:srgbClr val="F8E8E2"/>
                </a:solidFill>
                <a:latin typeface="Arial" pitchFamily="34" charset="0"/>
                <a:ea typeface="Arial" pitchFamily="34" charset="-122"/>
                <a:cs typeface="Arial" pitchFamily="34" charset="-120"/>
              </a:rPr>
              <a:t>Jordan Avery, REALTOR® · (407) 555-0142 · jordan@example.com</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8229600" cy="566928"/>
          </a:xfrm>
          <a:prstGeom prst="rect">
            <a:avLst/>
          </a:prstGeom>
          <a:noFill/>
          <a:ln/>
        </p:spPr>
        <p:txBody>
          <a:bodyPr wrap="square" lIns="0" tIns="0" rIns="0" bIns="0" rtlCol="0" anchor="t"/>
          <a:lstStyle/>
          <a:p>
            <a:pPr indent="0" marL="0">
              <a:buNone/>
            </a:pPr>
            <a:r>
              <a:rPr lang="en-US" sz="2600" b="1" dirty="0">
                <a:solidFill>
                  <a:srgbClr val="1A1A1A"/>
                </a:solidFill>
                <a:latin typeface="Arial" pitchFamily="34" charset="0"/>
                <a:ea typeface="Arial" pitchFamily="34" charset="-122"/>
                <a:cs typeface="Arial" pitchFamily="34" charset="-120"/>
              </a:rPr>
              <a:t>Appendix: Estimated Net Proceeds</a:t>
            </a:r>
            <a:endParaRPr lang="en-US" sz="26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457200" y="1005840"/>
          <a:ext cx="8229600" cy="914400"/>
        </p:xfrm>
        <a:graphic>
          <a:graphicData uri="http://schemas.openxmlformats.org/drawingml/2006/table">
            <a:tbl>
              <a:tblPr/>
              <a:tblGrid>
                <a:gridCol w="3291840"/>
                <a:gridCol w="1645920"/>
                <a:gridCol w="1645920"/>
                <a:gridCol w="1645920"/>
              </a:tblGrid>
              <a:tr h="258064">
                <a:tc>
                  <a:txBody>
                    <a:bodyPr/>
                    <a:lstStyle/>
                    <a:p>
                      <a:pPr algn="l" indent="0" marL="0">
                        <a:buNone/>
                      </a:pPr>
                      <a:r>
                        <a:rPr lang="en-US" sz="1000" b="1" dirty="0">
                          <a:solidFill>
                            <a:srgbClr val="A23200"/>
                          </a:solidFill>
                          <a:latin typeface="Arial" pitchFamily="34" charset="0"/>
                          <a:ea typeface="Arial" pitchFamily="34" charset="-122"/>
                          <a:cs typeface="Arial" pitchFamily="34" charset="-120"/>
                        </a:rPr>
                        <a:t>Estimated at Closing</a:t>
                      </a:r>
                      <a:endParaRPr lang="en-US" sz="1000" dirty="0">
                        <a:latin typeface="Arial" charset="0"/>
                        <a:ea typeface="Arial" charset="0"/>
                        <a:cs typeface="Arial" charset="0"/>
                      </a:endParaRPr>
                    </a:p>
                  </a:txBody>
                  <a:tcPr marL="54864" marR="54864" marT="18288" marB="18288" anchor="ctr">
                    <a:lnL w="0" cap="flat" cmpd="sng" algn="ctr">
                      <a:noFill/>
                    </a:lnL>
                    <a:lnR w="0" cap="flat" cmpd="sng" algn="ctr">
                      <a:noFill/>
                    </a:lnR>
                    <a:lnT w="0" cap="flat" cmpd="sng" algn="ctr">
                      <a:noFill/>
                    </a:lnT>
                    <a:lnB w="19050" cap="flat" cmpd="sng" algn="ctr">
                      <a:solidFill>
                        <a:srgbClr val="C2410C"/>
                      </a:solidFill>
                      <a:prstDash val="solid"/>
                      <a:round/>
                      <a:headEnd type="none" w="med" len="med"/>
                      <a:tailEnd type="none" w="med" len="med"/>
                    </a:lnB>
                    <a:solidFill>
                      <a:srgbClr val="FFFFFF"/>
                    </a:solidFill>
                  </a:tcPr>
                </a:tc>
                <a:tc>
                  <a:txBody>
                    <a:bodyPr/>
                    <a:lstStyle/>
                    <a:p>
                      <a:pPr algn="r" indent="0" marL="0">
                        <a:buNone/>
                      </a:pPr>
                      <a:r>
                        <a:rPr lang="en-US" sz="1000" b="1" dirty="0">
                          <a:solidFill>
                            <a:srgbClr val="A23200"/>
                          </a:solidFill>
                          <a:latin typeface="Arial" pitchFamily="34" charset="0"/>
                          <a:ea typeface="Arial" pitchFamily="34" charset="-122"/>
                          <a:cs typeface="Arial" pitchFamily="34" charset="-120"/>
                        </a:rPr>
                        <a:t>Premium at $475,000</a:t>
                      </a:r>
                      <a:endParaRPr lang="en-US" sz="1000" dirty="0">
                        <a:latin typeface="Arial" charset="0"/>
                        <a:ea typeface="Arial" charset="0"/>
                        <a:cs typeface="Arial" charset="0"/>
                      </a:endParaRPr>
                    </a:p>
                  </a:txBody>
                  <a:tcPr marL="54864" marR="54864" marT="18288" marB="18288" anchor="ctr">
                    <a:lnL w="0" cap="flat" cmpd="sng" algn="ctr">
                      <a:noFill/>
                    </a:lnL>
                    <a:lnR w="0" cap="flat" cmpd="sng" algn="ctr">
                      <a:noFill/>
                    </a:lnR>
                    <a:lnT w="0" cap="flat" cmpd="sng" algn="ctr">
                      <a:noFill/>
                    </a:lnT>
                    <a:lnB w="19050" cap="flat" cmpd="sng" algn="ctr">
                      <a:solidFill>
                        <a:srgbClr val="C2410C"/>
                      </a:solidFill>
                      <a:prstDash val="solid"/>
                      <a:round/>
                      <a:headEnd type="none" w="med" len="med"/>
                      <a:tailEnd type="none" w="med" len="med"/>
                    </a:lnB>
                    <a:solidFill>
                      <a:srgbClr val="FFFFFF"/>
                    </a:solidFill>
                  </a:tcPr>
                </a:tc>
                <a:tc>
                  <a:txBody>
                    <a:bodyPr/>
                    <a:lstStyle/>
                    <a:p>
                      <a:pPr algn="r" indent="0" marL="0">
                        <a:buNone/>
                      </a:pPr>
                      <a:r>
                        <a:rPr lang="en-US" sz="1000" b="1" dirty="0">
                          <a:solidFill>
                            <a:srgbClr val="A23200"/>
                          </a:solidFill>
                          <a:latin typeface="Arial" pitchFamily="34" charset="0"/>
                          <a:ea typeface="Arial" pitchFamily="34" charset="-122"/>
                          <a:cs typeface="Arial" pitchFamily="34" charset="-120"/>
                        </a:rPr>
                        <a:t>Market Price at $470,000</a:t>
                      </a:r>
                      <a:endParaRPr lang="en-US" sz="1000" dirty="0">
                        <a:latin typeface="Arial" charset="0"/>
                        <a:ea typeface="Arial" charset="0"/>
                        <a:cs typeface="Arial" charset="0"/>
                      </a:endParaRPr>
                    </a:p>
                  </a:txBody>
                  <a:tcPr marL="54864" marR="54864" marT="18288" marB="18288" anchor="ctr">
                    <a:lnL w="0" cap="flat" cmpd="sng" algn="ctr">
                      <a:noFill/>
                    </a:lnL>
                    <a:lnR w="0" cap="flat" cmpd="sng" algn="ctr">
                      <a:noFill/>
                    </a:lnR>
                    <a:lnT w="0" cap="flat" cmpd="sng" algn="ctr">
                      <a:noFill/>
                    </a:lnT>
                    <a:lnB w="19050" cap="flat" cmpd="sng" algn="ctr">
                      <a:solidFill>
                        <a:srgbClr val="C2410C"/>
                      </a:solidFill>
                      <a:prstDash val="solid"/>
                      <a:round/>
                      <a:headEnd type="none" w="med" len="med"/>
                      <a:tailEnd type="none" w="med" len="med"/>
                    </a:lnB>
                    <a:solidFill>
                      <a:srgbClr val="FFFFFF"/>
                    </a:solidFill>
                  </a:tcPr>
                </a:tc>
                <a:tc>
                  <a:txBody>
                    <a:bodyPr/>
                    <a:lstStyle/>
                    <a:p>
                      <a:pPr algn="r" indent="0" marL="0">
                        <a:buNone/>
                      </a:pPr>
                      <a:r>
                        <a:rPr lang="en-US" sz="1000" b="1" dirty="0">
                          <a:solidFill>
                            <a:srgbClr val="A23200"/>
                          </a:solidFill>
                          <a:latin typeface="Arial" pitchFamily="34" charset="0"/>
                          <a:ea typeface="Arial" pitchFamily="34" charset="-122"/>
                          <a:cs typeface="Arial" pitchFamily="34" charset="-120"/>
                        </a:rPr>
                        <a:t>Draw Offers at $460,000</a:t>
                      </a:r>
                      <a:endParaRPr lang="en-US" sz="1000" dirty="0">
                        <a:latin typeface="Arial" charset="0"/>
                        <a:ea typeface="Arial" charset="0"/>
                        <a:cs typeface="Arial" charset="0"/>
                      </a:endParaRPr>
                    </a:p>
                  </a:txBody>
                  <a:tcPr marL="54864" marR="54864" marT="18288" marB="18288" anchor="ctr">
                    <a:lnL w="0" cap="flat" cmpd="sng" algn="ctr">
                      <a:noFill/>
                    </a:lnL>
                    <a:lnR w="0" cap="flat" cmpd="sng" algn="ctr">
                      <a:noFill/>
                    </a:lnR>
                    <a:lnT w="0" cap="flat" cmpd="sng" algn="ctr">
                      <a:noFill/>
                    </a:lnT>
                    <a:lnB w="19050" cap="flat" cmpd="sng" algn="ctr">
                      <a:solidFill>
                        <a:srgbClr val="C2410C"/>
                      </a:solidFill>
                      <a:prstDash val="solid"/>
                      <a:round/>
                      <a:headEnd type="none" w="med" len="med"/>
                      <a:tailEnd type="none" w="med" len="med"/>
                    </a:lnB>
                    <a:solidFill>
                      <a:srgbClr val="FFFFFF"/>
                    </a:solidFill>
                  </a:tcPr>
                </a:tc>
              </a:tr>
              <a:tr h="258064">
                <a:tc>
                  <a:txBody>
                    <a:bodyPr/>
                    <a:lstStyle/>
                    <a:p>
                      <a:pPr algn="l" indent="0" marL="0">
                        <a:buNone/>
                      </a:pPr>
                      <a:r>
                        <a:rPr lang="en-US" sz="1000" dirty="0">
                          <a:solidFill>
                            <a:srgbClr val="1A1A1A"/>
                          </a:solidFill>
                          <a:latin typeface="Arial" pitchFamily="34" charset="0"/>
                          <a:ea typeface="Arial" pitchFamily="34" charset="-122"/>
                          <a:cs typeface="Arial" pitchFamily="34" charset="-120"/>
                        </a:rPr>
                        <a:t>Expected Sale Price</a:t>
                      </a:r>
                      <a:endParaRPr lang="en-US" sz="1000" dirty="0">
                        <a:latin typeface="Arial" charset="0"/>
                        <a:ea typeface="Arial" charset="0"/>
                        <a:cs typeface="Arial" charset="0"/>
                      </a:endParaRPr>
                    </a:p>
                  </a:txBody>
                  <a:tcPr marL="54864" marR="54864" marT="18288" marB="18288" anchor="ctr">
                    <a:lnL w="0" cap="flat" cmpd="sng" algn="ctr">
                      <a:noFill/>
                    </a:lnL>
                    <a:lnR w="0" cap="flat" cmpd="sng" algn="ctr">
                      <a:noFill/>
                    </a:lnR>
                    <a:lnT w="0" cap="flat" cmpd="sng" algn="ctr">
                      <a:noFill/>
                    </a:lnT>
                    <a:lnB w="6350" cap="flat" cmpd="sng" algn="ctr">
                      <a:solidFill>
                        <a:srgbClr val="F8E8E2"/>
                      </a:solidFill>
                      <a:prstDash val="solid"/>
                      <a:round/>
                      <a:headEnd type="none" w="med" len="med"/>
                      <a:tailEnd type="none" w="med" len="med"/>
                    </a:lnB>
                    <a:solidFill>
                      <a:srgbClr val="FFFFFF"/>
                    </a:solidFill>
                  </a:tcPr>
                </a:tc>
                <a:tc>
                  <a:txBody>
                    <a:bodyPr/>
                    <a:lstStyle/>
                    <a:p>
                      <a:pPr algn="r" indent="0" marL="0">
                        <a:buNone/>
                      </a:pPr>
                      <a:r>
                        <a:rPr lang="en-US" sz="1000" dirty="0">
                          <a:solidFill>
                            <a:srgbClr val="1A1A1A"/>
                          </a:solidFill>
                          <a:latin typeface="Arial" pitchFamily="34" charset="0"/>
                          <a:ea typeface="Arial" pitchFamily="34" charset="-122"/>
                          <a:cs typeface="Arial" pitchFamily="34" charset="-120"/>
                        </a:rPr>
                        <a:t>$467,500</a:t>
                      </a:r>
                      <a:endParaRPr lang="en-US" sz="1000" dirty="0">
                        <a:latin typeface="Arial" charset="0"/>
                        <a:ea typeface="Arial" charset="0"/>
                        <a:cs typeface="Arial" charset="0"/>
                      </a:endParaRPr>
                    </a:p>
                  </a:txBody>
                  <a:tcPr marL="54864" marR="54864" marT="18288" marB="18288" anchor="ctr">
                    <a:lnL w="0" cap="flat" cmpd="sng" algn="ctr">
                      <a:noFill/>
                    </a:lnL>
                    <a:lnR w="0" cap="flat" cmpd="sng" algn="ctr">
                      <a:noFill/>
                    </a:lnR>
                    <a:lnT w="0" cap="flat" cmpd="sng" algn="ctr">
                      <a:noFill/>
                    </a:lnT>
                    <a:lnB w="6350" cap="flat" cmpd="sng" algn="ctr">
                      <a:solidFill>
                        <a:srgbClr val="F8E8E2"/>
                      </a:solidFill>
                      <a:prstDash val="solid"/>
                      <a:round/>
                      <a:headEnd type="none" w="med" len="med"/>
                      <a:tailEnd type="none" w="med" len="med"/>
                    </a:lnB>
                    <a:solidFill>
                      <a:srgbClr val="FFFFFF"/>
                    </a:solidFill>
                  </a:tcPr>
                </a:tc>
                <a:tc>
                  <a:txBody>
                    <a:bodyPr/>
                    <a:lstStyle/>
                    <a:p>
                      <a:pPr algn="r" indent="0" marL="0">
                        <a:buNone/>
                      </a:pPr>
                      <a:r>
                        <a:rPr lang="en-US" sz="1000" dirty="0">
                          <a:solidFill>
                            <a:srgbClr val="1A1A1A"/>
                          </a:solidFill>
                          <a:latin typeface="Arial" pitchFamily="34" charset="0"/>
                          <a:ea typeface="Arial" pitchFamily="34" charset="-122"/>
                          <a:cs typeface="Arial" pitchFamily="34" charset="-120"/>
                        </a:rPr>
                        <a:t>$467,000</a:t>
                      </a:r>
                      <a:endParaRPr lang="en-US" sz="1000" dirty="0">
                        <a:latin typeface="Arial" charset="0"/>
                        <a:ea typeface="Arial" charset="0"/>
                        <a:cs typeface="Arial" charset="0"/>
                      </a:endParaRPr>
                    </a:p>
                  </a:txBody>
                  <a:tcPr marL="54864" marR="54864" marT="18288" marB="18288" anchor="ctr">
                    <a:lnL w="0" cap="flat" cmpd="sng" algn="ctr">
                      <a:noFill/>
                    </a:lnL>
                    <a:lnR w="0" cap="flat" cmpd="sng" algn="ctr">
                      <a:noFill/>
                    </a:lnR>
                    <a:lnT w="0" cap="flat" cmpd="sng" algn="ctr">
                      <a:noFill/>
                    </a:lnT>
                    <a:lnB w="6350" cap="flat" cmpd="sng" algn="ctr">
                      <a:solidFill>
                        <a:srgbClr val="F8E8E2"/>
                      </a:solidFill>
                      <a:prstDash val="solid"/>
                      <a:round/>
                      <a:headEnd type="none" w="med" len="med"/>
                      <a:tailEnd type="none" w="med" len="med"/>
                    </a:lnB>
                    <a:solidFill>
                      <a:srgbClr val="FFFFFF"/>
                    </a:solidFill>
                  </a:tcPr>
                </a:tc>
                <a:tc>
                  <a:txBody>
                    <a:bodyPr/>
                    <a:lstStyle/>
                    <a:p>
                      <a:pPr algn="r" indent="0" marL="0">
                        <a:buNone/>
                      </a:pPr>
                      <a:r>
                        <a:rPr lang="en-US" sz="1000" dirty="0">
                          <a:solidFill>
                            <a:srgbClr val="1A1A1A"/>
                          </a:solidFill>
                          <a:latin typeface="Arial" pitchFamily="34" charset="0"/>
                          <a:ea typeface="Arial" pitchFamily="34" charset="-122"/>
                          <a:cs typeface="Arial" pitchFamily="34" charset="-120"/>
                        </a:rPr>
                        <a:t>$457,000</a:t>
                      </a:r>
                      <a:endParaRPr lang="en-US" sz="1000" dirty="0">
                        <a:latin typeface="Arial" charset="0"/>
                        <a:ea typeface="Arial" charset="0"/>
                        <a:cs typeface="Arial" charset="0"/>
                      </a:endParaRPr>
                    </a:p>
                  </a:txBody>
                  <a:tcPr marL="54864" marR="54864" marT="18288" marB="18288" anchor="ctr">
                    <a:lnL w="0" cap="flat" cmpd="sng" algn="ctr">
                      <a:noFill/>
                    </a:lnL>
                    <a:lnR w="0" cap="flat" cmpd="sng" algn="ctr">
                      <a:noFill/>
                    </a:lnR>
                    <a:lnT w="0" cap="flat" cmpd="sng" algn="ctr">
                      <a:noFill/>
                    </a:lnT>
                    <a:lnB w="6350" cap="flat" cmpd="sng" algn="ctr">
                      <a:solidFill>
                        <a:srgbClr val="F8E8E2"/>
                      </a:solidFill>
                      <a:prstDash val="solid"/>
                      <a:round/>
                      <a:headEnd type="none" w="med" len="med"/>
                      <a:tailEnd type="none" w="med" len="med"/>
                    </a:lnB>
                    <a:solidFill>
                      <a:srgbClr val="FFFFFF"/>
                    </a:solidFill>
                  </a:tcPr>
                </a:tc>
              </a:tr>
              <a:tr h="258064">
                <a:tc>
                  <a:txBody>
                    <a:bodyPr/>
                    <a:lstStyle/>
                    <a:p>
                      <a:pPr algn="l" indent="0" marL="0">
                        <a:buNone/>
                      </a:pPr>
                      <a:r>
                        <a:rPr lang="en-US" sz="1000" dirty="0">
                          <a:solidFill>
                            <a:srgbClr val="1A1A1A"/>
                          </a:solidFill>
                          <a:latin typeface="Arial" pitchFamily="34" charset="0"/>
                          <a:ea typeface="Arial" pitchFamily="34" charset="-122"/>
                          <a:cs typeface="Arial" pitchFamily="34" charset="-120"/>
                        </a:rPr>
                        <a:t>Expected Closing</a:t>
                      </a:r>
                      <a:endParaRPr lang="en-US" sz="1000" dirty="0">
                        <a:latin typeface="Arial" charset="0"/>
                        <a:ea typeface="Arial" charset="0"/>
                        <a:cs typeface="Arial" charset="0"/>
                      </a:endParaRPr>
                    </a:p>
                  </a:txBody>
                  <a:tcPr marL="54864" marR="54864" marT="18288" marB="18288" anchor="ctr">
                    <a:lnL w="0" cap="flat" cmpd="sng" algn="ctr">
                      <a:noFill/>
                    </a:lnL>
                    <a:lnR w="0" cap="flat" cmpd="sng" algn="ctr">
                      <a:noFill/>
                    </a:lnR>
                    <a:lnT w="0" cap="flat" cmpd="sng" algn="ctr">
                      <a:noFill/>
                    </a:lnT>
                    <a:lnB w="6350" cap="flat" cmpd="sng" algn="ctr">
                      <a:solidFill>
                        <a:srgbClr val="F8E8E2"/>
                      </a:solidFill>
                      <a:prstDash val="solid"/>
                      <a:round/>
                      <a:headEnd type="none" w="med" len="med"/>
                      <a:tailEnd type="none" w="med" len="med"/>
                    </a:lnB>
                    <a:solidFill>
                      <a:srgbClr val="FFFFFF"/>
                    </a:solidFill>
                  </a:tcPr>
                </a:tc>
                <a:tc>
                  <a:txBody>
                    <a:bodyPr/>
                    <a:lstStyle/>
                    <a:p>
                      <a:pPr algn="r" indent="0" marL="0">
                        <a:buNone/>
                      </a:pPr>
                      <a:r>
                        <a:rPr lang="en-US" sz="1000" dirty="0">
                          <a:solidFill>
                            <a:srgbClr val="1A1A1A"/>
                          </a:solidFill>
                          <a:latin typeface="Arial" pitchFamily="34" charset="0"/>
                          <a:ea typeface="Arial" pitchFamily="34" charset="-122"/>
                          <a:cs typeface="Arial" pitchFamily="34" charset="-120"/>
                        </a:rPr>
                        <a:t>Dec 24, 2026</a:t>
                      </a:r>
                      <a:endParaRPr lang="en-US" sz="1000" dirty="0">
                        <a:latin typeface="Arial" charset="0"/>
                        <a:ea typeface="Arial" charset="0"/>
                        <a:cs typeface="Arial" charset="0"/>
                      </a:endParaRPr>
                    </a:p>
                  </a:txBody>
                  <a:tcPr marL="54864" marR="54864" marT="18288" marB="18288" anchor="ctr">
                    <a:lnL w="0" cap="flat" cmpd="sng" algn="ctr">
                      <a:noFill/>
                    </a:lnL>
                    <a:lnR w="0" cap="flat" cmpd="sng" algn="ctr">
                      <a:noFill/>
                    </a:lnR>
                    <a:lnT w="0" cap="flat" cmpd="sng" algn="ctr">
                      <a:noFill/>
                    </a:lnT>
                    <a:lnB w="6350" cap="flat" cmpd="sng" algn="ctr">
                      <a:solidFill>
                        <a:srgbClr val="F8E8E2"/>
                      </a:solidFill>
                      <a:prstDash val="solid"/>
                      <a:round/>
                      <a:headEnd type="none" w="med" len="med"/>
                      <a:tailEnd type="none" w="med" len="med"/>
                    </a:lnB>
                    <a:solidFill>
                      <a:srgbClr val="FFFFFF"/>
                    </a:solidFill>
                  </a:tcPr>
                </a:tc>
                <a:tc>
                  <a:txBody>
                    <a:bodyPr/>
                    <a:lstStyle/>
                    <a:p>
                      <a:pPr algn="r" indent="0" marL="0">
                        <a:buNone/>
                      </a:pPr>
                      <a:r>
                        <a:rPr lang="en-US" sz="1000" dirty="0">
                          <a:solidFill>
                            <a:srgbClr val="1A1A1A"/>
                          </a:solidFill>
                          <a:latin typeface="Arial" pitchFamily="34" charset="0"/>
                          <a:ea typeface="Arial" pitchFamily="34" charset="-122"/>
                          <a:cs typeface="Arial" pitchFamily="34" charset="-120"/>
                        </a:rPr>
                        <a:t>Nov 30, 2026</a:t>
                      </a:r>
                      <a:endParaRPr lang="en-US" sz="1000" dirty="0">
                        <a:latin typeface="Arial" charset="0"/>
                        <a:ea typeface="Arial" charset="0"/>
                        <a:cs typeface="Arial" charset="0"/>
                      </a:endParaRPr>
                    </a:p>
                  </a:txBody>
                  <a:tcPr marL="54864" marR="54864" marT="18288" marB="18288" anchor="ctr">
                    <a:lnL w="0" cap="flat" cmpd="sng" algn="ctr">
                      <a:noFill/>
                    </a:lnL>
                    <a:lnR w="0" cap="flat" cmpd="sng" algn="ctr">
                      <a:noFill/>
                    </a:lnR>
                    <a:lnT w="0" cap="flat" cmpd="sng" algn="ctr">
                      <a:noFill/>
                    </a:lnT>
                    <a:lnB w="6350" cap="flat" cmpd="sng" algn="ctr">
                      <a:solidFill>
                        <a:srgbClr val="F8E8E2"/>
                      </a:solidFill>
                      <a:prstDash val="solid"/>
                      <a:round/>
                      <a:headEnd type="none" w="med" len="med"/>
                      <a:tailEnd type="none" w="med" len="med"/>
                    </a:lnB>
                    <a:solidFill>
                      <a:srgbClr val="FFFFFF"/>
                    </a:solidFill>
                  </a:tcPr>
                </a:tc>
                <a:tc>
                  <a:txBody>
                    <a:bodyPr/>
                    <a:lstStyle/>
                    <a:p>
                      <a:pPr algn="r" indent="0" marL="0">
                        <a:buNone/>
                      </a:pPr>
                      <a:r>
                        <a:rPr lang="en-US" sz="1000" dirty="0">
                          <a:solidFill>
                            <a:srgbClr val="1A1A1A"/>
                          </a:solidFill>
                          <a:latin typeface="Arial" pitchFamily="34" charset="0"/>
                          <a:ea typeface="Arial" pitchFamily="34" charset="-122"/>
                          <a:cs typeface="Arial" pitchFamily="34" charset="-120"/>
                        </a:rPr>
                        <a:t>Nov 16, 2026</a:t>
                      </a:r>
                      <a:endParaRPr lang="en-US" sz="1000" dirty="0">
                        <a:latin typeface="Arial" charset="0"/>
                        <a:ea typeface="Arial" charset="0"/>
                        <a:cs typeface="Arial" charset="0"/>
                      </a:endParaRPr>
                    </a:p>
                  </a:txBody>
                  <a:tcPr marL="54864" marR="54864" marT="18288" marB="18288" anchor="ctr">
                    <a:lnL w="0" cap="flat" cmpd="sng" algn="ctr">
                      <a:noFill/>
                    </a:lnL>
                    <a:lnR w="0" cap="flat" cmpd="sng" algn="ctr">
                      <a:noFill/>
                    </a:lnR>
                    <a:lnT w="0" cap="flat" cmpd="sng" algn="ctr">
                      <a:noFill/>
                    </a:lnT>
                    <a:lnB w="6350" cap="flat" cmpd="sng" algn="ctr">
                      <a:solidFill>
                        <a:srgbClr val="F8E8E2"/>
                      </a:solidFill>
                      <a:prstDash val="solid"/>
                      <a:round/>
                      <a:headEnd type="none" w="med" len="med"/>
                      <a:tailEnd type="none" w="med" len="med"/>
                    </a:lnB>
                    <a:solidFill>
                      <a:srgbClr val="FFFFFF"/>
                    </a:solidFill>
                  </a:tcPr>
                </a:tc>
              </a:tr>
              <a:tr h="258064">
                <a:tc>
                  <a:txBody>
                    <a:bodyPr/>
                    <a:lstStyle/>
                    <a:p>
                      <a:pPr algn="l" indent="0" marL="0">
                        <a:buNone/>
                      </a:pPr>
                      <a:r>
                        <a:rPr lang="en-US" sz="1000" dirty="0">
                          <a:solidFill>
                            <a:srgbClr val="1A1A1A"/>
                          </a:solidFill>
                          <a:latin typeface="Arial" pitchFamily="34" charset="0"/>
                          <a:ea typeface="Arial" pitchFamily="34" charset="-122"/>
                          <a:cs typeface="Arial" pitchFamily="34" charset="-120"/>
                        </a:rPr>
                        <a:t>Listing Brokerage (2.5%)</a:t>
                      </a:r>
                      <a:endParaRPr lang="en-US" sz="1000" dirty="0">
                        <a:latin typeface="Arial" charset="0"/>
                        <a:ea typeface="Arial" charset="0"/>
                        <a:cs typeface="Arial" charset="0"/>
                      </a:endParaRPr>
                    </a:p>
                  </a:txBody>
                  <a:tcPr marL="54864" marR="54864" marT="18288" marB="18288" anchor="ctr">
                    <a:lnL w="0" cap="flat" cmpd="sng" algn="ctr">
                      <a:noFill/>
                    </a:lnL>
                    <a:lnR w="0" cap="flat" cmpd="sng" algn="ctr">
                      <a:noFill/>
                    </a:lnR>
                    <a:lnT w="0" cap="flat" cmpd="sng" algn="ctr">
                      <a:noFill/>
                    </a:lnT>
                    <a:lnB w="6350" cap="flat" cmpd="sng" algn="ctr">
                      <a:solidFill>
                        <a:srgbClr val="F8E8E2"/>
                      </a:solidFill>
                      <a:prstDash val="solid"/>
                      <a:round/>
                      <a:headEnd type="none" w="med" len="med"/>
                      <a:tailEnd type="none" w="med" len="med"/>
                    </a:lnB>
                    <a:solidFill>
                      <a:srgbClr val="FFFFFF"/>
                    </a:solidFill>
                  </a:tcPr>
                </a:tc>
                <a:tc>
                  <a:txBody>
                    <a:bodyPr/>
                    <a:lstStyle/>
                    <a:p>
                      <a:pPr algn="r" indent="0" marL="0">
                        <a:buNone/>
                      </a:pPr>
                      <a:r>
                        <a:rPr lang="en-US" sz="1000" dirty="0">
                          <a:solidFill>
                            <a:srgbClr val="1A1A1A"/>
                          </a:solidFill>
                          <a:latin typeface="Arial" pitchFamily="34" charset="0"/>
                          <a:ea typeface="Arial" pitchFamily="34" charset="-122"/>
                          <a:cs typeface="Arial" pitchFamily="34" charset="-120"/>
                        </a:rPr>
                        <a:t>−$11,688</a:t>
                      </a:r>
                      <a:endParaRPr lang="en-US" sz="1000" dirty="0">
                        <a:latin typeface="Arial" charset="0"/>
                        <a:ea typeface="Arial" charset="0"/>
                        <a:cs typeface="Arial" charset="0"/>
                      </a:endParaRPr>
                    </a:p>
                  </a:txBody>
                  <a:tcPr marL="54864" marR="54864" marT="18288" marB="18288" anchor="ctr">
                    <a:lnL w="0" cap="flat" cmpd="sng" algn="ctr">
                      <a:noFill/>
                    </a:lnL>
                    <a:lnR w="0" cap="flat" cmpd="sng" algn="ctr">
                      <a:noFill/>
                    </a:lnR>
                    <a:lnT w="0" cap="flat" cmpd="sng" algn="ctr">
                      <a:noFill/>
                    </a:lnT>
                    <a:lnB w="6350" cap="flat" cmpd="sng" algn="ctr">
                      <a:solidFill>
                        <a:srgbClr val="F8E8E2"/>
                      </a:solidFill>
                      <a:prstDash val="solid"/>
                      <a:round/>
                      <a:headEnd type="none" w="med" len="med"/>
                      <a:tailEnd type="none" w="med" len="med"/>
                    </a:lnB>
                    <a:solidFill>
                      <a:srgbClr val="FFFFFF"/>
                    </a:solidFill>
                  </a:tcPr>
                </a:tc>
                <a:tc>
                  <a:txBody>
                    <a:bodyPr/>
                    <a:lstStyle/>
                    <a:p>
                      <a:pPr algn="r" indent="0" marL="0">
                        <a:buNone/>
                      </a:pPr>
                      <a:r>
                        <a:rPr lang="en-US" sz="1000" dirty="0">
                          <a:solidFill>
                            <a:srgbClr val="1A1A1A"/>
                          </a:solidFill>
                          <a:latin typeface="Arial" pitchFamily="34" charset="0"/>
                          <a:ea typeface="Arial" pitchFamily="34" charset="-122"/>
                          <a:cs typeface="Arial" pitchFamily="34" charset="-120"/>
                        </a:rPr>
                        <a:t>−$11,675</a:t>
                      </a:r>
                      <a:endParaRPr lang="en-US" sz="1000" dirty="0">
                        <a:latin typeface="Arial" charset="0"/>
                        <a:ea typeface="Arial" charset="0"/>
                        <a:cs typeface="Arial" charset="0"/>
                      </a:endParaRPr>
                    </a:p>
                  </a:txBody>
                  <a:tcPr marL="54864" marR="54864" marT="18288" marB="18288" anchor="ctr">
                    <a:lnL w="0" cap="flat" cmpd="sng" algn="ctr">
                      <a:noFill/>
                    </a:lnL>
                    <a:lnR w="0" cap="flat" cmpd="sng" algn="ctr">
                      <a:noFill/>
                    </a:lnR>
                    <a:lnT w="0" cap="flat" cmpd="sng" algn="ctr">
                      <a:noFill/>
                    </a:lnT>
                    <a:lnB w="6350" cap="flat" cmpd="sng" algn="ctr">
                      <a:solidFill>
                        <a:srgbClr val="F8E8E2"/>
                      </a:solidFill>
                      <a:prstDash val="solid"/>
                      <a:round/>
                      <a:headEnd type="none" w="med" len="med"/>
                      <a:tailEnd type="none" w="med" len="med"/>
                    </a:lnB>
                    <a:solidFill>
                      <a:srgbClr val="FFFFFF"/>
                    </a:solidFill>
                  </a:tcPr>
                </a:tc>
                <a:tc>
                  <a:txBody>
                    <a:bodyPr/>
                    <a:lstStyle/>
                    <a:p>
                      <a:pPr algn="r" indent="0" marL="0">
                        <a:buNone/>
                      </a:pPr>
                      <a:r>
                        <a:rPr lang="en-US" sz="1000" dirty="0">
                          <a:solidFill>
                            <a:srgbClr val="1A1A1A"/>
                          </a:solidFill>
                          <a:latin typeface="Arial" pitchFamily="34" charset="0"/>
                          <a:ea typeface="Arial" pitchFamily="34" charset="-122"/>
                          <a:cs typeface="Arial" pitchFamily="34" charset="-120"/>
                        </a:rPr>
                        <a:t>−$11,425</a:t>
                      </a:r>
                      <a:endParaRPr lang="en-US" sz="1000" dirty="0">
                        <a:latin typeface="Arial" charset="0"/>
                        <a:ea typeface="Arial" charset="0"/>
                        <a:cs typeface="Arial" charset="0"/>
                      </a:endParaRPr>
                    </a:p>
                  </a:txBody>
                  <a:tcPr marL="54864" marR="54864" marT="18288" marB="18288" anchor="ctr">
                    <a:lnL w="0" cap="flat" cmpd="sng" algn="ctr">
                      <a:noFill/>
                    </a:lnL>
                    <a:lnR w="0" cap="flat" cmpd="sng" algn="ctr">
                      <a:noFill/>
                    </a:lnR>
                    <a:lnT w="0" cap="flat" cmpd="sng" algn="ctr">
                      <a:noFill/>
                    </a:lnT>
                    <a:lnB w="6350" cap="flat" cmpd="sng" algn="ctr">
                      <a:solidFill>
                        <a:srgbClr val="F8E8E2"/>
                      </a:solidFill>
                      <a:prstDash val="solid"/>
                      <a:round/>
                      <a:headEnd type="none" w="med" len="med"/>
                      <a:tailEnd type="none" w="med" len="med"/>
                    </a:lnB>
                    <a:solidFill>
                      <a:srgbClr val="FFFFFF"/>
                    </a:solidFill>
                  </a:tcPr>
                </a:tc>
              </a:tr>
              <a:tr h="258064">
                <a:tc>
                  <a:txBody>
                    <a:bodyPr/>
                    <a:lstStyle/>
                    <a:p>
                      <a:pPr algn="l" indent="0" marL="0">
                        <a:buNone/>
                      </a:pPr>
                      <a:r>
                        <a:rPr lang="en-US" sz="1000" dirty="0">
                          <a:solidFill>
                            <a:srgbClr val="1A1A1A"/>
                          </a:solidFill>
                          <a:latin typeface="Arial" pitchFamily="34" charset="0"/>
                          <a:ea typeface="Arial" pitchFamily="34" charset="-122"/>
                          <a:cs typeface="Arial" pitchFamily="34" charset="-120"/>
                        </a:rPr>
                        <a:t>Buyer's Agent Compensation (2.5%)</a:t>
                      </a:r>
                      <a:endParaRPr lang="en-US" sz="1000" dirty="0">
                        <a:latin typeface="Arial" charset="0"/>
                        <a:ea typeface="Arial" charset="0"/>
                        <a:cs typeface="Arial" charset="0"/>
                      </a:endParaRPr>
                    </a:p>
                  </a:txBody>
                  <a:tcPr marL="54864" marR="54864" marT="18288" marB="18288" anchor="ctr">
                    <a:lnL w="0" cap="flat" cmpd="sng" algn="ctr">
                      <a:noFill/>
                    </a:lnL>
                    <a:lnR w="0" cap="flat" cmpd="sng" algn="ctr">
                      <a:noFill/>
                    </a:lnR>
                    <a:lnT w="0" cap="flat" cmpd="sng" algn="ctr">
                      <a:noFill/>
                    </a:lnT>
                    <a:lnB w="6350" cap="flat" cmpd="sng" algn="ctr">
                      <a:solidFill>
                        <a:srgbClr val="F8E8E2"/>
                      </a:solidFill>
                      <a:prstDash val="solid"/>
                      <a:round/>
                      <a:headEnd type="none" w="med" len="med"/>
                      <a:tailEnd type="none" w="med" len="med"/>
                    </a:lnB>
                    <a:solidFill>
                      <a:srgbClr val="FFFFFF"/>
                    </a:solidFill>
                  </a:tcPr>
                </a:tc>
                <a:tc>
                  <a:txBody>
                    <a:bodyPr/>
                    <a:lstStyle/>
                    <a:p>
                      <a:pPr algn="r" indent="0" marL="0">
                        <a:buNone/>
                      </a:pPr>
                      <a:r>
                        <a:rPr lang="en-US" sz="1000" dirty="0">
                          <a:solidFill>
                            <a:srgbClr val="1A1A1A"/>
                          </a:solidFill>
                          <a:latin typeface="Arial" pitchFamily="34" charset="0"/>
                          <a:ea typeface="Arial" pitchFamily="34" charset="-122"/>
                          <a:cs typeface="Arial" pitchFamily="34" charset="-120"/>
                        </a:rPr>
                        <a:t>−$11,688</a:t>
                      </a:r>
                      <a:endParaRPr lang="en-US" sz="1000" dirty="0">
                        <a:latin typeface="Arial" charset="0"/>
                        <a:ea typeface="Arial" charset="0"/>
                        <a:cs typeface="Arial" charset="0"/>
                      </a:endParaRPr>
                    </a:p>
                  </a:txBody>
                  <a:tcPr marL="54864" marR="54864" marT="18288" marB="18288" anchor="ctr">
                    <a:lnL w="0" cap="flat" cmpd="sng" algn="ctr">
                      <a:noFill/>
                    </a:lnL>
                    <a:lnR w="0" cap="flat" cmpd="sng" algn="ctr">
                      <a:noFill/>
                    </a:lnR>
                    <a:lnT w="0" cap="flat" cmpd="sng" algn="ctr">
                      <a:noFill/>
                    </a:lnT>
                    <a:lnB w="6350" cap="flat" cmpd="sng" algn="ctr">
                      <a:solidFill>
                        <a:srgbClr val="F8E8E2"/>
                      </a:solidFill>
                      <a:prstDash val="solid"/>
                      <a:round/>
                      <a:headEnd type="none" w="med" len="med"/>
                      <a:tailEnd type="none" w="med" len="med"/>
                    </a:lnB>
                    <a:solidFill>
                      <a:srgbClr val="FFFFFF"/>
                    </a:solidFill>
                  </a:tcPr>
                </a:tc>
                <a:tc>
                  <a:txBody>
                    <a:bodyPr/>
                    <a:lstStyle/>
                    <a:p>
                      <a:pPr algn="r" indent="0" marL="0">
                        <a:buNone/>
                      </a:pPr>
                      <a:r>
                        <a:rPr lang="en-US" sz="1000" dirty="0">
                          <a:solidFill>
                            <a:srgbClr val="1A1A1A"/>
                          </a:solidFill>
                          <a:latin typeface="Arial" pitchFamily="34" charset="0"/>
                          <a:ea typeface="Arial" pitchFamily="34" charset="-122"/>
                          <a:cs typeface="Arial" pitchFamily="34" charset="-120"/>
                        </a:rPr>
                        <a:t>−$11,675</a:t>
                      </a:r>
                      <a:endParaRPr lang="en-US" sz="1000" dirty="0">
                        <a:latin typeface="Arial" charset="0"/>
                        <a:ea typeface="Arial" charset="0"/>
                        <a:cs typeface="Arial" charset="0"/>
                      </a:endParaRPr>
                    </a:p>
                  </a:txBody>
                  <a:tcPr marL="54864" marR="54864" marT="18288" marB="18288" anchor="ctr">
                    <a:lnL w="0" cap="flat" cmpd="sng" algn="ctr">
                      <a:noFill/>
                    </a:lnL>
                    <a:lnR w="0" cap="flat" cmpd="sng" algn="ctr">
                      <a:noFill/>
                    </a:lnR>
                    <a:lnT w="0" cap="flat" cmpd="sng" algn="ctr">
                      <a:noFill/>
                    </a:lnT>
                    <a:lnB w="6350" cap="flat" cmpd="sng" algn="ctr">
                      <a:solidFill>
                        <a:srgbClr val="F8E8E2"/>
                      </a:solidFill>
                      <a:prstDash val="solid"/>
                      <a:round/>
                      <a:headEnd type="none" w="med" len="med"/>
                      <a:tailEnd type="none" w="med" len="med"/>
                    </a:lnB>
                    <a:solidFill>
                      <a:srgbClr val="FFFFFF"/>
                    </a:solidFill>
                  </a:tcPr>
                </a:tc>
                <a:tc>
                  <a:txBody>
                    <a:bodyPr/>
                    <a:lstStyle/>
                    <a:p>
                      <a:pPr algn="r" indent="0" marL="0">
                        <a:buNone/>
                      </a:pPr>
                      <a:r>
                        <a:rPr lang="en-US" sz="1000" dirty="0">
                          <a:solidFill>
                            <a:srgbClr val="1A1A1A"/>
                          </a:solidFill>
                          <a:latin typeface="Arial" pitchFamily="34" charset="0"/>
                          <a:ea typeface="Arial" pitchFamily="34" charset="-122"/>
                          <a:cs typeface="Arial" pitchFamily="34" charset="-120"/>
                        </a:rPr>
                        <a:t>−$11,425</a:t>
                      </a:r>
                      <a:endParaRPr lang="en-US" sz="1000" dirty="0">
                        <a:latin typeface="Arial" charset="0"/>
                        <a:ea typeface="Arial" charset="0"/>
                        <a:cs typeface="Arial" charset="0"/>
                      </a:endParaRPr>
                    </a:p>
                  </a:txBody>
                  <a:tcPr marL="54864" marR="54864" marT="18288" marB="18288" anchor="ctr">
                    <a:lnL w="0" cap="flat" cmpd="sng" algn="ctr">
                      <a:noFill/>
                    </a:lnL>
                    <a:lnR w="0" cap="flat" cmpd="sng" algn="ctr">
                      <a:noFill/>
                    </a:lnR>
                    <a:lnT w="0" cap="flat" cmpd="sng" algn="ctr">
                      <a:noFill/>
                    </a:lnT>
                    <a:lnB w="6350" cap="flat" cmpd="sng" algn="ctr">
                      <a:solidFill>
                        <a:srgbClr val="F8E8E2"/>
                      </a:solidFill>
                      <a:prstDash val="solid"/>
                      <a:round/>
                      <a:headEnd type="none" w="med" len="med"/>
                      <a:tailEnd type="none" w="med" len="med"/>
                    </a:lnB>
                    <a:solidFill>
                      <a:srgbClr val="FFFFFF"/>
                    </a:solidFill>
                  </a:tcPr>
                </a:tc>
              </a:tr>
              <a:tr h="258064">
                <a:tc>
                  <a:txBody>
                    <a:bodyPr/>
                    <a:lstStyle/>
                    <a:p>
                      <a:pPr algn="l" indent="0" marL="0">
                        <a:buNone/>
                      </a:pPr>
                      <a:r>
                        <a:rPr lang="en-US" sz="1000" dirty="0">
                          <a:solidFill>
                            <a:srgbClr val="1A1A1A"/>
                          </a:solidFill>
                          <a:latin typeface="Arial" pitchFamily="34" charset="0"/>
                          <a:ea typeface="Arial" pitchFamily="34" charset="-122"/>
                          <a:cs typeface="Arial" pitchFamily="34" charset="-120"/>
                        </a:rPr>
                        <a:t>Documentary Stamp Tax on the Deed (0.70%)</a:t>
                      </a:r>
                      <a:endParaRPr lang="en-US" sz="1000" dirty="0">
                        <a:latin typeface="Arial" charset="0"/>
                        <a:ea typeface="Arial" charset="0"/>
                        <a:cs typeface="Arial" charset="0"/>
                      </a:endParaRPr>
                    </a:p>
                  </a:txBody>
                  <a:tcPr marL="54864" marR="54864" marT="18288" marB="18288" anchor="ctr">
                    <a:lnL w="0" cap="flat" cmpd="sng" algn="ctr">
                      <a:noFill/>
                    </a:lnL>
                    <a:lnR w="0" cap="flat" cmpd="sng" algn="ctr">
                      <a:noFill/>
                    </a:lnR>
                    <a:lnT w="0" cap="flat" cmpd="sng" algn="ctr">
                      <a:noFill/>
                    </a:lnT>
                    <a:lnB w="6350" cap="flat" cmpd="sng" algn="ctr">
                      <a:solidFill>
                        <a:srgbClr val="F8E8E2"/>
                      </a:solidFill>
                      <a:prstDash val="solid"/>
                      <a:round/>
                      <a:headEnd type="none" w="med" len="med"/>
                      <a:tailEnd type="none" w="med" len="med"/>
                    </a:lnB>
                    <a:solidFill>
                      <a:srgbClr val="FFFFFF"/>
                    </a:solidFill>
                  </a:tcPr>
                </a:tc>
                <a:tc>
                  <a:txBody>
                    <a:bodyPr/>
                    <a:lstStyle/>
                    <a:p>
                      <a:pPr algn="r" indent="0" marL="0">
                        <a:buNone/>
                      </a:pPr>
                      <a:r>
                        <a:rPr lang="en-US" sz="1000" dirty="0">
                          <a:solidFill>
                            <a:srgbClr val="1A1A1A"/>
                          </a:solidFill>
                          <a:latin typeface="Arial" pitchFamily="34" charset="0"/>
                          <a:ea typeface="Arial" pitchFamily="34" charset="-122"/>
                          <a:cs typeface="Arial" pitchFamily="34" charset="-120"/>
                        </a:rPr>
                        <a:t>−$3,273</a:t>
                      </a:r>
                      <a:endParaRPr lang="en-US" sz="1000" dirty="0">
                        <a:latin typeface="Arial" charset="0"/>
                        <a:ea typeface="Arial" charset="0"/>
                        <a:cs typeface="Arial" charset="0"/>
                      </a:endParaRPr>
                    </a:p>
                  </a:txBody>
                  <a:tcPr marL="54864" marR="54864" marT="18288" marB="18288" anchor="ctr">
                    <a:lnL w="0" cap="flat" cmpd="sng" algn="ctr">
                      <a:noFill/>
                    </a:lnL>
                    <a:lnR w="0" cap="flat" cmpd="sng" algn="ctr">
                      <a:noFill/>
                    </a:lnR>
                    <a:lnT w="0" cap="flat" cmpd="sng" algn="ctr">
                      <a:noFill/>
                    </a:lnT>
                    <a:lnB w="6350" cap="flat" cmpd="sng" algn="ctr">
                      <a:solidFill>
                        <a:srgbClr val="F8E8E2"/>
                      </a:solidFill>
                      <a:prstDash val="solid"/>
                      <a:round/>
                      <a:headEnd type="none" w="med" len="med"/>
                      <a:tailEnd type="none" w="med" len="med"/>
                    </a:lnB>
                    <a:solidFill>
                      <a:srgbClr val="FFFFFF"/>
                    </a:solidFill>
                  </a:tcPr>
                </a:tc>
                <a:tc>
                  <a:txBody>
                    <a:bodyPr/>
                    <a:lstStyle/>
                    <a:p>
                      <a:pPr algn="r" indent="0" marL="0">
                        <a:buNone/>
                      </a:pPr>
                      <a:r>
                        <a:rPr lang="en-US" sz="1000" dirty="0">
                          <a:solidFill>
                            <a:srgbClr val="1A1A1A"/>
                          </a:solidFill>
                          <a:latin typeface="Arial" pitchFamily="34" charset="0"/>
                          <a:ea typeface="Arial" pitchFamily="34" charset="-122"/>
                          <a:cs typeface="Arial" pitchFamily="34" charset="-120"/>
                        </a:rPr>
                        <a:t>−$3,269</a:t>
                      </a:r>
                      <a:endParaRPr lang="en-US" sz="1000" dirty="0">
                        <a:latin typeface="Arial" charset="0"/>
                        <a:ea typeface="Arial" charset="0"/>
                        <a:cs typeface="Arial" charset="0"/>
                      </a:endParaRPr>
                    </a:p>
                  </a:txBody>
                  <a:tcPr marL="54864" marR="54864" marT="18288" marB="18288" anchor="ctr">
                    <a:lnL w="0" cap="flat" cmpd="sng" algn="ctr">
                      <a:noFill/>
                    </a:lnL>
                    <a:lnR w="0" cap="flat" cmpd="sng" algn="ctr">
                      <a:noFill/>
                    </a:lnR>
                    <a:lnT w="0" cap="flat" cmpd="sng" algn="ctr">
                      <a:noFill/>
                    </a:lnT>
                    <a:lnB w="6350" cap="flat" cmpd="sng" algn="ctr">
                      <a:solidFill>
                        <a:srgbClr val="F8E8E2"/>
                      </a:solidFill>
                      <a:prstDash val="solid"/>
                      <a:round/>
                      <a:headEnd type="none" w="med" len="med"/>
                      <a:tailEnd type="none" w="med" len="med"/>
                    </a:lnB>
                    <a:solidFill>
                      <a:srgbClr val="FFFFFF"/>
                    </a:solidFill>
                  </a:tcPr>
                </a:tc>
                <a:tc>
                  <a:txBody>
                    <a:bodyPr/>
                    <a:lstStyle/>
                    <a:p>
                      <a:pPr algn="r" indent="0" marL="0">
                        <a:buNone/>
                      </a:pPr>
                      <a:r>
                        <a:rPr lang="en-US" sz="1000" dirty="0">
                          <a:solidFill>
                            <a:srgbClr val="1A1A1A"/>
                          </a:solidFill>
                          <a:latin typeface="Arial" pitchFamily="34" charset="0"/>
                          <a:ea typeface="Arial" pitchFamily="34" charset="-122"/>
                          <a:cs typeface="Arial" pitchFamily="34" charset="-120"/>
                        </a:rPr>
                        <a:t>−$3,199</a:t>
                      </a:r>
                      <a:endParaRPr lang="en-US" sz="1000" dirty="0">
                        <a:latin typeface="Arial" charset="0"/>
                        <a:ea typeface="Arial" charset="0"/>
                        <a:cs typeface="Arial" charset="0"/>
                      </a:endParaRPr>
                    </a:p>
                  </a:txBody>
                  <a:tcPr marL="54864" marR="54864" marT="18288" marB="18288" anchor="ctr">
                    <a:lnL w="0" cap="flat" cmpd="sng" algn="ctr">
                      <a:noFill/>
                    </a:lnL>
                    <a:lnR w="0" cap="flat" cmpd="sng" algn="ctr">
                      <a:noFill/>
                    </a:lnR>
                    <a:lnT w="0" cap="flat" cmpd="sng" algn="ctr">
                      <a:noFill/>
                    </a:lnT>
                    <a:lnB w="6350" cap="flat" cmpd="sng" algn="ctr">
                      <a:solidFill>
                        <a:srgbClr val="F8E8E2"/>
                      </a:solidFill>
                      <a:prstDash val="solid"/>
                      <a:round/>
                      <a:headEnd type="none" w="med" len="med"/>
                      <a:tailEnd type="none" w="med" len="med"/>
                    </a:lnB>
                    <a:solidFill>
                      <a:srgbClr val="FFFFFF"/>
                    </a:solidFill>
                  </a:tcPr>
                </a:tc>
              </a:tr>
              <a:tr h="258064">
                <a:tc>
                  <a:txBody>
                    <a:bodyPr/>
                    <a:lstStyle/>
                    <a:p>
                      <a:pPr algn="l" indent="0" marL="0">
                        <a:buNone/>
                      </a:pPr>
                      <a:r>
                        <a:rPr lang="en-US" sz="1000" dirty="0">
                          <a:solidFill>
                            <a:srgbClr val="1A1A1A"/>
                          </a:solidFill>
                          <a:latin typeface="Arial" pitchFamily="34" charset="0"/>
                          <a:ea typeface="Arial" pitchFamily="34" charset="-122"/>
                          <a:cs typeface="Arial" pitchFamily="34" charset="-120"/>
                        </a:rPr>
                        <a:t>Owner's Title Insurance</a:t>
                      </a:r>
                      <a:endParaRPr lang="en-US" sz="1000" dirty="0">
                        <a:latin typeface="Arial" charset="0"/>
                        <a:ea typeface="Arial" charset="0"/>
                        <a:cs typeface="Arial" charset="0"/>
                      </a:endParaRPr>
                    </a:p>
                  </a:txBody>
                  <a:tcPr marL="54864" marR="54864" marT="18288" marB="18288" anchor="ctr">
                    <a:lnL w="0" cap="flat" cmpd="sng" algn="ctr">
                      <a:noFill/>
                    </a:lnL>
                    <a:lnR w="0" cap="flat" cmpd="sng" algn="ctr">
                      <a:noFill/>
                    </a:lnR>
                    <a:lnT w="0" cap="flat" cmpd="sng" algn="ctr">
                      <a:noFill/>
                    </a:lnT>
                    <a:lnB w="6350" cap="flat" cmpd="sng" algn="ctr">
                      <a:solidFill>
                        <a:srgbClr val="F8E8E2"/>
                      </a:solidFill>
                      <a:prstDash val="solid"/>
                      <a:round/>
                      <a:headEnd type="none" w="med" len="med"/>
                      <a:tailEnd type="none" w="med" len="med"/>
                    </a:lnB>
                    <a:solidFill>
                      <a:srgbClr val="FFFFFF"/>
                    </a:solidFill>
                  </a:tcPr>
                </a:tc>
                <a:tc>
                  <a:txBody>
                    <a:bodyPr/>
                    <a:lstStyle/>
                    <a:p>
                      <a:pPr algn="r" indent="0" marL="0">
                        <a:buNone/>
                      </a:pPr>
                      <a:r>
                        <a:rPr lang="en-US" sz="1000" dirty="0">
                          <a:solidFill>
                            <a:srgbClr val="1A1A1A"/>
                          </a:solidFill>
                          <a:latin typeface="Arial" pitchFamily="34" charset="0"/>
                          <a:ea typeface="Arial" pitchFamily="34" charset="-122"/>
                          <a:cs typeface="Arial" pitchFamily="34" charset="-120"/>
                        </a:rPr>
                        <a:t>−$2,412</a:t>
                      </a:r>
                      <a:endParaRPr lang="en-US" sz="1000" dirty="0">
                        <a:latin typeface="Arial" charset="0"/>
                        <a:ea typeface="Arial" charset="0"/>
                        <a:cs typeface="Arial" charset="0"/>
                      </a:endParaRPr>
                    </a:p>
                  </a:txBody>
                  <a:tcPr marL="54864" marR="54864" marT="18288" marB="18288" anchor="ctr">
                    <a:lnL w="0" cap="flat" cmpd="sng" algn="ctr">
                      <a:noFill/>
                    </a:lnL>
                    <a:lnR w="0" cap="flat" cmpd="sng" algn="ctr">
                      <a:noFill/>
                    </a:lnR>
                    <a:lnT w="0" cap="flat" cmpd="sng" algn="ctr">
                      <a:noFill/>
                    </a:lnT>
                    <a:lnB w="6350" cap="flat" cmpd="sng" algn="ctr">
                      <a:solidFill>
                        <a:srgbClr val="F8E8E2"/>
                      </a:solidFill>
                      <a:prstDash val="solid"/>
                      <a:round/>
                      <a:headEnd type="none" w="med" len="med"/>
                      <a:tailEnd type="none" w="med" len="med"/>
                    </a:lnB>
                    <a:solidFill>
                      <a:srgbClr val="FFFFFF"/>
                    </a:solidFill>
                  </a:tcPr>
                </a:tc>
                <a:tc>
                  <a:txBody>
                    <a:bodyPr/>
                    <a:lstStyle/>
                    <a:p>
                      <a:pPr algn="r" indent="0" marL="0">
                        <a:buNone/>
                      </a:pPr>
                      <a:r>
                        <a:rPr lang="en-US" sz="1000" dirty="0">
                          <a:solidFill>
                            <a:srgbClr val="1A1A1A"/>
                          </a:solidFill>
                          <a:latin typeface="Arial" pitchFamily="34" charset="0"/>
                          <a:ea typeface="Arial" pitchFamily="34" charset="-122"/>
                          <a:cs typeface="Arial" pitchFamily="34" charset="-120"/>
                        </a:rPr>
                        <a:t>−$2,410</a:t>
                      </a:r>
                      <a:endParaRPr lang="en-US" sz="1000" dirty="0">
                        <a:latin typeface="Arial" charset="0"/>
                        <a:ea typeface="Arial" charset="0"/>
                        <a:cs typeface="Arial" charset="0"/>
                      </a:endParaRPr>
                    </a:p>
                  </a:txBody>
                  <a:tcPr marL="54864" marR="54864" marT="18288" marB="18288" anchor="ctr">
                    <a:lnL w="0" cap="flat" cmpd="sng" algn="ctr">
                      <a:noFill/>
                    </a:lnL>
                    <a:lnR w="0" cap="flat" cmpd="sng" algn="ctr">
                      <a:noFill/>
                    </a:lnR>
                    <a:lnT w="0" cap="flat" cmpd="sng" algn="ctr">
                      <a:noFill/>
                    </a:lnT>
                    <a:lnB w="6350" cap="flat" cmpd="sng" algn="ctr">
                      <a:solidFill>
                        <a:srgbClr val="F8E8E2"/>
                      </a:solidFill>
                      <a:prstDash val="solid"/>
                      <a:round/>
                      <a:headEnd type="none" w="med" len="med"/>
                      <a:tailEnd type="none" w="med" len="med"/>
                    </a:lnB>
                    <a:solidFill>
                      <a:srgbClr val="FFFFFF"/>
                    </a:solidFill>
                  </a:tcPr>
                </a:tc>
                <a:tc>
                  <a:txBody>
                    <a:bodyPr/>
                    <a:lstStyle/>
                    <a:p>
                      <a:pPr algn="r" indent="0" marL="0">
                        <a:buNone/>
                      </a:pPr>
                      <a:r>
                        <a:rPr lang="en-US" sz="1000" dirty="0">
                          <a:solidFill>
                            <a:srgbClr val="1A1A1A"/>
                          </a:solidFill>
                          <a:latin typeface="Arial" pitchFamily="34" charset="0"/>
                          <a:ea typeface="Arial" pitchFamily="34" charset="-122"/>
                          <a:cs typeface="Arial" pitchFamily="34" charset="-120"/>
                        </a:rPr>
                        <a:t>−$2,360</a:t>
                      </a:r>
                      <a:endParaRPr lang="en-US" sz="1000" dirty="0">
                        <a:latin typeface="Arial" charset="0"/>
                        <a:ea typeface="Arial" charset="0"/>
                        <a:cs typeface="Arial" charset="0"/>
                      </a:endParaRPr>
                    </a:p>
                  </a:txBody>
                  <a:tcPr marL="54864" marR="54864" marT="18288" marB="18288" anchor="ctr">
                    <a:lnL w="0" cap="flat" cmpd="sng" algn="ctr">
                      <a:noFill/>
                    </a:lnL>
                    <a:lnR w="0" cap="flat" cmpd="sng" algn="ctr">
                      <a:noFill/>
                    </a:lnR>
                    <a:lnT w="0" cap="flat" cmpd="sng" algn="ctr">
                      <a:noFill/>
                    </a:lnT>
                    <a:lnB w="6350" cap="flat" cmpd="sng" algn="ctr">
                      <a:solidFill>
                        <a:srgbClr val="F8E8E2"/>
                      </a:solidFill>
                      <a:prstDash val="solid"/>
                      <a:round/>
                      <a:headEnd type="none" w="med" len="med"/>
                      <a:tailEnd type="none" w="med" len="med"/>
                    </a:lnB>
                    <a:solidFill>
                      <a:srgbClr val="FFFFFF"/>
                    </a:solidFill>
                  </a:tcPr>
                </a:tc>
              </a:tr>
              <a:tr h="258064">
                <a:tc>
                  <a:txBody>
                    <a:bodyPr/>
                    <a:lstStyle/>
                    <a:p>
                      <a:pPr algn="l" indent="0" marL="0">
                        <a:buNone/>
                      </a:pPr>
                      <a:r>
                        <a:rPr lang="en-US" sz="1000" dirty="0">
                          <a:solidFill>
                            <a:srgbClr val="1A1A1A"/>
                          </a:solidFill>
                          <a:latin typeface="Arial" pitchFamily="34" charset="0"/>
                          <a:ea typeface="Arial" pitchFamily="34" charset="-122"/>
                          <a:cs typeface="Arial" pitchFamily="34" charset="-120"/>
                        </a:rPr>
                        <a:t>Title Company Fees</a:t>
                      </a:r>
                      <a:endParaRPr lang="en-US" sz="1000" dirty="0">
                        <a:latin typeface="Arial" charset="0"/>
                        <a:ea typeface="Arial" charset="0"/>
                        <a:cs typeface="Arial" charset="0"/>
                      </a:endParaRPr>
                    </a:p>
                  </a:txBody>
                  <a:tcPr marL="54864" marR="54864" marT="18288" marB="18288" anchor="ctr">
                    <a:lnL w="0" cap="flat" cmpd="sng" algn="ctr">
                      <a:noFill/>
                    </a:lnL>
                    <a:lnR w="0" cap="flat" cmpd="sng" algn="ctr">
                      <a:noFill/>
                    </a:lnR>
                    <a:lnT w="0" cap="flat" cmpd="sng" algn="ctr">
                      <a:noFill/>
                    </a:lnT>
                    <a:lnB w="6350" cap="flat" cmpd="sng" algn="ctr">
                      <a:solidFill>
                        <a:srgbClr val="F8E8E2"/>
                      </a:solidFill>
                      <a:prstDash val="solid"/>
                      <a:round/>
                      <a:headEnd type="none" w="med" len="med"/>
                      <a:tailEnd type="none" w="med" len="med"/>
                    </a:lnB>
                    <a:solidFill>
                      <a:srgbClr val="FFFFFF"/>
                    </a:solidFill>
                  </a:tcPr>
                </a:tc>
                <a:tc>
                  <a:txBody>
                    <a:bodyPr/>
                    <a:lstStyle/>
                    <a:p>
                      <a:pPr algn="r" indent="0" marL="0">
                        <a:buNone/>
                      </a:pPr>
                      <a:r>
                        <a:rPr lang="en-US" sz="1000" dirty="0">
                          <a:solidFill>
                            <a:srgbClr val="1A1A1A"/>
                          </a:solidFill>
                          <a:latin typeface="Arial" pitchFamily="34" charset="0"/>
                          <a:ea typeface="Arial" pitchFamily="34" charset="-122"/>
                          <a:cs typeface="Arial" pitchFamily="34" charset="-120"/>
                        </a:rPr>
                        <a:t>−$1,145</a:t>
                      </a:r>
                      <a:endParaRPr lang="en-US" sz="1000" dirty="0">
                        <a:latin typeface="Arial" charset="0"/>
                        <a:ea typeface="Arial" charset="0"/>
                        <a:cs typeface="Arial" charset="0"/>
                      </a:endParaRPr>
                    </a:p>
                  </a:txBody>
                  <a:tcPr marL="54864" marR="54864" marT="18288" marB="18288" anchor="ctr">
                    <a:lnL w="0" cap="flat" cmpd="sng" algn="ctr">
                      <a:noFill/>
                    </a:lnL>
                    <a:lnR w="0" cap="flat" cmpd="sng" algn="ctr">
                      <a:noFill/>
                    </a:lnR>
                    <a:lnT w="0" cap="flat" cmpd="sng" algn="ctr">
                      <a:noFill/>
                    </a:lnT>
                    <a:lnB w="6350" cap="flat" cmpd="sng" algn="ctr">
                      <a:solidFill>
                        <a:srgbClr val="F8E8E2"/>
                      </a:solidFill>
                      <a:prstDash val="solid"/>
                      <a:round/>
                      <a:headEnd type="none" w="med" len="med"/>
                      <a:tailEnd type="none" w="med" len="med"/>
                    </a:lnB>
                    <a:solidFill>
                      <a:srgbClr val="FFFFFF"/>
                    </a:solidFill>
                  </a:tcPr>
                </a:tc>
                <a:tc>
                  <a:txBody>
                    <a:bodyPr/>
                    <a:lstStyle/>
                    <a:p>
                      <a:pPr algn="r" indent="0" marL="0">
                        <a:buNone/>
                      </a:pPr>
                      <a:r>
                        <a:rPr lang="en-US" sz="1000" dirty="0">
                          <a:solidFill>
                            <a:srgbClr val="1A1A1A"/>
                          </a:solidFill>
                          <a:latin typeface="Arial" pitchFamily="34" charset="0"/>
                          <a:ea typeface="Arial" pitchFamily="34" charset="-122"/>
                          <a:cs typeface="Arial" pitchFamily="34" charset="-120"/>
                        </a:rPr>
                        <a:t>−$1,145</a:t>
                      </a:r>
                      <a:endParaRPr lang="en-US" sz="1000" dirty="0">
                        <a:latin typeface="Arial" charset="0"/>
                        <a:ea typeface="Arial" charset="0"/>
                        <a:cs typeface="Arial" charset="0"/>
                      </a:endParaRPr>
                    </a:p>
                  </a:txBody>
                  <a:tcPr marL="54864" marR="54864" marT="18288" marB="18288" anchor="ctr">
                    <a:lnL w="0" cap="flat" cmpd="sng" algn="ctr">
                      <a:noFill/>
                    </a:lnL>
                    <a:lnR w="0" cap="flat" cmpd="sng" algn="ctr">
                      <a:noFill/>
                    </a:lnR>
                    <a:lnT w="0" cap="flat" cmpd="sng" algn="ctr">
                      <a:noFill/>
                    </a:lnT>
                    <a:lnB w="6350" cap="flat" cmpd="sng" algn="ctr">
                      <a:solidFill>
                        <a:srgbClr val="F8E8E2"/>
                      </a:solidFill>
                      <a:prstDash val="solid"/>
                      <a:round/>
                      <a:headEnd type="none" w="med" len="med"/>
                      <a:tailEnd type="none" w="med" len="med"/>
                    </a:lnB>
                    <a:solidFill>
                      <a:srgbClr val="FFFFFF"/>
                    </a:solidFill>
                  </a:tcPr>
                </a:tc>
                <a:tc>
                  <a:txBody>
                    <a:bodyPr/>
                    <a:lstStyle/>
                    <a:p>
                      <a:pPr algn="r" indent="0" marL="0">
                        <a:buNone/>
                      </a:pPr>
                      <a:r>
                        <a:rPr lang="en-US" sz="1000" dirty="0">
                          <a:solidFill>
                            <a:srgbClr val="1A1A1A"/>
                          </a:solidFill>
                          <a:latin typeface="Arial" pitchFamily="34" charset="0"/>
                          <a:ea typeface="Arial" pitchFamily="34" charset="-122"/>
                          <a:cs typeface="Arial" pitchFamily="34" charset="-120"/>
                        </a:rPr>
                        <a:t>−$1,145</a:t>
                      </a:r>
                      <a:endParaRPr lang="en-US" sz="1000" dirty="0">
                        <a:latin typeface="Arial" charset="0"/>
                        <a:ea typeface="Arial" charset="0"/>
                        <a:cs typeface="Arial" charset="0"/>
                      </a:endParaRPr>
                    </a:p>
                  </a:txBody>
                  <a:tcPr marL="54864" marR="54864" marT="18288" marB="18288" anchor="ctr">
                    <a:lnL w="0" cap="flat" cmpd="sng" algn="ctr">
                      <a:noFill/>
                    </a:lnL>
                    <a:lnR w="0" cap="flat" cmpd="sng" algn="ctr">
                      <a:noFill/>
                    </a:lnR>
                    <a:lnT w="0" cap="flat" cmpd="sng" algn="ctr">
                      <a:noFill/>
                    </a:lnT>
                    <a:lnB w="6350" cap="flat" cmpd="sng" algn="ctr">
                      <a:solidFill>
                        <a:srgbClr val="F8E8E2"/>
                      </a:solidFill>
                      <a:prstDash val="solid"/>
                      <a:round/>
                      <a:headEnd type="none" w="med" len="med"/>
                      <a:tailEnd type="none" w="med" len="med"/>
                    </a:lnB>
                    <a:solidFill>
                      <a:srgbClr val="FFFFFF"/>
                    </a:solidFill>
                  </a:tcPr>
                </a:tc>
              </a:tr>
              <a:tr h="258064">
                <a:tc>
                  <a:txBody>
                    <a:bodyPr/>
                    <a:lstStyle/>
                    <a:p>
                      <a:pPr algn="l" indent="0" marL="0">
                        <a:buNone/>
                      </a:pPr>
                      <a:r>
                        <a:rPr lang="en-US" sz="1000" dirty="0">
                          <a:solidFill>
                            <a:srgbClr val="1A1A1A"/>
                          </a:solidFill>
                          <a:latin typeface="Arial" pitchFamily="34" charset="0"/>
                          <a:ea typeface="Arial" pitchFamily="34" charset="-122"/>
                          <a:cs typeface="Arial" pitchFamily="34" charset="-120"/>
                        </a:rPr>
                        <a:t>Seller-Paid Buyer Costs</a:t>
                      </a:r>
                      <a:endParaRPr lang="en-US" sz="1000" dirty="0">
                        <a:latin typeface="Arial" charset="0"/>
                        <a:ea typeface="Arial" charset="0"/>
                        <a:cs typeface="Arial" charset="0"/>
                      </a:endParaRPr>
                    </a:p>
                  </a:txBody>
                  <a:tcPr marL="54864" marR="54864" marT="18288" marB="18288" anchor="ctr">
                    <a:lnL w="0" cap="flat" cmpd="sng" algn="ctr">
                      <a:noFill/>
                    </a:lnL>
                    <a:lnR w="0" cap="flat" cmpd="sng" algn="ctr">
                      <a:noFill/>
                    </a:lnR>
                    <a:lnT w="0" cap="flat" cmpd="sng" algn="ctr">
                      <a:noFill/>
                    </a:lnT>
                    <a:lnB w="6350" cap="flat" cmpd="sng" algn="ctr">
                      <a:solidFill>
                        <a:srgbClr val="F8E8E2"/>
                      </a:solidFill>
                      <a:prstDash val="solid"/>
                      <a:round/>
                      <a:headEnd type="none" w="med" len="med"/>
                      <a:tailEnd type="none" w="med" len="med"/>
                    </a:lnB>
                    <a:solidFill>
                      <a:srgbClr val="FFFFFF"/>
                    </a:solidFill>
                  </a:tcPr>
                </a:tc>
                <a:tc>
                  <a:txBody>
                    <a:bodyPr/>
                    <a:lstStyle/>
                    <a:p>
                      <a:pPr algn="r" indent="0" marL="0">
                        <a:buNone/>
                      </a:pPr>
                      <a:r>
                        <a:rPr lang="en-US" sz="1000" dirty="0">
                          <a:solidFill>
                            <a:srgbClr val="1A1A1A"/>
                          </a:solidFill>
                          <a:latin typeface="Arial" pitchFamily="34" charset="0"/>
                          <a:ea typeface="Arial" pitchFamily="34" charset="-122"/>
                          <a:cs typeface="Arial" pitchFamily="34" charset="-120"/>
                        </a:rPr>
                        <a:t>−$11,000</a:t>
                      </a:r>
                      <a:endParaRPr lang="en-US" sz="1000" dirty="0">
                        <a:latin typeface="Arial" charset="0"/>
                        <a:ea typeface="Arial" charset="0"/>
                        <a:cs typeface="Arial" charset="0"/>
                      </a:endParaRPr>
                    </a:p>
                  </a:txBody>
                  <a:tcPr marL="54864" marR="54864" marT="18288" marB="18288" anchor="ctr">
                    <a:lnL w="0" cap="flat" cmpd="sng" algn="ctr">
                      <a:noFill/>
                    </a:lnL>
                    <a:lnR w="0" cap="flat" cmpd="sng" algn="ctr">
                      <a:noFill/>
                    </a:lnR>
                    <a:lnT w="0" cap="flat" cmpd="sng" algn="ctr">
                      <a:noFill/>
                    </a:lnT>
                    <a:lnB w="6350" cap="flat" cmpd="sng" algn="ctr">
                      <a:solidFill>
                        <a:srgbClr val="F8E8E2"/>
                      </a:solidFill>
                      <a:prstDash val="solid"/>
                      <a:round/>
                      <a:headEnd type="none" w="med" len="med"/>
                      <a:tailEnd type="none" w="med" len="med"/>
                    </a:lnB>
                    <a:solidFill>
                      <a:srgbClr val="FFFFFF"/>
                    </a:solidFill>
                  </a:tcPr>
                </a:tc>
                <a:tc>
                  <a:txBody>
                    <a:bodyPr/>
                    <a:lstStyle/>
                    <a:p>
                      <a:pPr algn="r" indent="0" marL="0">
                        <a:buNone/>
                      </a:pPr>
                      <a:r>
                        <a:rPr lang="en-US" sz="1000" dirty="0">
                          <a:solidFill>
                            <a:srgbClr val="1A1A1A"/>
                          </a:solidFill>
                          <a:latin typeface="Arial" pitchFamily="34" charset="0"/>
                          <a:ea typeface="Arial" pitchFamily="34" charset="-122"/>
                          <a:cs typeface="Arial" pitchFamily="34" charset="-120"/>
                        </a:rPr>
                        <a:t>−$11,000</a:t>
                      </a:r>
                      <a:endParaRPr lang="en-US" sz="1000" dirty="0">
                        <a:latin typeface="Arial" charset="0"/>
                        <a:ea typeface="Arial" charset="0"/>
                        <a:cs typeface="Arial" charset="0"/>
                      </a:endParaRPr>
                    </a:p>
                  </a:txBody>
                  <a:tcPr marL="54864" marR="54864" marT="18288" marB="18288" anchor="ctr">
                    <a:lnL w="0" cap="flat" cmpd="sng" algn="ctr">
                      <a:noFill/>
                    </a:lnL>
                    <a:lnR w="0" cap="flat" cmpd="sng" algn="ctr">
                      <a:noFill/>
                    </a:lnR>
                    <a:lnT w="0" cap="flat" cmpd="sng" algn="ctr">
                      <a:noFill/>
                    </a:lnT>
                    <a:lnB w="6350" cap="flat" cmpd="sng" algn="ctr">
                      <a:solidFill>
                        <a:srgbClr val="F8E8E2"/>
                      </a:solidFill>
                      <a:prstDash val="solid"/>
                      <a:round/>
                      <a:headEnd type="none" w="med" len="med"/>
                      <a:tailEnd type="none" w="med" len="med"/>
                    </a:lnB>
                    <a:solidFill>
                      <a:srgbClr val="FFFFFF"/>
                    </a:solidFill>
                  </a:tcPr>
                </a:tc>
                <a:tc>
                  <a:txBody>
                    <a:bodyPr/>
                    <a:lstStyle/>
                    <a:p>
                      <a:pPr algn="r" indent="0" marL="0">
                        <a:buNone/>
                      </a:pPr>
                      <a:r>
                        <a:rPr lang="en-US" sz="1000" dirty="0">
                          <a:solidFill>
                            <a:srgbClr val="1A1A1A"/>
                          </a:solidFill>
                          <a:latin typeface="Arial" pitchFamily="34" charset="0"/>
                          <a:ea typeface="Arial" pitchFamily="34" charset="-122"/>
                          <a:cs typeface="Arial" pitchFamily="34" charset="-120"/>
                        </a:rPr>
                        <a:t>−$11,000</a:t>
                      </a:r>
                      <a:endParaRPr lang="en-US" sz="1000" dirty="0">
                        <a:latin typeface="Arial" charset="0"/>
                        <a:ea typeface="Arial" charset="0"/>
                        <a:cs typeface="Arial" charset="0"/>
                      </a:endParaRPr>
                    </a:p>
                  </a:txBody>
                  <a:tcPr marL="54864" marR="54864" marT="18288" marB="18288" anchor="ctr">
                    <a:lnL w="0" cap="flat" cmpd="sng" algn="ctr">
                      <a:noFill/>
                    </a:lnL>
                    <a:lnR w="0" cap="flat" cmpd="sng" algn="ctr">
                      <a:noFill/>
                    </a:lnR>
                    <a:lnT w="0" cap="flat" cmpd="sng" algn="ctr">
                      <a:noFill/>
                    </a:lnT>
                    <a:lnB w="6350" cap="flat" cmpd="sng" algn="ctr">
                      <a:solidFill>
                        <a:srgbClr val="F8E8E2"/>
                      </a:solidFill>
                      <a:prstDash val="solid"/>
                      <a:round/>
                      <a:headEnd type="none" w="med" len="med"/>
                      <a:tailEnd type="none" w="med" len="med"/>
                    </a:lnB>
                    <a:solidFill>
                      <a:srgbClr val="FFFFFF"/>
                    </a:solidFill>
                  </a:tcPr>
                </a:tc>
              </a:tr>
              <a:tr h="258064">
                <a:tc>
                  <a:txBody>
                    <a:bodyPr/>
                    <a:lstStyle/>
                    <a:p>
                      <a:pPr algn="l" indent="0" marL="0">
                        <a:buNone/>
                      </a:pPr>
                      <a:r>
                        <a:rPr lang="en-US" sz="1000" b="1" dirty="0">
                          <a:solidFill>
                            <a:srgbClr val="1A1A1A"/>
                          </a:solidFill>
                          <a:latin typeface="Arial" pitchFamily="34" charset="0"/>
                          <a:ea typeface="Arial" pitchFamily="34" charset="-122"/>
                          <a:cs typeface="Arial" pitchFamily="34" charset="-120"/>
                        </a:rPr>
                        <a:t>Estimated Net Before Mortgage Payoff</a:t>
                      </a:r>
                      <a:endParaRPr lang="en-US" sz="1000" dirty="0">
                        <a:latin typeface="Arial" charset="0"/>
                        <a:ea typeface="Arial" charset="0"/>
                        <a:cs typeface="Arial" charset="0"/>
                      </a:endParaRPr>
                    </a:p>
                  </a:txBody>
                  <a:tcPr marL="54864" marR="54864" marT="18288" marB="18288" anchor="ctr">
                    <a:lnL w="0" cap="flat" cmpd="sng" algn="ctr">
                      <a:noFill/>
                    </a:lnL>
                    <a:lnR w="0" cap="flat" cmpd="sng" algn="ctr">
                      <a:noFill/>
                    </a:lnR>
                    <a:lnT w="15875" cap="flat" cmpd="sng" algn="ctr">
                      <a:solidFill>
                        <a:srgbClr val="C2410C"/>
                      </a:solidFill>
                      <a:prstDash val="solid"/>
                      <a:round/>
                      <a:headEnd type="none" w="med" len="med"/>
                      <a:tailEnd type="none" w="med" len="med"/>
                    </a:lnT>
                    <a:lnB w="6350" cap="flat" cmpd="sng" algn="ctr">
                      <a:solidFill>
                        <a:srgbClr val="F8E8E2"/>
                      </a:solidFill>
                      <a:prstDash val="solid"/>
                      <a:round/>
                      <a:headEnd type="none" w="med" len="med"/>
                      <a:tailEnd type="none" w="med" len="med"/>
                    </a:lnB>
                    <a:solidFill>
                      <a:srgbClr val="FFFFFF"/>
                    </a:solidFill>
                  </a:tcPr>
                </a:tc>
                <a:tc>
                  <a:txBody>
                    <a:bodyPr/>
                    <a:lstStyle/>
                    <a:p>
                      <a:pPr algn="r" indent="0" marL="0">
                        <a:buNone/>
                      </a:pPr>
                      <a:r>
                        <a:rPr lang="en-US" sz="1000" b="1" dirty="0">
                          <a:solidFill>
                            <a:srgbClr val="1A1A1A"/>
                          </a:solidFill>
                          <a:latin typeface="Arial" pitchFamily="34" charset="0"/>
                          <a:ea typeface="Arial" pitchFamily="34" charset="-122"/>
                          <a:cs typeface="Arial" pitchFamily="34" charset="-120"/>
                        </a:rPr>
                        <a:t>$426,294</a:t>
                      </a:r>
                      <a:endParaRPr lang="en-US" sz="1000" dirty="0">
                        <a:latin typeface="Arial" charset="0"/>
                        <a:ea typeface="Arial" charset="0"/>
                        <a:cs typeface="Arial" charset="0"/>
                      </a:endParaRPr>
                    </a:p>
                  </a:txBody>
                  <a:tcPr marL="54864" marR="54864" marT="18288" marB="18288" anchor="ctr">
                    <a:lnL w="0" cap="flat" cmpd="sng" algn="ctr">
                      <a:noFill/>
                    </a:lnL>
                    <a:lnR w="0" cap="flat" cmpd="sng" algn="ctr">
                      <a:noFill/>
                    </a:lnR>
                    <a:lnT w="15875" cap="flat" cmpd="sng" algn="ctr">
                      <a:solidFill>
                        <a:srgbClr val="C2410C"/>
                      </a:solidFill>
                      <a:prstDash val="solid"/>
                      <a:round/>
                      <a:headEnd type="none" w="med" len="med"/>
                      <a:tailEnd type="none" w="med" len="med"/>
                    </a:lnT>
                    <a:lnB w="6350" cap="flat" cmpd="sng" algn="ctr">
                      <a:solidFill>
                        <a:srgbClr val="F8E8E2"/>
                      </a:solidFill>
                      <a:prstDash val="solid"/>
                      <a:round/>
                      <a:headEnd type="none" w="med" len="med"/>
                      <a:tailEnd type="none" w="med" len="med"/>
                    </a:lnB>
                    <a:solidFill>
                      <a:srgbClr val="FFFFFF"/>
                    </a:solidFill>
                  </a:tcPr>
                </a:tc>
                <a:tc>
                  <a:txBody>
                    <a:bodyPr/>
                    <a:lstStyle/>
                    <a:p>
                      <a:pPr algn="r" indent="0" marL="0">
                        <a:buNone/>
                      </a:pPr>
                      <a:r>
                        <a:rPr lang="en-US" sz="1000" b="1" dirty="0">
                          <a:solidFill>
                            <a:srgbClr val="1A1A1A"/>
                          </a:solidFill>
                          <a:latin typeface="Arial" pitchFamily="34" charset="0"/>
                          <a:ea typeface="Arial" pitchFamily="34" charset="-122"/>
                          <a:cs typeface="Arial" pitchFamily="34" charset="-120"/>
                        </a:rPr>
                        <a:t>$425,826</a:t>
                      </a:r>
                      <a:endParaRPr lang="en-US" sz="1000" dirty="0">
                        <a:latin typeface="Arial" charset="0"/>
                        <a:ea typeface="Arial" charset="0"/>
                        <a:cs typeface="Arial" charset="0"/>
                      </a:endParaRPr>
                    </a:p>
                  </a:txBody>
                  <a:tcPr marL="54864" marR="54864" marT="18288" marB="18288" anchor="ctr">
                    <a:lnL w="0" cap="flat" cmpd="sng" algn="ctr">
                      <a:noFill/>
                    </a:lnL>
                    <a:lnR w="0" cap="flat" cmpd="sng" algn="ctr">
                      <a:noFill/>
                    </a:lnR>
                    <a:lnT w="15875" cap="flat" cmpd="sng" algn="ctr">
                      <a:solidFill>
                        <a:srgbClr val="C2410C"/>
                      </a:solidFill>
                      <a:prstDash val="solid"/>
                      <a:round/>
                      <a:headEnd type="none" w="med" len="med"/>
                      <a:tailEnd type="none" w="med" len="med"/>
                    </a:lnT>
                    <a:lnB w="6350" cap="flat" cmpd="sng" algn="ctr">
                      <a:solidFill>
                        <a:srgbClr val="F8E8E2"/>
                      </a:solidFill>
                      <a:prstDash val="solid"/>
                      <a:round/>
                      <a:headEnd type="none" w="med" len="med"/>
                      <a:tailEnd type="none" w="med" len="med"/>
                    </a:lnB>
                    <a:solidFill>
                      <a:srgbClr val="FFFFFF"/>
                    </a:solidFill>
                  </a:tcPr>
                </a:tc>
                <a:tc>
                  <a:txBody>
                    <a:bodyPr/>
                    <a:lstStyle/>
                    <a:p>
                      <a:pPr algn="r" indent="0" marL="0">
                        <a:buNone/>
                      </a:pPr>
                      <a:r>
                        <a:rPr lang="en-US" sz="1000" b="1" dirty="0">
                          <a:solidFill>
                            <a:srgbClr val="1A1A1A"/>
                          </a:solidFill>
                          <a:latin typeface="Arial" pitchFamily="34" charset="0"/>
                          <a:ea typeface="Arial" pitchFamily="34" charset="-122"/>
                          <a:cs typeface="Arial" pitchFamily="34" charset="-120"/>
                        </a:rPr>
                        <a:t>$416,446</a:t>
                      </a:r>
                      <a:endParaRPr lang="en-US" sz="1000" dirty="0">
                        <a:latin typeface="Arial" charset="0"/>
                        <a:ea typeface="Arial" charset="0"/>
                        <a:cs typeface="Arial" charset="0"/>
                      </a:endParaRPr>
                    </a:p>
                  </a:txBody>
                  <a:tcPr marL="54864" marR="54864" marT="18288" marB="18288" anchor="ctr">
                    <a:lnL w="0" cap="flat" cmpd="sng" algn="ctr">
                      <a:noFill/>
                    </a:lnL>
                    <a:lnR w="0" cap="flat" cmpd="sng" algn="ctr">
                      <a:noFill/>
                    </a:lnR>
                    <a:lnT w="15875" cap="flat" cmpd="sng" algn="ctr">
                      <a:solidFill>
                        <a:srgbClr val="C2410C"/>
                      </a:solidFill>
                      <a:prstDash val="solid"/>
                      <a:round/>
                      <a:headEnd type="none" w="med" len="med"/>
                      <a:tailEnd type="none" w="med" len="med"/>
                    </a:lnT>
                    <a:lnB w="6350" cap="flat" cmpd="sng" algn="ctr">
                      <a:solidFill>
                        <a:srgbClr val="F8E8E2"/>
                      </a:solidFill>
                      <a:prstDash val="solid"/>
                      <a:round/>
                      <a:headEnd type="none" w="med" len="med"/>
                      <a:tailEnd type="none" w="med" len="med"/>
                    </a:lnB>
                    <a:solidFill>
                      <a:srgbClr val="FFFFFF"/>
                    </a:solidFill>
                  </a:tcPr>
                </a:tc>
              </a:tr>
              <a:tr h="258064">
                <a:tc>
                  <a:txBody>
                    <a:bodyPr/>
                    <a:lstStyle/>
                    <a:p>
                      <a:pPr algn="l" indent="0" marL="0">
                        <a:buNone/>
                      </a:pPr>
                      <a:r>
                        <a:rPr lang="en-US" sz="1000" dirty="0">
                          <a:solidFill>
                            <a:srgbClr val="1A1A1A"/>
                          </a:solidFill>
                          <a:latin typeface="Arial" pitchFamily="34" charset="0"/>
                          <a:ea typeface="Arial" pitchFamily="34" charset="-122"/>
                          <a:cs typeface="Arial" pitchFamily="34" charset="-120"/>
                        </a:rPr>
                        <a:t>Holding Costs Until Closing</a:t>
                      </a:r>
                      <a:endParaRPr lang="en-US" sz="1000" dirty="0">
                        <a:latin typeface="Arial" charset="0"/>
                        <a:ea typeface="Arial" charset="0"/>
                        <a:cs typeface="Arial" charset="0"/>
                      </a:endParaRPr>
                    </a:p>
                  </a:txBody>
                  <a:tcPr marL="54864" marR="54864" marT="18288" marB="18288" anchor="ctr">
                    <a:lnL w="0" cap="flat" cmpd="sng" algn="ctr">
                      <a:noFill/>
                    </a:lnL>
                    <a:lnR w="0" cap="flat" cmpd="sng" algn="ctr">
                      <a:noFill/>
                    </a:lnR>
                    <a:lnT w="0" cap="flat" cmpd="sng" algn="ctr">
                      <a:noFill/>
                    </a:lnT>
                    <a:lnB w="6350" cap="flat" cmpd="sng" algn="ctr">
                      <a:solidFill>
                        <a:srgbClr val="F8E8E2"/>
                      </a:solidFill>
                      <a:prstDash val="solid"/>
                      <a:round/>
                      <a:headEnd type="none" w="med" len="med"/>
                      <a:tailEnd type="none" w="med" len="med"/>
                    </a:lnB>
                    <a:solidFill>
                      <a:srgbClr val="FFFFFF"/>
                    </a:solidFill>
                  </a:tcPr>
                </a:tc>
                <a:tc>
                  <a:txBody>
                    <a:bodyPr/>
                    <a:lstStyle/>
                    <a:p>
                      <a:pPr algn="r" indent="0" marL="0">
                        <a:buNone/>
                      </a:pPr>
                      <a:r>
                        <a:rPr lang="en-US" sz="1000" dirty="0">
                          <a:solidFill>
                            <a:srgbClr val="1A1A1A"/>
                          </a:solidFill>
                          <a:latin typeface="Arial" pitchFamily="34" charset="0"/>
                          <a:ea typeface="Arial" pitchFamily="34" charset="-122"/>
                          <a:cs typeface="Arial" pitchFamily="34" charset="-120"/>
                        </a:rPr>
                        <a:t>−$1,604</a:t>
                      </a:r>
                      <a:endParaRPr lang="en-US" sz="1000" dirty="0">
                        <a:latin typeface="Arial" charset="0"/>
                        <a:ea typeface="Arial" charset="0"/>
                        <a:cs typeface="Arial" charset="0"/>
                      </a:endParaRPr>
                    </a:p>
                  </a:txBody>
                  <a:tcPr marL="54864" marR="54864" marT="18288" marB="18288" anchor="ctr">
                    <a:lnL w="0" cap="flat" cmpd="sng" algn="ctr">
                      <a:noFill/>
                    </a:lnL>
                    <a:lnR w="0" cap="flat" cmpd="sng" algn="ctr">
                      <a:noFill/>
                    </a:lnR>
                    <a:lnT w="0" cap="flat" cmpd="sng" algn="ctr">
                      <a:noFill/>
                    </a:lnT>
                    <a:lnB w="6350" cap="flat" cmpd="sng" algn="ctr">
                      <a:solidFill>
                        <a:srgbClr val="F8E8E2"/>
                      </a:solidFill>
                      <a:prstDash val="solid"/>
                      <a:round/>
                      <a:headEnd type="none" w="med" len="med"/>
                      <a:tailEnd type="none" w="med" len="med"/>
                    </a:lnB>
                    <a:solidFill>
                      <a:srgbClr val="FFFFFF"/>
                    </a:solidFill>
                  </a:tcPr>
                </a:tc>
                <a:tc>
                  <a:txBody>
                    <a:bodyPr/>
                    <a:lstStyle/>
                    <a:p>
                      <a:pPr algn="r" indent="0" marL="0">
                        <a:buNone/>
                      </a:pPr>
                      <a:r>
                        <a:rPr lang="en-US" sz="1000" dirty="0">
                          <a:solidFill>
                            <a:srgbClr val="1A1A1A"/>
                          </a:solidFill>
                          <a:latin typeface="Arial" pitchFamily="34" charset="0"/>
                          <a:ea typeface="Arial" pitchFamily="34" charset="-122"/>
                          <a:cs typeface="Arial" pitchFamily="34" charset="-120"/>
                        </a:rPr>
                        <a:t>−$1,190</a:t>
                      </a:r>
                      <a:endParaRPr lang="en-US" sz="1000" dirty="0">
                        <a:latin typeface="Arial" charset="0"/>
                        <a:ea typeface="Arial" charset="0"/>
                        <a:cs typeface="Arial" charset="0"/>
                      </a:endParaRPr>
                    </a:p>
                  </a:txBody>
                  <a:tcPr marL="54864" marR="54864" marT="18288" marB="18288" anchor="ctr">
                    <a:lnL w="0" cap="flat" cmpd="sng" algn="ctr">
                      <a:noFill/>
                    </a:lnL>
                    <a:lnR w="0" cap="flat" cmpd="sng" algn="ctr">
                      <a:noFill/>
                    </a:lnR>
                    <a:lnT w="0" cap="flat" cmpd="sng" algn="ctr">
                      <a:noFill/>
                    </a:lnT>
                    <a:lnB w="6350" cap="flat" cmpd="sng" algn="ctr">
                      <a:solidFill>
                        <a:srgbClr val="F8E8E2"/>
                      </a:solidFill>
                      <a:prstDash val="solid"/>
                      <a:round/>
                      <a:headEnd type="none" w="med" len="med"/>
                      <a:tailEnd type="none" w="med" len="med"/>
                    </a:lnB>
                    <a:solidFill>
                      <a:srgbClr val="FFFFFF"/>
                    </a:solidFill>
                  </a:tcPr>
                </a:tc>
                <a:tc>
                  <a:txBody>
                    <a:bodyPr/>
                    <a:lstStyle/>
                    <a:p>
                      <a:pPr algn="r" indent="0" marL="0">
                        <a:buNone/>
                      </a:pPr>
                      <a:r>
                        <a:rPr lang="en-US" sz="1000" dirty="0">
                          <a:solidFill>
                            <a:srgbClr val="1A1A1A"/>
                          </a:solidFill>
                          <a:latin typeface="Arial" pitchFamily="34" charset="0"/>
                          <a:ea typeface="Arial" pitchFamily="34" charset="-122"/>
                          <a:cs typeface="Arial" pitchFamily="34" charset="-120"/>
                        </a:rPr>
                        <a:t>−$949</a:t>
                      </a:r>
                      <a:endParaRPr lang="en-US" sz="1000" dirty="0">
                        <a:latin typeface="Arial" charset="0"/>
                        <a:ea typeface="Arial" charset="0"/>
                        <a:cs typeface="Arial" charset="0"/>
                      </a:endParaRPr>
                    </a:p>
                  </a:txBody>
                  <a:tcPr marL="54864" marR="54864" marT="18288" marB="18288" anchor="ctr">
                    <a:lnL w="0" cap="flat" cmpd="sng" algn="ctr">
                      <a:noFill/>
                    </a:lnL>
                    <a:lnR w="0" cap="flat" cmpd="sng" algn="ctr">
                      <a:noFill/>
                    </a:lnR>
                    <a:lnT w="0" cap="flat" cmpd="sng" algn="ctr">
                      <a:noFill/>
                    </a:lnT>
                    <a:lnB w="6350" cap="flat" cmpd="sng" algn="ctr">
                      <a:solidFill>
                        <a:srgbClr val="F8E8E2"/>
                      </a:solidFill>
                      <a:prstDash val="solid"/>
                      <a:round/>
                      <a:headEnd type="none" w="med" len="med"/>
                      <a:tailEnd type="none" w="med" len="med"/>
                    </a:lnB>
                    <a:solidFill>
                      <a:srgbClr val="FFFFFF"/>
                    </a:solidFill>
                  </a:tcPr>
                </a:tc>
              </a:tr>
              <a:tr h="258064">
                <a:tc>
                  <a:txBody>
                    <a:bodyPr/>
                    <a:lstStyle/>
                    <a:p>
                      <a:pPr algn="l" indent="0" marL="0">
                        <a:buNone/>
                      </a:pPr>
                      <a:r>
                        <a:rPr lang="en-US" sz="1000" b="1" dirty="0">
                          <a:solidFill>
                            <a:srgbClr val="1A1A1A"/>
                          </a:solidFill>
                          <a:latin typeface="Arial" pitchFamily="34" charset="0"/>
                          <a:ea typeface="Arial" pitchFamily="34" charset="-122"/>
                          <a:cs typeface="Arial" pitchFamily="34" charset="-120"/>
                        </a:rPr>
                        <a:t>Net After Holding Costs</a:t>
                      </a:r>
                      <a:endParaRPr lang="en-US" sz="1000" dirty="0">
                        <a:latin typeface="Arial" charset="0"/>
                        <a:ea typeface="Arial" charset="0"/>
                        <a:cs typeface="Arial" charset="0"/>
                      </a:endParaRPr>
                    </a:p>
                  </a:txBody>
                  <a:tcPr marL="54864" marR="54864" marT="18288" marB="18288" anchor="ctr">
                    <a:lnL w="0" cap="flat" cmpd="sng" algn="ctr">
                      <a:noFill/>
                    </a:lnL>
                    <a:lnR w="0" cap="flat" cmpd="sng" algn="ctr">
                      <a:noFill/>
                    </a:lnR>
                    <a:lnT w="15875" cap="flat" cmpd="sng" algn="ctr">
                      <a:solidFill>
                        <a:srgbClr val="C2410C"/>
                      </a:solidFill>
                      <a:prstDash val="solid"/>
                      <a:round/>
                      <a:headEnd type="none" w="med" len="med"/>
                      <a:tailEnd type="none" w="med" len="med"/>
                    </a:lnT>
                    <a:lnB w="6350" cap="flat" cmpd="sng" algn="ctr">
                      <a:solidFill>
                        <a:srgbClr val="F8E8E2"/>
                      </a:solidFill>
                      <a:prstDash val="solid"/>
                      <a:round/>
                      <a:headEnd type="none" w="med" len="med"/>
                      <a:tailEnd type="none" w="med" len="med"/>
                    </a:lnB>
                    <a:solidFill>
                      <a:srgbClr val="FFFFFF"/>
                    </a:solidFill>
                  </a:tcPr>
                </a:tc>
                <a:tc>
                  <a:txBody>
                    <a:bodyPr/>
                    <a:lstStyle/>
                    <a:p>
                      <a:pPr algn="r" indent="0" marL="0">
                        <a:buNone/>
                      </a:pPr>
                      <a:r>
                        <a:rPr lang="en-US" sz="1000" b="1" dirty="0">
                          <a:solidFill>
                            <a:srgbClr val="1A1A1A"/>
                          </a:solidFill>
                          <a:latin typeface="Arial" pitchFamily="34" charset="0"/>
                          <a:ea typeface="Arial" pitchFamily="34" charset="-122"/>
                          <a:cs typeface="Arial" pitchFamily="34" charset="-120"/>
                        </a:rPr>
                        <a:t>$424,690</a:t>
                      </a:r>
                      <a:endParaRPr lang="en-US" sz="1000" dirty="0">
                        <a:latin typeface="Arial" charset="0"/>
                        <a:ea typeface="Arial" charset="0"/>
                        <a:cs typeface="Arial" charset="0"/>
                      </a:endParaRPr>
                    </a:p>
                  </a:txBody>
                  <a:tcPr marL="54864" marR="54864" marT="18288" marB="18288" anchor="ctr">
                    <a:lnL w="0" cap="flat" cmpd="sng" algn="ctr">
                      <a:noFill/>
                    </a:lnL>
                    <a:lnR w="0" cap="flat" cmpd="sng" algn="ctr">
                      <a:noFill/>
                    </a:lnR>
                    <a:lnT w="15875" cap="flat" cmpd="sng" algn="ctr">
                      <a:solidFill>
                        <a:srgbClr val="C2410C"/>
                      </a:solidFill>
                      <a:prstDash val="solid"/>
                      <a:round/>
                      <a:headEnd type="none" w="med" len="med"/>
                      <a:tailEnd type="none" w="med" len="med"/>
                    </a:lnT>
                    <a:lnB w="6350" cap="flat" cmpd="sng" algn="ctr">
                      <a:solidFill>
                        <a:srgbClr val="F8E8E2"/>
                      </a:solidFill>
                      <a:prstDash val="solid"/>
                      <a:round/>
                      <a:headEnd type="none" w="med" len="med"/>
                      <a:tailEnd type="none" w="med" len="med"/>
                    </a:lnB>
                    <a:solidFill>
                      <a:srgbClr val="FFFFFF"/>
                    </a:solidFill>
                  </a:tcPr>
                </a:tc>
                <a:tc>
                  <a:txBody>
                    <a:bodyPr/>
                    <a:lstStyle/>
                    <a:p>
                      <a:pPr algn="r" indent="0" marL="0">
                        <a:buNone/>
                      </a:pPr>
                      <a:r>
                        <a:rPr lang="en-US" sz="1000" b="1" dirty="0">
                          <a:solidFill>
                            <a:srgbClr val="1A1A1A"/>
                          </a:solidFill>
                          <a:latin typeface="Arial" pitchFamily="34" charset="0"/>
                          <a:ea typeface="Arial" pitchFamily="34" charset="-122"/>
                          <a:cs typeface="Arial" pitchFamily="34" charset="-120"/>
                        </a:rPr>
                        <a:t>$424,636</a:t>
                      </a:r>
                      <a:endParaRPr lang="en-US" sz="1000" dirty="0">
                        <a:latin typeface="Arial" charset="0"/>
                        <a:ea typeface="Arial" charset="0"/>
                        <a:cs typeface="Arial" charset="0"/>
                      </a:endParaRPr>
                    </a:p>
                  </a:txBody>
                  <a:tcPr marL="54864" marR="54864" marT="18288" marB="18288" anchor="ctr">
                    <a:lnL w="0" cap="flat" cmpd="sng" algn="ctr">
                      <a:noFill/>
                    </a:lnL>
                    <a:lnR w="0" cap="flat" cmpd="sng" algn="ctr">
                      <a:noFill/>
                    </a:lnR>
                    <a:lnT w="15875" cap="flat" cmpd="sng" algn="ctr">
                      <a:solidFill>
                        <a:srgbClr val="C2410C"/>
                      </a:solidFill>
                      <a:prstDash val="solid"/>
                      <a:round/>
                      <a:headEnd type="none" w="med" len="med"/>
                      <a:tailEnd type="none" w="med" len="med"/>
                    </a:lnT>
                    <a:lnB w="6350" cap="flat" cmpd="sng" algn="ctr">
                      <a:solidFill>
                        <a:srgbClr val="F8E8E2"/>
                      </a:solidFill>
                      <a:prstDash val="solid"/>
                      <a:round/>
                      <a:headEnd type="none" w="med" len="med"/>
                      <a:tailEnd type="none" w="med" len="med"/>
                    </a:lnB>
                    <a:solidFill>
                      <a:srgbClr val="FFFFFF"/>
                    </a:solidFill>
                  </a:tcPr>
                </a:tc>
                <a:tc>
                  <a:txBody>
                    <a:bodyPr/>
                    <a:lstStyle/>
                    <a:p>
                      <a:pPr algn="r" indent="0" marL="0">
                        <a:buNone/>
                      </a:pPr>
                      <a:r>
                        <a:rPr lang="en-US" sz="1000" b="1" dirty="0">
                          <a:solidFill>
                            <a:srgbClr val="1A1A1A"/>
                          </a:solidFill>
                          <a:latin typeface="Arial" pitchFamily="34" charset="0"/>
                          <a:ea typeface="Arial" pitchFamily="34" charset="-122"/>
                          <a:cs typeface="Arial" pitchFamily="34" charset="-120"/>
                        </a:rPr>
                        <a:t>$415,497</a:t>
                      </a:r>
                      <a:endParaRPr lang="en-US" sz="1000" dirty="0">
                        <a:latin typeface="Arial" charset="0"/>
                        <a:ea typeface="Arial" charset="0"/>
                        <a:cs typeface="Arial" charset="0"/>
                      </a:endParaRPr>
                    </a:p>
                  </a:txBody>
                  <a:tcPr marL="54864" marR="54864" marT="18288" marB="18288" anchor="ctr">
                    <a:lnL w="0" cap="flat" cmpd="sng" algn="ctr">
                      <a:noFill/>
                    </a:lnL>
                    <a:lnR w="0" cap="flat" cmpd="sng" algn="ctr">
                      <a:noFill/>
                    </a:lnR>
                    <a:lnT w="15875" cap="flat" cmpd="sng" algn="ctr">
                      <a:solidFill>
                        <a:srgbClr val="C2410C"/>
                      </a:solidFill>
                      <a:prstDash val="solid"/>
                      <a:round/>
                      <a:headEnd type="none" w="med" len="med"/>
                      <a:tailEnd type="none" w="med" len="med"/>
                    </a:lnT>
                    <a:lnB w="6350" cap="flat" cmpd="sng" algn="ctr">
                      <a:solidFill>
                        <a:srgbClr val="F8E8E2"/>
                      </a:solidFill>
                      <a:prstDash val="solid"/>
                      <a:round/>
                      <a:headEnd type="none" w="med" len="med"/>
                      <a:tailEnd type="none" w="med" len="med"/>
                    </a:lnB>
                    <a:solidFill>
                      <a:srgbClr val="FFFFFF"/>
                    </a:solidFill>
                  </a:tcPr>
                </a:tc>
              </a:tr>
            </a:tbl>
          </a:graphicData>
        </a:graphic>
      </p:graphicFrame>
      <p:sp>
        <p:nvSpPr>
          <p:cNvPr id="4" name="Text 1"/>
          <p:cNvSpPr txBox="1"/>
          <p:nvPr/>
        </p:nvSpPr>
        <p:spPr>
          <a:xfrm>
            <a:off x="457200" y="4346448"/>
            <a:ext cx="8229600" cy="358140"/>
          </a:xfrm>
          <a:prstGeom prst="rect">
            <a:avLst/>
          </a:prstGeom>
          <a:noFill/>
          <a:ln/>
        </p:spPr>
        <p:txBody>
          <a:bodyPr wrap="square" lIns="0" tIns="0" rIns="0" bIns="0" rtlCol="0" anchor="t"/>
          <a:lstStyle/>
          <a:p>
            <a:pPr indent="0" marL="0">
              <a:buNone/>
            </a:pPr>
            <a:r>
              <a:rPr lang="en-US" sz="1000" dirty="0">
                <a:solidFill>
                  <a:srgbClr val="5E5E5E"/>
                </a:solidFill>
                <a:latin typeface="Arial" pitchFamily="34" charset="0"/>
                <a:ea typeface="Arial" pitchFamily="34" charset="-122"/>
                <a:cs typeface="Arial" pitchFamily="34" charset="-120"/>
              </a:rPr>
              <a:t>Commissions are negotiable and not set by law. Not included: your mortgage payoff, this year's property tax proration (the current tax bill adds it) and any repairs agreed after inspection. The closing agent provides the exact figures.</a:t>
            </a:r>
            <a:endParaRPr lang="en-US" sz="1000" dirty="0"/>
          </a:p>
        </p:txBody>
      </p:sp>
      <p:sp>
        <p:nvSpPr>
          <p:cNvPr id="6" name="Text 2"/>
          <p:cNvSpPr txBox="1"/>
          <p:nvPr/>
        </p:nvSpPr>
        <p:spPr>
          <a:xfrm>
            <a:off x="457200" y="4796028"/>
            <a:ext cx="6858000" cy="228600"/>
          </a:xfrm>
          <a:prstGeom prst="rect">
            <a:avLst/>
          </a:prstGeom>
          <a:noFill/>
          <a:ln/>
        </p:spPr>
        <p:txBody>
          <a:bodyPr wrap="square" lIns="0" tIns="0" rIns="0" bIns="0" rtlCol="0" anchor="ctr"/>
          <a:lstStyle/>
          <a:p>
            <a:pPr indent="0" marL="0">
              <a:buNone/>
            </a:pPr>
            <a:r>
              <a:rPr lang="en-US" sz="800" dirty="0">
                <a:solidFill>
                  <a:srgbClr val="5E5E5E"/>
                </a:solidFill>
                <a:latin typeface="Arial" pitchFamily="34" charset="0"/>
                <a:ea typeface="Arial" pitchFamily="34" charset="-122"/>
                <a:cs typeface="Arial" pitchFamily="34" charset="-120"/>
              </a:rPr>
              <a:t>SAMPLE DATA · 517 Larkwood Ave · Jordan Avery, REALTOR®, Sample Realty, LLC</a:t>
            </a:r>
            <a:endParaRPr lang="en-US" sz="800" dirty="0"/>
          </a:p>
        </p:txBody>
      </p:sp>
      <p:sp>
        <p:nvSpPr>
          <p:cNvPr id="7" name="Text 3"/>
          <p:cNvSpPr txBox="1"/>
          <p:nvPr/>
        </p:nvSpPr>
        <p:spPr>
          <a:xfrm>
            <a:off x="8229600" y="4796028"/>
            <a:ext cx="457200" cy="228600"/>
          </a:xfrm>
          <a:prstGeom prst="rect">
            <a:avLst/>
          </a:prstGeom>
          <a:noFill/>
          <a:ln/>
        </p:spPr>
        <p:txBody>
          <a:bodyPr wrap="square" lIns="0" tIns="0" rIns="0" bIns="0" rtlCol="0" anchor="ctr"/>
          <a:lstStyle/>
          <a:p>
            <a:pPr algn="r" indent="0" marL="0">
              <a:buNone/>
            </a:pPr>
            <a:r>
              <a:rPr lang="en-US" sz="800" dirty="0">
                <a:solidFill>
                  <a:srgbClr val="5E5E5E"/>
                </a:solidFill>
                <a:latin typeface="Arial" pitchFamily="34" charset="0"/>
                <a:ea typeface="Arial" pitchFamily="34" charset="-122"/>
                <a:cs typeface="Arial" pitchFamily="34" charset="-120"/>
              </a:rPr>
              <a:t>14</a:t>
            </a:r>
            <a:endParaRPr lang="en-US" sz="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8229600" cy="566928"/>
          </a:xfrm>
          <a:prstGeom prst="rect">
            <a:avLst/>
          </a:prstGeom>
          <a:noFill/>
          <a:ln/>
        </p:spPr>
        <p:txBody>
          <a:bodyPr wrap="square" lIns="0" tIns="0" rIns="0" bIns="0" rtlCol="0" anchor="t"/>
          <a:lstStyle/>
          <a:p>
            <a:pPr indent="0" marL="0">
              <a:buNone/>
            </a:pPr>
            <a:r>
              <a:rPr lang="en-US" sz="2600" b="1" dirty="0">
                <a:solidFill>
                  <a:srgbClr val="1A1A1A"/>
                </a:solidFill>
                <a:latin typeface="Arial" pitchFamily="34" charset="0"/>
                <a:ea typeface="Arial" pitchFamily="34" charset="-122"/>
                <a:cs typeface="Arial" pitchFamily="34" charset="-120"/>
              </a:rPr>
              <a:t>Appendix: Comparable Sales</a:t>
            </a:r>
            <a:endParaRPr lang="en-US" sz="26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457200" y="1005840"/>
          <a:ext cx="8229600" cy="914400"/>
        </p:xfrm>
        <a:graphic>
          <a:graphicData uri="http://schemas.openxmlformats.org/drawingml/2006/table">
            <a:tbl>
              <a:tblPr/>
              <a:tblGrid>
                <a:gridCol w="3291840"/>
                <a:gridCol w="1645920"/>
                <a:gridCol w="1645920"/>
                <a:gridCol w="1645920"/>
              </a:tblGrid>
              <a:tr h="292608">
                <a:tc>
                  <a:txBody>
                    <a:bodyPr/>
                    <a:lstStyle/>
                    <a:p>
                      <a:pPr algn="l" indent="0" marL="0">
                        <a:buNone/>
                      </a:pPr>
                      <a:r>
                        <a:rPr lang="en-US" sz="1100" b="1" dirty="0">
                          <a:solidFill>
                            <a:srgbClr val="A23200"/>
                          </a:solidFill>
                          <a:latin typeface="Arial" pitchFamily="34" charset="0"/>
                          <a:ea typeface="Arial" pitchFamily="34" charset="-122"/>
                          <a:cs typeface="Arial" pitchFamily="34" charset="-120"/>
                        </a:rPr>
                        <a:t>Sale</a:t>
                      </a:r>
                      <a:endParaRPr lang="en-US" sz="1100" dirty="0">
                        <a:latin typeface="Arial" charset="0"/>
                        <a:ea typeface="Arial" charset="0"/>
                        <a:cs typeface="Arial" charset="0"/>
                      </a:endParaRPr>
                    </a:p>
                  </a:txBody>
                  <a:tcPr marL="54864" marR="54864" marT="18288" marB="18288" anchor="ctr">
                    <a:lnL w="0" cap="flat" cmpd="sng" algn="ctr">
                      <a:noFill/>
                    </a:lnL>
                    <a:lnR w="0" cap="flat" cmpd="sng" algn="ctr">
                      <a:noFill/>
                    </a:lnR>
                    <a:lnT w="0" cap="flat" cmpd="sng" algn="ctr">
                      <a:noFill/>
                    </a:lnT>
                    <a:lnB w="19050" cap="flat" cmpd="sng" algn="ctr">
                      <a:solidFill>
                        <a:srgbClr val="C2410C"/>
                      </a:solidFill>
                      <a:prstDash val="solid"/>
                      <a:round/>
                      <a:headEnd type="none" w="med" len="med"/>
                      <a:tailEnd type="none" w="med" len="med"/>
                    </a:lnB>
                    <a:solidFill>
                      <a:srgbClr val="FFFFFF"/>
                    </a:solidFill>
                  </a:tcPr>
                </a:tc>
                <a:tc>
                  <a:txBody>
                    <a:bodyPr/>
                    <a:lstStyle/>
                    <a:p>
                      <a:pPr algn="r" indent="0" marL="0">
                        <a:buNone/>
                      </a:pPr>
                      <a:r>
                        <a:rPr lang="en-US" sz="1100" b="1" dirty="0">
                          <a:solidFill>
                            <a:srgbClr val="A23200"/>
                          </a:solidFill>
                          <a:latin typeface="Arial" pitchFamily="34" charset="0"/>
                          <a:ea typeface="Arial" pitchFamily="34" charset="-122"/>
                          <a:cs typeface="Arial" pitchFamily="34" charset="-120"/>
                        </a:rPr>
                        <a:t>Sold For</a:t>
                      </a:r>
                      <a:endParaRPr lang="en-US" sz="1100" dirty="0">
                        <a:latin typeface="Arial" charset="0"/>
                        <a:ea typeface="Arial" charset="0"/>
                        <a:cs typeface="Arial" charset="0"/>
                      </a:endParaRPr>
                    </a:p>
                  </a:txBody>
                  <a:tcPr marL="54864" marR="54864" marT="18288" marB="18288" anchor="ctr">
                    <a:lnL w="0" cap="flat" cmpd="sng" algn="ctr">
                      <a:noFill/>
                    </a:lnL>
                    <a:lnR w="0" cap="flat" cmpd="sng" algn="ctr">
                      <a:noFill/>
                    </a:lnR>
                    <a:lnT w="0" cap="flat" cmpd="sng" algn="ctr">
                      <a:noFill/>
                    </a:lnT>
                    <a:lnB w="19050" cap="flat" cmpd="sng" algn="ctr">
                      <a:solidFill>
                        <a:srgbClr val="C2410C"/>
                      </a:solidFill>
                      <a:prstDash val="solid"/>
                      <a:round/>
                      <a:headEnd type="none" w="med" len="med"/>
                      <a:tailEnd type="none" w="med" len="med"/>
                    </a:lnB>
                    <a:solidFill>
                      <a:srgbClr val="FFFFFF"/>
                    </a:solidFill>
                  </a:tcPr>
                </a:tc>
                <a:tc>
                  <a:txBody>
                    <a:bodyPr/>
                    <a:lstStyle/>
                    <a:p>
                      <a:pPr algn="r" indent="0" marL="0">
                        <a:buNone/>
                      </a:pPr>
                      <a:r>
                        <a:rPr lang="en-US" sz="1100" b="1" dirty="0">
                          <a:solidFill>
                            <a:srgbClr val="A23200"/>
                          </a:solidFill>
                          <a:latin typeface="Arial" pitchFamily="34" charset="0"/>
                          <a:ea typeface="Arial" pitchFamily="34" charset="-122"/>
                          <a:cs typeface="Arial" pitchFamily="34" charset="-120"/>
                        </a:rPr>
                        <a:t>Seller Paid</a:t>
                      </a:r>
                      <a:endParaRPr lang="en-US" sz="1100" dirty="0">
                        <a:latin typeface="Arial" charset="0"/>
                        <a:ea typeface="Arial" charset="0"/>
                        <a:cs typeface="Arial" charset="0"/>
                      </a:endParaRPr>
                    </a:p>
                  </a:txBody>
                  <a:tcPr marL="54864" marR="54864" marT="18288" marB="18288" anchor="ctr">
                    <a:lnL w="0" cap="flat" cmpd="sng" algn="ctr">
                      <a:noFill/>
                    </a:lnL>
                    <a:lnR w="0" cap="flat" cmpd="sng" algn="ctr">
                      <a:noFill/>
                    </a:lnR>
                    <a:lnT w="0" cap="flat" cmpd="sng" algn="ctr">
                      <a:noFill/>
                    </a:lnT>
                    <a:lnB w="19050" cap="flat" cmpd="sng" algn="ctr">
                      <a:solidFill>
                        <a:srgbClr val="C2410C"/>
                      </a:solidFill>
                      <a:prstDash val="solid"/>
                      <a:round/>
                      <a:headEnd type="none" w="med" len="med"/>
                      <a:tailEnd type="none" w="med" len="med"/>
                    </a:lnB>
                    <a:solidFill>
                      <a:srgbClr val="FFFFFF"/>
                    </a:solidFill>
                  </a:tcPr>
                </a:tc>
                <a:tc>
                  <a:txBody>
                    <a:bodyPr/>
                    <a:lstStyle/>
                    <a:p>
                      <a:pPr algn="r" indent="0" marL="0">
                        <a:buNone/>
                      </a:pPr>
                      <a:r>
                        <a:rPr lang="en-US" sz="1100" b="1" dirty="0">
                          <a:solidFill>
                            <a:srgbClr val="A23200"/>
                          </a:solidFill>
                          <a:latin typeface="Arial" pitchFamily="34" charset="0"/>
                          <a:ea typeface="Arial" pitchFamily="34" charset="-122"/>
                          <a:cs typeface="Arial" pitchFamily="34" charset="-120"/>
                        </a:rPr>
                        <a:t>Adjusted Value</a:t>
                      </a:r>
                      <a:endParaRPr lang="en-US" sz="1100" dirty="0">
                        <a:latin typeface="Arial" charset="0"/>
                        <a:ea typeface="Arial" charset="0"/>
                        <a:cs typeface="Arial" charset="0"/>
                      </a:endParaRPr>
                    </a:p>
                  </a:txBody>
                  <a:tcPr marL="54864" marR="54864" marT="18288" marB="18288" anchor="ctr">
                    <a:lnL w="0" cap="flat" cmpd="sng" algn="ctr">
                      <a:noFill/>
                    </a:lnL>
                    <a:lnR w="0" cap="flat" cmpd="sng" algn="ctr">
                      <a:noFill/>
                    </a:lnR>
                    <a:lnT w="0" cap="flat" cmpd="sng" algn="ctr">
                      <a:noFill/>
                    </a:lnT>
                    <a:lnB w="19050" cap="flat" cmpd="sng" algn="ctr">
                      <a:solidFill>
                        <a:srgbClr val="C2410C"/>
                      </a:solidFill>
                      <a:prstDash val="solid"/>
                      <a:round/>
                      <a:headEnd type="none" w="med" len="med"/>
                      <a:tailEnd type="none" w="med" len="med"/>
                    </a:lnB>
                    <a:solidFill>
                      <a:srgbClr val="FFFFFF"/>
                    </a:solidFill>
                  </a:tcPr>
                </a:tc>
              </a:tr>
              <a:tr h="292608">
                <a:tc>
                  <a:txBody>
                    <a:bodyPr/>
                    <a:lstStyle/>
                    <a:p>
                      <a:pPr algn="l" indent="0" marL="0">
                        <a:buNone/>
                      </a:pPr>
                      <a:r>
                        <a:rPr lang="en-US" sz="1100" dirty="0">
                          <a:solidFill>
                            <a:srgbClr val="1A1A1A"/>
                          </a:solidFill>
                          <a:latin typeface="Arial" pitchFamily="34" charset="0"/>
                          <a:ea typeface="Arial" pitchFamily="34" charset="-122"/>
                          <a:cs typeface="Arial" pitchFamily="34" charset="-120"/>
                        </a:rPr>
                        <a:t>622 Fernwood Park Blvd</a:t>
                      </a:r>
                      <a:endParaRPr lang="en-US" sz="1100" dirty="0">
                        <a:latin typeface="Arial" charset="0"/>
                        <a:ea typeface="Arial" charset="0"/>
                        <a:cs typeface="Arial" charset="0"/>
                      </a:endParaRPr>
                    </a:p>
                  </a:txBody>
                  <a:tcPr marL="54864" marR="54864" marT="18288" marB="18288" anchor="ctr">
                    <a:lnL w="0" cap="flat" cmpd="sng" algn="ctr">
                      <a:noFill/>
                    </a:lnL>
                    <a:lnR w="0" cap="flat" cmpd="sng" algn="ctr">
                      <a:noFill/>
                    </a:lnR>
                    <a:lnT w="0" cap="flat" cmpd="sng" algn="ctr">
                      <a:noFill/>
                    </a:lnT>
                    <a:lnB w="6350" cap="flat" cmpd="sng" algn="ctr">
                      <a:solidFill>
                        <a:srgbClr val="F8E8E2"/>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A1A1A"/>
                          </a:solidFill>
                          <a:latin typeface="Arial" pitchFamily="34" charset="0"/>
                          <a:ea typeface="Arial" pitchFamily="34" charset="-122"/>
                          <a:cs typeface="Arial" pitchFamily="34" charset="-120"/>
                        </a:rPr>
                        <a:t>$505,500</a:t>
                      </a:r>
                      <a:endParaRPr lang="en-US" sz="1100" dirty="0">
                        <a:latin typeface="Arial" charset="0"/>
                        <a:ea typeface="Arial" charset="0"/>
                        <a:cs typeface="Arial" charset="0"/>
                      </a:endParaRPr>
                    </a:p>
                  </a:txBody>
                  <a:tcPr marL="54864" marR="54864" marT="18288" marB="18288" anchor="ctr">
                    <a:lnL w="0" cap="flat" cmpd="sng" algn="ctr">
                      <a:noFill/>
                    </a:lnL>
                    <a:lnR w="0" cap="flat" cmpd="sng" algn="ctr">
                      <a:noFill/>
                    </a:lnR>
                    <a:lnT w="0" cap="flat" cmpd="sng" algn="ctr">
                      <a:noFill/>
                    </a:lnT>
                    <a:lnB w="6350" cap="flat" cmpd="sng" algn="ctr">
                      <a:solidFill>
                        <a:srgbClr val="F8E8E2"/>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A1A1A"/>
                          </a:solidFill>
                          <a:latin typeface="Arial" pitchFamily="34" charset="0"/>
                          <a:ea typeface="Arial" pitchFamily="34" charset="-122"/>
                          <a:cs typeface="Arial" pitchFamily="34" charset="-120"/>
                        </a:rPr>
                        <a:t>$0</a:t>
                      </a:r>
                      <a:endParaRPr lang="en-US" sz="1100" dirty="0">
                        <a:latin typeface="Arial" charset="0"/>
                        <a:ea typeface="Arial" charset="0"/>
                        <a:cs typeface="Arial" charset="0"/>
                      </a:endParaRPr>
                    </a:p>
                  </a:txBody>
                  <a:tcPr marL="54864" marR="54864" marT="18288" marB="18288" anchor="ctr">
                    <a:lnL w="0" cap="flat" cmpd="sng" algn="ctr">
                      <a:noFill/>
                    </a:lnL>
                    <a:lnR w="0" cap="flat" cmpd="sng" algn="ctr">
                      <a:noFill/>
                    </a:lnR>
                    <a:lnT w="0" cap="flat" cmpd="sng" algn="ctr">
                      <a:noFill/>
                    </a:lnT>
                    <a:lnB w="6350" cap="flat" cmpd="sng" algn="ctr">
                      <a:solidFill>
                        <a:srgbClr val="F8E8E2"/>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A1A1A"/>
                          </a:solidFill>
                          <a:latin typeface="Arial" pitchFamily="34" charset="0"/>
                          <a:ea typeface="Arial" pitchFamily="34" charset="-122"/>
                          <a:cs typeface="Arial" pitchFamily="34" charset="-120"/>
                        </a:rPr>
                        <a:t>$485,700</a:t>
                      </a:r>
                      <a:endParaRPr lang="en-US" sz="1100" dirty="0">
                        <a:latin typeface="Arial" charset="0"/>
                        <a:ea typeface="Arial" charset="0"/>
                        <a:cs typeface="Arial" charset="0"/>
                      </a:endParaRPr>
                    </a:p>
                  </a:txBody>
                  <a:tcPr marL="54864" marR="54864" marT="18288" marB="18288" anchor="ctr">
                    <a:lnL w="0" cap="flat" cmpd="sng" algn="ctr">
                      <a:noFill/>
                    </a:lnL>
                    <a:lnR w="0" cap="flat" cmpd="sng" algn="ctr">
                      <a:noFill/>
                    </a:lnR>
                    <a:lnT w="0" cap="flat" cmpd="sng" algn="ctr">
                      <a:noFill/>
                    </a:lnT>
                    <a:lnB w="6350" cap="flat" cmpd="sng" algn="ctr">
                      <a:solidFill>
                        <a:srgbClr val="F8E8E2"/>
                      </a:solidFill>
                      <a:prstDash val="solid"/>
                      <a:round/>
                      <a:headEnd type="none" w="med" len="med"/>
                      <a:tailEnd type="none" w="med" len="med"/>
                    </a:lnB>
                    <a:solidFill>
                      <a:srgbClr val="FFFFFF"/>
                    </a:solidFill>
                  </a:tcPr>
                </a:tc>
              </a:tr>
              <a:tr h="292608">
                <a:tc>
                  <a:txBody>
                    <a:bodyPr/>
                    <a:lstStyle/>
                    <a:p>
                      <a:pPr algn="l" indent="0" marL="0">
                        <a:buNone/>
                      </a:pPr>
                      <a:r>
                        <a:rPr lang="en-US" sz="1100" dirty="0">
                          <a:solidFill>
                            <a:srgbClr val="1A1A1A"/>
                          </a:solidFill>
                          <a:latin typeface="Arial" pitchFamily="34" charset="0"/>
                          <a:ea typeface="Arial" pitchFamily="34" charset="-122"/>
                          <a:cs typeface="Arial" pitchFamily="34" charset="-120"/>
                        </a:rPr>
                        <a:t>516 Tallow Ct</a:t>
                      </a:r>
                      <a:endParaRPr lang="en-US" sz="1100" dirty="0">
                        <a:latin typeface="Arial" charset="0"/>
                        <a:ea typeface="Arial" charset="0"/>
                        <a:cs typeface="Arial" charset="0"/>
                      </a:endParaRPr>
                    </a:p>
                  </a:txBody>
                  <a:tcPr marL="54864" marR="54864" marT="18288" marB="18288" anchor="ctr">
                    <a:lnL w="0" cap="flat" cmpd="sng" algn="ctr">
                      <a:noFill/>
                    </a:lnL>
                    <a:lnR w="0" cap="flat" cmpd="sng" algn="ctr">
                      <a:noFill/>
                    </a:lnR>
                    <a:lnT w="0" cap="flat" cmpd="sng" algn="ctr">
                      <a:noFill/>
                    </a:lnT>
                    <a:lnB w="6350" cap="flat" cmpd="sng" algn="ctr">
                      <a:solidFill>
                        <a:srgbClr val="F8E8E2"/>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A1A1A"/>
                          </a:solidFill>
                          <a:latin typeface="Arial" pitchFamily="34" charset="0"/>
                          <a:ea typeface="Arial" pitchFamily="34" charset="-122"/>
                          <a:cs typeface="Arial" pitchFamily="34" charset="-120"/>
                        </a:rPr>
                        <a:t>$495,000</a:t>
                      </a:r>
                      <a:endParaRPr lang="en-US" sz="1100" dirty="0">
                        <a:latin typeface="Arial" charset="0"/>
                        <a:ea typeface="Arial" charset="0"/>
                        <a:cs typeface="Arial" charset="0"/>
                      </a:endParaRPr>
                    </a:p>
                  </a:txBody>
                  <a:tcPr marL="54864" marR="54864" marT="18288" marB="18288" anchor="ctr">
                    <a:lnL w="0" cap="flat" cmpd="sng" algn="ctr">
                      <a:noFill/>
                    </a:lnL>
                    <a:lnR w="0" cap="flat" cmpd="sng" algn="ctr">
                      <a:noFill/>
                    </a:lnR>
                    <a:lnT w="0" cap="flat" cmpd="sng" algn="ctr">
                      <a:noFill/>
                    </a:lnT>
                    <a:lnB w="6350" cap="flat" cmpd="sng" algn="ctr">
                      <a:solidFill>
                        <a:srgbClr val="F8E8E2"/>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A1A1A"/>
                          </a:solidFill>
                          <a:latin typeface="Arial" pitchFamily="34" charset="0"/>
                          <a:ea typeface="Arial" pitchFamily="34" charset="-122"/>
                          <a:cs typeface="Arial" pitchFamily="34" charset="-120"/>
                        </a:rPr>
                        <a:t>$0</a:t>
                      </a:r>
                      <a:endParaRPr lang="en-US" sz="1100" dirty="0">
                        <a:latin typeface="Arial" charset="0"/>
                        <a:ea typeface="Arial" charset="0"/>
                        <a:cs typeface="Arial" charset="0"/>
                      </a:endParaRPr>
                    </a:p>
                  </a:txBody>
                  <a:tcPr marL="54864" marR="54864" marT="18288" marB="18288" anchor="ctr">
                    <a:lnL w="0" cap="flat" cmpd="sng" algn="ctr">
                      <a:noFill/>
                    </a:lnL>
                    <a:lnR w="0" cap="flat" cmpd="sng" algn="ctr">
                      <a:noFill/>
                    </a:lnR>
                    <a:lnT w="0" cap="flat" cmpd="sng" algn="ctr">
                      <a:noFill/>
                    </a:lnT>
                    <a:lnB w="6350" cap="flat" cmpd="sng" algn="ctr">
                      <a:solidFill>
                        <a:srgbClr val="F8E8E2"/>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A1A1A"/>
                          </a:solidFill>
                          <a:latin typeface="Arial" pitchFamily="34" charset="0"/>
                          <a:ea typeface="Arial" pitchFamily="34" charset="-122"/>
                          <a:cs typeface="Arial" pitchFamily="34" charset="-120"/>
                        </a:rPr>
                        <a:t>$479,300</a:t>
                      </a:r>
                      <a:endParaRPr lang="en-US" sz="1100" dirty="0">
                        <a:latin typeface="Arial" charset="0"/>
                        <a:ea typeface="Arial" charset="0"/>
                        <a:cs typeface="Arial" charset="0"/>
                      </a:endParaRPr>
                    </a:p>
                  </a:txBody>
                  <a:tcPr marL="54864" marR="54864" marT="18288" marB="18288" anchor="ctr">
                    <a:lnL w="0" cap="flat" cmpd="sng" algn="ctr">
                      <a:noFill/>
                    </a:lnL>
                    <a:lnR w="0" cap="flat" cmpd="sng" algn="ctr">
                      <a:noFill/>
                    </a:lnR>
                    <a:lnT w="0" cap="flat" cmpd="sng" algn="ctr">
                      <a:noFill/>
                    </a:lnT>
                    <a:lnB w="6350" cap="flat" cmpd="sng" algn="ctr">
                      <a:solidFill>
                        <a:srgbClr val="F8E8E2"/>
                      </a:solidFill>
                      <a:prstDash val="solid"/>
                      <a:round/>
                      <a:headEnd type="none" w="med" len="med"/>
                      <a:tailEnd type="none" w="med" len="med"/>
                    </a:lnB>
                    <a:solidFill>
                      <a:srgbClr val="FFFFFF"/>
                    </a:solidFill>
                  </a:tcPr>
                </a:tc>
              </a:tr>
              <a:tr h="292608">
                <a:tc>
                  <a:txBody>
                    <a:bodyPr/>
                    <a:lstStyle/>
                    <a:p>
                      <a:pPr algn="l" indent="0" marL="0">
                        <a:buNone/>
                      </a:pPr>
                      <a:r>
                        <a:rPr lang="en-US" sz="1100" dirty="0">
                          <a:solidFill>
                            <a:srgbClr val="1A1A1A"/>
                          </a:solidFill>
                          <a:latin typeface="Arial" pitchFamily="34" charset="0"/>
                          <a:ea typeface="Arial" pitchFamily="34" charset="-122"/>
                          <a:cs typeface="Arial" pitchFamily="34" charset="-120"/>
                        </a:rPr>
                        <a:t>745 Little Heron Cir</a:t>
                      </a:r>
                      <a:endParaRPr lang="en-US" sz="1100" dirty="0">
                        <a:latin typeface="Arial" charset="0"/>
                        <a:ea typeface="Arial" charset="0"/>
                        <a:cs typeface="Arial" charset="0"/>
                      </a:endParaRPr>
                    </a:p>
                  </a:txBody>
                  <a:tcPr marL="54864" marR="54864" marT="18288" marB="18288" anchor="ctr">
                    <a:lnL w="0" cap="flat" cmpd="sng" algn="ctr">
                      <a:noFill/>
                    </a:lnL>
                    <a:lnR w="0" cap="flat" cmpd="sng" algn="ctr">
                      <a:noFill/>
                    </a:lnR>
                    <a:lnT w="0" cap="flat" cmpd="sng" algn="ctr">
                      <a:noFill/>
                    </a:lnT>
                    <a:lnB w="6350" cap="flat" cmpd="sng" algn="ctr">
                      <a:solidFill>
                        <a:srgbClr val="F8E8E2"/>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A1A1A"/>
                          </a:solidFill>
                          <a:latin typeface="Arial" pitchFamily="34" charset="0"/>
                          <a:ea typeface="Arial" pitchFamily="34" charset="-122"/>
                          <a:cs typeface="Arial" pitchFamily="34" charset="-120"/>
                        </a:rPr>
                        <a:t>$427,000</a:t>
                      </a:r>
                      <a:endParaRPr lang="en-US" sz="1100" dirty="0">
                        <a:latin typeface="Arial" charset="0"/>
                        <a:ea typeface="Arial" charset="0"/>
                        <a:cs typeface="Arial" charset="0"/>
                      </a:endParaRPr>
                    </a:p>
                  </a:txBody>
                  <a:tcPr marL="54864" marR="54864" marT="18288" marB="18288" anchor="ctr">
                    <a:lnL w="0" cap="flat" cmpd="sng" algn="ctr">
                      <a:noFill/>
                    </a:lnL>
                    <a:lnR w="0" cap="flat" cmpd="sng" algn="ctr">
                      <a:noFill/>
                    </a:lnR>
                    <a:lnT w="0" cap="flat" cmpd="sng" algn="ctr">
                      <a:noFill/>
                    </a:lnT>
                    <a:lnB w="6350" cap="flat" cmpd="sng" algn="ctr">
                      <a:solidFill>
                        <a:srgbClr val="F8E8E2"/>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A1A1A"/>
                          </a:solidFill>
                          <a:latin typeface="Arial" pitchFamily="34" charset="0"/>
                          <a:ea typeface="Arial" pitchFamily="34" charset="-122"/>
                          <a:cs typeface="Arial" pitchFamily="34" charset="-120"/>
                        </a:rPr>
                        <a:t>$500</a:t>
                      </a:r>
                      <a:endParaRPr lang="en-US" sz="1100" dirty="0">
                        <a:latin typeface="Arial" charset="0"/>
                        <a:ea typeface="Arial" charset="0"/>
                        <a:cs typeface="Arial" charset="0"/>
                      </a:endParaRPr>
                    </a:p>
                  </a:txBody>
                  <a:tcPr marL="54864" marR="54864" marT="18288" marB="18288" anchor="ctr">
                    <a:lnL w="0" cap="flat" cmpd="sng" algn="ctr">
                      <a:noFill/>
                    </a:lnL>
                    <a:lnR w="0" cap="flat" cmpd="sng" algn="ctr">
                      <a:noFill/>
                    </a:lnR>
                    <a:lnT w="0" cap="flat" cmpd="sng" algn="ctr">
                      <a:noFill/>
                    </a:lnT>
                    <a:lnB w="6350" cap="flat" cmpd="sng" algn="ctr">
                      <a:solidFill>
                        <a:srgbClr val="F8E8E2"/>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A1A1A"/>
                          </a:solidFill>
                          <a:latin typeface="Arial" pitchFamily="34" charset="0"/>
                          <a:ea typeface="Arial" pitchFamily="34" charset="-122"/>
                          <a:cs typeface="Arial" pitchFamily="34" charset="-120"/>
                        </a:rPr>
                        <a:t>$469,900</a:t>
                      </a:r>
                      <a:endParaRPr lang="en-US" sz="1100" dirty="0">
                        <a:latin typeface="Arial" charset="0"/>
                        <a:ea typeface="Arial" charset="0"/>
                        <a:cs typeface="Arial" charset="0"/>
                      </a:endParaRPr>
                    </a:p>
                  </a:txBody>
                  <a:tcPr marL="54864" marR="54864" marT="18288" marB="18288" anchor="ctr">
                    <a:lnL w="0" cap="flat" cmpd="sng" algn="ctr">
                      <a:noFill/>
                    </a:lnL>
                    <a:lnR w="0" cap="flat" cmpd="sng" algn="ctr">
                      <a:noFill/>
                    </a:lnR>
                    <a:lnT w="0" cap="flat" cmpd="sng" algn="ctr">
                      <a:noFill/>
                    </a:lnT>
                    <a:lnB w="6350" cap="flat" cmpd="sng" algn="ctr">
                      <a:solidFill>
                        <a:srgbClr val="F8E8E2"/>
                      </a:solidFill>
                      <a:prstDash val="solid"/>
                      <a:round/>
                      <a:headEnd type="none" w="med" len="med"/>
                      <a:tailEnd type="none" w="med" len="med"/>
                    </a:lnB>
                    <a:solidFill>
                      <a:srgbClr val="FFFFFF"/>
                    </a:solidFill>
                  </a:tcPr>
                </a:tc>
              </a:tr>
              <a:tr h="292608">
                <a:tc>
                  <a:txBody>
                    <a:bodyPr/>
                    <a:lstStyle/>
                    <a:p>
                      <a:pPr algn="l" indent="0" marL="0">
                        <a:buNone/>
                      </a:pPr>
                      <a:r>
                        <a:rPr lang="en-US" sz="1100" dirty="0">
                          <a:solidFill>
                            <a:srgbClr val="1A1A1A"/>
                          </a:solidFill>
                          <a:latin typeface="Arial" pitchFamily="34" charset="0"/>
                          <a:ea typeface="Arial" pitchFamily="34" charset="-122"/>
                          <a:cs typeface="Arial" pitchFamily="34" charset="-120"/>
                        </a:rPr>
                        <a:t>602 Thrasher Ln</a:t>
                      </a:r>
                      <a:endParaRPr lang="en-US" sz="1100" dirty="0">
                        <a:latin typeface="Arial" charset="0"/>
                        <a:ea typeface="Arial" charset="0"/>
                        <a:cs typeface="Arial" charset="0"/>
                      </a:endParaRPr>
                    </a:p>
                  </a:txBody>
                  <a:tcPr marL="54864" marR="54864" marT="18288" marB="18288" anchor="ctr">
                    <a:lnL w="0" cap="flat" cmpd="sng" algn="ctr">
                      <a:noFill/>
                    </a:lnL>
                    <a:lnR w="0" cap="flat" cmpd="sng" algn="ctr">
                      <a:noFill/>
                    </a:lnR>
                    <a:lnT w="0" cap="flat" cmpd="sng" algn="ctr">
                      <a:noFill/>
                    </a:lnT>
                    <a:lnB w="6350" cap="flat" cmpd="sng" algn="ctr">
                      <a:solidFill>
                        <a:srgbClr val="F8E8E2"/>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A1A1A"/>
                          </a:solidFill>
                          <a:latin typeface="Arial" pitchFamily="34" charset="0"/>
                          <a:ea typeface="Arial" pitchFamily="34" charset="-122"/>
                          <a:cs typeface="Arial" pitchFamily="34" charset="-120"/>
                        </a:rPr>
                        <a:t>$429,000</a:t>
                      </a:r>
                      <a:endParaRPr lang="en-US" sz="1100" dirty="0">
                        <a:latin typeface="Arial" charset="0"/>
                        <a:ea typeface="Arial" charset="0"/>
                        <a:cs typeface="Arial" charset="0"/>
                      </a:endParaRPr>
                    </a:p>
                  </a:txBody>
                  <a:tcPr marL="54864" marR="54864" marT="18288" marB="18288" anchor="ctr">
                    <a:lnL w="0" cap="flat" cmpd="sng" algn="ctr">
                      <a:noFill/>
                    </a:lnL>
                    <a:lnR w="0" cap="flat" cmpd="sng" algn="ctr">
                      <a:noFill/>
                    </a:lnR>
                    <a:lnT w="0" cap="flat" cmpd="sng" algn="ctr">
                      <a:noFill/>
                    </a:lnT>
                    <a:lnB w="6350" cap="flat" cmpd="sng" algn="ctr">
                      <a:solidFill>
                        <a:srgbClr val="F8E8E2"/>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A1A1A"/>
                          </a:solidFill>
                          <a:latin typeface="Arial" pitchFamily="34" charset="0"/>
                          <a:ea typeface="Arial" pitchFamily="34" charset="-122"/>
                          <a:cs typeface="Arial" pitchFamily="34" charset="-120"/>
                        </a:rPr>
                        <a:t>$12,000</a:t>
                      </a:r>
                      <a:endParaRPr lang="en-US" sz="1100" dirty="0">
                        <a:latin typeface="Arial" charset="0"/>
                        <a:ea typeface="Arial" charset="0"/>
                        <a:cs typeface="Arial" charset="0"/>
                      </a:endParaRPr>
                    </a:p>
                  </a:txBody>
                  <a:tcPr marL="54864" marR="54864" marT="18288" marB="18288" anchor="ctr">
                    <a:lnL w="0" cap="flat" cmpd="sng" algn="ctr">
                      <a:noFill/>
                    </a:lnL>
                    <a:lnR w="0" cap="flat" cmpd="sng" algn="ctr">
                      <a:noFill/>
                    </a:lnR>
                    <a:lnT w="0" cap="flat" cmpd="sng" algn="ctr">
                      <a:noFill/>
                    </a:lnT>
                    <a:lnB w="6350" cap="flat" cmpd="sng" algn="ctr">
                      <a:solidFill>
                        <a:srgbClr val="F8E8E2"/>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A1A1A"/>
                          </a:solidFill>
                          <a:latin typeface="Arial" pitchFamily="34" charset="0"/>
                          <a:ea typeface="Arial" pitchFamily="34" charset="-122"/>
                          <a:cs typeface="Arial" pitchFamily="34" charset="-120"/>
                        </a:rPr>
                        <a:t>$433,500</a:t>
                      </a:r>
                      <a:endParaRPr lang="en-US" sz="1100" dirty="0">
                        <a:latin typeface="Arial" charset="0"/>
                        <a:ea typeface="Arial" charset="0"/>
                        <a:cs typeface="Arial" charset="0"/>
                      </a:endParaRPr>
                    </a:p>
                  </a:txBody>
                  <a:tcPr marL="54864" marR="54864" marT="18288" marB="18288" anchor="ctr">
                    <a:lnL w="0" cap="flat" cmpd="sng" algn="ctr">
                      <a:noFill/>
                    </a:lnL>
                    <a:lnR w="0" cap="flat" cmpd="sng" algn="ctr">
                      <a:noFill/>
                    </a:lnR>
                    <a:lnT w="0" cap="flat" cmpd="sng" algn="ctr">
                      <a:noFill/>
                    </a:lnT>
                    <a:lnB w="6350" cap="flat" cmpd="sng" algn="ctr">
                      <a:solidFill>
                        <a:srgbClr val="F8E8E2"/>
                      </a:solidFill>
                      <a:prstDash val="solid"/>
                      <a:round/>
                      <a:headEnd type="none" w="med" len="med"/>
                      <a:tailEnd type="none" w="med" len="med"/>
                    </a:lnB>
                    <a:solidFill>
                      <a:srgbClr val="FFFFFF"/>
                    </a:solidFill>
                  </a:tcPr>
                </a:tc>
              </a:tr>
              <a:tr h="292608">
                <a:tc>
                  <a:txBody>
                    <a:bodyPr/>
                    <a:lstStyle/>
                    <a:p>
                      <a:pPr algn="l" indent="0" marL="0">
                        <a:buNone/>
                      </a:pPr>
                      <a:r>
                        <a:rPr lang="en-US" sz="1100" dirty="0">
                          <a:solidFill>
                            <a:srgbClr val="1A1A1A"/>
                          </a:solidFill>
                          <a:latin typeface="Arial" pitchFamily="34" charset="0"/>
                          <a:ea typeface="Arial" pitchFamily="34" charset="-122"/>
                          <a:cs typeface="Arial" pitchFamily="34" charset="-120"/>
                        </a:rPr>
                        <a:t>621 Little Heron Rd</a:t>
                      </a:r>
                      <a:endParaRPr lang="en-US" sz="1100" dirty="0">
                        <a:latin typeface="Arial" charset="0"/>
                        <a:ea typeface="Arial" charset="0"/>
                        <a:cs typeface="Arial" charset="0"/>
                      </a:endParaRPr>
                    </a:p>
                  </a:txBody>
                  <a:tcPr marL="54864" marR="54864" marT="18288" marB="18288" anchor="ctr">
                    <a:lnL w="0" cap="flat" cmpd="sng" algn="ctr">
                      <a:noFill/>
                    </a:lnL>
                    <a:lnR w="0" cap="flat" cmpd="sng" algn="ctr">
                      <a:noFill/>
                    </a:lnR>
                    <a:lnT w="0" cap="flat" cmpd="sng" algn="ctr">
                      <a:noFill/>
                    </a:lnT>
                    <a:lnB w="6350" cap="flat" cmpd="sng" algn="ctr">
                      <a:solidFill>
                        <a:srgbClr val="F8E8E2"/>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A1A1A"/>
                          </a:solidFill>
                          <a:latin typeface="Arial" pitchFamily="34" charset="0"/>
                          <a:ea typeface="Arial" pitchFamily="34" charset="-122"/>
                          <a:cs typeface="Arial" pitchFamily="34" charset="-120"/>
                        </a:rPr>
                        <a:t>$465,000</a:t>
                      </a:r>
                      <a:endParaRPr lang="en-US" sz="1100" dirty="0">
                        <a:latin typeface="Arial" charset="0"/>
                        <a:ea typeface="Arial" charset="0"/>
                        <a:cs typeface="Arial" charset="0"/>
                      </a:endParaRPr>
                    </a:p>
                  </a:txBody>
                  <a:tcPr marL="54864" marR="54864" marT="18288" marB="18288" anchor="ctr">
                    <a:lnL w="0" cap="flat" cmpd="sng" algn="ctr">
                      <a:noFill/>
                    </a:lnL>
                    <a:lnR w="0" cap="flat" cmpd="sng" algn="ctr">
                      <a:noFill/>
                    </a:lnR>
                    <a:lnT w="0" cap="flat" cmpd="sng" algn="ctr">
                      <a:noFill/>
                    </a:lnT>
                    <a:lnB w="6350" cap="flat" cmpd="sng" algn="ctr">
                      <a:solidFill>
                        <a:srgbClr val="F8E8E2"/>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A1A1A"/>
                          </a:solidFill>
                          <a:latin typeface="Arial" pitchFamily="34" charset="0"/>
                          <a:ea typeface="Arial" pitchFamily="34" charset="-122"/>
                          <a:cs typeface="Arial" pitchFamily="34" charset="-120"/>
                        </a:rPr>
                        <a:t>$13,071</a:t>
                      </a:r>
                      <a:endParaRPr lang="en-US" sz="1100" dirty="0">
                        <a:latin typeface="Arial" charset="0"/>
                        <a:ea typeface="Arial" charset="0"/>
                        <a:cs typeface="Arial" charset="0"/>
                      </a:endParaRPr>
                    </a:p>
                  </a:txBody>
                  <a:tcPr marL="54864" marR="54864" marT="18288" marB="18288" anchor="ctr">
                    <a:lnL w="0" cap="flat" cmpd="sng" algn="ctr">
                      <a:noFill/>
                    </a:lnL>
                    <a:lnR w="0" cap="flat" cmpd="sng" algn="ctr">
                      <a:noFill/>
                    </a:lnR>
                    <a:lnT w="0" cap="flat" cmpd="sng" algn="ctr">
                      <a:noFill/>
                    </a:lnT>
                    <a:lnB w="6350" cap="flat" cmpd="sng" algn="ctr">
                      <a:solidFill>
                        <a:srgbClr val="F8E8E2"/>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A1A1A"/>
                          </a:solidFill>
                          <a:latin typeface="Arial" pitchFamily="34" charset="0"/>
                          <a:ea typeface="Arial" pitchFamily="34" charset="-122"/>
                          <a:cs typeface="Arial" pitchFamily="34" charset="-120"/>
                        </a:rPr>
                        <a:t>$431,200</a:t>
                      </a:r>
                      <a:endParaRPr lang="en-US" sz="1100" dirty="0">
                        <a:latin typeface="Arial" charset="0"/>
                        <a:ea typeface="Arial" charset="0"/>
                        <a:cs typeface="Arial" charset="0"/>
                      </a:endParaRPr>
                    </a:p>
                  </a:txBody>
                  <a:tcPr marL="54864" marR="54864" marT="18288" marB="18288" anchor="ctr">
                    <a:lnL w="0" cap="flat" cmpd="sng" algn="ctr">
                      <a:noFill/>
                    </a:lnL>
                    <a:lnR w="0" cap="flat" cmpd="sng" algn="ctr">
                      <a:noFill/>
                    </a:lnR>
                    <a:lnT w="0" cap="flat" cmpd="sng" algn="ctr">
                      <a:noFill/>
                    </a:lnT>
                    <a:lnB w="6350" cap="flat" cmpd="sng" algn="ctr">
                      <a:solidFill>
                        <a:srgbClr val="F8E8E2"/>
                      </a:solidFill>
                      <a:prstDash val="solid"/>
                      <a:round/>
                      <a:headEnd type="none" w="med" len="med"/>
                      <a:tailEnd type="none" w="med" len="med"/>
                    </a:lnB>
                    <a:solidFill>
                      <a:srgbClr val="FFFFFF"/>
                    </a:solidFill>
                  </a:tcPr>
                </a:tc>
              </a:tr>
              <a:tr h="292608">
                <a:tc>
                  <a:txBody>
                    <a:bodyPr/>
                    <a:lstStyle/>
                    <a:p>
                      <a:pPr algn="l" indent="0" marL="0">
                        <a:buNone/>
                      </a:pPr>
                      <a:r>
                        <a:rPr lang="en-US" sz="1100" b="1" dirty="0">
                          <a:solidFill>
                            <a:srgbClr val="1A1A1A"/>
                          </a:solidFill>
                          <a:latin typeface="Arial" pitchFamily="34" charset="0"/>
                          <a:ea typeface="Arial" pitchFamily="34" charset="-122"/>
                          <a:cs typeface="Arial" pitchFamily="34" charset="-120"/>
                        </a:rPr>
                        <a:t>Your Home (Recommended List)</a:t>
                      </a:r>
                      <a:endParaRPr lang="en-US" sz="1100" dirty="0">
                        <a:latin typeface="Arial" charset="0"/>
                        <a:ea typeface="Arial" charset="0"/>
                        <a:cs typeface="Arial" charset="0"/>
                      </a:endParaRPr>
                    </a:p>
                  </a:txBody>
                  <a:tcPr marL="54864" marR="54864" marT="18288" marB="18288" anchor="ctr">
                    <a:lnL w="0" cap="flat" cmpd="sng" algn="ctr">
                      <a:noFill/>
                    </a:lnL>
                    <a:lnR w="0" cap="flat" cmpd="sng" algn="ctr">
                      <a:noFill/>
                    </a:lnR>
                    <a:lnT w="15875" cap="flat" cmpd="sng" algn="ctr">
                      <a:solidFill>
                        <a:srgbClr val="C2410C"/>
                      </a:solidFill>
                      <a:prstDash val="solid"/>
                      <a:round/>
                      <a:headEnd type="none" w="med" len="med"/>
                      <a:tailEnd type="none" w="med" len="med"/>
                    </a:lnT>
                    <a:lnB w="6350" cap="flat" cmpd="sng" algn="ctr">
                      <a:solidFill>
                        <a:srgbClr val="F8E8E2"/>
                      </a:solidFill>
                      <a:prstDash val="solid"/>
                      <a:round/>
                      <a:headEnd type="none" w="med" len="med"/>
                      <a:tailEnd type="none" w="med" len="med"/>
                    </a:lnB>
                    <a:solidFill>
                      <a:srgbClr val="FFFFFF"/>
                    </a:solidFill>
                  </a:tcPr>
                </a:tc>
                <a:tc>
                  <a:txBody>
                    <a:bodyPr/>
                    <a:lstStyle/>
                    <a:p>
                      <a:pPr algn="r" indent="0" marL="0">
                        <a:buNone/>
                      </a:pPr>
                      <a:r>
                        <a:rPr lang="en-US" sz="1100" b="1" dirty="0">
                          <a:solidFill>
                            <a:srgbClr val="1A1A1A"/>
                          </a:solidFill>
                          <a:latin typeface="Arial" pitchFamily="34" charset="0"/>
                          <a:ea typeface="Arial" pitchFamily="34" charset="-122"/>
                          <a:cs typeface="Arial" pitchFamily="34" charset="-120"/>
                        </a:rPr>
                        <a:t>$470,000</a:t>
                      </a:r>
                      <a:endParaRPr lang="en-US" sz="1100" dirty="0">
                        <a:latin typeface="Arial" charset="0"/>
                        <a:ea typeface="Arial" charset="0"/>
                        <a:cs typeface="Arial" charset="0"/>
                      </a:endParaRPr>
                    </a:p>
                  </a:txBody>
                  <a:tcPr marL="54864" marR="54864" marT="18288" marB="18288" anchor="ctr">
                    <a:lnL w="0" cap="flat" cmpd="sng" algn="ctr">
                      <a:noFill/>
                    </a:lnL>
                    <a:lnR w="0" cap="flat" cmpd="sng" algn="ctr">
                      <a:noFill/>
                    </a:lnR>
                    <a:lnT w="15875" cap="flat" cmpd="sng" algn="ctr">
                      <a:solidFill>
                        <a:srgbClr val="C2410C"/>
                      </a:solidFill>
                      <a:prstDash val="solid"/>
                      <a:round/>
                      <a:headEnd type="none" w="med" len="med"/>
                      <a:tailEnd type="none" w="med" len="med"/>
                    </a:lnT>
                    <a:lnB w="6350" cap="flat" cmpd="sng" algn="ctr">
                      <a:solidFill>
                        <a:srgbClr val="F8E8E2"/>
                      </a:solidFill>
                      <a:prstDash val="solid"/>
                      <a:round/>
                      <a:headEnd type="none" w="med" len="med"/>
                      <a:tailEnd type="none" w="med" len="med"/>
                    </a:lnB>
                    <a:solidFill>
                      <a:srgbClr val="FFFFFF"/>
                    </a:solidFill>
                  </a:tcPr>
                </a:tc>
                <a:tc>
                  <a:txBody>
                    <a:bodyPr/>
                    <a:lstStyle/>
                    <a:p>
                      <a:pPr algn="r" indent="0" marL="0">
                        <a:buNone/>
                      </a:pPr>
                      <a:r>
                        <a:rPr lang="en-US" sz="1100" b="1" dirty="0">
                          <a:solidFill>
                            <a:srgbClr val="1A1A1A"/>
                          </a:solidFill>
                          <a:latin typeface="Arial" pitchFamily="34" charset="0"/>
                          <a:ea typeface="Arial" pitchFamily="34" charset="-122"/>
                          <a:cs typeface="Arial" pitchFamily="34" charset="-120"/>
                        </a:rPr>
                        <a:t>—</a:t>
                      </a:r>
                      <a:endParaRPr lang="en-US" sz="1100" dirty="0">
                        <a:latin typeface="Arial" charset="0"/>
                        <a:ea typeface="Arial" charset="0"/>
                        <a:cs typeface="Arial" charset="0"/>
                      </a:endParaRPr>
                    </a:p>
                  </a:txBody>
                  <a:tcPr marL="54864" marR="54864" marT="18288" marB="18288" anchor="ctr">
                    <a:lnL w="0" cap="flat" cmpd="sng" algn="ctr">
                      <a:noFill/>
                    </a:lnL>
                    <a:lnR w="0" cap="flat" cmpd="sng" algn="ctr">
                      <a:noFill/>
                    </a:lnR>
                    <a:lnT w="15875" cap="flat" cmpd="sng" algn="ctr">
                      <a:solidFill>
                        <a:srgbClr val="C2410C"/>
                      </a:solidFill>
                      <a:prstDash val="solid"/>
                      <a:round/>
                      <a:headEnd type="none" w="med" len="med"/>
                      <a:tailEnd type="none" w="med" len="med"/>
                    </a:lnT>
                    <a:lnB w="6350" cap="flat" cmpd="sng" algn="ctr">
                      <a:solidFill>
                        <a:srgbClr val="F8E8E2"/>
                      </a:solidFill>
                      <a:prstDash val="solid"/>
                      <a:round/>
                      <a:headEnd type="none" w="med" len="med"/>
                      <a:tailEnd type="none" w="med" len="med"/>
                    </a:lnB>
                    <a:solidFill>
                      <a:srgbClr val="FFFFFF"/>
                    </a:solidFill>
                  </a:tcPr>
                </a:tc>
                <a:tc>
                  <a:txBody>
                    <a:bodyPr/>
                    <a:lstStyle/>
                    <a:p>
                      <a:pPr algn="r" indent="0" marL="0">
                        <a:buNone/>
                      </a:pPr>
                      <a:r>
                        <a:rPr lang="en-US" sz="1100" b="1" dirty="0">
                          <a:solidFill>
                            <a:srgbClr val="1A1A1A"/>
                          </a:solidFill>
                          <a:latin typeface="Arial" pitchFamily="34" charset="0"/>
                          <a:ea typeface="Arial" pitchFamily="34" charset="-122"/>
                          <a:cs typeface="Arial" pitchFamily="34" charset="-120"/>
                        </a:rPr>
                        <a:t>Range $455K–$480K</a:t>
                      </a:r>
                      <a:endParaRPr lang="en-US" sz="1100" dirty="0">
                        <a:latin typeface="Arial" charset="0"/>
                        <a:ea typeface="Arial" charset="0"/>
                        <a:cs typeface="Arial" charset="0"/>
                      </a:endParaRPr>
                    </a:p>
                  </a:txBody>
                  <a:tcPr marL="54864" marR="54864" marT="18288" marB="18288" anchor="ctr">
                    <a:lnL w="0" cap="flat" cmpd="sng" algn="ctr">
                      <a:noFill/>
                    </a:lnL>
                    <a:lnR w="0" cap="flat" cmpd="sng" algn="ctr">
                      <a:noFill/>
                    </a:lnR>
                    <a:lnT w="15875" cap="flat" cmpd="sng" algn="ctr">
                      <a:solidFill>
                        <a:srgbClr val="C2410C"/>
                      </a:solidFill>
                      <a:prstDash val="solid"/>
                      <a:round/>
                      <a:headEnd type="none" w="med" len="med"/>
                      <a:tailEnd type="none" w="med" len="med"/>
                    </a:lnT>
                    <a:lnB w="6350" cap="flat" cmpd="sng" algn="ctr">
                      <a:solidFill>
                        <a:srgbClr val="F8E8E2"/>
                      </a:solidFill>
                      <a:prstDash val="solid"/>
                      <a:round/>
                      <a:headEnd type="none" w="med" len="med"/>
                      <a:tailEnd type="none" w="med" len="med"/>
                    </a:lnB>
                    <a:solidFill>
                      <a:srgbClr val="FFFFFF"/>
                    </a:solidFill>
                  </a:tcPr>
                </a:tc>
              </a:tr>
            </a:tbl>
          </a:graphicData>
        </a:graphic>
      </p:graphicFrame>
      <p:sp>
        <p:nvSpPr>
          <p:cNvPr id="4" name="Text 1"/>
          <p:cNvSpPr txBox="1"/>
          <p:nvPr/>
        </p:nvSpPr>
        <p:spPr>
          <a:xfrm>
            <a:off x="457200" y="3191256"/>
            <a:ext cx="8229600" cy="1513332"/>
          </a:xfrm>
          <a:prstGeom prst="rect">
            <a:avLst/>
          </a:prstGeom>
          <a:noFill/>
          <a:ln/>
        </p:spPr>
        <p:txBody>
          <a:bodyPr wrap="square" lIns="0" tIns="0" rIns="0" bIns="0" rtlCol="0" anchor="t"/>
          <a:lstStyle/>
          <a:p>
            <a:pPr indent="0" marL="0">
              <a:buNone/>
            </a:pPr>
            <a:r>
              <a:rPr lang="en-US" sz="1000" dirty="0">
                <a:solidFill>
                  <a:srgbClr val="5E5E5E"/>
                </a:solidFill>
                <a:latin typeface="Arial" pitchFamily="34" charset="0"/>
                <a:ea typeface="Arial" pitchFamily="34" charset="-122"/>
                <a:cs typeface="Arial" pitchFamily="34" charset="-120"/>
              </a:rPr>
              <a:t>Sales data: Stellar MLS as of September 22, 2026. Deemed reliable but not guaranteed. This comparative market analysis is an opinion of price, not an appraisal, and isn't for lending purposes. Payment, tax and cost figures are estimates only, not lending or tax advice. Equal Housing Opportunity.</a:t>
            </a:r>
            <a:endParaRPr lang="en-US" sz="1000" dirty="0"/>
          </a:p>
        </p:txBody>
      </p:sp>
      <p:sp>
        <p:nvSpPr>
          <p:cNvPr id="6" name="Text 2"/>
          <p:cNvSpPr txBox="1"/>
          <p:nvPr/>
        </p:nvSpPr>
        <p:spPr>
          <a:xfrm>
            <a:off x="457200" y="4796028"/>
            <a:ext cx="6858000" cy="228600"/>
          </a:xfrm>
          <a:prstGeom prst="rect">
            <a:avLst/>
          </a:prstGeom>
          <a:noFill/>
          <a:ln/>
        </p:spPr>
        <p:txBody>
          <a:bodyPr wrap="square" lIns="0" tIns="0" rIns="0" bIns="0" rtlCol="0" anchor="ctr"/>
          <a:lstStyle/>
          <a:p>
            <a:pPr indent="0" marL="0">
              <a:buNone/>
            </a:pPr>
            <a:r>
              <a:rPr lang="en-US" sz="800" dirty="0">
                <a:solidFill>
                  <a:srgbClr val="5E5E5E"/>
                </a:solidFill>
                <a:latin typeface="Arial" pitchFamily="34" charset="0"/>
                <a:ea typeface="Arial" pitchFamily="34" charset="-122"/>
                <a:cs typeface="Arial" pitchFamily="34" charset="-120"/>
              </a:rPr>
              <a:t>SAMPLE DATA · 517 Larkwood Ave · Jordan Avery, REALTOR®, Sample Realty, LLC</a:t>
            </a:r>
            <a:endParaRPr lang="en-US" sz="800" dirty="0"/>
          </a:p>
        </p:txBody>
      </p:sp>
      <p:sp>
        <p:nvSpPr>
          <p:cNvPr id="7" name="Text 3"/>
          <p:cNvSpPr txBox="1"/>
          <p:nvPr/>
        </p:nvSpPr>
        <p:spPr>
          <a:xfrm>
            <a:off x="8229600" y="4796028"/>
            <a:ext cx="457200" cy="228600"/>
          </a:xfrm>
          <a:prstGeom prst="rect">
            <a:avLst/>
          </a:prstGeom>
          <a:noFill/>
          <a:ln/>
        </p:spPr>
        <p:txBody>
          <a:bodyPr wrap="square" lIns="0" tIns="0" rIns="0" bIns="0" rtlCol="0" anchor="ctr"/>
          <a:lstStyle/>
          <a:p>
            <a:pPr algn="r" indent="0" marL="0">
              <a:buNone/>
            </a:pPr>
            <a:r>
              <a:rPr lang="en-US" sz="800" dirty="0">
                <a:solidFill>
                  <a:srgbClr val="5E5E5E"/>
                </a:solidFill>
                <a:latin typeface="Arial" pitchFamily="34" charset="0"/>
                <a:ea typeface="Arial" pitchFamily="34" charset="-122"/>
                <a:cs typeface="Arial" pitchFamily="34" charset="-120"/>
              </a:rPr>
              <a:t>15</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Pricing 517 Larkwood Ave</dc:title>
  <dc:subject>PptxGenJS Presentation</dc:subject>
  <dc:creator>Jordan Avery, REALTOR®</dc:creator>
  <cp:lastModifiedBy>Jordan Avery, REALTOR®</cp:lastModifiedBy>
  <cp:revision>1</cp:revision>
  <dcterms:created xsi:type="dcterms:W3CDTF">2026-10-13T03:51:07Z</dcterms:created>
  <dcterms:modified xsi:type="dcterms:W3CDTF">2026-10-13T03:51:07Z</dcterms:modified>
</cp:coreProperties>
</file>