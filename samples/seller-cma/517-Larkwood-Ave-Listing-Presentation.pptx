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$474,900</c:v>
                  </c:pt>
                  <c:pt idx="1">
                    <c:v>Market Price at $469,900</c:v>
                  </c:pt>
                  <c:pt idx="2">
                    <c:v>Draw Offers at $459,900</c:v>
                  </c:pt>
                </c:lvl>
              </c:multiLvlStrCache>
            </c:multiLvlStrRef>
          </c:cat>
          <c:val>
            <c:numRef>
              <c:f>Sheet1!$B$2:$B$4</c:f>
              <c:numCache>
                <c:formatCode>General</c:formatCode>
                <c:ptCount val="3"/>
                <c:pt idx="0">
                  <c:v>424222</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At $474,900 we expect the recommended option's sale: a price above the recommended one usually sells after a cut, so it costs time rather than adding to the sale.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$469,900 list price and utilities; no loan interest, since no mortgage payoff was given) from the report date to each option's closing; property tax is in the proration.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tax bill and the expected closing date add it) and any repairs agreed after inspection. The closing agent provides the exact figures.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$1,800), lot ($5,000), market changes since each sale (1% a quarter off sales before July), roof and systems ($5,000), condition and updates ($30,000 to $45,000, against this home's full renovation), view or water ($10,000) and seller credits (taken off each sale price). These are the five closest matches, sold Apr 24, 2026 to Aug 20, 2026 (one since July), all within a 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$436K–$494K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$1,800), lot ($5,000), market changes since each sale (1% a quarter off sales before July), roof and systems ($5,000), condition and updates ($30,000 to $45,000, against this home's full renovation), view or water ($10,000)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463294"/>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463294"/>
            <a:ext cx="0" cy="2468880"/>
          </a:xfrm>
          <a:prstGeom prst="line">
            <a:avLst/>
          </a:prstGeom>
          <a:noFill/>
          <a:ln w="9525">
            <a:solidFill>
              <a:srgbClr val="F8E8E2"/>
            </a:solidFill>
            <a:prstDash val="solid"/>
          </a:ln>
        </p:spPr>
      </p:sp>
      <p:sp>
        <p:nvSpPr>
          <p:cNvPr id="6" name="Text 4"/>
          <p:cNvSpPr txBox="1"/>
          <p:nvPr/>
        </p:nvSpPr>
        <p:spPr>
          <a:xfrm>
            <a:off x="3520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463294"/>
            <a:ext cx="0" cy="2468880"/>
          </a:xfrm>
          <a:prstGeom prst="line">
            <a:avLst/>
          </a:prstGeom>
          <a:noFill/>
          <a:ln w="9525">
            <a:solidFill>
              <a:srgbClr val="F8E8E2"/>
            </a:solidFill>
            <a:prstDash val="solid"/>
          </a:ln>
        </p:spPr>
      </p:sp>
      <p:sp>
        <p:nvSpPr>
          <p:cNvPr id="8" name="Text 6"/>
          <p:cNvSpPr txBox="1"/>
          <p:nvPr/>
        </p:nvSpPr>
        <p:spPr>
          <a:xfrm>
            <a:off x="44348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463294"/>
            <a:ext cx="0" cy="2468880"/>
          </a:xfrm>
          <a:prstGeom prst="line">
            <a:avLst/>
          </a:prstGeom>
          <a:noFill/>
          <a:ln w="9525">
            <a:solidFill>
              <a:srgbClr val="F8E8E2"/>
            </a:solidFill>
            <a:prstDash val="solid"/>
          </a:ln>
        </p:spPr>
      </p:sp>
      <p:sp>
        <p:nvSpPr>
          <p:cNvPr id="10" name="Text 8"/>
          <p:cNvSpPr txBox="1"/>
          <p:nvPr/>
        </p:nvSpPr>
        <p:spPr>
          <a:xfrm>
            <a:off x="53492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463294"/>
            <a:ext cx="0" cy="2468880"/>
          </a:xfrm>
          <a:prstGeom prst="line">
            <a:avLst/>
          </a:prstGeom>
          <a:noFill/>
          <a:ln w="9525">
            <a:solidFill>
              <a:srgbClr val="F8E8E2"/>
            </a:solidFill>
            <a:prstDash val="solid"/>
          </a:ln>
        </p:spPr>
      </p:sp>
      <p:sp>
        <p:nvSpPr>
          <p:cNvPr id="12" name="Text 10"/>
          <p:cNvSpPr txBox="1"/>
          <p:nvPr/>
        </p:nvSpPr>
        <p:spPr>
          <a:xfrm>
            <a:off x="62636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463294"/>
            <a:ext cx="0" cy="2468880"/>
          </a:xfrm>
          <a:prstGeom prst="line">
            <a:avLst/>
          </a:prstGeom>
          <a:noFill/>
          <a:ln w="9525">
            <a:solidFill>
              <a:srgbClr val="F8E8E2"/>
            </a:solidFill>
            <a:prstDash val="solid"/>
          </a:ln>
        </p:spPr>
      </p:sp>
      <p:sp>
        <p:nvSpPr>
          <p:cNvPr id="14" name="Text 12"/>
          <p:cNvSpPr txBox="1"/>
          <p:nvPr/>
        </p:nvSpPr>
        <p:spPr>
          <a:xfrm>
            <a:off x="71780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463294"/>
            <a:ext cx="0" cy="2468880"/>
          </a:xfrm>
          <a:prstGeom prst="line">
            <a:avLst/>
          </a:prstGeom>
          <a:noFill/>
          <a:ln w="9525">
            <a:solidFill>
              <a:srgbClr val="F8E8E2"/>
            </a:solidFill>
            <a:prstDash val="solid"/>
          </a:ln>
        </p:spPr>
      </p:sp>
      <p:sp>
        <p:nvSpPr>
          <p:cNvPr id="16" name="Text 14"/>
          <p:cNvSpPr txBox="1"/>
          <p:nvPr/>
        </p:nvSpPr>
        <p:spPr>
          <a:xfrm>
            <a:off x="8092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326134"/>
            <a:ext cx="0" cy="2606040"/>
          </a:xfrm>
          <a:prstGeom prst="line">
            <a:avLst/>
          </a:prstGeom>
          <a:noFill/>
          <a:ln w="25400">
            <a:solidFill>
              <a:srgbClr val="1A1A1A"/>
            </a:solidFill>
            <a:prstDash val="dash"/>
          </a:ln>
        </p:spPr>
      </p:sp>
      <p:sp>
        <p:nvSpPr>
          <p:cNvPr id="18" name="Text 16"/>
          <p:cNvSpPr txBox="1"/>
          <p:nvPr/>
        </p:nvSpPr>
        <p:spPr>
          <a:xfrm>
            <a:off x="5207508" y="1097534"/>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5547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7559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21" name="Shape 19"/>
          <p:cNvSpPr/>
          <p:nvPr/>
        </p:nvSpPr>
        <p:spPr>
          <a:xfrm>
            <a:off x="7228332" y="1673606"/>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20356" y="16278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$494K</a:t>
            </a:r>
            <a:endParaRPr lang="en-US" sz="1000" dirty="0"/>
          </a:p>
        </p:txBody>
      </p:sp>
      <p:sp>
        <p:nvSpPr>
          <p:cNvPr id="23" name="Text 21"/>
          <p:cNvSpPr txBox="1"/>
          <p:nvPr/>
        </p:nvSpPr>
        <p:spPr>
          <a:xfrm>
            <a:off x="457200" y="20119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2131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era and size; systems documented</a:t>
            </a:r>
            <a:endParaRPr lang="en-US" sz="950" dirty="0"/>
          </a:p>
        </p:txBody>
      </p:sp>
      <p:sp>
        <p:nvSpPr>
          <p:cNvPr id="25" name="Shape 23"/>
          <p:cNvSpPr/>
          <p:nvPr/>
        </p:nvSpPr>
        <p:spPr>
          <a:xfrm>
            <a:off x="6775704" y="2130806"/>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67728" y="20850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4691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6703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Strongest match · Most recent pool sale; not renovated</a:t>
            </a:r>
            <a:endParaRPr lang="en-US" sz="950" dirty="0"/>
          </a:p>
        </p:txBody>
      </p:sp>
      <p:sp>
        <p:nvSpPr>
          <p:cNvPr id="29" name="Shape 27"/>
          <p:cNvSpPr/>
          <p:nvPr/>
        </p:nvSpPr>
        <p:spPr>
          <a:xfrm>
            <a:off x="6126480" y="2588006"/>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5422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9263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31275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73168" y="3045206"/>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65192" y="29994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$440K</a:t>
            </a:r>
            <a:endParaRPr lang="en-US" sz="1000" dirty="0"/>
          </a:p>
        </p:txBody>
      </p:sp>
      <p:sp>
        <p:nvSpPr>
          <p:cNvPr id="35" name="Text 33"/>
          <p:cNvSpPr txBox="1"/>
          <p:nvPr/>
        </p:nvSpPr>
        <p:spPr>
          <a:xfrm>
            <a:off x="457200" y="33835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5847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76572" y="3502406"/>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68596" y="34566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297934"/>
            <a:ext cx="8229600" cy="406654"/>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1A1A1A"/>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$474,900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$467,000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$9,139</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$474,900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$4,127/mo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$23,745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$83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$474,900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$469,900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$459,900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$424,222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tax bill and the expected closing date add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$493,900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$484,000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$440,200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$435,900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2026-10-05T21:35:27Z</dcterms:created>
  <dcterms:modified xsi:type="dcterms:W3CDTF">2026-10-05T21:35:27Z</dcterms:modified>
</cp:coreProperties>
</file>