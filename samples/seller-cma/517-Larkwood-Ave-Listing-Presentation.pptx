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Other Sales</c:v>
                </c:pt>
              </c:strCache>
            </c:strRef>
          </c:tx>
          <c:spPr>
            <a:solidFill>
              <a:srgbClr val="A3ADB6"/>
            </a:solidFill>
            <a:ln>
              <a:noFill/>
            </a:ln>
            <a:effectLst/>
          </c:spPr>
          <c:marker>
            <c:symbol val="circle"/>
            <c:size val="5"/>
            <c:spPr>
              <a:solidFill>
                <a:srgbClr val="DADEE2"/>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A3ADB6"/>
            </a:solidFill>
            <a:ln>
              <a:noFill/>
            </a:ln>
            <a:effectLst/>
          </c:spPr>
          <c:marker>
            <c:symbol val="circle"/>
            <c:size val="7"/>
            <c:spPr>
              <a:solidFill>
                <a:srgbClr val="A3ADB6"/>
              </a:solidFill>
              <a:ln w="15875">
                <a:solidFill>
                  <a:srgbClr val="A3ADB6"/>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A6672"/>
            </a:solidFill>
            <a:ln w="15875">
              <a:solidFill>
                <a:srgbClr val="5A6672"/>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353370.74537409266</c:v>
                </c:pt>
                <c:pt idx="42">
                  <c:v>361279.9692978465</c:v>
                </c:pt>
                <c:pt idx="43">
                  <c:v>369189.1932216004</c:v>
                </c:pt>
                <c:pt idx="44">
                  <c:v>377098.41714535427</c:v>
                </c:pt>
                <c:pt idx="45">
                  <c:v>385007.6410691081</c:v>
                </c:pt>
                <c:pt idx="46">
                  <c:v>392916.864992862</c:v>
                </c:pt>
                <c:pt idx="47">
                  <c:v>400826.0889166159</c:v>
                </c:pt>
                <c:pt idx="48">
                  <c:v>408735.31284036976</c:v>
                </c:pt>
                <c:pt idx="49">
                  <c:v>416644.53676412365</c:v>
                </c:pt>
                <c:pt idx="50">
                  <c:v>424553.7606878775</c:v>
                </c:pt>
                <c:pt idx="51">
                  <c:v>432462.9846116313</c:v>
                </c:pt>
                <c:pt idx="52">
                  <c:v>440372.2085353852</c:v>
                </c:pt>
                <c:pt idx="53">
                  <c:v>448281.4324591391</c:v>
                </c:pt>
                <c:pt idx="54">
                  <c:v>456190.656382893</c:v>
                </c:pt>
                <c:pt idx="55">
                  <c:v>464099.88030664687</c:v>
                </c:pt>
                <c:pt idx="56">
                  <c:v>472009.10423040076</c:v>
                </c:pt>
                <c:pt idx="57">
                  <c:v>479918.32815415465</c:v>
                </c:pt>
                <c:pt idx="58">
                  <c:v>487827.5520779085</c:v>
                </c:pt>
                <c:pt idx="59">
                  <c:v>495736.77600166237</c:v>
                </c:pt>
                <c:pt idx="60">
                  <c:v>503645.99992541614</c:v>
                </c:pt>
                <c:pt idx="61">
                  <c:v>511555.22384917</c:v>
                </c:pt>
                <c:pt idx="62">
                  <c:v>519464.4477729239</c:v>
                </c:pt>
                <c:pt idx="63">
                  <c:v>527373.6716966778</c:v>
                </c:pt>
                <c:pt idx="64">
                  <c:v>535282.8956204318</c:v>
                </c:pt>
                <c:pt idx="65">
                  <c:v>543192.1195441856</c:v>
                </c:pt>
                <c:pt idx="66">
                  <c:v>551101.3434679394</c:v>
                </c:pt>
                <c:pt idx="67">
                  <c:v>559010.5673916934</c:v>
                </c:pt>
                <c:pt idx="68">
                  <c:v>566919.7913154473</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9525">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4"/>
            <c:spPr>
              <a:solidFill>
                <a:srgbClr val="1A1A1A"/>
              </a:solidFill>
              <a:ln w="1270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672"/>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Price</a:t>
                </a:r>
              </a:p>
            </c:rich>
          </c:tx>
          <c:layout/>
          <c:overlay val="0"/>
        </c:title>
        <c:numFmt formatCode="$#,##0,&quot;K&quot;"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672"/>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1A1A1A"/>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List $479,900</c:v>
                  </c:pt>
                  <c:pt idx="1">
                    <c:v>List $469,900</c:v>
                  </c:pt>
                  <c:pt idx="2">
                    <c:v>List $459,900</c:v>
                  </c:pt>
                </c:lvl>
              </c:multiLvlStrCache>
            </c:multiLvlStrRef>
          </c:cat>
          <c:val>
            <c:numRef>
              <c:f>Sheet1!$B$2:$B$4</c:f>
              <c:numCache>
                <c:formatCode>General</c:formatCode>
                <c:ptCount val="3"/>
                <c:pt idx="0">
                  <c:v>421368</c:v>
                </c:pt>
                <c:pt idx="1">
                  <c:v>421060</c:v>
                </c:pt>
                <c:pt idx="2">
                  <c:v>424486</c:v>
                </c:pt>
              </c:numCache>
            </c:numRef>
          </c:val>
        </c:ser>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F8E8E2"/>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sales within a mile since April; we kept the 5 closest in size, pool, age and neighborhood, adjusted each for differences from your home, and the median adjusted value is about $469,800.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within a mile. The dotted line is size alone; renovation and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 April to June sales; summer = July to mid-September. Rates are the Freddie Mac 30-year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$459,900 option assumes competing offers reduce the seller credit to $5,000.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mortgage payoff. Brokerage is a 2.5% + 2.5% placeholder until we finalize the listing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loan, 5% down, 6.95%, city taxes with homestead, $3,600 insurance, 0.5% PMI.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Holding costs: about $530 a month (insurance and utilities; no loan interest, since no mortgage payoff was given; property tax is not included) for each option's time to contract plus 1 month to close. Commissions are negotiable and not set by law. Not included: this year's property tax proration. Taxes here are paid in arrears, so the seller credits the buyer from Jan 1; add the tax bill and the expected closing date to include it. Title company fees are typical local charges (settlement fee $700, title search $250, municipal lien search $125, recording $70); the title company's quote replaces them. Estimates only. Not included: mortgage payoff, tax proration and repairs; the closing agent provides exact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Adjustments: about $75 per sq ft of size difference; $30,000–$45,000 for renovation level; $5,000–$10,000 for larger or better lots; 1–2% for market change since the sale; seller-paid costs subtracted. A broker's opinion of value from comparable sales, not an appraisal, and not for lending. Sales data: Stellar MLS as of 2026-09-22. Deemed reliable but not guaranteed. This comparative market analysis is an opinion of price, not an appraisal, and isn't for lending purposes. Payment, tax and cost figures are estimates only, not lending or tax advice. Equal Housing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41148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42900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A6672"/>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 – $480K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150" b="1" dirty="0">
                <a:solidFill>
                  <a:srgbClr val="1A1A1A"/>
                </a:solidFill>
                <a:latin typeface="Arial" pitchFamily="34" charset="0"/>
                <a:ea typeface="Arial" pitchFamily="34" charset="-122"/>
                <a:cs typeface="Arial" pitchFamily="34" charset="-120"/>
              </a:rPr>
              <a:t>Low-to-mid $460,000s</a:t>
            </a:r>
            <a:endParaRPr lang="en-US" sz="215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$436K–$492K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$469,900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 – $480K</a:t>
            </a:r>
            <a:endParaRPr lang="en-US" sz="1800" dirty="0"/>
          </a:p>
        </p:txBody>
      </p:sp>
      <p:sp>
        <p:nvSpPr>
          <p:cNvPr id="26" name="Text 24"/>
          <p:cNvSpPr txBox="1"/>
          <p:nvPr/>
        </p:nvSpPr>
        <p:spPr>
          <a:xfrm>
            <a:off x="457200" y="4160520"/>
            <a:ext cx="8229600" cy="50292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Adjustments cover size, larger corner lot, market since the sale, documented recent systems, renovation, partial update vs. full renovation, larger canal lot and seller credits.</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Worth about $25,000 against similar homes without one.</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Outside the high-risk flood zone, so lenders don't require flood insurance.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325880"/>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66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325880"/>
            <a:ext cx="0" cy="2468880"/>
          </a:xfrm>
          <a:prstGeom prst="line">
            <a:avLst/>
          </a:prstGeom>
          <a:noFill/>
          <a:ln w="9525">
            <a:solidFill>
              <a:srgbClr val="F8E8E2"/>
            </a:solidFill>
            <a:prstDash val="solid"/>
          </a:ln>
        </p:spPr>
      </p:sp>
      <p:sp>
        <p:nvSpPr>
          <p:cNvPr id="8" name="Text 6"/>
          <p:cNvSpPr txBox="1"/>
          <p:nvPr/>
        </p:nvSpPr>
        <p:spPr>
          <a:xfrm>
            <a:off x="44805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325880"/>
            <a:ext cx="0" cy="2468880"/>
          </a:xfrm>
          <a:prstGeom prst="line">
            <a:avLst/>
          </a:prstGeom>
          <a:noFill/>
          <a:ln w="9525">
            <a:solidFill>
              <a:srgbClr val="F8E8E2"/>
            </a:solidFill>
            <a:prstDash val="solid"/>
          </a:ln>
        </p:spPr>
      </p:sp>
      <p:sp>
        <p:nvSpPr>
          <p:cNvPr id="10" name="Text 8"/>
          <p:cNvSpPr txBox="1"/>
          <p:nvPr/>
        </p:nvSpPr>
        <p:spPr>
          <a:xfrm>
            <a:off x="53949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325880"/>
            <a:ext cx="0" cy="2468880"/>
          </a:xfrm>
          <a:prstGeom prst="line">
            <a:avLst/>
          </a:prstGeom>
          <a:noFill/>
          <a:ln w="9525">
            <a:solidFill>
              <a:srgbClr val="F8E8E2"/>
            </a:solidFill>
            <a:prstDash val="solid"/>
          </a:ln>
        </p:spPr>
      </p:sp>
      <p:sp>
        <p:nvSpPr>
          <p:cNvPr id="12" name="Text 10"/>
          <p:cNvSpPr txBox="1"/>
          <p:nvPr/>
        </p:nvSpPr>
        <p:spPr>
          <a:xfrm>
            <a:off x="63093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325880"/>
            <a:ext cx="0" cy="2468880"/>
          </a:xfrm>
          <a:prstGeom prst="line">
            <a:avLst/>
          </a:prstGeom>
          <a:noFill/>
          <a:ln w="9525">
            <a:solidFill>
              <a:srgbClr val="F8E8E2"/>
            </a:solidFill>
            <a:prstDash val="solid"/>
          </a:ln>
        </p:spPr>
      </p:sp>
      <p:sp>
        <p:nvSpPr>
          <p:cNvPr id="14" name="Text 12"/>
          <p:cNvSpPr txBox="1"/>
          <p:nvPr/>
        </p:nvSpPr>
        <p:spPr>
          <a:xfrm>
            <a:off x="72237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325880"/>
            <a:ext cx="0" cy="2468880"/>
          </a:xfrm>
          <a:prstGeom prst="line">
            <a:avLst/>
          </a:prstGeom>
          <a:noFill/>
          <a:ln w="9525">
            <a:solidFill>
              <a:srgbClr val="F8E8E2"/>
            </a:solidFill>
            <a:prstDash val="solid"/>
          </a:ln>
        </p:spPr>
      </p:sp>
      <p:sp>
        <p:nvSpPr>
          <p:cNvPr id="16" name="Text 14"/>
          <p:cNvSpPr txBox="1"/>
          <p:nvPr/>
        </p:nvSpPr>
        <p:spPr>
          <a:xfrm>
            <a:off x="8138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3348" y="1188720"/>
            <a:ext cx="0" cy="2606040"/>
          </a:xfrm>
          <a:prstGeom prst="line">
            <a:avLst/>
          </a:prstGeom>
          <a:noFill/>
          <a:ln w="25400">
            <a:solidFill>
              <a:srgbClr val="1A1A1A"/>
            </a:solidFill>
            <a:prstDash val="dash"/>
          </a:ln>
        </p:spPr>
      </p:sp>
      <p:sp>
        <p:nvSpPr>
          <p:cNvPr id="18" name="Text 16"/>
          <p:cNvSpPr txBox="1"/>
          <p:nvPr/>
        </p:nvSpPr>
        <p:spPr>
          <a:xfrm>
            <a:off x="5207508" y="960120"/>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pool home; April, before rates rose</a:t>
            </a:r>
            <a:endParaRPr lang="en-US" sz="950" dirty="0"/>
          </a:p>
        </p:txBody>
      </p:sp>
      <p:sp>
        <p:nvSpPr>
          <p:cNvPr id="21" name="Shape 19"/>
          <p:cNvSpPr/>
          <p:nvPr/>
        </p:nvSpPr>
        <p:spPr>
          <a:xfrm>
            <a:off x="7155180"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347204" y="14904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$492K</a:t>
            </a:r>
            <a:endParaRPr lang="en-US" sz="1000" dirty="0"/>
          </a:p>
        </p:txBody>
      </p:sp>
      <p:sp>
        <p:nvSpPr>
          <p:cNvPr id="23" name="Text 21"/>
          <p:cNvSpPr txBox="1"/>
          <p:nvPr/>
        </p:nvSpPr>
        <p:spPr>
          <a:xfrm>
            <a:off x="457200" y="18745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year and size; systems documented</a:t>
            </a:r>
            <a:endParaRPr lang="en-US" sz="950" dirty="0"/>
          </a:p>
        </p:txBody>
      </p:sp>
      <p:sp>
        <p:nvSpPr>
          <p:cNvPr id="25" name="Shape 23"/>
          <p:cNvSpPr/>
          <p:nvPr/>
        </p:nvSpPr>
        <p:spPr>
          <a:xfrm>
            <a:off x="6766560"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58584" y="19476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Most recent pool sale; not renovated</a:t>
            </a:r>
            <a:endParaRPr lang="en-US" sz="950" dirty="0"/>
          </a:p>
        </p:txBody>
      </p:sp>
      <p:sp>
        <p:nvSpPr>
          <p:cNvPr id="29" name="Shape 27"/>
          <p:cNvSpPr/>
          <p:nvPr/>
        </p:nvSpPr>
        <p:spPr>
          <a:xfrm>
            <a:off x="6126480"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4048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690872"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882896" y="28620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$438K</a:t>
            </a:r>
            <a:endParaRPr lang="en-US" sz="1000" dirty="0"/>
          </a:p>
        </p:txBody>
      </p:sp>
      <p:sp>
        <p:nvSpPr>
          <p:cNvPr id="35" name="Text 33"/>
          <p:cNvSpPr txBox="1"/>
          <p:nvPr/>
        </p:nvSpPr>
        <p:spPr>
          <a:xfrm>
            <a:off x="457200" y="32461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90288"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82312" y="33192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14800"/>
            <a:ext cx="8229600" cy="502920"/>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in the spring.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graphicFrame>
        <p:nvGraphicFramePr>
          <p:cNvPr id="3" name="Chart 0" descr=""/>
          <p:cNvGraphicFramePr/>
          <p:nvPr/>
        </p:nvGraphicFramePr>
        <p:xfrm>
          <a:off x="365760" y="868680"/>
          <a:ext cx="6537960" cy="39319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949440" y="1143000"/>
            <a:ext cx="45720" cy="3017520"/>
          </a:xfrm>
          <a:prstGeom prst="rect">
            <a:avLst/>
          </a:prstGeom>
          <a:solidFill>
            <a:srgbClr val="C2410C"/>
          </a:solidFill>
          <a:ln w="12700">
            <a:solidFill>
              <a:srgbClr val="C2410C"/>
            </a:solidFill>
            <a:prstDash val="solid"/>
          </a:ln>
        </p:spPr>
      </p:sp>
      <p:sp>
        <p:nvSpPr>
          <p:cNvPr id="5" name="Text 2"/>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At $469,900, yours sits among them without testing the ceiling.</a:t>
            </a:r>
            <a:endParaRPr lang="en-US" sz="1300" dirty="0"/>
          </a:p>
        </p:txBody>
      </p:sp>
      <p:sp>
        <p:nvSpPr>
          <p:cNvPr id="6" name="Text 3"/>
          <p:cNvSpPr txBox="1"/>
          <p:nvPr/>
        </p:nvSpPr>
        <p:spPr>
          <a:xfrm>
            <a:off x="7086600" y="2910840"/>
            <a:ext cx="1600200" cy="124968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Size alone predicts about $443K at your size. Your price is about $27K above the line.</a:t>
            </a:r>
            <a:endParaRPr lang="en-US" sz="1100" dirty="0"/>
          </a:p>
        </p:txBody>
      </p:sp>
      <p:sp>
        <p:nvSpPr>
          <p:cNvPr id="7" name="Text 4"/>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8" name="Text 5"/>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Shifted Since Spring</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Nearby sales, April–June vs. July–mid-September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100%</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95.2%</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8</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30-Year Mortgage Rate</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~6.3%</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6.95%</a:t>
            </a:r>
            <a:endParaRPr lang="en-US" sz="2800" dirty="0"/>
          </a:p>
        </p:txBody>
      </p:sp>
      <p:sp>
        <p:nvSpPr>
          <p:cNvPr id="36" name="Text 30"/>
          <p:cNvSpPr txBox="1"/>
          <p:nvPr/>
        </p:nvSpPr>
        <p:spPr>
          <a:xfrm>
            <a:off x="457200" y="4005072"/>
            <a:ext cx="8229600" cy="54864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April.</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5" name="Text 3"/>
          <p:cNvSpPr txBox="1"/>
          <p:nvPr/>
        </p:nvSpPr>
        <p:spPr>
          <a:xfrm>
            <a:off x="65836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0" name="Text 8"/>
          <p:cNvSpPr txBox="1"/>
          <p:nvPr/>
        </p:nvSpPr>
        <p:spPr>
          <a:xfrm>
            <a:off x="349300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in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5" name="Text 13"/>
          <p:cNvSpPr txBox="1"/>
          <p:nvPr/>
        </p:nvSpPr>
        <p:spPr>
          <a:xfrm>
            <a:off x="632764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77640"/>
            <a:ext cx="8229600" cy="5029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301752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$479,900</a:t>
            </a:r>
            <a:endParaRPr lang="en-US" sz="3000" dirty="0"/>
          </a:p>
        </p:txBody>
      </p:sp>
      <p:sp>
        <p:nvSpPr>
          <p:cNvPr id="5" name="Text 3"/>
          <p:cNvSpPr txBox="1"/>
          <p:nvPr/>
        </p:nvSpPr>
        <p:spPr>
          <a:xfrm>
            <a:off x="658368" y="2075688"/>
            <a:ext cx="1113584"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6" name="Text 4"/>
          <p:cNvSpPr txBox="1"/>
          <p:nvPr/>
        </p:nvSpPr>
        <p:spPr>
          <a:xfrm>
            <a:off x="1863392" y="2075688"/>
            <a:ext cx="952960"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45–90 days</a:t>
            </a:r>
            <a:endParaRPr lang="en-US" sz="1300" dirty="0"/>
          </a:p>
        </p:txBody>
      </p:sp>
      <p:sp>
        <p:nvSpPr>
          <p:cNvPr id="7" name="Text 5"/>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8" name="Text 6"/>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$463,000</a:t>
            </a:r>
            <a:endParaRPr lang="en-US" sz="1300" dirty="0"/>
          </a:p>
        </p:txBody>
      </p:sp>
      <p:sp>
        <p:nvSpPr>
          <p:cNvPr id="9" name="Text 7"/>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050" dirty="0">
                <a:solidFill>
                  <a:srgbClr val="5A6672"/>
                </a:solidFill>
                <a:latin typeface="Arial" pitchFamily="34" charset="0"/>
                <a:ea typeface="Arial" pitchFamily="34" charset="-122"/>
                <a:cs typeface="Arial" pitchFamily="34" charset="-120"/>
              </a:rPr>
              <a:t>Seller Credit Assumed</a:t>
            </a:r>
            <a:endParaRPr lang="en-US" sz="1050" dirty="0"/>
          </a:p>
        </p:txBody>
      </p:sp>
      <p:sp>
        <p:nvSpPr>
          <p:cNvPr id="10" name="Text 8"/>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$10,000</a:t>
            </a:r>
            <a:endParaRPr lang="en-US" sz="1300" dirty="0"/>
          </a:p>
        </p:txBody>
      </p:sp>
      <p:sp>
        <p:nvSpPr>
          <p:cNvPr id="11" name="Text 9"/>
          <p:cNvSpPr txBox="1"/>
          <p:nvPr/>
        </p:nvSpPr>
        <p:spPr>
          <a:xfrm>
            <a:off x="65836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top of the range; likely needs a price cut before an offer</a:t>
            </a:r>
            <a:endParaRPr lang="en-US" sz="1100" dirty="0"/>
          </a:p>
        </p:txBody>
      </p:sp>
      <p:sp>
        <p:nvSpPr>
          <p:cNvPr id="12" name="Shape 10"/>
          <p:cNvSpPr/>
          <p:nvPr/>
        </p:nvSpPr>
        <p:spPr>
          <a:xfrm>
            <a:off x="3291840" y="1051560"/>
            <a:ext cx="2560320" cy="3017520"/>
          </a:xfrm>
          <a:prstGeom prst="roundRect">
            <a:avLst>
              <a:gd name="adj" fmla="val 2857"/>
            </a:avLst>
          </a:prstGeom>
          <a:solidFill>
            <a:srgbClr val="C2410C"/>
          </a:solidFill>
          <a:ln w="12700">
            <a:solidFill>
              <a:srgbClr val="C2410C"/>
            </a:solidFill>
            <a:prstDash val="solid"/>
          </a:ln>
        </p:spPr>
      </p:sp>
      <p:sp>
        <p:nvSpPr>
          <p:cNvPr id="13" name="Text 11"/>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RECOMMENDED</a:t>
            </a:r>
            <a:endParaRPr lang="en-US" sz="1000" dirty="0"/>
          </a:p>
        </p:txBody>
      </p:sp>
      <p:sp>
        <p:nvSpPr>
          <p:cNvPr id="14" name="Text 12"/>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5" name="Text 13"/>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6" name="Text 14"/>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3–6 weeks</a:t>
            </a:r>
            <a:endParaRPr lang="en-US" sz="1300" dirty="0"/>
          </a:p>
        </p:txBody>
      </p:sp>
      <p:sp>
        <p:nvSpPr>
          <p:cNvPr id="17" name="Text 15"/>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8" name="Text 16"/>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$462,000</a:t>
            </a:r>
            <a:endParaRPr lang="en-US" sz="1300" dirty="0"/>
          </a:p>
        </p:txBody>
      </p:sp>
      <p:sp>
        <p:nvSpPr>
          <p:cNvPr id="19" name="Text 17"/>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Seller Credit Assumed</a:t>
            </a:r>
            <a:endParaRPr lang="en-US" sz="1050" dirty="0"/>
          </a:p>
        </p:txBody>
      </p:sp>
      <p:sp>
        <p:nvSpPr>
          <p:cNvPr id="20" name="Text 18"/>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$10,000</a:t>
            </a:r>
            <a:endParaRPr lang="en-US" sz="1300" dirty="0"/>
          </a:p>
        </p:txBody>
      </p:sp>
      <p:sp>
        <p:nvSpPr>
          <p:cNvPr id="21" name="Text 19"/>
          <p:cNvSpPr txBox="1"/>
          <p:nvPr/>
        </p:nvSpPr>
        <p:spPr>
          <a:xfrm>
            <a:off x="3493008" y="3291840"/>
            <a:ext cx="2157984" cy="6858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at the middle of recent adjusted sales; room to negotiate</a:t>
            </a:r>
            <a:endParaRPr lang="en-US" sz="1100" dirty="0"/>
          </a:p>
        </p:txBody>
      </p:sp>
      <p:sp>
        <p:nvSpPr>
          <p:cNvPr id="22" name="Shape 20"/>
          <p:cNvSpPr/>
          <p:nvPr/>
        </p:nvSpPr>
        <p:spPr>
          <a:xfrm>
            <a:off x="6126480" y="1051560"/>
            <a:ext cx="2560320" cy="3017520"/>
          </a:xfrm>
          <a:prstGeom prst="roundRect">
            <a:avLst>
              <a:gd name="adj" fmla="val 2857"/>
            </a:avLst>
          </a:prstGeom>
          <a:solidFill>
            <a:srgbClr val="FBF2EE"/>
          </a:solidFill>
          <a:ln w="12700">
            <a:solidFill>
              <a:srgbClr val="FBF2EE"/>
            </a:solidFill>
            <a:prstDash val="solid"/>
          </a:ln>
        </p:spPr>
      </p:sp>
      <p:sp>
        <p:nvSpPr>
          <p:cNvPr id="23" name="Text 21"/>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4" name="Text 22"/>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25" name="Text 23"/>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1–3 weeks</a:t>
            </a:r>
            <a:endParaRPr lang="en-US" sz="1300" dirty="0"/>
          </a:p>
        </p:txBody>
      </p:sp>
      <p:sp>
        <p:nvSpPr>
          <p:cNvPr id="26" name="Text 24"/>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27" name="Text 25"/>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$460,000</a:t>
            </a:r>
            <a:endParaRPr lang="en-US" sz="1300" dirty="0"/>
          </a:p>
        </p:txBody>
      </p:sp>
      <p:sp>
        <p:nvSpPr>
          <p:cNvPr id="28" name="Text 26"/>
          <p:cNvSpPr txBox="1"/>
          <p:nvPr/>
        </p:nvSpPr>
        <p:spPr>
          <a:xfrm>
            <a:off x="6327648" y="2843784"/>
            <a:ext cx="1504897"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Seller Credit Assumed</a:t>
            </a:r>
            <a:endParaRPr lang="en-US" sz="1100" dirty="0"/>
          </a:p>
        </p:txBody>
      </p:sp>
      <p:sp>
        <p:nvSpPr>
          <p:cNvPr id="29" name="Text 27"/>
          <p:cNvSpPr txBox="1"/>
          <p:nvPr/>
        </p:nvSpPr>
        <p:spPr>
          <a:xfrm>
            <a:off x="7923985" y="2843784"/>
            <a:ext cx="56164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$5,000</a:t>
            </a:r>
            <a:endParaRPr lang="en-US" sz="1300" dirty="0"/>
          </a:p>
        </p:txBody>
      </p:sp>
      <p:sp>
        <p:nvSpPr>
          <p:cNvPr id="30" name="Text 28"/>
          <p:cNvSpPr txBox="1"/>
          <p:nvPr/>
        </p:nvSpPr>
        <p:spPr>
          <a:xfrm>
            <a:off x="632764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Aims for competing offers; depends on them materializing</a:t>
            </a:r>
            <a:endParaRPr lang="en-US" sz="1100" dirty="0"/>
          </a:p>
        </p:txBody>
      </p:sp>
      <p:sp>
        <p:nvSpPr>
          <p:cNvPr id="31" name="Text 29"/>
          <p:cNvSpPr txBox="1"/>
          <p:nvPr/>
        </p:nvSpPr>
        <p:spPr>
          <a:xfrm>
            <a:off x="457200" y="4206240"/>
            <a:ext cx="8229600" cy="36576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400" dirty="0"/>
          </a:p>
        </p:txBody>
      </p:sp>
      <p:sp>
        <p:nvSpPr>
          <p:cNvPr id="32" name="Text 30"/>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3" name="Text 3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net before mortgage payoff, after holding costs</a:t>
            </a:r>
            <a:endParaRPr lang="en-US" sz="1300" dirty="0"/>
          </a:p>
        </p:txBody>
      </p:sp>
      <p:graphicFrame>
        <p:nvGraphicFramePr>
          <p:cNvPr id="4" name="Chart 0" descr=""/>
          <p:cNvGraphicFramePr/>
          <p:nvPr/>
        </p:nvGraphicFramePr>
        <p:xfrm>
          <a:off x="457200" y="12344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$3,426</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$479,900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$4,169/mo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$23,995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$4,087/mo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$4,005/mo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42900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49701"/>
            <a:ext cx="261518" cy="261518"/>
          </a:xfrm>
          <a:prstGeom prst="rect">
            <a:avLst/>
          </a:prstGeom>
        </p:spPr>
      </p:pic>
      <p:sp>
        <p:nvSpPr>
          <p:cNvPr id="18" name="Text 15"/>
          <p:cNvSpPr txBox="1"/>
          <p:nvPr/>
        </p:nvSpPr>
        <p:spPr>
          <a:xfrm>
            <a:off x="1143000" y="3383280"/>
            <a:ext cx="7543800" cy="59436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Buyers shop by payment. Every $10,000 is about $80 a month to them.</a:t>
            </a:r>
            <a:endParaRPr lang="en-US" sz="15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Permit and date, ready to share</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Pre-Listing Inspection</a:t>
            </a:r>
            <a:endParaRPr lang="en-US" sz="125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Plus 4-point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Easy Showings</a:t>
            </a:r>
            <a:endParaRPr lang="en-US" sz="130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Lockbox access with short notice</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3-Week Review</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plus any 4-point or wind-mitigation report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estimated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listing agreement; order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2</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3</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6</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Estimated at Closing</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$479,900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$469,900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$459,900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Sale Price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$463,000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$462,000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Listing Brokerage (2.5%)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Buyer's Agent Compensation (2.5%)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Documentary Stamp Tax on the Deed (0.70%)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−$3,241</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−$3,234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−$3,220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Owner's Title Insurance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−$2,390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−$2,385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Title Company Fees (Estimate)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Seller-Paid Buyer Costs</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Estimated Net Before Mortgage Payoff</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$423,074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$422,136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$425,260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Holding Costs Until Closing (Est.)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−$1,706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−$1,076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−$774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Net After Holding Costs</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$421,368</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$421,060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$424,486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r>
            </a:tbl>
          </a:graphicData>
        </a:graphic>
      </p:graphicFrame>
      <p:sp>
        <p:nvSpPr>
          <p:cNvPr id="4" name="Text 1"/>
          <p:cNvSpPr txBox="1"/>
          <p:nvPr/>
        </p:nvSpPr>
        <p:spPr>
          <a:xfrm>
            <a:off x="457200" y="4361688"/>
            <a:ext cx="8229600" cy="370332"/>
          </a:xfrm>
          <a:prstGeom prst="rect">
            <a:avLst/>
          </a:prstGeom>
          <a:noFill/>
          <a:ln/>
        </p:spPr>
        <p:txBody>
          <a:bodyPr wrap="square" lIns="0" tIns="0" rIns="0" bIns="0" rtlCol="0" anchor="t"/>
          <a:lstStyle/>
          <a:p>
            <a:pPr indent="0" marL="0">
              <a:buNone/>
            </a:pPr>
            <a:r>
              <a:rPr lang="en-US" sz="1000" dirty="0">
                <a:solidFill>
                  <a:srgbClr val="5A6672"/>
                </a:solidFill>
                <a:latin typeface="Arial" pitchFamily="34" charset="0"/>
                <a:ea typeface="Arial" pitchFamily="34" charset="-122"/>
                <a:cs typeface="Arial" pitchFamily="34" charset="-120"/>
              </a:rPr>
              <a:t>Estimates only. Not included: mortgage payoff, tax proration and repairs; the closing agent provides exact figures. Commissions are negotiable and not set by law.</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$492,300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$483,800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$438,400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$436,200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r>
            </a:tbl>
          </a:graphicData>
        </a:graphic>
      </p:graphicFrame>
      <p:sp>
        <p:nvSpPr>
          <p:cNvPr id="4" name="Text 1"/>
          <p:cNvSpPr txBox="1"/>
          <p:nvPr/>
        </p:nvSpPr>
        <p:spPr>
          <a:xfrm>
            <a:off x="457200" y="3191256"/>
            <a:ext cx="8229600" cy="1540764"/>
          </a:xfrm>
          <a:prstGeom prst="rect">
            <a:avLst/>
          </a:prstGeom>
          <a:noFill/>
          <a:ln/>
        </p:spPr>
        <p:txBody>
          <a:bodyPr wrap="square" lIns="0" tIns="0" rIns="0" bIns="0" rtlCol="0" anchor="t"/>
          <a:lstStyle/>
          <a:p>
            <a:pPr indent="0" marL="0">
              <a:buNone/>
            </a:pPr>
            <a:r>
              <a:rPr lang="en-US" sz="1000" dirty="0">
                <a:solidFill>
                  <a:srgbClr val="5A6672"/>
                </a:solidFill>
                <a:latin typeface="Arial" pitchFamily="34" charset="0"/>
                <a:ea typeface="Arial" pitchFamily="34" charset="-122"/>
                <a:cs typeface="Arial" pitchFamily="34" charset="-120"/>
              </a:rPr>
              <a:t>A broker's opinion of value from comparable sales, not an appraisal, and not for lending. Sales data: Stellar MLS as of 2026-09-22. Deemed reliable but not guaranteed.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2026-09-30T04:41:36Z</dcterms:created>
  <dcterms:modified xsi:type="dcterms:W3CDTF">2026-09-30T04:41:36Z</dcterms:modified>
</cp:coreProperties>
</file>