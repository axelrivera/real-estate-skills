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circle"/>
            <c:size val="7"/>
            <c:spPr>
              <a:solidFill>
                <a:srgbClr val="FFFFFF"/>
              </a:solidFill>
              <a:ln w="15875">
                <a:solidFill>
                  <a:srgbClr val="5E5E5E"/>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1"/>
            <c:spPr>
              <a:solidFill>
                <a:srgbClr val="1A1A1A"/>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423768</c:v>
                </c:pt>
                <c:pt idx="1">
                  <c:v>424812</c:v>
                </c:pt>
                <c:pt idx="2">
                  <c:v>419796</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5E5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assumed at 2.5% + 2.5%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(insurance and utilities; no loan interest, since no mortgage payoff was given; property tax is not included)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$466,000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$436K–$494K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Adjustments cover size, lot, market changes since each sale, roof and systems, condition and updates, view or water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22833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20356" y="14904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$494K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75704"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67728" y="19476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Strongest match · 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73168"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65192" y="28620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$440K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76572"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68596" y="3319272"/>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6" name="Shape 3"/>
          <p:cNvSpPr/>
          <p:nvPr/>
        </p:nvSpPr>
        <p:spPr>
          <a:xfrm>
            <a:off x="621792" y="4434840"/>
            <a:ext cx="91440" cy="91440"/>
          </a:xfrm>
          <a:prstGeom prst="ellipse">
            <a:avLst/>
          </a:prstGeom>
          <a:solidFill>
            <a:srgbClr val="DBDBDB"/>
          </a:solidFill>
          <a:ln w="6350">
            <a:solidFill>
              <a:srgbClr val="DBDBDB"/>
            </a:solidFill>
            <a:prstDash val="solid"/>
          </a:ln>
        </p:spPr>
      </p:sp>
      <p:sp>
        <p:nvSpPr>
          <p:cNvPr id="7" name="Text 4"/>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8" name="Shape 5"/>
          <p:cNvSpPr/>
          <p:nvPr/>
        </p:nvSpPr>
        <p:spPr>
          <a:xfrm>
            <a:off x="1756928" y="4421124"/>
            <a:ext cx="118872" cy="118872"/>
          </a:xfrm>
          <a:prstGeom prst="ellipse">
            <a:avLst/>
          </a:prstGeom>
          <a:solidFill>
            <a:srgbClr val="FFFFFF"/>
          </a:solidFill>
          <a:ln w="15875">
            <a:solidFill>
              <a:srgbClr val="5E5E5E"/>
            </a:solidFill>
            <a:prstDash val="solid"/>
          </a:ln>
        </p:spPr>
      </p:sp>
      <p:sp>
        <p:nvSpPr>
          <p:cNvPr id="9" name="Text 6"/>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0" name="Shape 7"/>
          <p:cNvSpPr/>
          <p:nvPr/>
        </p:nvSpPr>
        <p:spPr>
          <a:xfrm>
            <a:off x="2938708" y="4480560"/>
            <a:ext cx="237744" cy="0"/>
          </a:xfrm>
          <a:prstGeom prst="line">
            <a:avLst/>
          </a:prstGeom>
          <a:noFill/>
          <a:ln w="15875">
            <a:solidFill>
              <a:srgbClr val="5E5E5E"/>
            </a:solidFill>
            <a:prstDash val="dash"/>
          </a:ln>
        </p:spPr>
      </p:sp>
      <p:sp>
        <p:nvSpPr>
          <p:cNvPr id="11" name="Text 8"/>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12" name="Shape 9"/>
          <p:cNvSpPr/>
          <p:nvPr/>
        </p:nvSpPr>
        <p:spPr>
          <a:xfrm>
            <a:off x="4378083" y="4421124"/>
            <a:ext cx="118872" cy="118872"/>
          </a:xfrm>
          <a:prstGeom prst="ellipse">
            <a:avLst/>
          </a:prstGeom>
          <a:solidFill>
            <a:srgbClr val="C2410C"/>
          </a:solidFill>
          <a:ln w="6350">
            <a:solidFill>
              <a:srgbClr val="C2410C"/>
            </a:solidFill>
            <a:prstDash val="solid"/>
          </a:ln>
        </p:spPr>
      </p:sp>
      <p:sp>
        <p:nvSpPr>
          <p:cNvPr id="13" name="Text 10"/>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14" name="Shape 11"/>
          <p:cNvSpPr/>
          <p:nvPr/>
        </p:nvSpPr>
        <p:spPr>
          <a:xfrm>
            <a:off x="5863297" y="4407408"/>
            <a:ext cx="146304" cy="146304"/>
          </a:xfrm>
          <a:prstGeom prst="diamond">
            <a:avLst/>
          </a:prstGeom>
          <a:solidFill>
            <a:srgbClr val="1A1A1A"/>
          </a:solidFill>
          <a:ln w="6350">
            <a:solidFill>
              <a:srgbClr val="1A1A1A"/>
            </a:solidFill>
            <a:prstDash val="solid"/>
          </a:ln>
        </p:spPr>
      </p:sp>
      <p:sp>
        <p:nvSpPr>
          <p:cNvPr id="15" name="Text 12"/>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16" name="Shape 13"/>
          <p:cNvSpPr/>
          <p:nvPr/>
        </p:nvSpPr>
        <p:spPr>
          <a:xfrm>
            <a:off x="6949440" y="1143000"/>
            <a:ext cx="45720" cy="3017520"/>
          </a:xfrm>
          <a:prstGeom prst="rect">
            <a:avLst/>
          </a:prstGeom>
          <a:solidFill>
            <a:srgbClr val="C2410C"/>
          </a:solidFill>
          <a:ln w="12700">
            <a:solidFill>
              <a:srgbClr val="C2410C"/>
            </a:solidFill>
            <a:prstDash val="solid"/>
          </a:ln>
        </p:spPr>
      </p:sp>
      <p:sp>
        <p:nvSpPr>
          <p:cNvPr id="17" name="Text 14"/>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18" name="Text 15"/>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075809"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5617" y="2075688"/>
            <a:ext cx="990735"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2–4 months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$466,000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$466,000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$455,000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$5,016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29"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Early October</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$466,000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$455,000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−$11,650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−$11,375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−$3,262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−$3,185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−$2,405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−$2,350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$425,888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$420,570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−$2,120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$423,768</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$424,812</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$419,796</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$493,900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$484,000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$440,200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$435,900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A broker's opinion of value from comparable sales, not an appraisal, and not for lending. Sales data: Stellar MLS as of September 22, 2026.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2026-10-05T05:44:23Z</dcterms:created>
  <dcterms:modified xsi:type="dcterms:W3CDTF">2026-10-05T05:44:23Z</dcterms:modified>
</cp:coreProperties>
</file>