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5E5E5E"/>
            </a:solidFill>
            <a:ln>
              <a:noFill/>
            </a:ln>
            <a:effectLst/>
          </c:spPr>
          <c:marker>
            <c:symbol val="square"/>
            <c:size val="6"/>
            <c:spPr>
              <a:solidFill>
                <a:srgbClr val="5E5E5E"/>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342131.321903495</c:v>
                </c:pt>
                <c:pt idx="42">
                  <c:v>352121.9205440262</c:v>
                </c:pt>
                <c:pt idx="43">
                  <c:v>362112.51918455743</c:v>
                </c:pt>
                <c:pt idx="44">
                  <c:v>372103.1178250886</c:v>
                </c:pt>
                <c:pt idx="45">
                  <c:v>382093.71646561986</c:v>
                </c:pt>
                <c:pt idx="46">
                  <c:v>392084.31510615104</c:v>
                </c:pt>
                <c:pt idx="47">
                  <c:v>402074.9137466823</c:v>
                </c:pt>
                <c:pt idx="48">
                  <c:v>412065.5123872135</c:v>
                </c:pt>
                <c:pt idx="49">
                  <c:v>422056.1110277447</c:v>
                </c:pt>
                <c:pt idx="50">
                  <c:v>432046.7096682759</c:v>
                </c:pt>
                <c:pt idx="51">
                  <c:v>442037.3083088071</c:v>
                </c:pt>
                <c:pt idx="52">
                  <c:v>452027.9069493383</c:v>
                </c:pt>
                <c:pt idx="53">
                  <c:v>462018.5055898696</c:v>
                </c:pt>
                <c:pt idx="54">
                  <c:v>472009.10423040076</c:v>
                </c:pt>
                <c:pt idx="55">
                  <c:v>481999.70287093194</c:v>
                </c:pt>
                <c:pt idx="56">
                  <c:v>491990.3015114631</c:v>
                </c:pt>
                <c:pt idx="57">
                  <c:v>501980.90015199437</c:v>
                </c:pt>
                <c:pt idx="58">
                  <c:v>511971.49879252556</c:v>
                </c:pt>
                <c:pt idx="59">
                  <c:v>521962.09743305674</c:v>
                </c:pt>
                <c:pt idx="60">
                  <c:v>531952.696073588</c:v>
                </c:pt>
                <c:pt idx="61">
                  <c:v>541943.294714119</c:v>
                </c:pt>
                <c:pt idx="62">
                  <c:v>551933.8933546504</c:v>
                </c:pt>
                <c:pt idx="63">
                  <c:v>561924.4919951817</c:v>
                </c:pt>
                <c:pt idx="64">
                  <c:v>571915.0906357127</c:v>
                </c:pt>
                <c:pt idx="65">
                  <c:v>581905.689276244</c:v>
                </c:pt>
                <c:pt idx="66">
                  <c:v>591896.2879167753</c:v>
                </c:pt>
                <c:pt idx="67">
                  <c:v>601886.8865573064</c:v>
                </c:pt>
                <c:pt idx="68">
                  <c:v>611877.4851978377</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19050">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1"/>
            <c:spPr>
              <a:solidFill>
                <a:srgbClr val="1A1A1A"/>
              </a:solidFill>
              <a:ln w="1905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470000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numFmt formatCode=";;;"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Premium at $475,000</c:v>
                  </c:pt>
                  <c:pt idx="1">
                    <c:v>Market Price at $470,000</c:v>
                  </c:pt>
                  <c:pt idx="2">
                    <c:v>Draw Offers at $460,000</c:v>
                  </c:pt>
                </c:lvl>
              </c:multiLvlStrCache>
            </c:multiLvlStrRef>
          </c:cat>
          <c:val>
            <c:numRef>
              <c:f>Sheet1!$B$2:$B$4</c:f>
              <c:numCache>
                <c:formatCode>General</c:formatCode>
                <c:ptCount val="3"/>
                <c:pt idx="0">
                  <c:v>428912</c:v>
                </c:pt>
                <c:pt idx="1">
                  <c:v>424636</c:v>
                </c:pt>
                <c:pt idx="2">
                  <c:v>415497</c:v>
                </c:pt>
              </c:numCache>
            </c:numRef>
          </c:val>
        </c:ser>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from every nearby sale, kept the closest matches in size, pool, age and neighborhood, and adjusted each for its differences from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nearby. The dashed line is size alone; renovation and a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period holds the older sales; now holds the recent ones. The report's market table has every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competing-offer option assumes a smaller seller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has every line of the net sheet, and the notes say what each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Buyers shop by payment; the report's notes give the loan and tax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sales are estimates, not guarantees: each option's list price times an assumed 97.0% of its final asking price after seller-paid costs, plus that option's seller credit, to the nearest $500. Times to contract are estimates from the recent median of 22 days on market: longer for a higher price, shorter for a price that draws competing offers. Each option assumes a $11,000 seller credit toward the buyer's costs: how often recent sellers paid buyer costs times the typical amount. Holding costs: about $520 a month (insurance at the recommended $470,000 list price and utilities; no loan interest, since no mortgage payoff was given) from the report date to each option's closing; property tax is in the proration. Title company fees are typical local charges (settlement fee $700, title search $250, municipal lien search $125, recording $70); the title company's quote replaces them. Buyer payments: Conventional loan, 5% down, 6.95% 30-year fixed, property taxes at 18.1808 mills, with homestead, $3,600 a year insurance, and 0.5% a year mortgage insurance. Commissions are negotiable and not set by law. Not included: your mortgage payoff, this year's property tax proration (the tax bill and the expected closing date add it) and any repairs agreed after inspection. The closing agent provides the exact figures. Flood zone X: a lender may not require flood insurance, but a Citizens policy on a home with a dwelling replacement cost of $400,000 or more must carry flood insurance, and from January 1, 2027 every Citizens policy must (s. 627.351(6)(aa)). Get a quote; the total leaves it out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for size ($1,200 to $1,800); lot ($5,000); market changes since each sale (1% a quarter off sales before July); roof and systems ($5,000); condition and updates ($30,000 to $45,000, against this home's full renovation); view or water ($10,000); and seller credits (taken off each sale price). These are the five closest matches, sold Apr 24, 2026 to Aug 20, 2026 (one since July), all within a 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36576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52044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$470,000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$467,000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$436K–$494K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$470,000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$455K–$480K</a:t>
            </a:r>
            <a:endParaRPr lang="en-US" sz="1800" dirty="0"/>
          </a:p>
        </p:txBody>
      </p:sp>
      <p:sp>
        <p:nvSpPr>
          <p:cNvPr id="26" name="Text 24"/>
          <p:cNvSpPr txBox="1"/>
          <p:nvPr/>
        </p:nvSpPr>
        <p:spPr>
          <a:xfrm>
            <a:off x="457200" y="4078224"/>
            <a:ext cx="8229600" cy="626364"/>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Adjusted for size ($1,200 to $1,800); lot ($5,000); market changes since each sale (1% a quarter off sales before July); roof and systems ($5,000); condition and updates ($30,000 to $45,000, against this home's full renovation); view or water ($10,000); and seller credits (taken off each sale price).</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463294"/>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463294"/>
            <a:ext cx="0" cy="2468880"/>
          </a:xfrm>
          <a:prstGeom prst="line">
            <a:avLst/>
          </a:prstGeom>
          <a:noFill/>
          <a:ln w="9525">
            <a:solidFill>
              <a:srgbClr val="F8E8E2"/>
            </a:solidFill>
            <a:prstDash val="solid"/>
          </a:ln>
        </p:spPr>
      </p:sp>
      <p:sp>
        <p:nvSpPr>
          <p:cNvPr id="6" name="Text 4"/>
          <p:cNvSpPr txBox="1"/>
          <p:nvPr/>
        </p:nvSpPr>
        <p:spPr>
          <a:xfrm>
            <a:off x="3520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463294"/>
            <a:ext cx="0" cy="2468880"/>
          </a:xfrm>
          <a:prstGeom prst="line">
            <a:avLst/>
          </a:prstGeom>
          <a:noFill/>
          <a:ln w="9525">
            <a:solidFill>
              <a:srgbClr val="F8E8E2"/>
            </a:solidFill>
            <a:prstDash val="solid"/>
          </a:ln>
        </p:spPr>
      </p:sp>
      <p:sp>
        <p:nvSpPr>
          <p:cNvPr id="8" name="Text 6"/>
          <p:cNvSpPr txBox="1"/>
          <p:nvPr/>
        </p:nvSpPr>
        <p:spPr>
          <a:xfrm>
            <a:off x="44348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463294"/>
            <a:ext cx="0" cy="2468880"/>
          </a:xfrm>
          <a:prstGeom prst="line">
            <a:avLst/>
          </a:prstGeom>
          <a:noFill/>
          <a:ln w="9525">
            <a:solidFill>
              <a:srgbClr val="F8E8E2"/>
            </a:solidFill>
            <a:prstDash val="solid"/>
          </a:ln>
        </p:spPr>
      </p:sp>
      <p:sp>
        <p:nvSpPr>
          <p:cNvPr id="10" name="Text 8"/>
          <p:cNvSpPr txBox="1"/>
          <p:nvPr/>
        </p:nvSpPr>
        <p:spPr>
          <a:xfrm>
            <a:off x="53492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463294"/>
            <a:ext cx="0" cy="2468880"/>
          </a:xfrm>
          <a:prstGeom prst="line">
            <a:avLst/>
          </a:prstGeom>
          <a:noFill/>
          <a:ln w="9525">
            <a:solidFill>
              <a:srgbClr val="F8E8E2"/>
            </a:solidFill>
            <a:prstDash val="solid"/>
          </a:ln>
        </p:spPr>
      </p:sp>
      <p:sp>
        <p:nvSpPr>
          <p:cNvPr id="12" name="Text 10"/>
          <p:cNvSpPr txBox="1"/>
          <p:nvPr/>
        </p:nvSpPr>
        <p:spPr>
          <a:xfrm>
            <a:off x="62636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463294"/>
            <a:ext cx="0" cy="2468880"/>
          </a:xfrm>
          <a:prstGeom prst="line">
            <a:avLst/>
          </a:prstGeom>
          <a:noFill/>
          <a:ln w="9525">
            <a:solidFill>
              <a:srgbClr val="F8E8E2"/>
            </a:solidFill>
            <a:prstDash val="solid"/>
          </a:ln>
        </p:spPr>
      </p:sp>
      <p:sp>
        <p:nvSpPr>
          <p:cNvPr id="14" name="Text 12"/>
          <p:cNvSpPr txBox="1"/>
          <p:nvPr/>
        </p:nvSpPr>
        <p:spPr>
          <a:xfrm>
            <a:off x="71780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463294"/>
            <a:ext cx="0" cy="2468880"/>
          </a:xfrm>
          <a:prstGeom prst="line">
            <a:avLst/>
          </a:prstGeom>
          <a:noFill/>
          <a:ln w="9525">
            <a:solidFill>
              <a:srgbClr val="F8E8E2"/>
            </a:solidFill>
            <a:prstDash val="solid"/>
          </a:ln>
        </p:spPr>
      </p:sp>
      <p:sp>
        <p:nvSpPr>
          <p:cNvPr id="16" name="Text 14"/>
          <p:cNvSpPr txBox="1"/>
          <p:nvPr/>
        </p:nvSpPr>
        <p:spPr>
          <a:xfrm>
            <a:off x="8092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7920" y="1326134"/>
            <a:ext cx="0" cy="2606040"/>
          </a:xfrm>
          <a:prstGeom prst="line">
            <a:avLst/>
          </a:prstGeom>
          <a:noFill/>
          <a:ln w="25400">
            <a:solidFill>
              <a:srgbClr val="1A1A1A"/>
            </a:solidFill>
            <a:prstDash val="dash"/>
          </a:ln>
        </p:spPr>
      </p:sp>
      <p:sp>
        <p:nvSpPr>
          <p:cNvPr id="18" name="Text 16"/>
          <p:cNvSpPr txBox="1"/>
          <p:nvPr/>
        </p:nvSpPr>
        <p:spPr>
          <a:xfrm>
            <a:off x="5212080" y="1097534"/>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$470,000</a:t>
            </a:r>
            <a:endParaRPr lang="en-US" sz="1000" dirty="0"/>
          </a:p>
        </p:txBody>
      </p:sp>
      <p:sp>
        <p:nvSpPr>
          <p:cNvPr id="19" name="Text 17"/>
          <p:cNvSpPr txBox="1"/>
          <p:nvPr/>
        </p:nvSpPr>
        <p:spPr>
          <a:xfrm>
            <a:off x="457200" y="15547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7559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sold earlier in the year</a:t>
            </a:r>
            <a:endParaRPr lang="en-US" sz="950" dirty="0"/>
          </a:p>
        </p:txBody>
      </p:sp>
      <p:sp>
        <p:nvSpPr>
          <p:cNvPr id="21" name="Shape 19"/>
          <p:cNvSpPr/>
          <p:nvPr/>
        </p:nvSpPr>
        <p:spPr>
          <a:xfrm>
            <a:off x="7228332" y="1673606"/>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420356" y="16278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$494K</a:t>
            </a:r>
            <a:endParaRPr lang="en-US" sz="1000" dirty="0"/>
          </a:p>
        </p:txBody>
      </p:sp>
      <p:sp>
        <p:nvSpPr>
          <p:cNvPr id="23" name="Text 21"/>
          <p:cNvSpPr txBox="1"/>
          <p:nvPr/>
        </p:nvSpPr>
        <p:spPr>
          <a:xfrm>
            <a:off x="457200" y="20119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2131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era and size; systems documented</a:t>
            </a:r>
            <a:endParaRPr lang="en-US" sz="950" dirty="0"/>
          </a:p>
        </p:txBody>
      </p:sp>
      <p:sp>
        <p:nvSpPr>
          <p:cNvPr id="25" name="Shape 23"/>
          <p:cNvSpPr/>
          <p:nvPr/>
        </p:nvSpPr>
        <p:spPr>
          <a:xfrm>
            <a:off x="6775704" y="2130806"/>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67728" y="20850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4691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6703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Strongest match · Most recent pool sale; not renovated</a:t>
            </a:r>
            <a:endParaRPr lang="en-US" sz="950" dirty="0"/>
          </a:p>
        </p:txBody>
      </p:sp>
      <p:sp>
        <p:nvSpPr>
          <p:cNvPr id="29" name="Shape 27"/>
          <p:cNvSpPr/>
          <p:nvPr/>
        </p:nvSpPr>
        <p:spPr>
          <a:xfrm>
            <a:off x="6126480" y="2588006"/>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5422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9263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31275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773168" y="3045206"/>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965192" y="29994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$440K</a:t>
            </a:r>
            <a:endParaRPr lang="en-US" sz="1000" dirty="0"/>
          </a:p>
        </p:txBody>
      </p:sp>
      <p:sp>
        <p:nvSpPr>
          <p:cNvPr id="35" name="Text 33"/>
          <p:cNvSpPr txBox="1"/>
          <p:nvPr/>
        </p:nvSpPr>
        <p:spPr>
          <a:xfrm>
            <a:off x="457200" y="33835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5847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76572" y="3502406"/>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68596" y="34566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297934"/>
            <a:ext cx="8229600" cy="406654"/>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earlier in the year.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graphicFrame>
        <p:nvGraphicFramePr>
          <p:cNvPr id="4"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rot="16200000">
            <a:off x="-175565" y="2233422"/>
            <a:ext cx="1097280" cy="219456"/>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Price</a:t>
            </a:r>
            <a:endParaRPr lang="en-US" sz="1000" dirty="0"/>
          </a:p>
        </p:txBody>
      </p:sp>
      <p:sp>
        <p:nvSpPr>
          <p:cNvPr id="6" name="Text 3"/>
          <p:cNvSpPr txBox="1"/>
          <p:nvPr/>
        </p:nvSpPr>
        <p:spPr>
          <a:xfrm>
            <a:off x="583387" y="36233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$300K</a:t>
            </a:r>
            <a:endParaRPr lang="en-US" sz="900" dirty="0"/>
          </a:p>
        </p:txBody>
      </p:sp>
      <p:sp>
        <p:nvSpPr>
          <p:cNvPr id="7" name="Text 4"/>
          <p:cNvSpPr txBox="1"/>
          <p:nvPr/>
        </p:nvSpPr>
        <p:spPr>
          <a:xfrm>
            <a:off x="583387" y="3231424"/>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$350K</a:t>
            </a:r>
            <a:endParaRPr lang="en-US" sz="900" dirty="0"/>
          </a:p>
        </p:txBody>
      </p:sp>
      <p:sp>
        <p:nvSpPr>
          <p:cNvPr id="8" name="Text 5"/>
          <p:cNvSpPr txBox="1"/>
          <p:nvPr/>
        </p:nvSpPr>
        <p:spPr>
          <a:xfrm>
            <a:off x="583387" y="2839539"/>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$400K</a:t>
            </a:r>
            <a:endParaRPr lang="en-US" sz="900" dirty="0"/>
          </a:p>
        </p:txBody>
      </p:sp>
      <p:sp>
        <p:nvSpPr>
          <p:cNvPr id="9" name="Text 6"/>
          <p:cNvSpPr txBox="1"/>
          <p:nvPr/>
        </p:nvSpPr>
        <p:spPr>
          <a:xfrm>
            <a:off x="583387" y="2447653"/>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$450K</a:t>
            </a:r>
            <a:endParaRPr lang="en-US" sz="900" dirty="0"/>
          </a:p>
        </p:txBody>
      </p:sp>
      <p:sp>
        <p:nvSpPr>
          <p:cNvPr id="10" name="Text 7"/>
          <p:cNvSpPr txBox="1"/>
          <p:nvPr/>
        </p:nvSpPr>
        <p:spPr>
          <a:xfrm>
            <a:off x="583387" y="2055767"/>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$500K</a:t>
            </a:r>
            <a:endParaRPr lang="en-US" sz="900" dirty="0"/>
          </a:p>
        </p:txBody>
      </p:sp>
      <p:sp>
        <p:nvSpPr>
          <p:cNvPr id="11" name="Text 8"/>
          <p:cNvSpPr txBox="1"/>
          <p:nvPr/>
        </p:nvSpPr>
        <p:spPr>
          <a:xfrm>
            <a:off x="583387" y="1663881"/>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$550K</a:t>
            </a:r>
            <a:endParaRPr lang="en-US" sz="900" dirty="0"/>
          </a:p>
        </p:txBody>
      </p:sp>
      <p:sp>
        <p:nvSpPr>
          <p:cNvPr id="12" name="Text 9"/>
          <p:cNvSpPr txBox="1"/>
          <p:nvPr/>
        </p:nvSpPr>
        <p:spPr>
          <a:xfrm>
            <a:off x="583387" y="1271996"/>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$600K</a:t>
            </a:r>
            <a:endParaRPr lang="en-US" sz="900" dirty="0"/>
          </a:p>
        </p:txBody>
      </p:sp>
      <p:sp>
        <p:nvSpPr>
          <p:cNvPr id="13" name="Text 10"/>
          <p:cNvSpPr txBox="1"/>
          <p:nvPr/>
        </p:nvSpPr>
        <p:spPr>
          <a:xfrm>
            <a:off x="583387" y="8801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$650K</a:t>
            </a:r>
            <a:endParaRPr lang="en-US" sz="900" dirty="0"/>
          </a:p>
        </p:txBody>
      </p:sp>
      <p:sp>
        <p:nvSpPr>
          <p:cNvPr id="14" name="Text 11"/>
          <p:cNvSpPr txBox="1"/>
          <p:nvPr/>
        </p:nvSpPr>
        <p:spPr>
          <a:xfrm>
            <a:off x="1205179" y="2331393"/>
            <a:ext cx="1899940" cy="182880"/>
          </a:xfrm>
          <a:prstGeom prst="rect">
            <a:avLst/>
          </a:prstGeom>
          <a:solidFill>
            <a:srgbClr val="FBF2EE"/>
          </a:solidFill>
          <a:ln/>
        </p:spPr>
        <p:txBody>
          <a:bodyPr wrap="square" lIns="0" tIns="762" rIns="762"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sp>
        <p:nvSpPr>
          <p:cNvPr id="15" name="Shape 12"/>
          <p:cNvSpPr/>
          <p:nvPr/>
        </p:nvSpPr>
        <p:spPr>
          <a:xfrm>
            <a:off x="626237" y="4439285"/>
            <a:ext cx="82550" cy="82550"/>
          </a:xfrm>
          <a:prstGeom prst="ellipse">
            <a:avLst/>
          </a:prstGeom>
          <a:solidFill>
            <a:srgbClr val="DBDBDB"/>
          </a:solidFill>
          <a:ln w="6350">
            <a:solidFill>
              <a:srgbClr val="DBDBDB"/>
            </a:solidFill>
            <a:prstDash val="solid"/>
          </a:ln>
        </p:spPr>
      </p:sp>
      <p:sp>
        <p:nvSpPr>
          <p:cNvPr id="16" name="Text 13"/>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17" name="Shape 14"/>
          <p:cNvSpPr/>
          <p:nvPr/>
        </p:nvSpPr>
        <p:spPr>
          <a:xfrm>
            <a:off x="1766834" y="4431030"/>
            <a:ext cx="99060" cy="99060"/>
          </a:xfrm>
          <a:prstGeom prst="rect">
            <a:avLst/>
          </a:prstGeom>
          <a:solidFill>
            <a:srgbClr val="5E5E5E"/>
          </a:solidFill>
          <a:ln w="6350">
            <a:solidFill>
              <a:srgbClr val="5E5E5E"/>
            </a:solidFill>
            <a:prstDash val="solid"/>
          </a:ln>
        </p:spPr>
      </p:sp>
      <p:sp>
        <p:nvSpPr>
          <p:cNvPr id="18" name="Text 15"/>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9" name="Shape 16"/>
          <p:cNvSpPr/>
          <p:nvPr/>
        </p:nvSpPr>
        <p:spPr>
          <a:xfrm>
            <a:off x="2938708" y="4480560"/>
            <a:ext cx="237744" cy="0"/>
          </a:xfrm>
          <a:prstGeom prst="line">
            <a:avLst/>
          </a:prstGeom>
          <a:noFill/>
          <a:ln w="15875">
            <a:solidFill>
              <a:srgbClr val="5E5E5E"/>
            </a:solidFill>
            <a:prstDash val="dash"/>
          </a:ln>
        </p:spPr>
      </p:sp>
      <p:sp>
        <p:nvSpPr>
          <p:cNvPr id="20" name="Text 17"/>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21" name="Shape 18"/>
          <p:cNvSpPr/>
          <p:nvPr/>
        </p:nvSpPr>
        <p:spPr>
          <a:xfrm>
            <a:off x="4371479" y="4414520"/>
            <a:ext cx="132080" cy="132080"/>
          </a:xfrm>
          <a:prstGeom prst="ellipse">
            <a:avLst/>
          </a:prstGeom>
          <a:solidFill>
            <a:srgbClr val="C2410C"/>
          </a:solidFill>
          <a:ln w="6350">
            <a:solidFill>
              <a:srgbClr val="C2410C"/>
            </a:solidFill>
            <a:prstDash val="solid"/>
          </a:ln>
        </p:spPr>
      </p:sp>
      <p:sp>
        <p:nvSpPr>
          <p:cNvPr id="22" name="Text 19"/>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23" name="Shape 20"/>
          <p:cNvSpPr/>
          <p:nvPr/>
        </p:nvSpPr>
        <p:spPr>
          <a:xfrm>
            <a:off x="5854153" y="4398264"/>
            <a:ext cx="164592" cy="164592"/>
          </a:xfrm>
          <a:prstGeom prst="diamond">
            <a:avLst/>
          </a:prstGeom>
          <a:solidFill>
            <a:srgbClr val="1A1A1A"/>
          </a:solidFill>
          <a:ln w="6350">
            <a:solidFill>
              <a:srgbClr val="FFFFFF"/>
            </a:solidFill>
            <a:prstDash val="solid"/>
          </a:ln>
        </p:spPr>
      </p:sp>
      <p:sp>
        <p:nvSpPr>
          <p:cNvPr id="24" name="Text 21"/>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25" name="Shape 22"/>
          <p:cNvSpPr/>
          <p:nvPr/>
        </p:nvSpPr>
        <p:spPr>
          <a:xfrm>
            <a:off x="6949440" y="1143000"/>
            <a:ext cx="45720" cy="3017520"/>
          </a:xfrm>
          <a:prstGeom prst="rect">
            <a:avLst/>
          </a:prstGeom>
          <a:solidFill>
            <a:srgbClr val="C2410C"/>
          </a:solidFill>
          <a:ln w="12700">
            <a:solidFill>
              <a:srgbClr val="C2410C"/>
            </a:solidFill>
            <a:prstDash val="solid"/>
          </a:ln>
        </p:spPr>
      </p:sp>
      <p:sp>
        <p:nvSpPr>
          <p:cNvPr id="26" name="Text 23"/>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and yours sits among them without testing the ceiling.</a:t>
            </a:r>
            <a:endParaRPr lang="en-US" sz="1300" dirty="0"/>
          </a:p>
        </p:txBody>
      </p:sp>
      <p:sp>
        <p:nvSpPr>
          <p:cNvPr id="27" name="Text 24"/>
          <p:cNvSpPr txBox="1"/>
          <p:nvPr/>
        </p:nvSpPr>
        <p:spPr>
          <a:xfrm>
            <a:off x="7086600" y="2735834"/>
            <a:ext cx="1600200" cy="1424686"/>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$27,000 above the line.</a:t>
            </a:r>
            <a:endParaRPr lang="en-US" sz="1100" dirty="0"/>
          </a:p>
        </p:txBody>
      </p:sp>
      <p:sp>
        <p:nvSpPr>
          <p:cNvPr id="28"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9"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Has Shifted</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 days</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 days</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Typical Seller Credit</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$8,250</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$12,100</a:t>
            </a:r>
            <a:endParaRPr lang="en-US" sz="2800" dirty="0"/>
          </a:p>
        </p:txBody>
      </p:sp>
      <p:sp>
        <p:nvSpPr>
          <p:cNvPr id="36" name="Text 30"/>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earlier in the year.</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p:spPr>
      </p:sp>
      <p:sp>
        <p:nvSpPr>
          <p:cNvPr id="5" name="Text 3"/>
          <p:cNvSpPr txBox="1"/>
          <p:nvPr/>
        </p:nvSpPr>
        <p:spPr>
          <a:xfrm>
            <a:off x="65836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p:spPr>
      </p:sp>
      <p:sp>
        <p:nvSpPr>
          <p:cNvPr id="10" name="Text 8"/>
          <p:cNvSpPr txBox="1"/>
          <p:nvPr/>
        </p:nvSpPr>
        <p:spPr>
          <a:xfrm>
            <a:off x="349300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p:spPr>
      </p:sp>
      <p:sp>
        <p:nvSpPr>
          <p:cNvPr id="15" name="Text 13"/>
          <p:cNvSpPr txBox="1"/>
          <p:nvPr/>
        </p:nvSpPr>
        <p:spPr>
          <a:xfrm>
            <a:off x="632764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2608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PREMIUM</a:t>
            </a:r>
            <a:endParaRPr lang="en-US" sz="1000" dirty="0"/>
          </a:p>
        </p:txBody>
      </p:sp>
      <p:sp>
        <p:nvSpPr>
          <p:cNvPr id="5" name="Text 3"/>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$475,000</a:t>
            </a:r>
            <a:endParaRPr lang="en-US" sz="3000" dirty="0"/>
          </a:p>
        </p:txBody>
      </p:sp>
      <p:sp>
        <p:nvSpPr>
          <p:cNvPr id="6" name="Text 4"/>
          <p:cNvSpPr txBox="1"/>
          <p:nvPr/>
        </p:nvSpPr>
        <p:spPr>
          <a:xfrm>
            <a:off x="65836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7" name="Text 5"/>
          <p:cNvSpPr txBox="1"/>
          <p:nvPr/>
        </p:nvSpPr>
        <p:spPr>
          <a:xfrm>
            <a:off x="193018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5–9 weeks</a:t>
            </a:r>
            <a:endParaRPr lang="en-US" sz="1300" dirty="0"/>
          </a:p>
        </p:txBody>
      </p:sp>
      <p:sp>
        <p:nvSpPr>
          <p:cNvPr id="8" name="Text 6"/>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9" name="Text 7"/>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$472,000</a:t>
            </a:r>
            <a:endParaRPr lang="en-US" sz="1300" dirty="0"/>
          </a:p>
        </p:txBody>
      </p:sp>
      <p:sp>
        <p:nvSpPr>
          <p:cNvPr id="10" name="Text 8"/>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11" name="Text 9"/>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12" name="Text 10"/>
          <p:cNvSpPr txBox="1"/>
          <p:nvPr/>
        </p:nvSpPr>
        <p:spPr>
          <a:xfrm>
            <a:off x="65836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upper part of the range; takes longer and may need a price cut before an offer</a:t>
            </a:r>
            <a:endParaRPr lang="en-US" sz="1100" dirty="0"/>
          </a:p>
        </p:txBody>
      </p:sp>
      <p:sp>
        <p:nvSpPr>
          <p:cNvPr id="13" name="Shape 11"/>
          <p:cNvSpPr/>
          <p:nvPr/>
        </p:nvSpPr>
        <p:spPr>
          <a:xfrm>
            <a:off x="3291840" y="1051560"/>
            <a:ext cx="2560320" cy="2926080"/>
          </a:xfrm>
          <a:prstGeom prst="roundRect">
            <a:avLst>
              <a:gd name="adj" fmla="val 2857"/>
            </a:avLst>
          </a:prstGeom>
          <a:solidFill>
            <a:srgbClr val="C2410C"/>
          </a:solidFill>
          <a:ln w="12700">
            <a:solidFill>
              <a:srgbClr val="C2410C"/>
            </a:solidFill>
            <a:prstDash val="solid"/>
          </a:ln>
        </p:spPr>
      </p:sp>
      <p:sp>
        <p:nvSpPr>
          <p:cNvPr id="14" name="Text 12"/>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MARKET PRICE · RECOMMENDED</a:t>
            </a:r>
            <a:endParaRPr lang="en-US" sz="950" dirty="0"/>
          </a:p>
        </p:txBody>
      </p:sp>
      <p:sp>
        <p:nvSpPr>
          <p:cNvPr id="15" name="Text 13"/>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$470,000</a:t>
            </a:r>
            <a:endParaRPr lang="en-US" sz="3000" dirty="0"/>
          </a:p>
        </p:txBody>
      </p:sp>
      <p:sp>
        <p:nvSpPr>
          <p:cNvPr id="16" name="Text 14"/>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7" name="Text 15"/>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2–5 weeks</a:t>
            </a:r>
            <a:endParaRPr lang="en-US" sz="1300" dirty="0"/>
          </a:p>
        </p:txBody>
      </p:sp>
      <p:sp>
        <p:nvSpPr>
          <p:cNvPr id="18" name="Text 16"/>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9" name="Text 17"/>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$467,000</a:t>
            </a:r>
            <a:endParaRPr lang="en-US" sz="1300" dirty="0"/>
          </a:p>
        </p:txBody>
      </p:sp>
      <p:sp>
        <p:nvSpPr>
          <p:cNvPr id="20" name="Text 18"/>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a:t>
            </a:r>
            <a:endParaRPr lang="en-US" sz="1100" dirty="0"/>
          </a:p>
        </p:txBody>
      </p:sp>
      <p:sp>
        <p:nvSpPr>
          <p:cNvPr id="21" name="Text 19"/>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$11,000</a:t>
            </a:r>
            <a:endParaRPr lang="en-US" sz="1300" dirty="0"/>
          </a:p>
        </p:txBody>
      </p:sp>
      <p:sp>
        <p:nvSpPr>
          <p:cNvPr id="22" name="Text 20"/>
          <p:cNvSpPr txBox="1"/>
          <p:nvPr/>
        </p:nvSpPr>
        <p:spPr>
          <a:xfrm>
            <a:off x="3493008" y="3264408"/>
            <a:ext cx="2157984" cy="6400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where recent adjusted sales support; room to negotiate</a:t>
            </a:r>
            <a:endParaRPr lang="en-US" sz="1100" dirty="0"/>
          </a:p>
        </p:txBody>
      </p:sp>
      <p:sp>
        <p:nvSpPr>
          <p:cNvPr id="23" name="Shape 21"/>
          <p:cNvSpPr/>
          <p:nvPr/>
        </p:nvSpPr>
        <p:spPr>
          <a:xfrm>
            <a:off x="6126480" y="1051560"/>
            <a:ext cx="2560320" cy="2926080"/>
          </a:xfrm>
          <a:prstGeom prst="roundRect">
            <a:avLst>
              <a:gd name="adj" fmla="val 2857"/>
            </a:avLst>
          </a:prstGeom>
          <a:solidFill>
            <a:srgbClr val="FBF2EE"/>
          </a:solidFill>
          <a:ln w="12700">
            <a:solidFill>
              <a:srgbClr val="FBF2EE"/>
            </a:solidFill>
            <a:prstDash val="solid"/>
          </a:ln>
        </p:spPr>
      </p:sp>
      <p:sp>
        <p:nvSpPr>
          <p:cNvPr id="24" name="Text 22"/>
          <p:cNvSpPr txBox="1"/>
          <p:nvPr/>
        </p:nvSpPr>
        <p:spPr>
          <a:xfrm>
            <a:off x="632764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DRAW OFFERS</a:t>
            </a:r>
            <a:endParaRPr lang="en-US" sz="1000" dirty="0"/>
          </a:p>
        </p:txBody>
      </p:sp>
      <p:sp>
        <p:nvSpPr>
          <p:cNvPr id="25" name="Text 23"/>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$460,000</a:t>
            </a:r>
            <a:endParaRPr lang="en-US" sz="3000" dirty="0"/>
          </a:p>
        </p:txBody>
      </p:sp>
      <p:sp>
        <p:nvSpPr>
          <p:cNvPr id="26" name="Text 24"/>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7" name="Text 25"/>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1–2 weeks</a:t>
            </a:r>
            <a:endParaRPr lang="en-US" sz="1300" dirty="0"/>
          </a:p>
        </p:txBody>
      </p:sp>
      <p:sp>
        <p:nvSpPr>
          <p:cNvPr id="28" name="Text 26"/>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9" name="Text 27"/>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$457,000</a:t>
            </a:r>
            <a:endParaRPr lang="en-US" sz="1300" dirty="0"/>
          </a:p>
        </p:txBody>
      </p:sp>
      <p:sp>
        <p:nvSpPr>
          <p:cNvPr id="30" name="Text 28"/>
          <p:cNvSpPr txBox="1"/>
          <p:nvPr/>
        </p:nvSpPr>
        <p:spPr>
          <a:xfrm>
            <a:off x="632764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31" name="Text 29"/>
          <p:cNvSpPr txBox="1"/>
          <p:nvPr/>
        </p:nvSpPr>
        <p:spPr>
          <a:xfrm>
            <a:off x="782851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32" name="Text 30"/>
          <p:cNvSpPr txBox="1"/>
          <p:nvPr/>
        </p:nvSpPr>
        <p:spPr>
          <a:xfrm>
            <a:off x="632764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Priced to bring the most buyers in early and draw offers; usually the fastest to contract</a:t>
            </a:r>
            <a:endParaRPr lang="en-US" sz="1100" dirty="0"/>
          </a:p>
        </p:txBody>
      </p:sp>
      <p:sp>
        <p:nvSpPr>
          <p:cNvPr id="33" name="Text 31"/>
          <p:cNvSpPr txBox="1"/>
          <p:nvPr/>
        </p:nvSpPr>
        <p:spPr>
          <a:xfrm>
            <a:off x="457200" y="4114800"/>
            <a:ext cx="8229600" cy="589788"/>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The nets are close. The real choice is time and risk.</a:t>
            </a:r>
            <a:endParaRPr lang="en-US" sz="1400" dirty="0"/>
          </a:p>
        </p:txBody>
      </p:sp>
      <p:sp>
        <p:nvSpPr>
          <p:cNvPr id="34" name="Text 3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3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$13,415</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nets are close.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Premium at $475,000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$4,128/mo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$23,750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Market Price at $470,000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$4,088/mo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$23,500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Draw Offers at $460,000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$4,006/mo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$23,000 down (5%)</a:t>
            </a:r>
            <a:endParaRPr lang="en-US" sz="1100" dirty="0"/>
          </a:p>
        </p:txBody>
      </p:sp>
      <p:sp>
        <p:nvSpPr>
          <p:cNvPr id="16" name="Shape 14"/>
          <p:cNvSpPr/>
          <p:nvPr/>
        </p:nvSpPr>
        <p:spPr>
          <a:xfrm>
            <a:off x="457200" y="338328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03981"/>
            <a:ext cx="261518" cy="261518"/>
          </a:xfrm>
          <a:prstGeom prst="rect">
            <a:avLst/>
          </a:prstGeom>
        </p:spPr>
      </p:pic>
      <p:sp>
        <p:nvSpPr>
          <p:cNvPr id="18" name="Text 15"/>
          <p:cNvSpPr txBox="1"/>
          <p:nvPr/>
        </p:nvSpPr>
        <p:spPr>
          <a:xfrm>
            <a:off x="1143000" y="3310128"/>
            <a:ext cx="7543800" cy="292608"/>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Every $10,000 in price is about $82 a month to a buyer.</a:t>
            </a:r>
            <a:endParaRPr lang="en-US" sz="1400" dirty="0"/>
          </a:p>
        </p:txBody>
      </p:sp>
      <p:sp>
        <p:nvSpPr>
          <p:cNvPr id="19" name="Text 16"/>
          <p:cNvSpPr txBox="1"/>
          <p:nvPr/>
        </p:nvSpPr>
        <p:spPr>
          <a:xfrm>
            <a:off x="1143000" y="3639312"/>
            <a:ext cx="7543800" cy="1065276"/>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shop by payment, so a small change in price moves the number they see.</a:t>
            </a:r>
            <a:endParaRPr lang="en-US" sz="1400" dirty="0"/>
          </a:p>
        </p:txBody>
      </p:sp>
      <p:sp>
        <p:nvSpPr>
          <p:cNvPr id="20" name="Text 17"/>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8"/>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for buyers and insurers</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Get the Inspections</a:t>
            </a:r>
            <a:endParaRPr lang="en-US" sz="130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Pre-listing, four-point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the Renovation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Make It Easy to Show</a:t>
            </a:r>
            <a:endParaRPr lang="en-US" sz="125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Short-notice showings in the first weeks</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Decide on a 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Agree on a Review Point</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and any inspection reports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the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the listing agreement; order the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Before Launch</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a final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Oct 6</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$470,000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After Launch</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steady showings bring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58064">
                <a:tc>
                  <a:txBody>
                    <a:bodyPr/>
                    <a:lstStyle/>
                    <a:p>
                      <a:pPr algn="l" indent="0" marL="0">
                        <a:buNone/>
                      </a:pPr>
                      <a:r>
                        <a:rPr lang="en-US" sz="1000" b="1" dirty="0">
                          <a:solidFill>
                            <a:srgbClr val="A23200"/>
                          </a:solidFill>
                          <a:latin typeface="Arial" pitchFamily="34" charset="0"/>
                          <a:ea typeface="Arial" pitchFamily="34" charset="-122"/>
                          <a:cs typeface="Arial" pitchFamily="34" charset="-120"/>
                        </a:rPr>
                        <a:t>Estimated at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Premium at $475,000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Market Price at $470,000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Draw Offers at $460,000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Sale Price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$472,000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$457,000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Dec 24,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30,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16,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Listing Brokerage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−$11,800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Buyer's Agent Compensation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−$11,800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Documentary Stamp Tax on the Deed (0.70%)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−$3,304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−$3,269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−$3,199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Owner's Title Insurance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−$2,435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−$2,360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Title Company Fees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Seller-Paid Buyer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Estimated Net Before Mortgage Payoff</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$430,516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$425,826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$416,446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Holding Costs Until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−$1,604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−$949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Net After Holding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$428,912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$424,636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$415,497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6448"/>
            <a:ext cx="8229600" cy="358140"/>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Commissions are negotiable and not set by law. Not included: your mortgage payoff, this year's property tax proration (the tax bill and the expected closing date add it) and any repairs agreed after inspection. The closing agent provides the exact figures.</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$493,900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$484,000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$440,200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$435,900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$470,000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13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2026-10-06T14:01:05Z</dcterms:created>
  <dcterms:modified xsi:type="dcterms:W3CDTF">2026-10-06T14:01:05Z</dcterms:modified>
</cp:coreProperties>
</file>