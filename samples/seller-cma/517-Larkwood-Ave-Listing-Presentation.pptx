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Other Sales</c:v>
                </c:pt>
              </c:strCache>
            </c:strRef>
          </c:tx>
          <c:spPr>
            <a:solidFill>
              <a:srgbClr val="A3ADB6"/>
            </a:solidFill>
            <a:ln>
              <a:noFill/>
            </a:ln>
            <a:effectLst/>
          </c:spPr>
          <c:marker>
            <c:symbol val="circle"/>
            <c:size val="5"/>
            <c:spPr>
              <a:solidFill>
                <a:srgbClr val="DADEE2"/>
              </a:solidFill>
              <a:ln>
                <a:no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Sheet1!$B$2:$B$76</c:f>
              <c:numCache>
                <c:formatCode>General</c:formatCode>
                <c:ptCount val="75"/>
                <c:pt idx="0">
                  <c:v>427000</c:v>
                </c:pt>
                <c:pt idx="1">
                  <c:v>435000</c:v>
                </c:pt>
                <c:pt idx="2">
                  <c:v>470000</c:v>
                </c:pt>
                <c:pt idx="3">
                  <c:v>454500</c:v>
                </c:pt>
                <c:pt idx="4">
                  <c:v>559500</c:v>
                </c:pt>
                <c:pt idx="5">
                  <c:v>446000</c:v>
                </c:pt>
                <c:pt idx="6">
                  <c:v>575000</c:v>
                </c:pt>
                <c:pt idx="7">
                  <c:v>529500</c:v>
                </c:pt>
                <c:pt idx="8">
                  <c:v>516000</c:v>
                </c:pt>
                <c:pt idx="9">
                  <c:v>364000</c:v>
                </c:pt>
                <c:pt idx="10">
                  <c:v>429500</c:v>
                </c:pt>
                <c:pt idx="11">
                  <c:v>473000</c:v>
                </c:pt>
                <c:pt idx="12">
                  <c:v>391000</c:v>
                </c:pt>
                <c:pt idx="13">
                  <c:v>325500</c:v>
                </c:pt>
                <c:pt idx="14">
                  <c:v>493000</c:v>
                </c:pt>
                <c:pt idx="15">
                  <c:v>578000</c:v>
                </c:pt>
                <c:pt idx="16">
                  <c:v>549500</c:v>
                </c:pt>
                <c:pt idx="17">
                  <c:v>596500</c:v>
                </c:pt>
                <c:pt idx="18">
                  <c:v>444500</c:v>
                </c:pt>
                <c:pt idx="19">
                  <c:v>361500</c:v>
                </c:pt>
                <c:pt idx="20">
                  <c:v>398000</c:v>
                </c:pt>
                <c:pt idx="21">
                  <c:v>526000</c:v>
                </c:pt>
                <c:pt idx="22">
                  <c:v>396500</c:v>
                </c:pt>
                <c:pt idx="23">
                  <c:v>461000</c:v>
                </c:pt>
                <c:pt idx="24">
                  <c:v>477000</c:v>
                </c:pt>
                <c:pt idx="25">
                  <c:v>535000</c:v>
                </c:pt>
                <c:pt idx="26">
                  <c:v>367000</c:v>
                </c:pt>
                <c:pt idx="27">
                  <c:v>570000</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1"/>
          <c:order val="1"/>
          <c:tx>
            <c:strRef>
              <c:f>Sheet1!$C$1</c:f>
              <c:strCache>
                <c:ptCount val="1"/>
                <c:pt idx="0">
                  <c:v>For Sale Now</c:v>
                </c:pt>
              </c:strCache>
            </c:strRef>
          </c:tx>
          <c:spPr>
            <a:solidFill>
              <a:srgbClr val="A3ADB6"/>
            </a:solidFill>
            <a:ln>
              <a:noFill/>
            </a:ln>
            <a:effectLst/>
          </c:spPr>
          <c:marker>
            <c:symbol val="circle"/>
            <c:size val="7"/>
            <c:spPr>
              <a:solidFill>
                <a:srgbClr val="A3ADB6"/>
              </a:solidFill>
              <a:ln w="15875">
                <a:solidFill>
                  <a:srgbClr val="A3ADB6"/>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Sheet1!$C$2:$C$76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400000</c:v>
                </c:pt>
                <c:pt idx="29">
                  <c:v>565000</c:v>
                </c:pt>
                <c:pt idx="30">
                  <c:v>470000</c:v>
                </c:pt>
                <c:pt idx="31">
                  <c:v>449000</c:v>
                </c:pt>
                <c:pt idx="32">
                  <c:v>490000</c:v>
                </c:pt>
                <c:pt idx="33">
                  <c:v>391900</c:v>
                </c:pt>
                <c:pt idx="34">
                  <c:v>368900</c:v>
                </c:pt>
                <c:pt idx="35">
                  <c:v>390900</c:v>
                </c:pt>
                <c:pt idx="36">
                  <c:v>486900</c:v>
                </c:pt>
                <c:pt idx="37">
                  <c:v>388900</c:v>
                </c:pt>
                <c:pt idx="38">
                  <c:v>464900</c:v>
                </c:pt>
                <c:pt idx="39">
                  <c:v>425900</c:v>
                </c:pt>
                <c:pt idx="40">
                  <c:v>530900</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
                </c:pt>
              </c:numCache>
            </c:numRef>
          </c:yVal>
          <c:smooth val="0"/>
        </c:ser>
        <c:ser>
          <c:idx val="2"/>
          <c:order val="2"/>
          <c:tx>
            <c:strRef>
              <c:f>Sheet1!$D$1</c:f>
              <c:strCache>
                <c:ptCount val="1"/>
                <c:pt idx="0">
                  <c:v>Size-Only Trend</c:v>
                </c:pt>
              </c:strCache>
            </c:strRef>
          </c:tx>
          <c:spPr>
            <a:solidFill>
              <a:srgbClr val="5A6672"/>
            </a:solidFill>
            <a:ln w="15875">
              <a:solidFill>
                <a:srgbClr val="5A6672"/>
              </a:solidFill>
              <a:prstDash val="dash"/>
            </a:ln>
            <a:effectLst/>
          </c:spPr>
          <c:marker>
            <c:symbol val="none"/>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Sheet1!$D$2:$D$76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353370.74537409266</c:v>
                </c:pt>
                <c:pt idx="42">
                  <c:v>361279.9692978465</c:v>
                </c:pt>
                <c:pt idx="43">
                  <c:v>369189.1932216004</c:v>
                </c:pt>
                <c:pt idx="44">
                  <c:v>377098.41714535427</c:v>
                </c:pt>
                <c:pt idx="45">
                  <c:v>385007.6410691081</c:v>
                </c:pt>
                <c:pt idx="46">
                  <c:v>392916.864992862</c:v>
                </c:pt>
                <c:pt idx="47">
                  <c:v>400826.0889166159</c:v>
                </c:pt>
                <c:pt idx="48">
                  <c:v>408735.31284036976</c:v>
                </c:pt>
                <c:pt idx="49">
                  <c:v>416644.53676412365</c:v>
                </c:pt>
                <c:pt idx="50">
                  <c:v>424553.7606878775</c:v>
                </c:pt>
                <c:pt idx="51">
                  <c:v>432462.9846116313</c:v>
                </c:pt>
                <c:pt idx="52">
                  <c:v>440372.2085353852</c:v>
                </c:pt>
                <c:pt idx="53">
                  <c:v>448281.4324591391</c:v>
                </c:pt>
                <c:pt idx="54">
                  <c:v>456190.656382893</c:v>
                </c:pt>
                <c:pt idx="55">
                  <c:v>464099.88030664687</c:v>
                </c:pt>
                <c:pt idx="56">
                  <c:v>472009.10423040076</c:v>
                </c:pt>
                <c:pt idx="57">
                  <c:v>479918.32815415465</c:v>
                </c:pt>
                <c:pt idx="58">
                  <c:v>487827.5520779085</c:v>
                </c:pt>
                <c:pt idx="59">
                  <c:v>495736.77600166237</c:v>
                </c:pt>
                <c:pt idx="60">
                  <c:v>503645.99992541614</c:v>
                </c:pt>
                <c:pt idx="61">
                  <c:v>511555.22384917</c:v>
                </c:pt>
                <c:pt idx="62">
                  <c:v>519464.4477729239</c:v>
                </c:pt>
                <c:pt idx="63">
                  <c:v>527373.6716966778</c:v>
                </c:pt>
                <c:pt idx="64">
                  <c:v>535282.8956204318</c:v>
                </c:pt>
                <c:pt idx="65">
                  <c:v>543192.1195441856</c:v>
                </c:pt>
                <c:pt idx="66">
                  <c:v>551101.3434679394</c:v>
                </c:pt>
                <c:pt idx="67">
                  <c:v>559010.5673916934</c:v>
                </c:pt>
                <c:pt idx="68">
                  <c:v>566919.7913154473</c:v>
                </c:pt>
                <c:pt idx="69">
                  <c:v/>
                </c:pt>
                <c:pt idx="70">
                  <c:v/>
                </c:pt>
                <c:pt idx="71">
                  <c:v/>
                </c:pt>
                <c:pt idx="72">
                  <c:v/>
                </c:pt>
                <c:pt idx="73">
                  <c:v/>
                </c:pt>
                <c:pt idx="74">
                  <c:v/>
                </c:pt>
              </c:numCache>
            </c:numRef>
          </c:yVal>
          <c:smooth val="0"/>
        </c:ser>
        <c:ser>
          <c:idx val="3"/>
          <c:order val="3"/>
          <c:tx>
            <c:strRef>
              <c:f>Sheet1!$E$1</c:f>
              <c:strCache>
                <c:ptCount val="1"/>
                <c:pt idx="0">
                  <c:v>Comparable Sales</c:v>
                </c:pt>
              </c:strCache>
            </c:strRef>
          </c:tx>
          <c:spPr>
            <a:solidFill>
              <a:srgbClr val="C2410C"/>
            </a:solidFill>
            <a:ln>
              <a:noFill/>
            </a:ln>
            <a:effectLst/>
          </c:spPr>
          <c:marker>
            <c:symbol val="circle"/>
            <c:size val="8"/>
            <c:spPr>
              <a:solidFill>
                <a:srgbClr val="C2410C"/>
              </a:solidFill>
              <a:ln w="9525">
                <a:solidFill>
                  <a:srgbClr val="C2410C"/>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Sheet1!$E$2:$E$76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505500</c:v>
                </c:pt>
                <c:pt idx="70">
                  <c:v>495000</c:v>
                </c:pt>
                <c:pt idx="71">
                  <c:v>427000</c:v>
                </c:pt>
                <c:pt idx="72">
                  <c:v>429000</c:v>
                </c:pt>
                <c:pt idx="73">
                  <c:v>465000</c:v>
                </c:pt>
                <c:pt idx="74">
                  <c:v/>
                </c:pt>
              </c:numCache>
            </c:numRef>
          </c:yVal>
          <c:smooth val="0"/>
        </c:ser>
        <c:ser>
          <c:idx val="4"/>
          <c:order val="4"/>
          <c:tx>
            <c:strRef>
              <c:f>Sheet1!$F$1</c:f>
              <c:strCache>
                <c:ptCount val="1"/>
                <c:pt idx="0">
                  <c:v>Your Home, Recommended</c:v>
                </c:pt>
              </c:strCache>
            </c:strRef>
          </c:tx>
          <c:spPr>
            <a:solidFill>
              <a:srgbClr val="1A1A1A"/>
            </a:solidFill>
            <a:ln>
              <a:noFill/>
            </a:ln>
            <a:effectLst/>
          </c:spPr>
          <c:marker>
            <c:symbol val="diamond"/>
            <c:size val="14"/>
            <c:spPr>
              <a:solidFill>
                <a:srgbClr val="1A1A1A"/>
              </a:solidFill>
              <a:ln w="12700">
                <a:solidFill>
                  <a:srgbClr val="FFFFFF"/>
                </a:solidFill>
              </a:ln>
            </c:spPr>
          </c:marker>
          <c:xVal>
            <c:numRef>
              <c:f>Sheet1!$A$2:$A$76</c:f>
              <c:numCache>
                <c:formatCode>General</c:formatCode>
                <c:ptCount val="75"/>
                <c:pt idx="0">
                  <c:v>1790</c:v>
                </c:pt>
                <c:pt idx="1">
                  <c:v>1810</c:v>
                </c:pt>
                <c:pt idx="2">
                  <c:v>1702</c:v>
                </c:pt>
                <c:pt idx="3">
                  <c:v>1880</c:v>
                </c:pt>
                <c:pt idx="4">
                  <c:v>2260</c:v>
                </c:pt>
                <c:pt idx="5">
                  <c:v>1950</c:v>
                </c:pt>
                <c:pt idx="6">
                  <c:v>2380</c:v>
                </c:pt>
                <c:pt idx="7">
                  <c:v>2150</c:v>
                </c:pt>
                <c:pt idx="8">
                  <c:v>2380</c:v>
                </c:pt>
                <c:pt idx="9">
                  <c:v>1740</c:v>
                </c:pt>
                <c:pt idx="10">
                  <c:v>1880</c:v>
                </c:pt>
                <c:pt idx="11">
                  <c:v>1950</c:v>
                </c:pt>
                <c:pt idx="12">
                  <c:v>1740</c:v>
                </c:pt>
                <c:pt idx="13">
                  <c:v>1450</c:v>
                </c:pt>
                <c:pt idx="14">
                  <c:v>2150</c:v>
                </c:pt>
                <c:pt idx="15">
                  <c:v>2380</c:v>
                </c:pt>
                <c:pt idx="16">
                  <c:v>2260</c:v>
                </c:pt>
                <c:pt idx="17">
                  <c:v>2380</c:v>
                </c:pt>
                <c:pt idx="18">
                  <c:v>1740</c:v>
                </c:pt>
                <c:pt idx="19">
                  <c:v>1450</c:v>
                </c:pt>
                <c:pt idx="20">
                  <c:v>1610</c:v>
                </c:pt>
                <c:pt idx="21">
                  <c:v>2380</c:v>
                </c:pt>
                <c:pt idx="22">
                  <c:v>1820</c:v>
                </c:pt>
                <c:pt idx="23">
                  <c:v>1880</c:v>
                </c:pt>
                <c:pt idx="24">
                  <c:v>2040</c:v>
                </c:pt>
                <c:pt idx="25">
                  <c:v>2380</c:v>
                </c:pt>
                <c:pt idx="26">
                  <c:v>1610</c:v>
                </c:pt>
                <c:pt idx="27">
                  <c:v>2380</c:v>
                </c:pt>
                <c:pt idx="28">
                  <c:v>1849</c:v>
                </c:pt>
                <c:pt idx="29">
                  <c:v>1943</c:v>
                </c:pt>
                <c:pt idx="30">
                  <c:v>2400</c:v>
                </c:pt>
                <c:pt idx="31">
                  <c:v>2400</c:v>
                </c:pt>
                <c:pt idx="32">
                  <c:v>2400</c:v>
                </c:pt>
                <c:pt idx="33">
                  <c:v>1650</c:v>
                </c:pt>
                <c:pt idx="34">
                  <c:v>1500</c:v>
                </c:pt>
                <c:pt idx="35">
                  <c:v>1650</c:v>
                </c:pt>
                <c:pt idx="36">
                  <c:v>1900</c:v>
                </c:pt>
                <c:pt idx="37">
                  <c:v>1650</c:v>
                </c:pt>
                <c:pt idx="38">
                  <c:v>1900</c:v>
                </c:pt>
                <c:pt idx="39">
                  <c:v>1650</c:v>
                </c:pt>
                <c:pt idx="40">
                  <c:v>2100</c:v>
                </c:pt>
                <c:pt idx="41">
                  <c:v>1450</c:v>
                </c:pt>
                <c:pt idx="42">
                  <c:v>1485.1851851851852</c:v>
                </c:pt>
                <c:pt idx="43">
                  <c:v>1520.3703703703704</c:v>
                </c:pt>
                <c:pt idx="44">
                  <c:v>1555.5555555555557</c:v>
                </c:pt>
                <c:pt idx="45">
                  <c:v>1590.7407407407406</c:v>
                </c:pt>
                <c:pt idx="46">
                  <c:v>1625.9259259259259</c:v>
                </c:pt>
                <c:pt idx="47">
                  <c:v>1661.111111111111</c:v>
                </c:pt>
                <c:pt idx="48">
                  <c:v>1696.2962962962963</c:v>
                </c:pt>
                <c:pt idx="49">
                  <c:v>1731.4814814814815</c:v>
                </c:pt>
                <c:pt idx="50">
                  <c:v>1766.6666666666667</c:v>
                </c:pt>
                <c:pt idx="51">
                  <c:v>1801.8518518518517</c:v>
                </c:pt>
                <c:pt idx="52">
                  <c:v>1837.037037037037</c:v>
                </c:pt>
                <c:pt idx="53">
                  <c:v>1872.2222222222222</c:v>
                </c:pt>
                <c:pt idx="54">
                  <c:v>1907.4074074074074</c:v>
                </c:pt>
                <c:pt idx="55">
                  <c:v>1942.5925925925926</c:v>
                </c:pt>
                <c:pt idx="56">
                  <c:v>1977.7777777777778</c:v>
                </c:pt>
                <c:pt idx="57">
                  <c:v>2012.962962962963</c:v>
                </c:pt>
                <c:pt idx="58">
                  <c:v>2048.1481481481483</c:v>
                </c:pt>
                <c:pt idx="59">
                  <c:v>2083.3333333333335</c:v>
                </c:pt>
                <c:pt idx="60">
                  <c:v>2118.5185185185182</c:v>
                </c:pt>
                <c:pt idx="61">
                  <c:v>2153.7037037037035</c:v>
                </c:pt>
                <c:pt idx="62">
                  <c:v>2188.8888888888887</c:v>
                </c:pt>
                <c:pt idx="63">
                  <c:v>2224.074074074074</c:v>
                </c:pt>
                <c:pt idx="64">
                  <c:v>2259.259259259259</c:v>
                </c:pt>
                <c:pt idx="65">
                  <c:v>2294.4444444444443</c:v>
                </c:pt>
                <c:pt idx="66">
                  <c:v>2329.6296296296296</c:v>
                </c:pt>
                <c:pt idx="67">
                  <c:v>2364.814814814815</c:v>
                </c:pt>
                <c:pt idx="68">
                  <c:v>2400</c:v>
                </c:pt>
                <c:pt idx="69">
                  <c:v>1824</c:v>
                </c:pt>
                <c:pt idx="70">
                  <c:v>1865</c:v>
                </c:pt>
                <c:pt idx="71">
                  <c:v>1871</c:v>
                </c:pt>
                <c:pt idx="72">
                  <c:v>1849</c:v>
                </c:pt>
                <c:pt idx="73">
                  <c:v>1865</c:v>
                </c:pt>
                <c:pt idx="74">
                  <c:v>1849</c:v>
                </c:pt>
              </c:numCache>
            </c:numRef>
          </c:xVal>
          <c:yVal>
            <c:numRef>
              <c:f>Sheet1!$F$2:$F$76</c:f>
              <c:numCache>
                <c:formatCode>General</c:formatCode>
                <c:ptCount val="75"/>
                <c:pt idx="0">
                  <c:v/>
                </c:pt>
                <c:pt idx="1">
                  <c:v/>
                </c:pt>
                <c:pt idx="2">
                  <c:v/>
                </c:pt>
                <c:pt idx="3">
                  <c:v/>
                </c:pt>
                <c:pt idx="4">
                  <c:v/>
                </c:pt>
                <c:pt idx="5">
                  <c:v/>
                </c:pt>
                <c:pt idx="6">
                  <c:v/>
                </c:pt>
                <c:pt idx="7">
                  <c:v/>
                </c:pt>
                <c:pt idx="8">
                  <c:v/>
                </c:pt>
                <c:pt idx="9">
                  <c:v/>
                </c:pt>
                <c:pt idx="10">
                  <c:v/>
                </c:pt>
                <c:pt idx="11">
                  <c:v/>
                </c:pt>
                <c:pt idx="12">
                  <c:v/>
                </c:pt>
                <c:pt idx="13">
                  <c:v/>
                </c:pt>
                <c:pt idx="14">
                  <c:v/>
                </c:pt>
                <c:pt idx="15">
                  <c:v/>
                </c:pt>
                <c:pt idx="16">
                  <c:v/>
                </c:pt>
                <c:pt idx="17">
                  <c:v/>
                </c:pt>
                <c:pt idx="18">
                  <c:v/>
                </c:pt>
                <c:pt idx="19">
                  <c:v/>
                </c:pt>
                <c:pt idx="20">
                  <c:v/>
                </c:pt>
                <c:pt idx="21">
                  <c:v/>
                </c:pt>
                <c:pt idx="22">
                  <c:v/>
                </c:pt>
                <c:pt idx="23">
                  <c:v/>
                </c:pt>
                <c:pt idx="24">
                  <c:v/>
                </c:pt>
                <c:pt idx="25">
                  <c:v/>
                </c:pt>
                <c:pt idx="26">
                  <c:v/>
                </c:pt>
                <c:pt idx="27">
                  <c:v/>
                </c:pt>
                <c:pt idx="28">
                  <c:v/>
                </c:pt>
                <c:pt idx="29">
                  <c:v/>
                </c:pt>
                <c:pt idx="30">
                  <c:v/>
                </c:pt>
                <c:pt idx="31">
                  <c:v/>
                </c:pt>
                <c:pt idx="32">
                  <c:v/>
                </c:pt>
                <c:pt idx="33">
                  <c:v/>
                </c:pt>
                <c:pt idx="34">
                  <c:v/>
                </c:pt>
                <c:pt idx="35">
                  <c:v/>
                </c:pt>
                <c:pt idx="36">
                  <c:v/>
                </c:pt>
                <c:pt idx="37">
                  <c:v/>
                </c:pt>
                <c:pt idx="38">
                  <c:v/>
                </c:pt>
                <c:pt idx="39">
                  <c:v/>
                </c:pt>
                <c:pt idx="40">
                  <c:v/>
                </c:pt>
                <c:pt idx="41">
                  <c:v/>
                </c:pt>
                <c:pt idx="42">
                  <c:v/>
                </c:pt>
                <c:pt idx="43">
                  <c:v/>
                </c:pt>
                <c:pt idx="44">
                  <c:v/>
                </c:pt>
                <c:pt idx="45">
                  <c:v/>
                </c:pt>
                <c:pt idx="46">
                  <c:v/>
                </c:pt>
                <c:pt idx="47">
                  <c:v/>
                </c:pt>
                <c:pt idx="48">
                  <c:v/>
                </c:pt>
                <c:pt idx="49">
                  <c:v/>
                </c:pt>
                <c:pt idx="50">
                  <c:v/>
                </c:pt>
                <c:pt idx="51">
                  <c:v/>
                </c:pt>
                <c:pt idx="52">
                  <c:v/>
                </c:pt>
                <c:pt idx="53">
                  <c:v/>
                </c:pt>
                <c:pt idx="54">
                  <c:v/>
                </c:pt>
                <c:pt idx="55">
                  <c:v/>
                </c:pt>
                <c:pt idx="56">
                  <c:v/>
                </c:pt>
                <c:pt idx="57">
                  <c:v/>
                </c:pt>
                <c:pt idx="58">
                  <c:v/>
                </c:pt>
                <c:pt idx="59">
                  <c:v/>
                </c:pt>
                <c:pt idx="60">
                  <c:v/>
                </c:pt>
                <c:pt idx="61">
                  <c:v/>
                </c:pt>
                <c:pt idx="62">
                  <c:v/>
                </c:pt>
                <c:pt idx="63">
                  <c:v/>
                </c:pt>
                <c:pt idx="64">
                  <c:v/>
                </c:pt>
                <c:pt idx="65">
                  <c:v/>
                </c:pt>
                <c:pt idx="66">
                  <c:v/>
                </c:pt>
                <c:pt idx="67">
                  <c:v/>
                </c:pt>
                <c:pt idx="68">
                  <c:v/>
                </c:pt>
                <c:pt idx="69">
                  <c:v/>
                </c:pt>
                <c:pt idx="70">
                  <c:v/>
                </c:pt>
                <c:pt idx="71">
                  <c:v/>
                </c:pt>
                <c:pt idx="72">
                  <c:v/>
                </c:pt>
                <c:pt idx="73">
                  <c:v/>
                </c:pt>
                <c:pt idx="74">
                  <c:v>469900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2600"/>
          <c:min val="1400"/>
        </c:scaling>
        <c:delete val="0"/>
        <c:axPos val="b"/>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Living Area (Sq Ft)</a:t>
                </a:r>
              </a:p>
            </c:rich>
          </c:tx>
          <c:layout/>
          <c:overlay val="0"/>
        </c:title>
        <c:numFmt formatCode="#,##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2"/>
        <c:crosses val="autoZero"/>
        <c:auto val="1"/>
        <c:lblAlgn val="ctr"/>
        <c:noMultiLvlLbl val="1"/>
      </c:valAx>
      <c:valAx>
        <c:axId val="2094734552"/>
        <c:scaling>
          <c:orientation val="minMax"/>
          <c:max val="650000"/>
          <c:min val="300000"/>
        </c:scaling>
        <c:delete val="0"/>
        <c:axPos val="l"/>
        <c:majorGridlines>
          <c:spPr>
            <a:ln w="6350" cap="flat">
              <a:solidFill>
                <a:srgbClr val="F8E8E2"/>
              </a:solidFill>
              <a:prstDash val="solid"/>
              <a:round/>
            </a:ln>
          </c:spPr>
        </c:majorGridlines>
        <c:title>
          <c:tx>
            <c:rich>
              <a:bodyPr/>
              <a:lstStyle/>
              <a:p>
                <a:pPr>
                  <a:defRPr sz="1000" b="0" i="0" u="none" strike="noStrike">
                    <a:solidFill>
                      <a:srgbClr val="5A6672"/>
                    </a:solidFill>
                    <a:latin typeface="Arial"/>
                  </a:defRPr>
                </a:pPr>
                <a:r>
                  <a:rPr sz="1000" b="0" i="0" u="none" strike="noStrike">
                    <a:solidFill>
                      <a:srgbClr val="5A6672"/>
                    </a:solidFill>
                    <a:latin typeface="Arial"/>
                  </a:rPr>
                  <a:t>Price</a:t>
                </a:r>
              </a:p>
            </c:rich>
          </c:tx>
          <c:layout/>
          <c:overlay val="0"/>
        </c:title>
        <c:numFmt formatCode="$#,##0,&quot;K&quot;"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672"/>
                </a:solidFill>
                <a:latin typeface="Arial"/>
              </a:defRPr>
            </a:pPr>
            <a:endParaRPr lang="en-US"/>
          </a:p>
        </c:txPr>
        <c:crossAx val="2094734554"/>
        <c:crosses val="autoZero"/>
        <c:crossBetween val="midCat"/>
      </c:valAx>
      <c:spPr>
        <a:noFill/>
        <a:ln>
          <a:noFill/>
        </a:ln>
        <a:effectLst/>
      </c:spPr>
    </c:plotArea>
    <c:legend>
      <c:legendPos val="b"/>
      <c:overlay val="0"/>
      <c:txPr>
        <a:bodyPr/>
        <a:lstStyle/>
        <a:p>
          <a:pPr>
            <a:defRPr sz="1000">
              <a:solidFill>
                <a:srgbClr val="1A1A1A"/>
              </a:solidFill>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Estimated Net</c:v>
                </c:pt>
              </c:strCache>
            </c:strRef>
          </c:tx>
          <c:spPr>
            <a:solidFill>
              <a:srgbClr val="C2410C"/>
            </a:solidFill>
            <a:effectLst/>
          </c:spPr>
          <c:invertIfNegative val="0"/>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cat>
            <c:multiLvlStrRef>
              <c:f>Sheet1!$A$2:$A$4</c:f>
              <c:multiLvlStrCache>
                <c:ptCount val="3"/>
                <c:lvl>
                  <c:pt idx="0">
                    <c:v>List $479,900</c:v>
                  </c:pt>
                  <c:pt idx="1">
                    <c:v>List $469,900</c:v>
                  </c:pt>
                  <c:pt idx="2">
                    <c:v>List $459,900</c:v>
                  </c:pt>
                </c:lvl>
              </c:multiLvlStrCache>
            </c:multiLvlStrRef>
          </c:cat>
          <c:val>
            <c:numRef>
              <c:f>Sheet1!$B$2:$B$4</c:f>
              <c:numCache>
                <c:formatCode>General</c:formatCode>
                <c:ptCount val="3"/>
                <c:pt idx="0">
                  <c:v>423074</c:v>
                </c:pt>
                <c:pt idx="1">
                  <c:v>422136</c:v>
                </c:pt>
                <c:pt idx="2">
                  <c:v>425260</c:v>
                </c:pt>
              </c:numCache>
            </c:numRef>
          </c:val>
        </c:ser>
        <c:dLbls>
          <c:numFmt formatCode="$#,##0" sourceLinked="0"/>
          <c:txPr>
            <a:bodyPr/>
            <a:lstStyle/>
            <a:p>
              <a:pPr>
                <a:defRPr b="1" i="0" strike="noStrike" sz="1300" u="none">
                  <a:solidFill>
                    <a:srgbClr val="1A1A1A"/>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A1A1A"/>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F8E8E2"/>
              </a:solidFill>
              <a:prstDash val="solid"/>
              <a:round/>
            </a:ln>
          </c:spPr>
        </c:majorGridlines>
        <c:numFmt formatCode="$#,##0,&quot;K&quot;"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A6672"/>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goal: a price that gets your home sold for the most money in a reasonable time, and the evidence behind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answer. The rest of the presentation shows how we got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 sales within a mile since April; we kept the 5 closest in size, pool, age and neighborhood, adjusted each for differences from your home, and the median adjusted value is about $469,800.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features the adjustments credit your home for. The roof and permits need paperwork before buyers and appraisers will pay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is what that home would have sold for if it were yours. Adjustment details are in the report and the appendix.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sale and listing within a mile. The dotted line is size alone; renovation and pool push homes above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 April to June sales; summer = July to mid-September. Rates are the Freddie Mac 30-year average.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homes a buyer will likely tour alongside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sale prices and timelines are estimates from recent sales. The $459,900 option assumes competing offers reduce the seller credit to $5,000.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mortgage payoff. Brokerage is a 2.5% + 2.5% placeholder until we finalize the listing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Conventional loan, 5% down, 6.95%, city taxes with homestead, $3,600 insurance, 0.5% PMI.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Low-cost steps that remove the questions that cost sellers money at the negotiating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documents and the launch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Holding costs: about $530 a month (loan interest, HOA, insurance and utilities; property tax is in the proration) for each option's time to contract plus 1 month to close. Commissions are negotiable and not set by law. Not included: this year's property tax proration. Taxes here are paid in arrears, so the seller credits the buyer from Jan 1; add the tax bill and the expected closing date to include it. Title company fees are typical local charges (settlement fee $700, title search $250, municipal lien search $125, recording $70); the title company's quote replaces them. Estimates only. Not included: mortgage payoff, tax proration and repairs; the closing agent provides exact figures.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Adjustments: about $75 per sq ft of size difference; $30,000–$45,000 for renovation level; $5,000–$10,000 for larger or better lots; 1–2% for market change since the sale; seller-paid costs subtracted. A broker's opinion of value from comparable sales, not an appraisal, and not for lending. Sales data: Stellar MLS as of 2026-09-22. Deemed reliable but not guaranteed. This comparative market analysis is an opinion of price, not an appraisal, and isn't for lending purposes. Payment, tax and cost figures are estimates only, not lending or tax advice. Equal Housing Opportunity.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7B2400"/>
        </a:solidFill>
      </p:bgPr>
    </p:bg>
    <p:spTree>
      <p:nvGrpSpPr>
        <p:cNvPr id="1" name=""/>
        <p:cNvGrpSpPr/>
        <p:nvPr/>
      </p:nvGrpSpPr>
      <p:grpSpPr>
        <a:xfrm>
          <a:off x="0" y="0"/>
          <a:ext cx="0" cy="0"/>
          <a:chOff x="0" y="0"/>
          <a:chExt cx="0" cy="0"/>
        </a:xfrm>
      </p:grpSpPr>
      <p:sp>
        <p:nvSpPr>
          <p:cNvPr id="2" name="Shape 0"/>
          <p:cNvSpPr/>
          <p:nvPr/>
        </p:nvSpPr>
        <p:spPr>
          <a:xfrm>
            <a:off x="457200" y="822960"/>
            <a:ext cx="640080" cy="640080"/>
          </a:xfrm>
          <a:prstGeom prst="ellipse">
            <a:avLst/>
          </a:prstGeom>
          <a:solidFill>
            <a:srgbClr val="F8E8E2"/>
          </a:solidFill>
          <a:ln w="12700">
            <a:solidFill>
              <a:srgbClr val="F8E8E2"/>
            </a:solidFill>
            <a:prstDash val="solid"/>
          </a:ln>
        </p:spPr>
      </p:sp>
      <p:pic>
        <p:nvPicPr>
          <p:cNvPr id="3" name="Image 0" descr="preencoded.png">    </p:cNvPr>
          <p:cNvPicPr>
            <a:picLocks noChangeAspect="1"/>
          </p:cNvPicPr>
          <p:nvPr/>
        </p:nvPicPr>
        <p:blipFill>
          <a:blip r:embed="rId1"/>
          <a:stretch>
            <a:fillRect/>
          </a:stretch>
        </p:blipFill>
        <p:spPr>
          <a:xfrm>
            <a:off x="610819" y="976579"/>
            <a:ext cx="332842" cy="332842"/>
          </a:xfrm>
          <a:prstGeom prst="rect">
            <a:avLst/>
          </a:prstGeom>
        </p:spPr>
      </p:pic>
      <p:sp>
        <p:nvSpPr>
          <p:cNvPr id="4" name="Text 1"/>
          <p:cNvSpPr txBox="1"/>
          <p:nvPr/>
        </p:nvSpPr>
        <p:spPr>
          <a:xfrm>
            <a:off x="457200" y="1645920"/>
            <a:ext cx="7772400" cy="914400"/>
          </a:xfrm>
          <a:prstGeom prst="rect">
            <a:avLst/>
          </a:prstGeom>
          <a:noFill/>
          <a:ln/>
        </p:spPr>
        <p:txBody>
          <a:bodyPr wrap="square" lIns="0" tIns="0" rIns="0" bIns="0" rtlCol="0" anchor="b"/>
          <a:lstStyle/>
          <a:p>
            <a:pPr indent="0" marL="0">
              <a:buNone/>
            </a:pPr>
            <a:r>
              <a:rPr lang="en-US" sz="3800" b="1" dirty="0">
                <a:solidFill>
                  <a:srgbClr val="FFFFFF"/>
                </a:solidFill>
                <a:latin typeface="Arial" pitchFamily="34" charset="0"/>
                <a:ea typeface="Arial" pitchFamily="34" charset="-122"/>
                <a:cs typeface="Arial" pitchFamily="34" charset="-120"/>
              </a:rPr>
              <a:t>Pricing 517 Larkwood Ave</a:t>
            </a:r>
            <a:endParaRPr lang="en-US" sz="3800" dirty="0"/>
          </a:p>
        </p:txBody>
      </p:sp>
      <p:sp>
        <p:nvSpPr>
          <p:cNvPr id="5" name="Text 2"/>
          <p:cNvSpPr txBox="1"/>
          <p:nvPr/>
        </p:nvSpPr>
        <p:spPr>
          <a:xfrm>
            <a:off x="457200" y="2606040"/>
            <a:ext cx="7772400" cy="411480"/>
          </a:xfrm>
          <a:prstGeom prst="rect">
            <a:avLst/>
          </a:prstGeom>
          <a:noFill/>
          <a:ln/>
        </p:spPr>
        <p:txBody>
          <a:bodyPr wrap="square" lIns="0" tIns="0" rIns="0" bIns="0" rtlCol="0" anchor="ctr"/>
          <a:lstStyle/>
          <a:p>
            <a:pPr indent="0" marL="0">
              <a:buNone/>
            </a:pPr>
            <a:r>
              <a:rPr lang="en-US" sz="1600" dirty="0">
                <a:solidFill>
                  <a:srgbClr val="F8E8E2"/>
                </a:solidFill>
                <a:latin typeface="Arial" pitchFamily="34" charset="0"/>
                <a:ea typeface="Arial" pitchFamily="34" charset="-122"/>
                <a:cs typeface="Arial" pitchFamily="34" charset="-120"/>
              </a:rPr>
              <a:t>Listing Presentation · Harrow Springs, Fernwood Park</a:t>
            </a:r>
            <a:endParaRPr lang="en-US" sz="1600" dirty="0"/>
          </a:p>
        </p:txBody>
      </p:sp>
      <p:sp>
        <p:nvSpPr>
          <p:cNvPr id="6" name="Text 3"/>
          <p:cNvSpPr txBox="1"/>
          <p:nvPr/>
        </p:nvSpPr>
        <p:spPr>
          <a:xfrm>
            <a:off x="457200" y="3429000"/>
            <a:ext cx="7772400" cy="1097280"/>
          </a:xfrm>
          <a:prstGeom prst="rect">
            <a:avLst/>
          </a:prstGeom>
          <a:noFill/>
          <a:ln/>
        </p:spPr>
        <p:txBody>
          <a:bodyPr wrap="square" lIns="0" tIns="0" rIns="0" bIns="0" rtlCol="0" anchor="t"/>
          <a:lstStyle/>
          <a:p>
            <a:pPr indent="0" marL="0">
              <a:spcAft>
                <a:spcPts val="200"/>
              </a:spcAft>
              <a:buNone/>
            </a:pPr>
            <a:r>
              <a:rPr lang="en-US" sz="1200" b="1" dirty="0">
                <a:solidFill>
                  <a:srgbClr val="F8E8E2"/>
                </a:solidFill>
                <a:latin typeface="Arial" pitchFamily="34" charset="0"/>
                <a:ea typeface="Arial" pitchFamily="34" charset="-122"/>
                <a:cs typeface="Arial" pitchFamily="34" charset="-120"/>
              </a:rPr>
              <a:t>Jordan Avery, REALTOR®</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The Avery Team · Sample Realty, LLC · License SL0000000</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(407) 555-0142 · jordan@example.com · example.com</a:t>
            </a:r>
            <a:endParaRPr lang="en-US" sz="1200" dirty="0"/>
          </a:p>
          <a:p>
            <a:pPr indent="0" marL="0">
              <a:spcAft>
                <a:spcPts val="200"/>
              </a:spcAft>
              <a:buNone/>
            </a:pPr>
            <a:r>
              <a:rPr lang="en-US" sz="1200" dirty="0">
                <a:solidFill>
                  <a:srgbClr val="F8E8E2"/>
                </a:solidFill>
                <a:latin typeface="Arial" pitchFamily="34" charset="0"/>
                <a:ea typeface="Arial" pitchFamily="34" charset="-122"/>
                <a:cs typeface="Arial" pitchFamily="34" charset="-120"/>
              </a:rPr>
              <a:t>September 22,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Our Recommendation</a:t>
            </a:r>
            <a:endParaRPr lang="en-US" sz="2600" dirty="0"/>
          </a:p>
        </p:txBody>
      </p:sp>
      <p:sp>
        <p:nvSpPr>
          <p:cNvPr id="3" name="Text 1"/>
          <p:cNvSpPr txBox="1"/>
          <p:nvPr/>
        </p:nvSpPr>
        <p:spPr>
          <a:xfrm>
            <a:off x="457200" y="1234440"/>
            <a:ext cx="4206240" cy="320040"/>
          </a:xfrm>
          <a:prstGeom prst="rect">
            <a:avLst/>
          </a:prstGeom>
          <a:noFill/>
          <a:ln/>
        </p:spPr>
        <p:txBody>
          <a:bodyPr wrap="square" lIns="0" tIns="0" rIns="0" bIns="0" rtlCol="0" anchor="ctr"/>
          <a:lstStyle/>
          <a:p>
            <a:pPr indent="0" marL="0">
              <a:buNone/>
            </a:pPr>
            <a:r>
              <a:rPr lang="en-US" sz="1400" dirty="0">
                <a:solidFill>
                  <a:srgbClr val="5A6672"/>
                </a:solidFill>
                <a:latin typeface="Arial" pitchFamily="34" charset="0"/>
                <a:ea typeface="Arial" pitchFamily="34" charset="-122"/>
                <a:cs typeface="Arial" pitchFamily="34" charset="-120"/>
              </a:rPr>
              <a:t>Recommended List Price</a:t>
            </a:r>
            <a:endParaRPr lang="en-US" sz="1400" dirty="0"/>
          </a:p>
        </p:txBody>
      </p:sp>
      <p:sp>
        <p:nvSpPr>
          <p:cNvPr id="4" name="Text 2"/>
          <p:cNvSpPr txBox="1"/>
          <p:nvPr/>
        </p:nvSpPr>
        <p:spPr>
          <a:xfrm>
            <a:off x="457200" y="1554480"/>
            <a:ext cx="4389120" cy="1097280"/>
          </a:xfrm>
          <a:prstGeom prst="rect">
            <a:avLst/>
          </a:prstGeom>
          <a:noFill/>
          <a:ln/>
        </p:spPr>
        <p:txBody>
          <a:bodyPr wrap="square" lIns="0" tIns="0" rIns="0" bIns="0" rtlCol="0" anchor="ctr"/>
          <a:lstStyle/>
          <a:p>
            <a:pPr indent="0" marL="0">
              <a:buNone/>
            </a:pPr>
            <a:r>
              <a:rPr lang="en-US" sz="6400" b="1" dirty="0">
                <a:solidFill>
                  <a:srgbClr val="C2410C"/>
                </a:solidFill>
                <a:latin typeface="Arial" pitchFamily="34" charset="0"/>
                <a:ea typeface="Arial" pitchFamily="34" charset="-122"/>
                <a:cs typeface="Arial" pitchFamily="34" charset="-120"/>
              </a:rPr>
              <a:t>$469,900</a:t>
            </a:r>
            <a:endParaRPr lang="en-US" sz="6400" dirty="0"/>
          </a:p>
        </p:txBody>
      </p:sp>
      <p:sp>
        <p:nvSpPr>
          <p:cNvPr id="5" name="Text 3"/>
          <p:cNvSpPr txBox="1"/>
          <p:nvPr/>
        </p:nvSpPr>
        <p:spPr>
          <a:xfrm>
            <a:off x="457200" y="2834640"/>
            <a:ext cx="4206240" cy="1280160"/>
          </a:xfrm>
          <a:prstGeom prst="rect">
            <a:avLst/>
          </a:prstGeom>
          <a:noFill/>
          <a:ln/>
        </p:spPr>
        <p:txBody>
          <a:bodyPr wrap="square" lIns="0" tIns="0" rIns="0" bIns="0" rtlCol="0" anchor="t"/>
          <a:lstStyle/>
          <a:p>
            <a:pPr indent="0" marL="0">
              <a:buNone/>
            </a:pPr>
            <a:r>
              <a:rPr lang="en-US" sz="1500" dirty="0">
                <a:solidFill>
                  <a:srgbClr val="1A1A1A"/>
                </a:solidFill>
                <a:latin typeface="Arial" pitchFamily="34" charset="0"/>
                <a:ea typeface="Arial" pitchFamily="34" charset="-122"/>
                <a:cs typeface="Arial" pitchFamily="34" charset="-120"/>
              </a:rPr>
              <a:t>It sits at the middle of what recent sales support and gives you the strongest launch, when buyer attention is highest.</a:t>
            </a:r>
            <a:endParaRPr lang="en-US" sz="1500" dirty="0"/>
          </a:p>
        </p:txBody>
      </p:sp>
      <p:sp>
        <p:nvSpPr>
          <p:cNvPr id="6" name="Shape 4"/>
          <p:cNvSpPr/>
          <p:nvPr/>
        </p:nvSpPr>
        <p:spPr>
          <a:xfrm>
            <a:off x="5212080" y="1234440"/>
            <a:ext cx="3474720" cy="1234440"/>
          </a:xfrm>
          <a:prstGeom prst="roundRect">
            <a:avLst>
              <a:gd name="adj" fmla="val 5926"/>
            </a:avLst>
          </a:prstGeom>
          <a:solidFill>
            <a:srgbClr val="FBF2EE"/>
          </a:solidFill>
          <a:ln w="12700">
            <a:solidFill>
              <a:srgbClr val="FBF2EE"/>
            </a:solidFill>
            <a:prstDash val="solid"/>
          </a:ln>
        </p:spPr>
      </p:sp>
      <p:sp>
        <p:nvSpPr>
          <p:cNvPr id="7" name="Text 5"/>
          <p:cNvSpPr txBox="1"/>
          <p:nvPr/>
        </p:nvSpPr>
        <p:spPr>
          <a:xfrm>
            <a:off x="5440680" y="137160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Supported Value Range</a:t>
            </a:r>
            <a:endParaRPr lang="en-US" sz="1200" dirty="0"/>
          </a:p>
        </p:txBody>
      </p:sp>
      <p:sp>
        <p:nvSpPr>
          <p:cNvPr id="8" name="Text 6"/>
          <p:cNvSpPr txBox="1"/>
          <p:nvPr/>
        </p:nvSpPr>
        <p:spPr>
          <a:xfrm>
            <a:off x="5440680" y="1645920"/>
            <a:ext cx="3017520" cy="457200"/>
          </a:xfrm>
          <a:prstGeom prst="rect">
            <a:avLst/>
          </a:prstGeom>
          <a:noFill/>
          <a:ln/>
        </p:spPr>
        <p:txBody>
          <a:bodyPr wrap="square" lIns="0" tIns="0" rIns="0" bIns="0" rtlCol="0" anchor="ctr"/>
          <a:lstStyle/>
          <a:p>
            <a:pPr indent="0" marL="0">
              <a:buNone/>
            </a:pPr>
            <a:r>
              <a:rPr lang="en-US" sz="2400" b="1" dirty="0">
                <a:solidFill>
                  <a:srgbClr val="1A1A1A"/>
                </a:solidFill>
                <a:latin typeface="Arial" pitchFamily="34" charset="0"/>
                <a:ea typeface="Arial" pitchFamily="34" charset="-122"/>
                <a:cs typeface="Arial" pitchFamily="34" charset="-120"/>
              </a:rPr>
              <a:t>$455K – $480K</a:t>
            </a:r>
            <a:endParaRPr lang="en-US" sz="2400" dirty="0"/>
          </a:p>
        </p:txBody>
      </p:sp>
      <p:sp>
        <p:nvSpPr>
          <p:cNvPr id="9" name="Text 7"/>
          <p:cNvSpPr txBox="1"/>
          <p:nvPr/>
        </p:nvSpPr>
        <p:spPr>
          <a:xfrm>
            <a:off x="5440680" y="210312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What recent sales support</a:t>
            </a:r>
            <a:endParaRPr lang="en-US" sz="1100" dirty="0"/>
          </a:p>
        </p:txBody>
      </p:sp>
      <p:sp>
        <p:nvSpPr>
          <p:cNvPr id="10" name="Shape 8"/>
          <p:cNvSpPr/>
          <p:nvPr/>
        </p:nvSpPr>
        <p:spPr>
          <a:xfrm>
            <a:off x="5212080" y="2697480"/>
            <a:ext cx="3474720" cy="1234440"/>
          </a:xfrm>
          <a:prstGeom prst="roundRect">
            <a:avLst>
              <a:gd name="adj" fmla="val 5926"/>
            </a:avLst>
          </a:prstGeom>
          <a:solidFill>
            <a:srgbClr val="FBF2EE"/>
          </a:solidFill>
          <a:ln w="12700">
            <a:solidFill>
              <a:srgbClr val="FBF2EE"/>
            </a:solidFill>
            <a:prstDash val="solid"/>
          </a:ln>
        </p:spPr>
      </p:sp>
      <p:sp>
        <p:nvSpPr>
          <p:cNvPr id="11" name="Text 9"/>
          <p:cNvSpPr txBox="1"/>
          <p:nvPr/>
        </p:nvSpPr>
        <p:spPr>
          <a:xfrm>
            <a:off x="5440680" y="2834640"/>
            <a:ext cx="3017520" cy="274320"/>
          </a:xfrm>
          <a:prstGeom prst="rect">
            <a:avLst/>
          </a:prstGeom>
          <a:noFill/>
          <a:ln/>
        </p:spPr>
        <p:txBody>
          <a:bodyPr wrap="square" lIns="0" tIns="0" rIns="0" bIns="0" rtlCol="0" anchor="ctr"/>
          <a:lstStyle/>
          <a:p>
            <a:pPr indent="0" marL="0">
              <a:buNone/>
            </a:pPr>
            <a:r>
              <a:rPr lang="en-US" sz="1200" dirty="0">
                <a:solidFill>
                  <a:srgbClr val="5A6672"/>
                </a:solidFill>
                <a:latin typeface="Arial" pitchFamily="34" charset="0"/>
                <a:ea typeface="Arial" pitchFamily="34" charset="-122"/>
                <a:cs typeface="Arial" pitchFamily="34" charset="-120"/>
              </a:rPr>
              <a:t>Expected Sale</a:t>
            </a:r>
            <a:endParaRPr lang="en-US" sz="1200" dirty="0"/>
          </a:p>
        </p:txBody>
      </p:sp>
      <p:sp>
        <p:nvSpPr>
          <p:cNvPr id="12" name="Text 10"/>
          <p:cNvSpPr txBox="1"/>
          <p:nvPr/>
        </p:nvSpPr>
        <p:spPr>
          <a:xfrm>
            <a:off x="5440680" y="3108960"/>
            <a:ext cx="3017520" cy="457200"/>
          </a:xfrm>
          <a:prstGeom prst="rect">
            <a:avLst/>
          </a:prstGeom>
          <a:noFill/>
          <a:ln/>
        </p:spPr>
        <p:txBody>
          <a:bodyPr wrap="square" lIns="0" tIns="0" rIns="0" bIns="0" rtlCol="0" anchor="ctr"/>
          <a:lstStyle/>
          <a:p>
            <a:pPr indent="0" marL="0">
              <a:buNone/>
            </a:pPr>
            <a:r>
              <a:rPr lang="en-US" sz="2150" b="1" dirty="0">
                <a:solidFill>
                  <a:srgbClr val="1A1A1A"/>
                </a:solidFill>
                <a:latin typeface="Arial" pitchFamily="34" charset="0"/>
                <a:ea typeface="Arial" pitchFamily="34" charset="-122"/>
                <a:cs typeface="Arial" pitchFamily="34" charset="-120"/>
              </a:rPr>
              <a:t>Low-to-mid $460,000s</a:t>
            </a:r>
            <a:endParaRPr lang="en-US" sz="2150" dirty="0"/>
          </a:p>
        </p:txBody>
      </p:sp>
      <p:sp>
        <p:nvSpPr>
          <p:cNvPr id="13" name="Text 11"/>
          <p:cNvSpPr txBox="1"/>
          <p:nvPr/>
        </p:nvSpPr>
        <p:spPr>
          <a:xfrm>
            <a:off x="5440680" y="3566160"/>
            <a:ext cx="3017520" cy="25603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After the negotiating that is normal now</a:t>
            </a:r>
            <a:endParaRPr lang="en-US" sz="1100" dirty="0"/>
          </a:p>
        </p:txBody>
      </p:sp>
      <p:sp>
        <p:nvSpPr>
          <p:cNvPr id="14" name="Text 1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5" name="Text 1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We Priced It</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From the neighborhood's sales to one number</a:t>
            </a:r>
            <a:endParaRPr lang="en-US" sz="1300" dirty="0"/>
          </a:p>
        </p:txBody>
      </p:sp>
      <p:sp>
        <p:nvSpPr>
          <p:cNvPr id="4" name="Shape 2"/>
          <p:cNvSpPr/>
          <p:nvPr/>
        </p:nvSpPr>
        <p:spPr>
          <a:xfrm>
            <a:off x="612648" y="1481328"/>
            <a:ext cx="0" cy="2029968"/>
          </a:xfrm>
          <a:prstGeom prst="line">
            <a:avLst/>
          </a:prstGeom>
          <a:noFill/>
          <a:ln w="19050">
            <a:solidFill>
              <a:srgbClr val="F8E8E2"/>
            </a:solidFill>
            <a:prstDash val="solid"/>
          </a:ln>
        </p:spPr>
      </p:sp>
      <p:sp>
        <p:nvSpPr>
          <p:cNvPr id="5" name="Shape 3"/>
          <p:cNvSpPr/>
          <p:nvPr/>
        </p:nvSpPr>
        <p:spPr>
          <a:xfrm>
            <a:off x="457200" y="1325880"/>
            <a:ext cx="310896" cy="310896"/>
          </a:xfrm>
          <a:prstGeom prst="ellipse">
            <a:avLst/>
          </a:prstGeom>
          <a:solidFill>
            <a:srgbClr val="FBF2EE"/>
          </a:solidFill>
          <a:ln w="12700">
            <a:solidFill>
              <a:srgbClr val="C2410C"/>
            </a:solidFill>
            <a:prstDash val="solid"/>
          </a:ln>
        </p:spPr>
      </p:sp>
      <p:sp>
        <p:nvSpPr>
          <p:cNvPr id="6" name="Text 4"/>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1</a:t>
            </a:r>
            <a:endParaRPr lang="en-US" sz="1100" dirty="0"/>
          </a:p>
        </p:txBody>
      </p:sp>
      <p:sp>
        <p:nvSpPr>
          <p:cNvPr id="7" name="Text 5"/>
          <p:cNvSpPr txBox="1"/>
          <p:nvPr/>
        </p:nvSpPr>
        <p:spPr>
          <a:xfrm>
            <a:off x="960120" y="1289304"/>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33</a:t>
            </a:r>
            <a:endParaRPr lang="en-US" sz="2200" dirty="0"/>
          </a:p>
        </p:txBody>
      </p:sp>
      <p:sp>
        <p:nvSpPr>
          <p:cNvPr id="8" name="Text 6"/>
          <p:cNvSpPr txBox="1"/>
          <p:nvPr/>
        </p:nvSpPr>
        <p:spPr>
          <a:xfrm>
            <a:off x="960120" y="1636776"/>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sales within a mile since April</a:t>
            </a:r>
            <a:endParaRPr lang="en-US" sz="1200" dirty="0"/>
          </a:p>
        </p:txBody>
      </p:sp>
      <p:sp>
        <p:nvSpPr>
          <p:cNvPr id="9" name="Shape 7"/>
          <p:cNvSpPr/>
          <p:nvPr/>
        </p:nvSpPr>
        <p:spPr>
          <a:xfrm>
            <a:off x="457200" y="2002536"/>
            <a:ext cx="310896" cy="310896"/>
          </a:xfrm>
          <a:prstGeom prst="ellipse">
            <a:avLst/>
          </a:prstGeom>
          <a:solidFill>
            <a:srgbClr val="FBF2EE"/>
          </a:solidFill>
          <a:ln w="12700">
            <a:solidFill>
              <a:srgbClr val="C2410C"/>
            </a:solidFill>
            <a:prstDash val="solid"/>
          </a:ln>
        </p:spPr>
      </p:sp>
      <p:sp>
        <p:nvSpPr>
          <p:cNvPr id="10" name="Text 8"/>
          <p:cNvSpPr txBox="1"/>
          <p:nvPr/>
        </p:nvSpPr>
        <p:spPr>
          <a:xfrm>
            <a:off x="457200" y="2002536"/>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2</a:t>
            </a:r>
            <a:endParaRPr lang="en-US" sz="1100" dirty="0"/>
          </a:p>
        </p:txBody>
      </p:sp>
      <p:sp>
        <p:nvSpPr>
          <p:cNvPr id="11" name="Text 9"/>
          <p:cNvSpPr txBox="1"/>
          <p:nvPr/>
        </p:nvSpPr>
        <p:spPr>
          <a:xfrm>
            <a:off x="960120" y="1965960"/>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5</a:t>
            </a:r>
            <a:endParaRPr lang="en-US" sz="2200" dirty="0"/>
          </a:p>
        </p:txBody>
      </p:sp>
      <p:sp>
        <p:nvSpPr>
          <p:cNvPr id="12" name="Text 10"/>
          <p:cNvSpPr txBox="1"/>
          <p:nvPr/>
        </p:nvSpPr>
        <p:spPr>
          <a:xfrm>
            <a:off x="960120" y="2313432"/>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closest matches in size, pool, age and neighborhood</a:t>
            </a:r>
            <a:endParaRPr lang="en-US" sz="1200" dirty="0"/>
          </a:p>
        </p:txBody>
      </p:sp>
      <p:sp>
        <p:nvSpPr>
          <p:cNvPr id="13" name="Shape 11"/>
          <p:cNvSpPr/>
          <p:nvPr/>
        </p:nvSpPr>
        <p:spPr>
          <a:xfrm>
            <a:off x="457200" y="2679192"/>
            <a:ext cx="310896" cy="310896"/>
          </a:xfrm>
          <a:prstGeom prst="ellipse">
            <a:avLst/>
          </a:prstGeom>
          <a:solidFill>
            <a:srgbClr val="FBF2EE"/>
          </a:solidFill>
          <a:ln w="12700">
            <a:solidFill>
              <a:srgbClr val="C2410C"/>
            </a:solidFill>
            <a:prstDash val="solid"/>
          </a:ln>
        </p:spPr>
      </p:sp>
      <p:sp>
        <p:nvSpPr>
          <p:cNvPr id="14" name="Text 12"/>
          <p:cNvSpPr txBox="1"/>
          <p:nvPr/>
        </p:nvSpPr>
        <p:spPr>
          <a:xfrm>
            <a:off x="457200" y="2679192"/>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3</a:t>
            </a:r>
            <a:endParaRPr lang="en-US" sz="1100" dirty="0"/>
          </a:p>
        </p:txBody>
      </p:sp>
      <p:sp>
        <p:nvSpPr>
          <p:cNvPr id="15" name="Text 13"/>
          <p:cNvSpPr txBox="1"/>
          <p:nvPr/>
        </p:nvSpPr>
        <p:spPr>
          <a:xfrm>
            <a:off x="960120" y="2642616"/>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$436K–$492K</a:t>
            </a:r>
            <a:endParaRPr lang="en-US" sz="2200" dirty="0"/>
          </a:p>
        </p:txBody>
      </p:sp>
      <p:sp>
        <p:nvSpPr>
          <p:cNvPr id="16" name="Text 14"/>
          <p:cNvSpPr txBox="1"/>
          <p:nvPr/>
        </p:nvSpPr>
        <p:spPr>
          <a:xfrm>
            <a:off x="960120" y="2990088"/>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after adjusting each for differences from your home</a:t>
            </a:r>
            <a:endParaRPr lang="en-US" sz="1200" dirty="0"/>
          </a:p>
        </p:txBody>
      </p:sp>
      <p:sp>
        <p:nvSpPr>
          <p:cNvPr id="17" name="Shape 15"/>
          <p:cNvSpPr/>
          <p:nvPr/>
        </p:nvSpPr>
        <p:spPr>
          <a:xfrm>
            <a:off x="457200" y="3355848"/>
            <a:ext cx="310896" cy="310896"/>
          </a:xfrm>
          <a:prstGeom prst="ellipse">
            <a:avLst/>
          </a:prstGeom>
          <a:solidFill>
            <a:srgbClr val="FBF2EE"/>
          </a:solidFill>
          <a:ln w="12700">
            <a:solidFill>
              <a:srgbClr val="C2410C"/>
            </a:solidFill>
            <a:prstDash val="solid"/>
          </a:ln>
        </p:spPr>
      </p:sp>
      <p:sp>
        <p:nvSpPr>
          <p:cNvPr id="18" name="Text 16"/>
          <p:cNvSpPr txBox="1"/>
          <p:nvPr/>
        </p:nvSpPr>
        <p:spPr>
          <a:xfrm>
            <a:off x="457200" y="3355848"/>
            <a:ext cx="310896" cy="310896"/>
          </a:xfrm>
          <a:prstGeom prst="rect">
            <a:avLst/>
          </a:prstGeom>
          <a:noFill/>
          <a:ln/>
        </p:spPr>
        <p:txBody>
          <a:bodyPr wrap="square" lIns="0" tIns="0" rIns="0" bIns="0" rtlCol="0" anchor="ctr"/>
          <a:lstStyle/>
          <a:p>
            <a:pPr algn="ctr" indent="0" marL="0">
              <a:buNone/>
            </a:pPr>
            <a:r>
              <a:rPr lang="en-US" sz="1100" b="1" dirty="0">
                <a:solidFill>
                  <a:srgbClr val="A23200"/>
                </a:solidFill>
                <a:latin typeface="Arial" pitchFamily="34" charset="0"/>
                <a:ea typeface="Arial" pitchFamily="34" charset="-122"/>
                <a:cs typeface="Arial" pitchFamily="34" charset="-120"/>
              </a:rPr>
              <a:t>4</a:t>
            </a:r>
            <a:endParaRPr lang="en-US" sz="1100" dirty="0"/>
          </a:p>
        </p:txBody>
      </p:sp>
      <p:sp>
        <p:nvSpPr>
          <p:cNvPr id="19" name="Text 17"/>
          <p:cNvSpPr txBox="1"/>
          <p:nvPr/>
        </p:nvSpPr>
        <p:spPr>
          <a:xfrm>
            <a:off x="960120" y="3319272"/>
            <a:ext cx="4297680" cy="347472"/>
          </a:xfrm>
          <a:prstGeom prst="rect">
            <a:avLst/>
          </a:prstGeom>
          <a:noFill/>
          <a:ln/>
        </p:spPr>
        <p:txBody>
          <a:bodyPr wrap="square" lIns="0" tIns="0" rIns="0" bIns="0" rtlCol="0" anchor="ctr"/>
          <a:lstStyle/>
          <a:p>
            <a:pPr indent="0" marL="0">
              <a:buNone/>
            </a:pPr>
            <a:r>
              <a:rPr lang="en-US" sz="2200" b="1" dirty="0">
                <a:solidFill>
                  <a:srgbClr val="C2410C"/>
                </a:solidFill>
                <a:latin typeface="Arial" pitchFamily="34" charset="0"/>
                <a:ea typeface="Arial" pitchFamily="34" charset="-122"/>
                <a:cs typeface="Arial" pitchFamily="34" charset="-120"/>
              </a:rPr>
              <a:t>$469,800</a:t>
            </a:r>
            <a:endParaRPr lang="en-US" sz="2200" dirty="0"/>
          </a:p>
        </p:txBody>
      </p:sp>
      <p:sp>
        <p:nvSpPr>
          <p:cNvPr id="20" name="Text 18"/>
          <p:cNvSpPr txBox="1"/>
          <p:nvPr/>
        </p:nvSpPr>
        <p:spPr>
          <a:xfrm>
            <a:off x="960120" y="3666744"/>
            <a:ext cx="4297680" cy="219456"/>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median adjusted value</a:t>
            </a:r>
            <a:endParaRPr lang="en-US" sz="1200" dirty="0"/>
          </a:p>
        </p:txBody>
      </p:sp>
      <p:sp>
        <p:nvSpPr>
          <p:cNvPr id="21" name="Shape 19"/>
          <p:cNvSpPr/>
          <p:nvPr/>
        </p:nvSpPr>
        <p:spPr>
          <a:xfrm>
            <a:off x="5669280" y="1280160"/>
            <a:ext cx="3017520" cy="2651760"/>
          </a:xfrm>
          <a:prstGeom prst="roundRect">
            <a:avLst>
              <a:gd name="adj" fmla="val 2759"/>
            </a:avLst>
          </a:prstGeom>
          <a:solidFill>
            <a:srgbClr val="C2410C"/>
          </a:solidFill>
          <a:ln w="12700">
            <a:solidFill>
              <a:srgbClr val="C2410C"/>
            </a:solidFill>
            <a:prstDash val="solid"/>
          </a:ln>
        </p:spPr>
      </p:sp>
      <p:sp>
        <p:nvSpPr>
          <p:cNvPr id="22" name="Text 20"/>
          <p:cNvSpPr txBox="1"/>
          <p:nvPr/>
        </p:nvSpPr>
        <p:spPr>
          <a:xfrm>
            <a:off x="5943600" y="1554480"/>
            <a:ext cx="2468880" cy="27432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Recommended List Price</a:t>
            </a:r>
            <a:endParaRPr lang="en-US" sz="1300" dirty="0"/>
          </a:p>
        </p:txBody>
      </p:sp>
      <p:sp>
        <p:nvSpPr>
          <p:cNvPr id="23" name="Text 21"/>
          <p:cNvSpPr txBox="1"/>
          <p:nvPr/>
        </p:nvSpPr>
        <p:spPr>
          <a:xfrm>
            <a:off x="5943600" y="1874520"/>
            <a:ext cx="2468880" cy="73152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$469,900</a:t>
            </a:r>
            <a:endParaRPr lang="en-US" sz="4000" dirty="0"/>
          </a:p>
        </p:txBody>
      </p:sp>
      <p:sp>
        <p:nvSpPr>
          <p:cNvPr id="24" name="Text 22"/>
          <p:cNvSpPr txBox="1"/>
          <p:nvPr/>
        </p:nvSpPr>
        <p:spPr>
          <a:xfrm>
            <a:off x="5943600" y="3154680"/>
            <a:ext cx="2468880" cy="228600"/>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Supported Value Range</a:t>
            </a:r>
            <a:endParaRPr lang="en-US" sz="1100" dirty="0"/>
          </a:p>
        </p:txBody>
      </p:sp>
      <p:sp>
        <p:nvSpPr>
          <p:cNvPr id="25" name="Text 23"/>
          <p:cNvSpPr txBox="1"/>
          <p:nvPr/>
        </p:nvSpPr>
        <p:spPr>
          <a:xfrm>
            <a:off x="5943600" y="3383280"/>
            <a:ext cx="2468880" cy="3200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$455K – $480K</a:t>
            </a:r>
            <a:endParaRPr lang="en-US" sz="1800" dirty="0"/>
          </a:p>
        </p:txBody>
      </p:sp>
      <p:sp>
        <p:nvSpPr>
          <p:cNvPr id="26" name="Text 24"/>
          <p:cNvSpPr txBox="1"/>
          <p:nvPr/>
        </p:nvSpPr>
        <p:spPr>
          <a:xfrm>
            <a:off x="457200" y="4160520"/>
            <a:ext cx="8229600" cy="50292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Adjustments cover size, larger corner lot, market since the sale, documented recent systems, renovation, partial update vs. full renovation, larger canal lot and seller credits.</a:t>
            </a:r>
            <a:endParaRPr lang="en-US" sz="1100" dirty="0"/>
          </a:p>
        </p:txBody>
      </p:sp>
      <p:sp>
        <p:nvSpPr>
          <p:cNvPr id="27" name="Text 25"/>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8" name="Text 26"/>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Buyers Will Pay For</a:t>
            </a:r>
            <a:endParaRPr lang="en-US" sz="2600" dirty="0"/>
          </a:p>
        </p:txBody>
      </p:sp>
      <p:sp>
        <p:nvSpPr>
          <p:cNvPr id="3" name="Shape 1"/>
          <p:cNvSpPr/>
          <p:nvPr/>
        </p:nvSpPr>
        <p:spPr>
          <a:xfrm>
            <a:off x="457200" y="1143000"/>
            <a:ext cx="502920" cy="502920"/>
          </a:xfrm>
          <a:prstGeom prst="ellipse">
            <a:avLst/>
          </a:prstGeom>
          <a:solidFill>
            <a:srgbClr val="C2410C"/>
          </a:solidFill>
          <a:ln w="12700">
            <a:solidFill>
              <a:srgbClr val="C2410C"/>
            </a:solidFill>
            <a:prstDash val="solid"/>
          </a:ln>
        </p:spPr>
      </p:sp>
      <p:pic>
        <p:nvPicPr>
          <p:cNvPr id="4" name="Image 0" descr="preencoded.png">    </p:cNvPr>
          <p:cNvPicPr>
            <a:picLocks noChangeAspect="1"/>
          </p:cNvPicPr>
          <p:nvPr/>
        </p:nvPicPr>
        <p:blipFill>
          <a:blip r:embed="rId1"/>
          <a:stretch>
            <a:fillRect/>
          </a:stretch>
        </p:blipFill>
        <p:spPr>
          <a:xfrm>
            <a:off x="577901" y="1263701"/>
            <a:ext cx="261518" cy="261518"/>
          </a:xfrm>
          <a:prstGeom prst="rect">
            <a:avLst/>
          </a:prstGeom>
        </p:spPr>
      </p:pic>
      <p:sp>
        <p:nvSpPr>
          <p:cNvPr id="5" name="Text 2"/>
          <p:cNvSpPr txBox="1"/>
          <p:nvPr/>
        </p:nvSpPr>
        <p:spPr>
          <a:xfrm>
            <a:off x="1143000" y="1143000"/>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Renovated Kitchen and Baths</a:t>
            </a:r>
            <a:endParaRPr lang="en-US" sz="1500" dirty="0"/>
          </a:p>
        </p:txBody>
      </p:sp>
      <p:sp>
        <p:nvSpPr>
          <p:cNvPr id="6" name="Text 3"/>
          <p:cNvSpPr txBox="1"/>
          <p:nvPr/>
        </p:nvSpPr>
        <p:spPr>
          <a:xfrm>
            <a:off x="1143000" y="1426464"/>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The single biggest reason your home sells near the top of the neighborhood.</a:t>
            </a:r>
            <a:endParaRPr lang="en-US" sz="1200" dirty="0"/>
          </a:p>
        </p:txBody>
      </p:sp>
      <p:sp>
        <p:nvSpPr>
          <p:cNvPr id="7" name="Shape 4"/>
          <p:cNvSpPr/>
          <p:nvPr/>
        </p:nvSpPr>
        <p:spPr>
          <a:xfrm>
            <a:off x="457200" y="1947672"/>
            <a:ext cx="502920" cy="502920"/>
          </a:xfrm>
          <a:prstGeom prst="ellipse">
            <a:avLst/>
          </a:prstGeom>
          <a:solidFill>
            <a:srgbClr val="C2410C"/>
          </a:solidFill>
          <a:ln w="12700">
            <a:solidFill>
              <a:srgbClr val="C2410C"/>
            </a:solidFill>
            <a:prstDash val="solid"/>
          </a:ln>
        </p:spPr>
      </p:sp>
      <p:pic>
        <p:nvPicPr>
          <p:cNvPr id="8" name="Image 1" descr="preencoded.png">    </p:cNvPr>
          <p:cNvPicPr>
            <a:picLocks noChangeAspect="1"/>
          </p:cNvPicPr>
          <p:nvPr/>
        </p:nvPicPr>
        <p:blipFill>
          <a:blip r:embed="rId2"/>
          <a:stretch>
            <a:fillRect/>
          </a:stretch>
        </p:blipFill>
        <p:spPr>
          <a:xfrm>
            <a:off x="577901" y="2068373"/>
            <a:ext cx="261518" cy="261518"/>
          </a:xfrm>
          <a:prstGeom prst="rect">
            <a:avLst/>
          </a:prstGeom>
        </p:spPr>
      </p:pic>
      <p:sp>
        <p:nvSpPr>
          <p:cNvPr id="9" name="Text 5"/>
          <p:cNvSpPr txBox="1"/>
          <p:nvPr/>
        </p:nvSpPr>
        <p:spPr>
          <a:xfrm>
            <a:off x="1143000" y="1947672"/>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Private Pool</a:t>
            </a:r>
            <a:endParaRPr lang="en-US" sz="1500" dirty="0"/>
          </a:p>
        </p:txBody>
      </p:sp>
      <p:sp>
        <p:nvSpPr>
          <p:cNvPr id="10" name="Text 6"/>
          <p:cNvSpPr txBox="1"/>
          <p:nvPr/>
        </p:nvSpPr>
        <p:spPr>
          <a:xfrm>
            <a:off x="1143000" y="2231136"/>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Worth about $25,000 against similar homes without one.</a:t>
            </a:r>
            <a:endParaRPr lang="en-US" sz="1200" dirty="0"/>
          </a:p>
        </p:txBody>
      </p:sp>
      <p:sp>
        <p:nvSpPr>
          <p:cNvPr id="11" name="Shape 7"/>
          <p:cNvSpPr/>
          <p:nvPr/>
        </p:nvSpPr>
        <p:spPr>
          <a:xfrm>
            <a:off x="457200" y="2752344"/>
            <a:ext cx="502920" cy="502920"/>
          </a:xfrm>
          <a:prstGeom prst="ellipse">
            <a:avLst/>
          </a:prstGeom>
          <a:solidFill>
            <a:srgbClr val="C2410C"/>
          </a:solidFill>
          <a:ln w="12700">
            <a:solidFill>
              <a:srgbClr val="C2410C"/>
            </a:solidFill>
            <a:prstDash val="solid"/>
          </a:ln>
        </p:spPr>
      </p:sp>
      <p:pic>
        <p:nvPicPr>
          <p:cNvPr id="12" name="Image 2" descr="preencoded.png">    </p:cNvPr>
          <p:cNvPicPr>
            <a:picLocks noChangeAspect="1"/>
          </p:cNvPicPr>
          <p:nvPr/>
        </p:nvPicPr>
        <p:blipFill>
          <a:blip r:embed="rId3"/>
          <a:stretch>
            <a:fillRect/>
          </a:stretch>
        </p:blipFill>
        <p:spPr>
          <a:xfrm>
            <a:off x="577901" y="2873045"/>
            <a:ext cx="261518" cy="261518"/>
          </a:xfrm>
          <a:prstGeom prst="rect">
            <a:avLst/>
          </a:prstGeom>
        </p:spPr>
      </p:pic>
      <p:sp>
        <p:nvSpPr>
          <p:cNvPr id="13" name="Text 8"/>
          <p:cNvSpPr txBox="1"/>
          <p:nvPr/>
        </p:nvSpPr>
        <p:spPr>
          <a:xfrm>
            <a:off x="1143000" y="2752344"/>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Four Bedrooms, No HOA or CDD</a:t>
            </a:r>
            <a:endParaRPr lang="en-US" sz="1500" dirty="0"/>
          </a:p>
        </p:txBody>
      </p:sp>
      <p:sp>
        <p:nvSpPr>
          <p:cNvPr id="14" name="Text 9"/>
          <p:cNvSpPr txBox="1"/>
          <p:nvPr/>
        </p:nvSpPr>
        <p:spPr>
          <a:xfrm>
            <a:off x="1143000" y="3035808"/>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Flexible space and no monthly association costs.</a:t>
            </a:r>
            <a:endParaRPr lang="en-US" sz="1200" dirty="0"/>
          </a:p>
        </p:txBody>
      </p:sp>
      <p:sp>
        <p:nvSpPr>
          <p:cNvPr id="15" name="Shape 10"/>
          <p:cNvSpPr/>
          <p:nvPr/>
        </p:nvSpPr>
        <p:spPr>
          <a:xfrm>
            <a:off x="457200" y="3557016"/>
            <a:ext cx="502920" cy="502920"/>
          </a:xfrm>
          <a:prstGeom prst="ellipse">
            <a:avLst/>
          </a:prstGeom>
          <a:solidFill>
            <a:srgbClr val="C2410C"/>
          </a:solidFill>
          <a:ln w="12700">
            <a:solidFill>
              <a:srgbClr val="C2410C"/>
            </a:solidFill>
            <a:prstDash val="solid"/>
          </a:ln>
        </p:spPr>
      </p:sp>
      <p:pic>
        <p:nvPicPr>
          <p:cNvPr id="16" name="Image 3" descr="preencoded.png">    </p:cNvPr>
          <p:cNvPicPr>
            <a:picLocks noChangeAspect="1"/>
          </p:cNvPicPr>
          <p:nvPr/>
        </p:nvPicPr>
        <p:blipFill>
          <a:blip r:embed="rId4"/>
          <a:stretch>
            <a:fillRect/>
          </a:stretch>
        </p:blipFill>
        <p:spPr>
          <a:xfrm>
            <a:off x="577901" y="3677717"/>
            <a:ext cx="261518" cy="261518"/>
          </a:xfrm>
          <a:prstGeom prst="rect">
            <a:avLst/>
          </a:prstGeom>
        </p:spPr>
      </p:pic>
      <p:sp>
        <p:nvSpPr>
          <p:cNvPr id="17" name="Text 11"/>
          <p:cNvSpPr txBox="1"/>
          <p:nvPr/>
        </p:nvSpPr>
        <p:spPr>
          <a:xfrm>
            <a:off x="1143000" y="3557016"/>
            <a:ext cx="4114800" cy="27432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Flood Zone X</a:t>
            </a:r>
            <a:endParaRPr lang="en-US" sz="1500" dirty="0"/>
          </a:p>
        </p:txBody>
      </p:sp>
      <p:sp>
        <p:nvSpPr>
          <p:cNvPr id="18" name="Text 12"/>
          <p:cNvSpPr txBox="1"/>
          <p:nvPr/>
        </p:nvSpPr>
        <p:spPr>
          <a:xfrm>
            <a:off x="1143000" y="3840480"/>
            <a:ext cx="4114800" cy="420624"/>
          </a:xfrm>
          <a:prstGeom prst="rect">
            <a:avLst/>
          </a:prstGeom>
          <a:noFill/>
          <a:ln/>
        </p:spPr>
        <p:txBody>
          <a:bodyPr wrap="square" lIns="0" tIns="0" rIns="0" bIns="0" rtlCol="0" anchor="t"/>
          <a:lstStyle/>
          <a:p>
            <a:pPr indent="0" marL="0">
              <a:buNone/>
            </a:pPr>
            <a:r>
              <a:rPr lang="en-US" sz="1200" dirty="0">
                <a:solidFill>
                  <a:srgbClr val="5A6672"/>
                </a:solidFill>
                <a:latin typeface="Arial" pitchFamily="34" charset="0"/>
                <a:ea typeface="Arial" pitchFamily="34" charset="-122"/>
                <a:cs typeface="Arial" pitchFamily="34" charset="-120"/>
              </a:rPr>
              <a:t>Outside the high-risk flood zone, so lenders don't require flood insurance.</a:t>
            </a:r>
            <a:endParaRPr lang="en-US" sz="1200" dirty="0"/>
          </a:p>
        </p:txBody>
      </p:sp>
      <p:sp>
        <p:nvSpPr>
          <p:cNvPr id="19" name="Shape 13"/>
          <p:cNvSpPr/>
          <p:nvPr/>
        </p:nvSpPr>
        <p:spPr>
          <a:xfrm>
            <a:off x="5486400" y="1143000"/>
            <a:ext cx="3200400" cy="3154680"/>
          </a:xfrm>
          <a:prstGeom prst="roundRect">
            <a:avLst>
              <a:gd name="adj" fmla="val 2319"/>
            </a:avLst>
          </a:prstGeom>
          <a:solidFill>
            <a:srgbClr val="F8E8E2"/>
          </a:solidFill>
          <a:ln w="12700">
            <a:solidFill>
              <a:srgbClr val="F8E8E2"/>
            </a:solidFill>
            <a:prstDash val="solid"/>
          </a:ln>
        </p:spPr>
      </p:sp>
      <p:sp>
        <p:nvSpPr>
          <p:cNvPr id="20" name="Text 14"/>
          <p:cNvSpPr txBox="1"/>
          <p:nvPr/>
        </p:nvSpPr>
        <p:spPr>
          <a:xfrm>
            <a:off x="5715000" y="1325880"/>
            <a:ext cx="2788920" cy="320040"/>
          </a:xfrm>
          <a:prstGeom prst="rect">
            <a:avLst/>
          </a:prstGeom>
          <a:noFill/>
          <a:ln/>
        </p:spPr>
        <p:txBody>
          <a:bodyPr wrap="square" lIns="0" tIns="0" rIns="0" bIns="0" rtlCol="0" anchor="ctr"/>
          <a:lstStyle/>
          <a:p>
            <a:pPr indent="0" marL="0">
              <a:buNone/>
            </a:pPr>
            <a:r>
              <a:rPr lang="en-US" sz="1500" b="1" dirty="0">
                <a:solidFill>
                  <a:srgbClr val="A23200"/>
                </a:solidFill>
                <a:latin typeface="Arial" pitchFamily="34" charset="0"/>
                <a:ea typeface="Arial" pitchFamily="34" charset="-122"/>
                <a:cs typeface="Arial" pitchFamily="34" charset="-120"/>
              </a:rPr>
              <a:t>Needs Paperwork to Count</a:t>
            </a:r>
            <a:endParaRPr lang="en-US" sz="1500" dirty="0"/>
          </a:p>
        </p:txBody>
      </p:sp>
      <p:sp>
        <p:nvSpPr>
          <p:cNvPr id="21" name="Shape 15"/>
          <p:cNvSpPr/>
          <p:nvPr/>
        </p:nvSpPr>
        <p:spPr>
          <a:xfrm>
            <a:off x="5715000" y="1828800"/>
            <a:ext cx="411480" cy="411480"/>
          </a:xfrm>
          <a:prstGeom prst="ellipse">
            <a:avLst/>
          </a:prstGeom>
          <a:solidFill>
            <a:srgbClr val="7B2400"/>
          </a:solidFill>
          <a:ln w="12700">
            <a:solidFill>
              <a:srgbClr val="7B2400"/>
            </a:solidFill>
            <a:prstDash val="solid"/>
          </a:ln>
        </p:spPr>
      </p:sp>
      <p:pic>
        <p:nvPicPr>
          <p:cNvPr id="22" name="Image 4" descr="preencoded.png">    </p:cNvPr>
          <p:cNvPicPr>
            <a:picLocks noChangeAspect="1"/>
          </p:cNvPicPr>
          <p:nvPr/>
        </p:nvPicPr>
        <p:blipFill>
          <a:blip r:embed="rId5"/>
          <a:stretch>
            <a:fillRect/>
          </a:stretch>
        </p:blipFill>
        <p:spPr>
          <a:xfrm>
            <a:off x="5813755" y="1927555"/>
            <a:ext cx="213970" cy="213970"/>
          </a:xfrm>
          <a:prstGeom prst="rect">
            <a:avLst/>
          </a:prstGeom>
        </p:spPr>
      </p:pic>
      <p:sp>
        <p:nvSpPr>
          <p:cNvPr id="23" name="Text 16"/>
          <p:cNvSpPr txBox="1"/>
          <p:nvPr/>
        </p:nvSpPr>
        <p:spPr>
          <a:xfrm>
            <a:off x="6263640" y="182880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Roof</a:t>
            </a:r>
            <a:endParaRPr lang="en-US" sz="1300" dirty="0"/>
          </a:p>
        </p:txBody>
      </p:sp>
      <p:sp>
        <p:nvSpPr>
          <p:cNvPr id="24" name="Text 17"/>
          <p:cNvSpPr txBox="1"/>
          <p:nvPr/>
        </p:nvSpPr>
        <p:spPr>
          <a:xfrm>
            <a:off x="6263640" y="212140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Permit and date. Roof age decides whether a buyer can insure the home.</a:t>
            </a:r>
            <a:endParaRPr lang="en-US" sz="1100" dirty="0"/>
          </a:p>
        </p:txBody>
      </p:sp>
      <p:sp>
        <p:nvSpPr>
          <p:cNvPr id="25" name="Shape 18"/>
          <p:cNvSpPr/>
          <p:nvPr/>
        </p:nvSpPr>
        <p:spPr>
          <a:xfrm>
            <a:off x="5715000" y="3017520"/>
            <a:ext cx="411480" cy="411480"/>
          </a:xfrm>
          <a:prstGeom prst="ellipse">
            <a:avLst/>
          </a:prstGeom>
          <a:solidFill>
            <a:srgbClr val="7B2400"/>
          </a:solidFill>
          <a:ln w="12700">
            <a:solidFill>
              <a:srgbClr val="7B2400"/>
            </a:solidFill>
            <a:prstDash val="solid"/>
          </a:ln>
        </p:spPr>
      </p:sp>
      <p:pic>
        <p:nvPicPr>
          <p:cNvPr id="26" name="Image 5" descr="preencoded.png">    </p:cNvPr>
          <p:cNvPicPr>
            <a:picLocks noChangeAspect="1"/>
          </p:cNvPicPr>
          <p:nvPr/>
        </p:nvPicPr>
        <p:blipFill>
          <a:blip r:embed="rId6"/>
          <a:stretch>
            <a:fillRect/>
          </a:stretch>
        </p:blipFill>
        <p:spPr>
          <a:xfrm>
            <a:off x="5813755" y="3116275"/>
            <a:ext cx="213970" cy="213970"/>
          </a:xfrm>
          <a:prstGeom prst="rect">
            <a:avLst/>
          </a:prstGeom>
        </p:spPr>
      </p:pic>
      <p:sp>
        <p:nvSpPr>
          <p:cNvPr id="27" name="Text 19"/>
          <p:cNvSpPr txBox="1"/>
          <p:nvPr/>
        </p:nvSpPr>
        <p:spPr>
          <a:xfrm>
            <a:off x="6263640" y="3017520"/>
            <a:ext cx="2286000"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The Permits</a:t>
            </a:r>
            <a:endParaRPr lang="en-US" sz="1300" dirty="0"/>
          </a:p>
        </p:txBody>
      </p:sp>
      <p:sp>
        <p:nvSpPr>
          <p:cNvPr id="28" name="Text 20"/>
          <p:cNvSpPr txBox="1"/>
          <p:nvPr/>
        </p:nvSpPr>
        <p:spPr>
          <a:xfrm>
            <a:off x="6263640" y="3310128"/>
            <a:ext cx="2286000" cy="77724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Kitchen, bath, electrical, and plumbing work. Undocumented upgrades count for less.</a:t>
            </a:r>
            <a:endParaRPr lang="en-US" sz="1100" dirty="0"/>
          </a:p>
        </p:txBody>
      </p:sp>
      <p:sp>
        <p:nvSpPr>
          <p:cNvPr id="29" name="Text 2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0" name="Text 2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Comparable Homes Sold For</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Each sale adjusted to what it would have sold for as your home</a:t>
            </a:r>
            <a:endParaRPr lang="en-US" sz="1300" dirty="0"/>
          </a:p>
        </p:txBody>
      </p:sp>
      <p:sp>
        <p:nvSpPr>
          <p:cNvPr id="4" name="Shape 2"/>
          <p:cNvSpPr/>
          <p:nvPr/>
        </p:nvSpPr>
        <p:spPr>
          <a:xfrm>
            <a:off x="5532120" y="1325880"/>
            <a:ext cx="1143000" cy="2468880"/>
          </a:xfrm>
          <a:prstGeom prst="rect">
            <a:avLst/>
          </a:prstGeom>
          <a:solidFill>
            <a:srgbClr val="FBF2EE"/>
          </a:solidFill>
          <a:ln w="12700">
            <a:solidFill>
              <a:srgbClr val="FBF2EE"/>
            </a:solidFill>
            <a:prstDash val="solid"/>
          </a:ln>
        </p:spPr>
      </p:sp>
      <p:sp>
        <p:nvSpPr>
          <p:cNvPr id="5" name="Shape 3"/>
          <p:cNvSpPr/>
          <p:nvPr/>
        </p:nvSpPr>
        <p:spPr>
          <a:xfrm>
            <a:off x="3931920" y="1325880"/>
            <a:ext cx="0" cy="2468880"/>
          </a:xfrm>
          <a:prstGeom prst="line">
            <a:avLst/>
          </a:prstGeom>
          <a:noFill/>
          <a:ln w="9525">
            <a:solidFill>
              <a:srgbClr val="F8E8E2"/>
            </a:solidFill>
            <a:prstDash val="solid"/>
          </a:ln>
        </p:spPr>
      </p:sp>
      <p:sp>
        <p:nvSpPr>
          <p:cNvPr id="6" name="Text 4"/>
          <p:cNvSpPr txBox="1"/>
          <p:nvPr/>
        </p:nvSpPr>
        <p:spPr>
          <a:xfrm>
            <a:off x="3566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$420K</a:t>
            </a:r>
            <a:endParaRPr lang="en-US" sz="1000" dirty="0"/>
          </a:p>
        </p:txBody>
      </p:sp>
      <p:sp>
        <p:nvSpPr>
          <p:cNvPr id="7" name="Shape 5"/>
          <p:cNvSpPr/>
          <p:nvPr/>
        </p:nvSpPr>
        <p:spPr>
          <a:xfrm>
            <a:off x="4846320" y="1325880"/>
            <a:ext cx="0" cy="2468880"/>
          </a:xfrm>
          <a:prstGeom prst="line">
            <a:avLst/>
          </a:prstGeom>
          <a:noFill/>
          <a:ln w="9525">
            <a:solidFill>
              <a:srgbClr val="F8E8E2"/>
            </a:solidFill>
            <a:prstDash val="solid"/>
          </a:ln>
        </p:spPr>
      </p:sp>
      <p:sp>
        <p:nvSpPr>
          <p:cNvPr id="8" name="Text 6"/>
          <p:cNvSpPr txBox="1"/>
          <p:nvPr/>
        </p:nvSpPr>
        <p:spPr>
          <a:xfrm>
            <a:off x="44805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$440K</a:t>
            </a:r>
            <a:endParaRPr lang="en-US" sz="1000" dirty="0"/>
          </a:p>
        </p:txBody>
      </p:sp>
      <p:sp>
        <p:nvSpPr>
          <p:cNvPr id="9" name="Shape 7"/>
          <p:cNvSpPr/>
          <p:nvPr/>
        </p:nvSpPr>
        <p:spPr>
          <a:xfrm>
            <a:off x="5760720" y="1325880"/>
            <a:ext cx="0" cy="2468880"/>
          </a:xfrm>
          <a:prstGeom prst="line">
            <a:avLst/>
          </a:prstGeom>
          <a:noFill/>
          <a:ln w="9525">
            <a:solidFill>
              <a:srgbClr val="F8E8E2"/>
            </a:solidFill>
            <a:prstDash val="solid"/>
          </a:ln>
        </p:spPr>
      </p:sp>
      <p:sp>
        <p:nvSpPr>
          <p:cNvPr id="10" name="Text 8"/>
          <p:cNvSpPr txBox="1"/>
          <p:nvPr/>
        </p:nvSpPr>
        <p:spPr>
          <a:xfrm>
            <a:off x="53949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$460K</a:t>
            </a:r>
            <a:endParaRPr lang="en-US" sz="1000" dirty="0"/>
          </a:p>
        </p:txBody>
      </p:sp>
      <p:sp>
        <p:nvSpPr>
          <p:cNvPr id="11" name="Shape 9"/>
          <p:cNvSpPr/>
          <p:nvPr/>
        </p:nvSpPr>
        <p:spPr>
          <a:xfrm>
            <a:off x="6675120" y="1325880"/>
            <a:ext cx="0" cy="2468880"/>
          </a:xfrm>
          <a:prstGeom prst="line">
            <a:avLst/>
          </a:prstGeom>
          <a:noFill/>
          <a:ln w="9525">
            <a:solidFill>
              <a:srgbClr val="F8E8E2"/>
            </a:solidFill>
            <a:prstDash val="solid"/>
          </a:ln>
        </p:spPr>
      </p:sp>
      <p:sp>
        <p:nvSpPr>
          <p:cNvPr id="12" name="Text 10"/>
          <p:cNvSpPr txBox="1"/>
          <p:nvPr/>
        </p:nvSpPr>
        <p:spPr>
          <a:xfrm>
            <a:off x="63093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$480K</a:t>
            </a:r>
            <a:endParaRPr lang="en-US" sz="1000" dirty="0"/>
          </a:p>
        </p:txBody>
      </p:sp>
      <p:sp>
        <p:nvSpPr>
          <p:cNvPr id="13" name="Shape 11"/>
          <p:cNvSpPr/>
          <p:nvPr/>
        </p:nvSpPr>
        <p:spPr>
          <a:xfrm>
            <a:off x="7589520" y="1325880"/>
            <a:ext cx="0" cy="2468880"/>
          </a:xfrm>
          <a:prstGeom prst="line">
            <a:avLst/>
          </a:prstGeom>
          <a:noFill/>
          <a:ln w="9525">
            <a:solidFill>
              <a:srgbClr val="F8E8E2"/>
            </a:solidFill>
            <a:prstDash val="solid"/>
          </a:ln>
        </p:spPr>
      </p:sp>
      <p:sp>
        <p:nvSpPr>
          <p:cNvPr id="14" name="Text 12"/>
          <p:cNvSpPr txBox="1"/>
          <p:nvPr/>
        </p:nvSpPr>
        <p:spPr>
          <a:xfrm>
            <a:off x="72237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$500K</a:t>
            </a:r>
            <a:endParaRPr lang="en-US" sz="1000" dirty="0"/>
          </a:p>
        </p:txBody>
      </p:sp>
      <p:sp>
        <p:nvSpPr>
          <p:cNvPr id="15" name="Shape 13"/>
          <p:cNvSpPr/>
          <p:nvPr/>
        </p:nvSpPr>
        <p:spPr>
          <a:xfrm>
            <a:off x="8503920" y="1325880"/>
            <a:ext cx="0" cy="2468880"/>
          </a:xfrm>
          <a:prstGeom prst="line">
            <a:avLst/>
          </a:prstGeom>
          <a:noFill/>
          <a:ln w="9525">
            <a:solidFill>
              <a:srgbClr val="F8E8E2"/>
            </a:solidFill>
            <a:prstDash val="solid"/>
          </a:ln>
        </p:spPr>
      </p:sp>
      <p:sp>
        <p:nvSpPr>
          <p:cNvPr id="16" name="Text 14"/>
          <p:cNvSpPr txBox="1"/>
          <p:nvPr/>
        </p:nvSpPr>
        <p:spPr>
          <a:xfrm>
            <a:off x="8138160" y="3840480"/>
            <a:ext cx="731520" cy="228600"/>
          </a:xfrm>
          <a:prstGeom prst="rect">
            <a:avLst/>
          </a:prstGeom>
          <a:noFill/>
          <a:ln/>
        </p:spPr>
        <p:txBody>
          <a:bodyPr wrap="square" lIns="0" tIns="0" rIns="0" bIns="0" rtlCol="0" anchor="ctr"/>
          <a:lstStyle/>
          <a:p>
            <a:pPr algn="ctr" indent="0" marL="0">
              <a:buNone/>
            </a:pPr>
            <a:r>
              <a:rPr lang="en-US" sz="1000" dirty="0">
                <a:solidFill>
                  <a:srgbClr val="5A6672"/>
                </a:solidFill>
                <a:latin typeface="Arial" pitchFamily="34" charset="0"/>
                <a:ea typeface="Arial" pitchFamily="34" charset="-122"/>
                <a:cs typeface="Arial" pitchFamily="34" charset="-120"/>
              </a:rPr>
              <a:t>$520K</a:t>
            </a:r>
            <a:endParaRPr lang="en-US" sz="1000" dirty="0"/>
          </a:p>
        </p:txBody>
      </p:sp>
      <p:sp>
        <p:nvSpPr>
          <p:cNvPr id="17" name="Shape 15"/>
          <p:cNvSpPr/>
          <p:nvPr/>
        </p:nvSpPr>
        <p:spPr>
          <a:xfrm>
            <a:off x="6213348" y="1188720"/>
            <a:ext cx="0" cy="2606040"/>
          </a:xfrm>
          <a:prstGeom prst="line">
            <a:avLst/>
          </a:prstGeom>
          <a:noFill/>
          <a:ln w="25400">
            <a:solidFill>
              <a:srgbClr val="1A1A1A"/>
            </a:solidFill>
            <a:prstDash val="dash"/>
          </a:ln>
        </p:spPr>
      </p:sp>
      <p:sp>
        <p:nvSpPr>
          <p:cNvPr id="18" name="Text 16"/>
          <p:cNvSpPr txBox="1"/>
          <p:nvPr/>
        </p:nvSpPr>
        <p:spPr>
          <a:xfrm>
            <a:off x="5207508" y="960120"/>
            <a:ext cx="2011680" cy="228600"/>
          </a:xfrm>
          <a:prstGeom prst="rect">
            <a:avLst/>
          </a:prstGeom>
          <a:noFill/>
          <a:ln/>
        </p:spPr>
        <p:txBody>
          <a:bodyPr wrap="square" lIns="0" tIns="0" rIns="0" bIns="0" rtlCol="0" anchor="ctr"/>
          <a:lstStyle/>
          <a:p>
            <a:pPr algn="ctr" indent="0" marL="0">
              <a:buNone/>
            </a:pPr>
            <a:r>
              <a:rPr lang="en-US" sz="1000" b="1" dirty="0">
                <a:solidFill>
                  <a:srgbClr val="1A1A1A"/>
                </a:solidFill>
                <a:latin typeface="Arial" pitchFamily="34" charset="0"/>
                <a:ea typeface="Arial" pitchFamily="34" charset="-122"/>
                <a:cs typeface="Arial" pitchFamily="34" charset="-120"/>
              </a:rPr>
              <a:t>Recommended $469,900</a:t>
            </a:r>
            <a:endParaRPr lang="en-US" sz="1000" dirty="0"/>
          </a:p>
        </p:txBody>
      </p:sp>
      <p:sp>
        <p:nvSpPr>
          <p:cNvPr id="19" name="Text 17"/>
          <p:cNvSpPr txBox="1"/>
          <p:nvPr/>
        </p:nvSpPr>
        <p:spPr>
          <a:xfrm>
            <a:off x="457200" y="14173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622 Fernwood Park Blvd</a:t>
            </a:r>
            <a:endParaRPr lang="en-US" sz="1200" dirty="0"/>
          </a:p>
        </p:txBody>
      </p:sp>
      <p:sp>
        <p:nvSpPr>
          <p:cNvPr id="20" name="Text 18"/>
          <p:cNvSpPr txBox="1"/>
          <p:nvPr/>
        </p:nvSpPr>
        <p:spPr>
          <a:xfrm>
            <a:off x="457200" y="16184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pool home; April, before rates rose</a:t>
            </a:r>
            <a:endParaRPr lang="en-US" sz="950" dirty="0"/>
          </a:p>
        </p:txBody>
      </p:sp>
      <p:sp>
        <p:nvSpPr>
          <p:cNvPr id="21" name="Shape 19"/>
          <p:cNvSpPr/>
          <p:nvPr/>
        </p:nvSpPr>
        <p:spPr>
          <a:xfrm>
            <a:off x="7155180" y="1536192"/>
            <a:ext cx="164592" cy="164592"/>
          </a:xfrm>
          <a:prstGeom prst="ellipse">
            <a:avLst/>
          </a:prstGeom>
          <a:solidFill>
            <a:srgbClr val="C2410C"/>
          </a:solidFill>
          <a:ln w="12700">
            <a:solidFill>
              <a:srgbClr val="FFFFFF"/>
            </a:solidFill>
            <a:prstDash val="solid"/>
          </a:ln>
        </p:spPr>
      </p:sp>
      <p:sp>
        <p:nvSpPr>
          <p:cNvPr id="22" name="Text 20"/>
          <p:cNvSpPr txBox="1"/>
          <p:nvPr/>
        </p:nvSpPr>
        <p:spPr>
          <a:xfrm>
            <a:off x="7347204" y="14904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$492K</a:t>
            </a:r>
            <a:endParaRPr lang="en-US" sz="1000" dirty="0"/>
          </a:p>
        </p:txBody>
      </p:sp>
      <p:sp>
        <p:nvSpPr>
          <p:cNvPr id="23" name="Text 21"/>
          <p:cNvSpPr txBox="1"/>
          <p:nvPr/>
        </p:nvSpPr>
        <p:spPr>
          <a:xfrm>
            <a:off x="457200" y="18745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516 Tallow Ct</a:t>
            </a:r>
            <a:endParaRPr lang="en-US" sz="1200" dirty="0"/>
          </a:p>
        </p:txBody>
      </p:sp>
      <p:sp>
        <p:nvSpPr>
          <p:cNvPr id="24" name="Text 22"/>
          <p:cNvSpPr txBox="1"/>
          <p:nvPr/>
        </p:nvSpPr>
        <p:spPr>
          <a:xfrm>
            <a:off x="457200" y="20756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year and size; systems documented</a:t>
            </a:r>
            <a:endParaRPr lang="en-US" sz="950" dirty="0"/>
          </a:p>
        </p:txBody>
      </p:sp>
      <p:sp>
        <p:nvSpPr>
          <p:cNvPr id="25" name="Shape 23"/>
          <p:cNvSpPr/>
          <p:nvPr/>
        </p:nvSpPr>
        <p:spPr>
          <a:xfrm>
            <a:off x="6766560" y="1993392"/>
            <a:ext cx="164592" cy="164592"/>
          </a:xfrm>
          <a:prstGeom prst="ellipse">
            <a:avLst/>
          </a:prstGeom>
          <a:solidFill>
            <a:srgbClr val="C2410C"/>
          </a:solidFill>
          <a:ln w="12700">
            <a:solidFill>
              <a:srgbClr val="FFFFFF"/>
            </a:solidFill>
            <a:prstDash val="solid"/>
          </a:ln>
        </p:spPr>
      </p:sp>
      <p:sp>
        <p:nvSpPr>
          <p:cNvPr id="26" name="Text 24"/>
          <p:cNvSpPr txBox="1"/>
          <p:nvPr/>
        </p:nvSpPr>
        <p:spPr>
          <a:xfrm>
            <a:off x="6958584" y="19476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$484K</a:t>
            </a:r>
            <a:endParaRPr lang="en-US" sz="1000" dirty="0"/>
          </a:p>
        </p:txBody>
      </p:sp>
      <p:sp>
        <p:nvSpPr>
          <p:cNvPr id="27" name="Text 25"/>
          <p:cNvSpPr txBox="1"/>
          <p:nvPr/>
        </p:nvSpPr>
        <p:spPr>
          <a:xfrm>
            <a:off x="457200" y="23317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745 Little Heron Cir</a:t>
            </a:r>
            <a:endParaRPr lang="en-US" sz="1200" dirty="0"/>
          </a:p>
        </p:txBody>
      </p:sp>
      <p:sp>
        <p:nvSpPr>
          <p:cNvPr id="28" name="Text 26"/>
          <p:cNvSpPr txBox="1"/>
          <p:nvPr/>
        </p:nvSpPr>
        <p:spPr>
          <a:xfrm>
            <a:off x="457200" y="25328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Most recent pool sale; not renovated</a:t>
            </a:r>
            <a:endParaRPr lang="en-US" sz="950" dirty="0"/>
          </a:p>
        </p:txBody>
      </p:sp>
      <p:sp>
        <p:nvSpPr>
          <p:cNvPr id="29" name="Shape 27"/>
          <p:cNvSpPr/>
          <p:nvPr/>
        </p:nvSpPr>
        <p:spPr>
          <a:xfrm>
            <a:off x="6126480" y="2450592"/>
            <a:ext cx="164592" cy="164592"/>
          </a:xfrm>
          <a:prstGeom prst="ellipse">
            <a:avLst/>
          </a:prstGeom>
          <a:solidFill>
            <a:srgbClr val="C2410C"/>
          </a:solidFill>
          <a:ln w="12700">
            <a:solidFill>
              <a:srgbClr val="FFFFFF"/>
            </a:solidFill>
            <a:prstDash val="solid"/>
          </a:ln>
        </p:spPr>
      </p:sp>
      <p:sp>
        <p:nvSpPr>
          <p:cNvPr id="30" name="Text 28"/>
          <p:cNvSpPr txBox="1"/>
          <p:nvPr/>
        </p:nvSpPr>
        <p:spPr>
          <a:xfrm>
            <a:off x="6318504" y="24048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$470K</a:t>
            </a:r>
            <a:endParaRPr lang="en-US" sz="1000" dirty="0"/>
          </a:p>
        </p:txBody>
      </p:sp>
      <p:sp>
        <p:nvSpPr>
          <p:cNvPr id="31" name="Text 29"/>
          <p:cNvSpPr txBox="1"/>
          <p:nvPr/>
        </p:nvSpPr>
        <p:spPr>
          <a:xfrm>
            <a:off x="457200" y="27889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602 Thrasher Ln</a:t>
            </a:r>
            <a:endParaRPr lang="en-US" sz="1200" dirty="0"/>
          </a:p>
        </p:txBody>
      </p:sp>
      <p:sp>
        <p:nvSpPr>
          <p:cNvPr id="32" name="Text 30"/>
          <p:cNvSpPr txBox="1"/>
          <p:nvPr/>
        </p:nvSpPr>
        <p:spPr>
          <a:xfrm>
            <a:off x="457200" y="29900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Same floor plan; partly updated</a:t>
            </a:r>
            <a:endParaRPr lang="en-US" sz="950" dirty="0"/>
          </a:p>
        </p:txBody>
      </p:sp>
      <p:sp>
        <p:nvSpPr>
          <p:cNvPr id="33" name="Shape 31"/>
          <p:cNvSpPr/>
          <p:nvPr/>
        </p:nvSpPr>
        <p:spPr>
          <a:xfrm>
            <a:off x="4690872" y="2907792"/>
            <a:ext cx="164592" cy="164592"/>
          </a:xfrm>
          <a:prstGeom prst="ellipse">
            <a:avLst/>
          </a:prstGeom>
          <a:solidFill>
            <a:srgbClr val="C2410C"/>
          </a:solidFill>
          <a:ln w="12700">
            <a:solidFill>
              <a:srgbClr val="FFFFFF"/>
            </a:solidFill>
            <a:prstDash val="solid"/>
          </a:ln>
        </p:spPr>
      </p:sp>
      <p:sp>
        <p:nvSpPr>
          <p:cNvPr id="34" name="Text 32"/>
          <p:cNvSpPr txBox="1"/>
          <p:nvPr/>
        </p:nvSpPr>
        <p:spPr>
          <a:xfrm>
            <a:off x="4882896" y="28620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$438K</a:t>
            </a:r>
            <a:endParaRPr lang="en-US" sz="1000" dirty="0"/>
          </a:p>
        </p:txBody>
      </p:sp>
      <p:sp>
        <p:nvSpPr>
          <p:cNvPr id="35" name="Text 33"/>
          <p:cNvSpPr txBox="1"/>
          <p:nvPr/>
        </p:nvSpPr>
        <p:spPr>
          <a:xfrm>
            <a:off x="457200" y="3246120"/>
            <a:ext cx="3291840" cy="219456"/>
          </a:xfrm>
          <a:prstGeom prst="rect">
            <a:avLst/>
          </a:prstGeom>
          <a:noFill/>
          <a:ln/>
        </p:spPr>
        <p:txBody>
          <a:bodyPr wrap="square" lIns="0" tIns="0" rIns="0" bIns="0" rtlCol="0" anchor="ctr"/>
          <a:lstStyle/>
          <a:p>
            <a:pPr indent="0" marL="0">
              <a:buNone/>
            </a:pPr>
            <a:r>
              <a:rPr lang="en-US" sz="1200" b="1" dirty="0">
                <a:solidFill>
                  <a:srgbClr val="1A1A1A"/>
                </a:solidFill>
                <a:latin typeface="Arial" pitchFamily="34" charset="0"/>
                <a:ea typeface="Arial" pitchFamily="34" charset="-122"/>
                <a:cs typeface="Arial" pitchFamily="34" charset="-120"/>
              </a:rPr>
              <a:t>621 Little Heron Rd</a:t>
            </a:r>
            <a:endParaRPr lang="en-US" sz="1200" dirty="0"/>
          </a:p>
        </p:txBody>
      </p:sp>
      <p:sp>
        <p:nvSpPr>
          <p:cNvPr id="36" name="Text 34"/>
          <p:cNvSpPr txBox="1"/>
          <p:nvPr/>
        </p:nvSpPr>
        <p:spPr>
          <a:xfrm>
            <a:off x="457200" y="3447288"/>
            <a:ext cx="3291840" cy="201168"/>
          </a:xfrm>
          <a:prstGeom prst="rect">
            <a:avLst/>
          </a:prstGeom>
          <a:noFill/>
          <a:ln/>
        </p:spPr>
        <p:txBody>
          <a:bodyPr wrap="square" lIns="0" tIns="0" rIns="0" bIns="0" rtlCol="0" anchor="ctr"/>
          <a:lstStyle/>
          <a:p>
            <a:pPr indent="0" marL="0">
              <a:buNone/>
            </a:pPr>
            <a:r>
              <a:rPr lang="en-US" sz="950" dirty="0">
                <a:solidFill>
                  <a:srgbClr val="5A6672"/>
                </a:solidFill>
                <a:latin typeface="Arial" pitchFamily="34" charset="0"/>
                <a:ea typeface="Arial" pitchFamily="34" charset="-122"/>
                <a:cs typeface="Arial" pitchFamily="34" charset="-120"/>
              </a:rPr>
              <a:t>Renovated; bigger canal lot</a:t>
            </a:r>
            <a:endParaRPr lang="en-US" sz="950" dirty="0"/>
          </a:p>
        </p:txBody>
      </p:sp>
      <p:sp>
        <p:nvSpPr>
          <p:cNvPr id="37" name="Shape 35"/>
          <p:cNvSpPr/>
          <p:nvPr/>
        </p:nvSpPr>
        <p:spPr>
          <a:xfrm>
            <a:off x="4590288" y="3364992"/>
            <a:ext cx="164592" cy="164592"/>
          </a:xfrm>
          <a:prstGeom prst="ellipse">
            <a:avLst/>
          </a:prstGeom>
          <a:solidFill>
            <a:srgbClr val="C2410C"/>
          </a:solidFill>
          <a:ln w="12700">
            <a:solidFill>
              <a:srgbClr val="FFFFFF"/>
            </a:solidFill>
            <a:prstDash val="solid"/>
          </a:ln>
        </p:spPr>
      </p:sp>
      <p:sp>
        <p:nvSpPr>
          <p:cNvPr id="38" name="Text 36"/>
          <p:cNvSpPr txBox="1"/>
          <p:nvPr/>
        </p:nvSpPr>
        <p:spPr>
          <a:xfrm>
            <a:off x="4782312" y="3319272"/>
            <a:ext cx="640080" cy="237744"/>
          </a:xfrm>
          <a:prstGeom prst="rect">
            <a:avLst/>
          </a:prstGeom>
          <a:noFill/>
          <a:ln/>
        </p:spPr>
        <p:txBody>
          <a:bodyPr wrap="square" lIns="0" tIns="0" rIns="0" bIns="0" rtlCol="0" anchor="ctr"/>
          <a:lstStyle/>
          <a:p>
            <a:pPr indent="0" marL="0">
              <a:buNone/>
            </a:pPr>
            <a:r>
              <a:rPr lang="en-US" sz="1000" dirty="0">
                <a:solidFill>
                  <a:srgbClr val="1A1A1A"/>
                </a:solidFill>
                <a:latin typeface="Arial" pitchFamily="34" charset="0"/>
                <a:ea typeface="Arial" pitchFamily="34" charset="-122"/>
                <a:cs typeface="Arial" pitchFamily="34" charset="-120"/>
              </a:rPr>
              <a:t>$436K</a:t>
            </a:r>
            <a:endParaRPr lang="en-US" sz="1000" dirty="0"/>
          </a:p>
        </p:txBody>
      </p:sp>
      <p:sp>
        <p:nvSpPr>
          <p:cNvPr id="39" name="Text 37"/>
          <p:cNvSpPr txBox="1"/>
          <p:nvPr/>
        </p:nvSpPr>
        <p:spPr>
          <a:xfrm>
            <a:off x="457200" y="4114800"/>
            <a:ext cx="8229600" cy="502920"/>
          </a:xfrm>
          <a:prstGeom prst="rect">
            <a:avLst/>
          </a:prstGeom>
          <a:noFill/>
          <a:ln/>
        </p:spPr>
        <p:txBody>
          <a:bodyPr wrap="square" lIns="0" tIns="0" rIns="0" bIns="0" rtlCol="0" anchor="t"/>
          <a:lstStyle/>
          <a:p>
            <a:pPr indent="0" marL="0">
              <a:buNone/>
            </a:pPr>
            <a:r>
              <a:rPr lang="en-US" sz="1200" b="1" dirty="0">
                <a:solidFill>
                  <a:srgbClr val="C2410C"/>
                </a:solidFill>
                <a:latin typeface="Arial" pitchFamily="34" charset="0"/>
                <a:ea typeface="Arial" pitchFamily="34" charset="-122"/>
                <a:cs typeface="Arial" pitchFamily="34" charset="-120"/>
              </a:rPr>
              <a:t>Shaded: Supported Range $455K–$480K. </a:t>
            </a:r>
            <a:pPr indent="0" marL="0">
              <a:buNone/>
            </a:pPr>
            <a:r>
              <a:rPr lang="en-US" sz="1200" dirty="0">
                <a:solidFill>
                  <a:srgbClr val="1A1A1A"/>
                </a:solidFill>
                <a:latin typeface="Arial" pitchFamily="34" charset="0"/>
                <a:ea typeface="Arial" pitchFamily="34" charset="-122"/>
                <a:cs typeface="Arial" pitchFamily="34" charset="-120"/>
              </a:rPr>
              <a:t>The two highest sold in the spring. The recent sales point to the middle of the range.</a:t>
            </a:r>
            <a:endParaRPr lang="en-US" sz="1200" dirty="0"/>
          </a:p>
        </p:txBody>
      </p:sp>
      <p:sp>
        <p:nvSpPr>
          <p:cNvPr id="40" name="Text 3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41" name="Text 3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Where Your Home Fits in the Neighborhood</a:t>
            </a:r>
            <a:endParaRPr lang="en-US" sz="2600" dirty="0"/>
          </a:p>
        </p:txBody>
      </p:sp>
      <p:graphicFrame>
        <p:nvGraphicFramePr>
          <p:cNvPr id="3" name="Chart 0" descr=""/>
          <p:cNvGraphicFramePr/>
          <p:nvPr/>
        </p:nvGraphicFramePr>
        <p:xfrm>
          <a:off x="365760" y="868680"/>
          <a:ext cx="6537960" cy="39319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949440" y="1143000"/>
            <a:ext cx="45720" cy="3017520"/>
          </a:xfrm>
          <a:prstGeom prst="rect">
            <a:avLst/>
          </a:prstGeom>
          <a:solidFill>
            <a:srgbClr val="C2410C"/>
          </a:solidFill>
          <a:ln w="12700">
            <a:solidFill>
              <a:srgbClr val="C2410C"/>
            </a:solidFill>
            <a:prstDash val="solid"/>
          </a:ln>
        </p:spPr>
      </p:sp>
      <p:sp>
        <p:nvSpPr>
          <p:cNvPr id="5" name="Text 2"/>
          <p:cNvSpPr txBox="1"/>
          <p:nvPr/>
        </p:nvSpPr>
        <p:spPr>
          <a:xfrm>
            <a:off x="7086600" y="1143000"/>
            <a:ext cx="1600200" cy="201168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The renovated comparable sales sit well above the neighborhood trend. At $469,900, yours sits among them without testing the ceiling.</a:t>
            </a:r>
            <a:endParaRPr lang="en-US" sz="1300" dirty="0"/>
          </a:p>
        </p:txBody>
      </p:sp>
      <p:sp>
        <p:nvSpPr>
          <p:cNvPr id="6" name="Text 3"/>
          <p:cNvSpPr txBox="1"/>
          <p:nvPr/>
        </p:nvSpPr>
        <p:spPr>
          <a:xfrm>
            <a:off x="7086600" y="2910840"/>
            <a:ext cx="1600200" cy="124968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Size alone predicts about $443K at your size. Your price is about $27K above the line.</a:t>
            </a:r>
            <a:endParaRPr lang="en-US" sz="1100" dirty="0"/>
          </a:p>
        </p:txBody>
      </p:sp>
      <p:sp>
        <p:nvSpPr>
          <p:cNvPr id="7" name="Text 4"/>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8" name="Text 5"/>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The Market Shifted Since Spring</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Nearby sales, April–June vs. July–mid-September</a:t>
            </a:r>
            <a:endParaRPr lang="en-US" sz="1300" dirty="0"/>
          </a:p>
        </p:txBody>
      </p:sp>
      <p:sp>
        <p:nvSpPr>
          <p:cNvPr id="4" name="Shape 2"/>
          <p:cNvSpPr/>
          <p:nvPr/>
        </p:nvSpPr>
        <p:spPr>
          <a:xfrm>
            <a:off x="457200" y="1325880"/>
            <a:ext cx="1885950" cy="2423160"/>
          </a:xfrm>
          <a:prstGeom prst="roundRect">
            <a:avLst>
              <a:gd name="adj" fmla="val 3879"/>
            </a:avLst>
          </a:prstGeom>
          <a:solidFill>
            <a:srgbClr val="FBF2EE"/>
          </a:solidFill>
          <a:ln w="12700">
            <a:solidFill>
              <a:srgbClr val="FBF2EE"/>
            </a:solidFill>
            <a:prstDash val="solid"/>
          </a:ln>
        </p:spPr>
      </p:sp>
      <p:sp>
        <p:nvSpPr>
          <p:cNvPr id="5" name="Shape 3"/>
          <p:cNvSpPr/>
          <p:nvPr/>
        </p:nvSpPr>
        <p:spPr>
          <a:xfrm>
            <a:off x="640080"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38835" y="1607515"/>
            <a:ext cx="213970" cy="213970"/>
          </a:xfrm>
          <a:prstGeom prst="rect">
            <a:avLst/>
          </a:prstGeom>
        </p:spPr>
      </p:pic>
      <p:sp>
        <p:nvSpPr>
          <p:cNvPr id="7" name="Text 4"/>
          <p:cNvSpPr txBox="1"/>
          <p:nvPr/>
        </p:nvSpPr>
        <p:spPr>
          <a:xfrm>
            <a:off x="6400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 vs. Original Price</a:t>
            </a:r>
            <a:endParaRPr lang="en-US" sz="1200" dirty="0"/>
          </a:p>
        </p:txBody>
      </p:sp>
      <p:sp>
        <p:nvSpPr>
          <p:cNvPr id="8" name="Text 5"/>
          <p:cNvSpPr txBox="1"/>
          <p:nvPr/>
        </p:nvSpPr>
        <p:spPr>
          <a:xfrm>
            <a:off x="6400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9" name="Text 6"/>
          <p:cNvSpPr txBox="1"/>
          <p:nvPr/>
        </p:nvSpPr>
        <p:spPr>
          <a:xfrm>
            <a:off x="6400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100%</a:t>
            </a:r>
            <a:endParaRPr lang="en-US" sz="1500" dirty="0"/>
          </a:p>
        </p:txBody>
      </p:sp>
      <p:sp>
        <p:nvSpPr>
          <p:cNvPr id="10" name="Text 7"/>
          <p:cNvSpPr txBox="1"/>
          <p:nvPr/>
        </p:nvSpPr>
        <p:spPr>
          <a:xfrm>
            <a:off x="6400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1" name="Text 8"/>
          <p:cNvSpPr txBox="1"/>
          <p:nvPr/>
        </p:nvSpPr>
        <p:spPr>
          <a:xfrm>
            <a:off x="6400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95.2%</a:t>
            </a:r>
            <a:endParaRPr lang="en-US" sz="2800" dirty="0"/>
          </a:p>
        </p:txBody>
      </p:sp>
      <p:sp>
        <p:nvSpPr>
          <p:cNvPr id="12" name="Shape 9"/>
          <p:cNvSpPr/>
          <p:nvPr/>
        </p:nvSpPr>
        <p:spPr>
          <a:xfrm>
            <a:off x="2571750" y="1325880"/>
            <a:ext cx="1885950" cy="2423160"/>
          </a:xfrm>
          <a:prstGeom prst="roundRect">
            <a:avLst>
              <a:gd name="adj" fmla="val 3879"/>
            </a:avLst>
          </a:prstGeom>
          <a:solidFill>
            <a:srgbClr val="FBF2EE"/>
          </a:solidFill>
          <a:ln w="12700">
            <a:solidFill>
              <a:srgbClr val="FBF2EE"/>
            </a:solidFill>
            <a:prstDash val="solid"/>
          </a:ln>
        </p:spPr>
      </p:sp>
      <p:sp>
        <p:nvSpPr>
          <p:cNvPr id="13" name="Shape 10"/>
          <p:cNvSpPr/>
          <p:nvPr/>
        </p:nvSpPr>
        <p:spPr>
          <a:xfrm>
            <a:off x="2754630" y="1508760"/>
            <a:ext cx="411480" cy="411480"/>
          </a:xfrm>
          <a:prstGeom prst="ellipse">
            <a:avLst/>
          </a:prstGeom>
          <a:solidFill>
            <a:srgbClr val="C2410C"/>
          </a:solidFill>
          <a:ln w="12700">
            <a:solidFill>
              <a:srgbClr val="C2410C"/>
            </a:solidFill>
            <a:prstDash val="solid"/>
          </a:ln>
        </p:spPr>
      </p:sp>
      <p:pic>
        <p:nvPicPr>
          <p:cNvPr id="14" name="Image 1" descr="preencoded.png">    </p:cNvPr>
          <p:cNvPicPr>
            <a:picLocks noChangeAspect="1"/>
          </p:cNvPicPr>
          <p:nvPr/>
        </p:nvPicPr>
        <p:blipFill>
          <a:blip r:embed="rId2"/>
          <a:stretch>
            <a:fillRect/>
          </a:stretch>
        </p:blipFill>
        <p:spPr>
          <a:xfrm>
            <a:off x="2853385" y="1607515"/>
            <a:ext cx="213970" cy="213970"/>
          </a:xfrm>
          <a:prstGeom prst="rect">
            <a:avLst/>
          </a:prstGeom>
        </p:spPr>
      </p:pic>
      <p:sp>
        <p:nvSpPr>
          <p:cNvPr id="15" name="Text 11"/>
          <p:cNvSpPr txBox="1"/>
          <p:nvPr/>
        </p:nvSpPr>
        <p:spPr>
          <a:xfrm>
            <a:off x="27546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Days to Contract</a:t>
            </a:r>
            <a:endParaRPr lang="en-US" sz="1200" dirty="0"/>
          </a:p>
        </p:txBody>
      </p:sp>
      <p:sp>
        <p:nvSpPr>
          <p:cNvPr id="16" name="Text 12"/>
          <p:cNvSpPr txBox="1"/>
          <p:nvPr/>
        </p:nvSpPr>
        <p:spPr>
          <a:xfrm>
            <a:off x="27546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17" name="Text 13"/>
          <p:cNvSpPr txBox="1"/>
          <p:nvPr/>
        </p:nvSpPr>
        <p:spPr>
          <a:xfrm>
            <a:off x="27546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8</a:t>
            </a:r>
            <a:endParaRPr lang="en-US" sz="1500" dirty="0"/>
          </a:p>
        </p:txBody>
      </p:sp>
      <p:sp>
        <p:nvSpPr>
          <p:cNvPr id="18" name="Text 14"/>
          <p:cNvSpPr txBox="1"/>
          <p:nvPr/>
        </p:nvSpPr>
        <p:spPr>
          <a:xfrm>
            <a:off x="27546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19" name="Text 15"/>
          <p:cNvSpPr txBox="1"/>
          <p:nvPr/>
        </p:nvSpPr>
        <p:spPr>
          <a:xfrm>
            <a:off x="27546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22</a:t>
            </a:r>
            <a:endParaRPr lang="en-US" sz="2800" dirty="0"/>
          </a:p>
        </p:txBody>
      </p:sp>
      <p:sp>
        <p:nvSpPr>
          <p:cNvPr id="20" name="Shape 16"/>
          <p:cNvSpPr/>
          <p:nvPr/>
        </p:nvSpPr>
        <p:spPr>
          <a:xfrm>
            <a:off x="4686300" y="1325880"/>
            <a:ext cx="1885950" cy="2423160"/>
          </a:xfrm>
          <a:prstGeom prst="roundRect">
            <a:avLst>
              <a:gd name="adj" fmla="val 3879"/>
            </a:avLst>
          </a:prstGeom>
          <a:solidFill>
            <a:srgbClr val="FBF2EE"/>
          </a:solidFill>
          <a:ln w="12700">
            <a:solidFill>
              <a:srgbClr val="FBF2EE"/>
            </a:solidFill>
            <a:prstDash val="solid"/>
          </a:ln>
        </p:spPr>
      </p:sp>
      <p:sp>
        <p:nvSpPr>
          <p:cNvPr id="21" name="Shape 17"/>
          <p:cNvSpPr/>
          <p:nvPr/>
        </p:nvSpPr>
        <p:spPr>
          <a:xfrm>
            <a:off x="4869180" y="1508760"/>
            <a:ext cx="411480" cy="411480"/>
          </a:xfrm>
          <a:prstGeom prst="ellipse">
            <a:avLst/>
          </a:prstGeom>
          <a:solidFill>
            <a:srgbClr val="C2410C"/>
          </a:solidFill>
          <a:ln w="12700">
            <a:solidFill>
              <a:srgbClr val="C2410C"/>
            </a:solidFill>
            <a:prstDash val="solid"/>
          </a:ln>
        </p:spPr>
      </p:sp>
      <p:pic>
        <p:nvPicPr>
          <p:cNvPr id="22" name="Image 2" descr="preencoded.png">    </p:cNvPr>
          <p:cNvPicPr>
            <a:picLocks noChangeAspect="1"/>
          </p:cNvPicPr>
          <p:nvPr/>
        </p:nvPicPr>
        <p:blipFill>
          <a:blip r:embed="rId3"/>
          <a:stretch>
            <a:fillRect/>
          </a:stretch>
        </p:blipFill>
        <p:spPr>
          <a:xfrm>
            <a:off x="4967935" y="1607515"/>
            <a:ext cx="213970" cy="213970"/>
          </a:xfrm>
          <a:prstGeom prst="rect">
            <a:avLst/>
          </a:prstGeom>
        </p:spPr>
      </p:pic>
      <p:sp>
        <p:nvSpPr>
          <p:cNvPr id="23" name="Text 18"/>
          <p:cNvSpPr txBox="1"/>
          <p:nvPr/>
        </p:nvSpPr>
        <p:spPr>
          <a:xfrm>
            <a:off x="486918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Sales with Seller Credits</a:t>
            </a:r>
            <a:endParaRPr lang="en-US" sz="1200" dirty="0"/>
          </a:p>
        </p:txBody>
      </p:sp>
      <p:sp>
        <p:nvSpPr>
          <p:cNvPr id="24" name="Text 19"/>
          <p:cNvSpPr txBox="1"/>
          <p:nvPr/>
        </p:nvSpPr>
        <p:spPr>
          <a:xfrm>
            <a:off x="486918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25" name="Text 20"/>
          <p:cNvSpPr txBox="1"/>
          <p:nvPr/>
        </p:nvSpPr>
        <p:spPr>
          <a:xfrm>
            <a:off x="486918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50%</a:t>
            </a:r>
            <a:endParaRPr lang="en-US" sz="1500" dirty="0"/>
          </a:p>
        </p:txBody>
      </p:sp>
      <p:sp>
        <p:nvSpPr>
          <p:cNvPr id="26" name="Text 21"/>
          <p:cNvSpPr txBox="1"/>
          <p:nvPr/>
        </p:nvSpPr>
        <p:spPr>
          <a:xfrm>
            <a:off x="486918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27" name="Text 22"/>
          <p:cNvSpPr txBox="1"/>
          <p:nvPr/>
        </p:nvSpPr>
        <p:spPr>
          <a:xfrm>
            <a:off x="486918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89%</a:t>
            </a:r>
            <a:endParaRPr lang="en-US" sz="2800" dirty="0"/>
          </a:p>
        </p:txBody>
      </p:sp>
      <p:sp>
        <p:nvSpPr>
          <p:cNvPr id="28" name="Shape 23"/>
          <p:cNvSpPr/>
          <p:nvPr/>
        </p:nvSpPr>
        <p:spPr>
          <a:xfrm>
            <a:off x="6800850" y="1325880"/>
            <a:ext cx="1885950" cy="2423160"/>
          </a:xfrm>
          <a:prstGeom prst="roundRect">
            <a:avLst>
              <a:gd name="adj" fmla="val 3879"/>
            </a:avLst>
          </a:prstGeom>
          <a:solidFill>
            <a:srgbClr val="FBF2EE"/>
          </a:solidFill>
          <a:ln w="12700">
            <a:solidFill>
              <a:srgbClr val="FBF2EE"/>
            </a:solidFill>
            <a:prstDash val="solid"/>
          </a:ln>
        </p:spPr>
      </p:sp>
      <p:sp>
        <p:nvSpPr>
          <p:cNvPr id="29" name="Shape 24"/>
          <p:cNvSpPr/>
          <p:nvPr/>
        </p:nvSpPr>
        <p:spPr>
          <a:xfrm>
            <a:off x="6983730" y="1508760"/>
            <a:ext cx="411480" cy="411480"/>
          </a:xfrm>
          <a:prstGeom prst="ellipse">
            <a:avLst/>
          </a:prstGeom>
          <a:solidFill>
            <a:srgbClr val="C2410C"/>
          </a:solidFill>
          <a:ln w="12700">
            <a:solidFill>
              <a:srgbClr val="C2410C"/>
            </a:solidFill>
            <a:prstDash val="solid"/>
          </a:ln>
        </p:spPr>
      </p:sp>
      <p:pic>
        <p:nvPicPr>
          <p:cNvPr id="30" name="Image 3" descr="preencoded.png">    </p:cNvPr>
          <p:cNvPicPr>
            <a:picLocks noChangeAspect="1"/>
          </p:cNvPicPr>
          <p:nvPr/>
        </p:nvPicPr>
        <p:blipFill>
          <a:blip r:embed="rId4"/>
          <a:stretch>
            <a:fillRect/>
          </a:stretch>
        </p:blipFill>
        <p:spPr>
          <a:xfrm>
            <a:off x="7082485" y="1607515"/>
            <a:ext cx="213970" cy="213970"/>
          </a:xfrm>
          <a:prstGeom prst="rect">
            <a:avLst/>
          </a:prstGeom>
        </p:spPr>
      </p:pic>
      <p:sp>
        <p:nvSpPr>
          <p:cNvPr id="31" name="Text 25"/>
          <p:cNvSpPr txBox="1"/>
          <p:nvPr/>
        </p:nvSpPr>
        <p:spPr>
          <a:xfrm>
            <a:off x="6983730" y="2011680"/>
            <a:ext cx="1520190" cy="384048"/>
          </a:xfrm>
          <a:prstGeom prst="rect">
            <a:avLst/>
          </a:prstGeom>
          <a:noFill/>
          <a:ln/>
        </p:spPr>
        <p:txBody>
          <a:bodyPr wrap="square" lIns="0" tIns="0" rIns="0" bIns="0" rtlCol="0" anchor="t"/>
          <a:lstStyle/>
          <a:p>
            <a:pPr indent="0" marL="0">
              <a:buNone/>
            </a:pPr>
            <a:r>
              <a:rPr lang="en-US" sz="1200" b="1" dirty="0">
                <a:solidFill>
                  <a:srgbClr val="1A1A1A"/>
                </a:solidFill>
                <a:latin typeface="Arial" pitchFamily="34" charset="0"/>
                <a:ea typeface="Arial" pitchFamily="34" charset="-122"/>
                <a:cs typeface="Arial" pitchFamily="34" charset="-120"/>
              </a:rPr>
              <a:t>30-Year Mortgage Rate</a:t>
            </a:r>
            <a:endParaRPr lang="en-US" sz="1200" dirty="0"/>
          </a:p>
        </p:txBody>
      </p:sp>
      <p:sp>
        <p:nvSpPr>
          <p:cNvPr id="32" name="Text 26"/>
          <p:cNvSpPr txBox="1"/>
          <p:nvPr/>
        </p:nvSpPr>
        <p:spPr>
          <a:xfrm>
            <a:off x="6983730" y="2487168"/>
            <a:ext cx="1520190" cy="182880"/>
          </a:xfrm>
          <a:prstGeom prst="rect">
            <a:avLst/>
          </a:prstGeom>
          <a:noFill/>
          <a:ln/>
        </p:spPr>
        <p:txBody>
          <a:bodyPr wrap="square" lIns="0" tIns="0" rIns="0" bIns="0" rtlCol="0" anchor="ctr"/>
          <a:lstStyle/>
          <a:p>
            <a:pPr indent="0" marL="0">
              <a:buNone/>
            </a:pPr>
            <a:r>
              <a:rPr lang="en-US" sz="900" dirty="0">
                <a:solidFill>
                  <a:srgbClr val="5A6672"/>
                </a:solidFill>
                <a:latin typeface="Arial" pitchFamily="34" charset="0"/>
                <a:ea typeface="Arial" pitchFamily="34" charset="-122"/>
                <a:cs typeface="Arial" pitchFamily="34" charset="-120"/>
              </a:rPr>
              <a:t>Spring</a:t>
            </a:r>
            <a:endParaRPr lang="en-US" sz="900" dirty="0"/>
          </a:p>
        </p:txBody>
      </p:sp>
      <p:sp>
        <p:nvSpPr>
          <p:cNvPr id="33" name="Text 27"/>
          <p:cNvSpPr txBox="1"/>
          <p:nvPr/>
        </p:nvSpPr>
        <p:spPr>
          <a:xfrm>
            <a:off x="6983730" y="2660904"/>
            <a:ext cx="1520190" cy="274320"/>
          </a:xfrm>
          <a:prstGeom prst="rect">
            <a:avLst/>
          </a:prstGeom>
          <a:noFill/>
          <a:ln/>
        </p:spPr>
        <p:txBody>
          <a:bodyPr wrap="square" lIns="0" tIns="0" rIns="0" bIns="0" rtlCol="0" anchor="ctr"/>
          <a:lstStyle/>
          <a:p>
            <a:pPr indent="0" marL="0">
              <a:buNone/>
            </a:pPr>
            <a:r>
              <a:rPr lang="en-US" sz="1500" dirty="0">
                <a:solidFill>
                  <a:srgbClr val="5A6672"/>
                </a:solidFill>
                <a:latin typeface="Arial" pitchFamily="34" charset="0"/>
                <a:ea typeface="Arial" pitchFamily="34" charset="-122"/>
                <a:cs typeface="Arial" pitchFamily="34" charset="-120"/>
              </a:rPr>
              <a:t>~6.3%</a:t>
            </a:r>
            <a:endParaRPr lang="en-US" sz="1500" dirty="0"/>
          </a:p>
        </p:txBody>
      </p:sp>
      <p:sp>
        <p:nvSpPr>
          <p:cNvPr id="34" name="Text 28"/>
          <p:cNvSpPr txBox="1"/>
          <p:nvPr/>
        </p:nvSpPr>
        <p:spPr>
          <a:xfrm>
            <a:off x="6983730" y="3026664"/>
            <a:ext cx="1520190" cy="182880"/>
          </a:xfrm>
          <a:prstGeom prst="rect">
            <a:avLst/>
          </a:prstGeom>
          <a:noFill/>
          <a:ln/>
        </p:spPr>
        <p:txBody>
          <a:bodyPr wrap="square" lIns="0" tIns="0" rIns="0" bIns="0" rtlCol="0" anchor="ctr"/>
          <a:lstStyle/>
          <a:p>
            <a:pPr indent="0" marL="0">
              <a:buNone/>
            </a:pPr>
            <a:r>
              <a:rPr lang="en-US" sz="900" b="1" dirty="0">
                <a:solidFill>
                  <a:srgbClr val="A23200"/>
                </a:solidFill>
                <a:latin typeface="Arial" pitchFamily="34" charset="0"/>
                <a:ea typeface="Arial" pitchFamily="34" charset="-122"/>
                <a:cs typeface="Arial" pitchFamily="34" charset="-120"/>
              </a:rPr>
              <a:t>Now</a:t>
            </a:r>
            <a:endParaRPr lang="en-US" sz="900" dirty="0"/>
          </a:p>
        </p:txBody>
      </p:sp>
      <p:sp>
        <p:nvSpPr>
          <p:cNvPr id="35" name="Text 29"/>
          <p:cNvSpPr txBox="1"/>
          <p:nvPr/>
        </p:nvSpPr>
        <p:spPr>
          <a:xfrm>
            <a:off x="6983730" y="3191256"/>
            <a:ext cx="1520190" cy="438912"/>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6.95%</a:t>
            </a:r>
            <a:endParaRPr lang="en-US" sz="2800" dirty="0"/>
          </a:p>
        </p:txBody>
      </p:sp>
      <p:sp>
        <p:nvSpPr>
          <p:cNvPr id="36" name="Text 30"/>
          <p:cNvSpPr txBox="1"/>
          <p:nvPr/>
        </p:nvSpPr>
        <p:spPr>
          <a:xfrm>
            <a:off x="457200" y="4005072"/>
            <a:ext cx="8229600" cy="54864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Buyers are negotiating again. Price for the market we have now, not the one from April.</a:t>
            </a:r>
            <a:endParaRPr lang="en-US" sz="1400" dirty="0"/>
          </a:p>
        </p:txBody>
      </p:sp>
      <p:sp>
        <p:nvSpPr>
          <p:cNvPr id="37" name="Text 31"/>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8" name="Text 32"/>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Your Competition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The homes buyers will tour alongside yours</a:t>
            </a:r>
            <a:endParaRPr lang="en-US" sz="1300" dirty="0"/>
          </a:p>
        </p:txBody>
      </p:sp>
      <p:sp>
        <p:nvSpPr>
          <p:cNvPr id="4" name="Shape 2"/>
          <p:cNvSpPr/>
          <p:nvPr/>
        </p:nvSpPr>
        <p:spPr>
          <a:xfrm>
            <a:off x="45720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5" name="Text 3"/>
          <p:cNvSpPr txBox="1"/>
          <p:nvPr/>
        </p:nvSpPr>
        <p:spPr>
          <a:xfrm>
            <a:off x="65836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644 Quillwood Dr</a:t>
            </a:r>
            <a:endParaRPr lang="en-US" sz="1400" dirty="0"/>
          </a:p>
        </p:txBody>
      </p:sp>
      <p:sp>
        <p:nvSpPr>
          <p:cNvPr id="6" name="Text 4"/>
          <p:cNvSpPr txBox="1"/>
          <p:nvPr/>
        </p:nvSpPr>
        <p:spPr>
          <a:xfrm>
            <a:off x="65836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$400,000</a:t>
            </a:r>
            <a:endParaRPr lang="en-US" sz="2600" dirty="0"/>
          </a:p>
        </p:txBody>
      </p:sp>
      <p:sp>
        <p:nvSpPr>
          <p:cNvPr id="7" name="Text 5"/>
          <p:cNvSpPr txBox="1"/>
          <p:nvPr/>
        </p:nvSpPr>
        <p:spPr>
          <a:xfrm>
            <a:off x="65836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91 days</a:t>
            </a:r>
            <a:endParaRPr lang="en-US" sz="1100" dirty="0"/>
          </a:p>
        </p:txBody>
      </p:sp>
      <p:sp>
        <p:nvSpPr>
          <p:cNvPr id="8" name="Text 6"/>
          <p:cNvSpPr txBox="1"/>
          <p:nvPr/>
        </p:nvSpPr>
        <p:spPr>
          <a:xfrm>
            <a:off x="65836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same size, no pool. The value alternative buyers will tour.</a:t>
            </a:r>
            <a:endParaRPr lang="en-US" sz="1200" dirty="0"/>
          </a:p>
        </p:txBody>
      </p:sp>
      <p:sp>
        <p:nvSpPr>
          <p:cNvPr id="9" name="Shape 7"/>
          <p:cNvSpPr/>
          <p:nvPr/>
        </p:nvSpPr>
        <p:spPr>
          <a:xfrm>
            <a:off x="329184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0" name="Text 8"/>
          <p:cNvSpPr txBox="1"/>
          <p:nvPr/>
        </p:nvSpPr>
        <p:spPr>
          <a:xfrm>
            <a:off x="349300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412 Calloway Ave</a:t>
            </a:r>
            <a:endParaRPr lang="en-US" sz="1400" dirty="0"/>
          </a:p>
        </p:txBody>
      </p:sp>
      <p:sp>
        <p:nvSpPr>
          <p:cNvPr id="11" name="Text 9"/>
          <p:cNvSpPr txBox="1"/>
          <p:nvPr/>
        </p:nvSpPr>
        <p:spPr>
          <a:xfrm>
            <a:off x="349300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$454,900</a:t>
            </a:r>
            <a:endParaRPr lang="en-US" sz="2600" dirty="0"/>
          </a:p>
        </p:txBody>
      </p:sp>
      <p:sp>
        <p:nvSpPr>
          <p:cNvPr id="12" name="Text 10"/>
          <p:cNvSpPr txBox="1"/>
          <p:nvPr/>
        </p:nvSpPr>
        <p:spPr>
          <a:xfrm>
            <a:off x="349300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Under contract in 9 days</a:t>
            </a:r>
            <a:endParaRPr lang="en-US" sz="1100" dirty="0"/>
          </a:p>
        </p:txBody>
      </p:sp>
      <p:sp>
        <p:nvSpPr>
          <p:cNvPr id="13" name="Text 11"/>
          <p:cNvSpPr txBox="1"/>
          <p:nvPr/>
        </p:nvSpPr>
        <p:spPr>
          <a:xfrm>
            <a:off x="349300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Renovated pool home. Priced right, it sold fast.</a:t>
            </a:r>
            <a:endParaRPr lang="en-US" sz="1200" dirty="0"/>
          </a:p>
        </p:txBody>
      </p:sp>
      <p:sp>
        <p:nvSpPr>
          <p:cNvPr id="14" name="Shape 12"/>
          <p:cNvSpPr/>
          <p:nvPr/>
        </p:nvSpPr>
        <p:spPr>
          <a:xfrm>
            <a:off x="6126480" y="1371600"/>
            <a:ext cx="2560320" cy="2377440"/>
          </a:xfrm>
          <a:prstGeom prst="roundRect">
            <a:avLst>
              <a:gd name="adj" fmla="val 3077"/>
            </a:avLst>
          </a:prstGeom>
          <a:solidFill>
            <a:srgbClr val="FFFFFF"/>
          </a:solidFill>
          <a:ln w="12700">
            <a:solidFill>
              <a:srgbClr val="F8E8E2"/>
            </a:solidFill>
            <a:prstDash val="solid"/>
          </a:ln>
          <a:effectLst>
            <a:outerShdw sx="100000" sy="100000" kx="0" ky="0" algn="bl" rotWithShape="0" blurRad="76200" dist="25400" dir="5400000">
              <a:srgbClr val="1A1A1A">
                <a:alpha val="12000"/>
              </a:srgbClr>
            </a:outerShdw>
          </a:effectLst>
        </p:spPr>
      </p:sp>
      <p:sp>
        <p:nvSpPr>
          <p:cNvPr id="15" name="Text 13"/>
          <p:cNvSpPr txBox="1"/>
          <p:nvPr/>
        </p:nvSpPr>
        <p:spPr>
          <a:xfrm>
            <a:off x="6327648" y="1554480"/>
            <a:ext cx="2157984" cy="27432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394 Tansy Ln</a:t>
            </a:r>
            <a:endParaRPr lang="en-US" sz="1400" dirty="0"/>
          </a:p>
        </p:txBody>
      </p:sp>
      <p:sp>
        <p:nvSpPr>
          <p:cNvPr id="16" name="Text 14"/>
          <p:cNvSpPr txBox="1"/>
          <p:nvPr/>
        </p:nvSpPr>
        <p:spPr>
          <a:xfrm>
            <a:off x="6327648" y="1847088"/>
            <a:ext cx="2157984" cy="457200"/>
          </a:xfrm>
          <a:prstGeom prst="rect">
            <a:avLst/>
          </a:prstGeom>
          <a:noFill/>
          <a:ln/>
        </p:spPr>
        <p:txBody>
          <a:bodyPr wrap="square" lIns="0" tIns="0" rIns="0" bIns="0" rtlCol="0" anchor="ctr"/>
          <a:lstStyle/>
          <a:p>
            <a:pPr indent="0" marL="0">
              <a:buNone/>
            </a:pPr>
            <a:r>
              <a:rPr lang="en-US" sz="2600" b="1" dirty="0">
                <a:solidFill>
                  <a:srgbClr val="C2410C"/>
                </a:solidFill>
                <a:latin typeface="Arial" pitchFamily="34" charset="0"/>
                <a:ea typeface="Arial" pitchFamily="34" charset="-122"/>
                <a:cs typeface="Arial" pitchFamily="34" charset="-120"/>
              </a:rPr>
              <a:t>$565,000</a:t>
            </a:r>
            <a:endParaRPr lang="en-US" sz="2600" dirty="0"/>
          </a:p>
        </p:txBody>
      </p:sp>
      <p:sp>
        <p:nvSpPr>
          <p:cNvPr id="17" name="Text 15"/>
          <p:cNvSpPr txBox="1"/>
          <p:nvPr/>
        </p:nvSpPr>
        <p:spPr>
          <a:xfrm>
            <a:off x="6327648" y="2331720"/>
            <a:ext cx="2157984" cy="256032"/>
          </a:xfrm>
          <a:prstGeom prst="rect">
            <a:avLst/>
          </a:prstGeom>
          <a:noFill/>
          <a:ln/>
        </p:spPr>
        <p:txBody>
          <a:bodyPr wrap="square" lIns="0" tIns="0" rIns="0" bIns="0" rtlCol="0" anchor="ctr"/>
          <a:lstStyle/>
          <a:p>
            <a:pPr indent="0" marL="0">
              <a:buNone/>
            </a:pPr>
            <a:r>
              <a:rPr lang="en-US" sz="1100" b="1" dirty="0">
                <a:solidFill>
                  <a:srgbClr val="A23200"/>
                </a:solidFill>
                <a:latin typeface="Arial" pitchFamily="34" charset="0"/>
                <a:ea typeface="Arial" pitchFamily="34" charset="-122"/>
                <a:cs typeface="Arial" pitchFamily="34" charset="-120"/>
              </a:rPr>
              <a:t>For sale · 57 days</a:t>
            </a:r>
            <a:endParaRPr lang="en-US" sz="1100" dirty="0"/>
          </a:p>
        </p:txBody>
      </p:sp>
      <p:sp>
        <p:nvSpPr>
          <p:cNvPr id="18" name="Text 16"/>
          <p:cNvSpPr txBox="1"/>
          <p:nvPr/>
        </p:nvSpPr>
        <p:spPr>
          <a:xfrm>
            <a:off x="6327648" y="2651760"/>
            <a:ext cx="2157984" cy="960120"/>
          </a:xfrm>
          <a:prstGeom prst="rect">
            <a:avLst/>
          </a:prstGeom>
          <a:noFill/>
          <a:ln/>
        </p:spPr>
        <p:txBody>
          <a:bodyPr wrap="square" lIns="0" tIns="0" rIns="0" bIns="0" rtlCol="0" anchor="t"/>
          <a:lstStyle/>
          <a:p>
            <a:pPr indent="0" marL="0">
              <a:buNone/>
            </a:pPr>
            <a:r>
              <a:rPr lang="en-US" sz="1200" dirty="0">
                <a:solidFill>
                  <a:srgbClr val="1A1A1A"/>
                </a:solidFill>
                <a:latin typeface="Arial" pitchFamily="34" charset="0"/>
                <a:ea typeface="Arial" pitchFamily="34" charset="-122"/>
                <a:cs typeface="Arial" pitchFamily="34" charset="-120"/>
              </a:rPr>
              <a:t>Updated pool home. Priced above the market, and sitting.</a:t>
            </a:r>
            <a:endParaRPr lang="en-US" sz="1200" dirty="0"/>
          </a:p>
        </p:txBody>
      </p:sp>
      <p:sp>
        <p:nvSpPr>
          <p:cNvPr id="19" name="Text 17"/>
          <p:cNvSpPr txBox="1"/>
          <p:nvPr/>
        </p:nvSpPr>
        <p:spPr>
          <a:xfrm>
            <a:off x="457200" y="3977640"/>
            <a:ext cx="8229600" cy="502920"/>
          </a:xfrm>
          <a:prstGeom prst="rect">
            <a:avLst/>
          </a:prstGeom>
          <a:noFill/>
          <a:ln/>
        </p:spPr>
        <p:txBody>
          <a:bodyPr wrap="square" lIns="0" tIns="0" rIns="0" bIns="0" rtlCol="0" anchor="t"/>
          <a:lstStyle/>
          <a:p>
            <a:pPr indent="0" marL="0">
              <a:buNone/>
            </a:pPr>
            <a:r>
              <a:rPr lang="en-US" sz="1400" b="1" dirty="0">
                <a:solidFill>
                  <a:srgbClr val="1A1A1A"/>
                </a:solidFill>
                <a:latin typeface="Arial" pitchFamily="34" charset="0"/>
                <a:ea typeface="Arial" pitchFamily="34" charset="-122"/>
                <a:cs typeface="Arial" pitchFamily="34" charset="-120"/>
              </a:rPr>
              <a:t>Well-priced renovated pool homes are moving. Overpriced ones sit.</a:t>
            </a:r>
            <a:endParaRPr lang="en-US" sz="1400" dirty="0"/>
          </a:p>
        </p:txBody>
      </p:sp>
      <p:sp>
        <p:nvSpPr>
          <p:cNvPr id="20" name="Text 18"/>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1" name="Text 19"/>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Three Ways to Price It</a:t>
            </a:r>
            <a:endParaRPr lang="en-US" sz="2600" dirty="0"/>
          </a:p>
        </p:txBody>
      </p:sp>
      <p:sp>
        <p:nvSpPr>
          <p:cNvPr id="3" name="Shape 1"/>
          <p:cNvSpPr/>
          <p:nvPr/>
        </p:nvSpPr>
        <p:spPr>
          <a:xfrm>
            <a:off x="457200" y="1051560"/>
            <a:ext cx="2560320" cy="3017520"/>
          </a:xfrm>
          <a:prstGeom prst="roundRect">
            <a:avLst>
              <a:gd name="adj" fmla="val 2857"/>
            </a:avLst>
          </a:prstGeom>
          <a:solidFill>
            <a:srgbClr val="FBF2EE"/>
          </a:solidFill>
          <a:ln w="12700">
            <a:solidFill>
              <a:srgbClr val="FBF2EE"/>
            </a:solidFill>
            <a:prstDash val="solid"/>
          </a:ln>
        </p:spPr>
      </p:sp>
      <p:sp>
        <p:nvSpPr>
          <p:cNvPr id="4" name="Text 2"/>
          <p:cNvSpPr txBox="1"/>
          <p:nvPr/>
        </p:nvSpPr>
        <p:spPr>
          <a:xfrm>
            <a:off x="65836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$479,900</a:t>
            </a:r>
            <a:endParaRPr lang="en-US" sz="3000" dirty="0"/>
          </a:p>
        </p:txBody>
      </p:sp>
      <p:sp>
        <p:nvSpPr>
          <p:cNvPr id="5" name="Text 3"/>
          <p:cNvSpPr txBox="1"/>
          <p:nvPr/>
        </p:nvSpPr>
        <p:spPr>
          <a:xfrm>
            <a:off x="658368" y="2075688"/>
            <a:ext cx="1113584"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6" name="Text 4"/>
          <p:cNvSpPr txBox="1"/>
          <p:nvPr/>
        </p:nvSpPr>
        <p:spPr>
          <a:xfrm>
            <a:off x="1863392" y="2075688"/>
            <a:ext cx="952960"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45–90 days</a:t>
            </a:r>
            <a:endParaRPr lang="en-US" sz="1300" dirty="0"/>
          </a:p>
        </p:txBody>
      </p:sp>
      <p:sp>
        <p:nvSpPr>
          <p:cNvPr id="7" name="Text 5"/>
          <p:cNvSpPr txBox="1"/>
          <p:nvPr/>
        </p:nvSpPr>
        <p:spPr>
          <a:xfrm>
            <a:off x="65836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8" name="Text 6"/>
          <p:cNvSpPr txBox="1"/>
          <p:nvPr/>
        </p:nvSpPr>
        <p:spPr>
          <a:xfrm>
            <a:off x="206377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$463,000</a:t>
            </a:r>
            <a:endParaRPr lang="en-US" sz="1300" dirty="0"/>
          </a:p>
        </p:txBody>
      </p:sp>
      <p:sp>
        <p:nvSpPr>
          <p:cNvPr id="9" name="Text 7"/>
          <p:cNvSpPr txBox="1"/>
          <p:nvPr/>
        </p:nvSpPr>
        <p:spPr>
          <a:xfrm>
            <a:off x="658368" y="2843784"/>
            <a:ext cx="1409430" cy="347472"/>
          </a:xfrm>
          <a:prstGeom prst="rect">
            <a:avLst/>
          </a:prstGeom>
          <a:noFill/>
          <a:ln/>
        </p:spPr>
        <p:txBody>
          <a:bodyPr wrap="square" lIns="0" tIns="0" rIns="0" bIns="0" rtlCol="0" anchor="ctr"/>
          <a:lstStyle/>
          <a:p>
            <a:pPr indent="0" marL="0">
              <a:buNone/>
            </a:pPr>
            <a:r>
              <a:rPr lang="en-US" sz="1050" dirty="0">
                <a:solidFill>
                  <a:srgbClr val="5A6672"/>
                </a:solidFill>
                <a:latin typeface="Arial" pitchFamily="34" charset="0"/>
                <a:ea typeface="Arial" pitchFamily="34" charset="-122"/>
                <a:cs typeface="Arial" pitchFamily="34" charset="-120"/>
              </a:rPr>
              <a:t>Seller Credit Assumed</a:t>
            </a:r>
            <a:endParaRPr lang="en-US" sz="1050" dirty="0"/>
          </a:p>
        </p:txBody>
      </p:sp>
      <p:sp>
        <p:nvSpPr>
          <p:cNvPr id="10" name="Text 8"/>
          <p:cNvSpPr txBox="1"/>
          <p:nvPr/>
        </p:nvSpPr>
        <p:spPr>
          <a:xfrm>
            <a:off x="2159238" y="2843784"/>
            <a:ext cx="657114"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$10,000</a:t>
            </a:r>
            <a:endParaRPr lang="en-US" sz="1300" dirty="0"/>
          </a:p>
        </p:txBody>
      </p:sp>
      <p:sp>
        <p:nvSpPr>
          <p:cNvPr id="11" name="Text 9"/>
          <p:cNvSpPr txBox="1"/>
          <p:nvPr/>
        </p:nvSpPr>
        <p:spPr>
          <a:xfrm>
            <a:off x="65836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Tests the top of the range; likely needs a price cut before an offer</a:t>
            </a:r>
            <a:endParaRPr lang="en-US" sz="1100" dirty="0"/>
          </a:p>
        </p:txBody>
      </p:sp>
      <p:sp>
        <p:nvSpPr>
          <p:cNvPr id="12" name="Shape 10"/>
          <p:cNvSpPr/>
          <p:nvPr/>
        </p:nvSpPr>
        <p:spPr>
          <a:xfrm>
            <a:off x="3291840" y="1051560"/>
            <a:ext cx="2560320" cy="3017520"/>
          </a:xfrm>
          <a:prstGeom prst="roundRect">
            <a:avLst>
              <a:gd name="adj" fmla="val 2857"/>
            </a:avLst>
          </a:prstGeom>
          <a:solidFill>
            <a:srgbClr val="C2410C"/>
          </a:solidFill>
          <a:ln w="12700">
            <a:solidFill>
              <a:srgbClr val="C2410C"/>
            </a:solidFill>
            <a:prstDash val="solid"/>
          </a:ln>
        </p:spPr>
      </p:sp>
      <p:sp>
        <p:nvSpPr>
          <p:cNvPr id="13" name="Text 11"/>
          <p:cNvSpPr txBox="1"/>
          <p:nvPr/>
        </p:nvSpPr>
        <p:spPr>
          <a:xfrm>
            <a:off x="3493008" y="1188720"/>
            <a:ext cx="2157984" cy="228600"/>
          </a:xfrm>
          <a:prstGeom prst="rect">
            <a:avLst/>
          </a:prstGeom>
          <a:noFill/>
          <a:ln/>
        </p:spPr>
        <p:txBody>
          <a:bodyPr wrap="square" lIns="0" tIns="0" rIns="0" bIns="0" rtlCol="0" anchor="ctr"/>
          <a:lstStyle/>
          <a:p>
            <a:pPr indent="0" marL="0">
              <a:buNone/>
            </a:pPr>
            <a:r>
              <a:rPr lang="en-US" sz="1000" b="1" spc="200" kern="0" dirty="0">
                <a:solidFill>
                  <a:srgbClr val="FFFFFF"/>
                </a:solidFill>
                <a:latin typeface="Arial" pitchFamily="34" charset="0"/>
                <a:ea typeface="Arial" pitchFamily="34" charset="-122"/>
                <a:cs typeface="Arial" pitchFamily="34" charset="-120"/>
              </a:rPr>
              <a:t>RECOMMENDED</a:t>
            </a:r>
            <a:endParaRPr lang="en-US" sz="1000" dirty="0"/>
          </a:p>
        </p:txBody>
      </p:sp>
      <p:sp>
        <p:nvSpPr>
          <p:cNvPr id="14" name="Text 12"/>
          <p:cNvSpPr txBox="1"/>
          <p:nvPr/>
        </p:nvSpPr>
        <p:spPr>
          <a:xfrm>
            <a:off x="3493008" y="1435608"/>
            <a:ext cx="2157984" cy="5486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$469,900</a:t>
            </a:r>
            <a:endParaRPr lang="en-US" sz="3000" dirty="0"/>
          </a:p>
        </p:txBody>
      </p:sp>
      <p:sp>
        <p:nvSpPr>
          <p:cNvPr id="15" name="Text 13"/>
          <p:cNvSpPr txBox="1"/>
          <p:nvPr/>
        </p:nvSpPr>
        <p:spPr>
          <a:xfrm>
            <a:off x="3493008" y="2075688"/>
            <a:ext cx="1180377"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Time to Contract</a:t>
            </a:r>
            <a:endParaRPr lang="en-US" sz="1100" dirty="0"/>
          </a:p>
        </p:txBody>
      </p:sp>
      <p:sp>
        <p:nvSpPr>
          <p:cNvPr id="16" name="Text 14"/>
          <p:cNvSpPr txBox="1"/>
          <p:nvPr/>
        </p:nvSpPr>
        <p:spPr>
          <a:xfrm>
            <a:off x="4764825" y="2075688"/>
            <a:ext cx="886167"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3–6 weeks</a:t>
            </a:r>
            <a:endParaRPr lang="en-US" sz="1300" dirty="0"/>
          </a:p>
        </p:txBody>
      </p:sp>
      <p:sp>
        <p:nvSpPr>
          <p:cNvPr id="17" name="Text 15"/>
          <p:cNvSpPr txBox="1"/>
          <p:nvPr/>
        </p:nvSpPr>
        <p:spPr>
          <a:xfrm>
            <a:off x="3493008" y="2459736"/>
            <a:ext cx="1313962" cy="347472"/>
          </a:xfrm>
          <a:prstGeom prst="rect">
            <a:avLst/>
          </a:prstGeom>
          <a:noFill/>
          <a:ln/>
        </p:spPr>
        <p:txBody>
          <a:bodyPr wrap="square" lIns="0" tIns="0" rIns="0" bIns="0" rtlCol="0" anchor="ctr"/>
          <a:lstStyle/>
          <a:p>
            <a:pPr indent="0" marL="0">
              <a:buNone/>
            </a:pPr>
            <a:r>
              <a:rPr lang="en-US" sz="1100" dirty="0">
                <a:solidFill>
                  <a:srgbClr val="FFFFFF"/>
                </a:solidFill>
                <a:latin typeface="Arial" pitchFamily="34" charset="0"/>
                <a:ea typeface="Arial" pitchFamily="34" charset="-122"/>
                <a:cs typeface="Arial" pitchFamily="34" charset="-120"/>
              </a:rPr>
              <a:t>Expected Sale</a:t>
            </a:r>
            <a:endParaRPr lang="en-US" sz="1100" dirty="0"/>
          </a:p>
        </p:txBody>
      </p:sp>
      <p:sp>
        <p:nvSpPr>
          <p:cNvPr id="18" name="Text 16"/>
          <p:cNvSpPr txBox="1"/>
          <p:nvPr/>
        </p:nvSpPr>
        <p:spPr>
          <a:xfrm>
            <a:off x="4898410" y="2459736"/>
            <a:ext cx="752582"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$462,000</a:t>
            </a:r>
            <a:endParaRPr lang="en-US" sz="1300" dirty="0"/>
          </a:p>
        </p:txBody>
      </p:sp>
      <p:sp>
        <p:nvSpPr>
          <p:cNvPr id="19" name="Text 17"/>
          <p:cNvSpPr txBox="1"/>
          <p:nvPr/>
        </p:nvSpPr>
        <p:spPr>
          <a:xfrm>
            <a:off x="3493008" y="2843784"/>
            <a:ext cx="1409430" cy="347472"/>
          </a:xfrm>
          <a:prstGeom prst="rect">
            <a:avLst/>
          </a:prstGeom>
          <a:noFill/>
          <a:ln/>
        </p:spPr>
        <p:txBody>
          <a:bodyPr wrap="square" lIns="0" tIns="0" rIns="0" bIns="0" rtlCol="0" anchor="ctr"/>
          <a:lstStyle/>
          <a:p>
            <a:pPr indent="0" marL="0">
              <a:buNone/>
            </a:pPr>
            <a:r>
              <a:rPr lang="en-US" sz="1050" dirty="0">
                <a:solidFill>
                  <a:srgbClr val="FFFFFF"/>
                </a:solidFill>
                <a:latin typeface="Arial" pitchFamily="34" charset="0"/>
                <a:ea typeface="Arial" pitchFamily="34" charset="-122"/>
                <a:cs typeface="Arial" pitchFamily="34" charset="-120"/>
              </a:rPr>
              <a:t>Seller Credit Assumed</a:t>
            </a:r>
            <a:endParaRPr lang="en-US" sz="1050" dirty="0"/>
          </a:p>
        </p:txBody>
      </p:sp>
      <p:sp>
        <p:nvSpPr>
          <p:cNvPr id="20" name="Text 18"/>
          <p:cNvSpPr txBox="1"/>
          <p:nvPr/>
        </p:nvSpPr>
        <p:spPr>
          <a:xfrm>
            <a:off x="4993878" y="2843784"/>
            <a:ext cx="657114" cy="347472"/>
          </a:xfrm>
          <a:prstGeom prst="rect">
            <a:avLst/>
          </a:prstGeom>
          <a:noFill/>
          <a:ln/>
        </p:spPr>
        <p:txBody>
          <a:bodyPr wrap="square" lIns="0" tIns="0" rIns="0" bIns="0" rtlCol="0" anchor="ctr"/>
          <a:lstStyle/>
          <a:p>
            <a:pPr algn="r" indent="0" marL="0">
              <a:buNone/>
            </a:pPr>
            <a:r>
              <a:rPr lang="en-US" sz="1300" b="1" dirty="0">
                <a:solidFill>
                  <a:srgbClr val="FFFFFF"/>
                </a:solidFill>
                <a:latin typeface="Arial" pitchFamily="34" charset="0"/>
                <a:ea typeface="Arial" pitchFamily="34" charset="-122"/>
                <a:cs typeface="Arial" pitchFamily="34" charset="-120"/>
              </a:rPr>
              <a:t>$10,000</a:t>
            </a:r>
            <a:endParaRPr lang="en-US" sz="1300" dirty="0"/>
          </a:p>
        </p:txBody>
      </p:sp>
      <p:sp>
        <p:nvSpPr>
          <p:cNvPr id="21" name="Text 19"/>
          <p:cNvSpPr txBox="1"/>
          <p:nvPr/>
        </p:nvSpPr>
        <p:spPr>
          <a:xfrm>
            <a:off x="3493008" y="3291840"/>
            <a:ext cx="2157984" cy="685800"/>
          </a:xfrm>
          <a:prstGeom prst="rect">
            <a:avLst/>
          </a:prstGeom>
          <a:noFill/>
          <a:ln/>
        </p:spPr>
        <p:txBody>
          <a:bodyPr wrap="square" lIns="0" tIns="0" rIns="0" bIns="0" rtlCol="0" anchor="t"/>
          <a:lstStyle/>
          <a:p>
            <a:pPr indent="0" marL="0">
              <a:buNone/>
            </a:pPr>
            <a:r>
              <a:rPr lang="en-US" sz="1100" dirty="0">
                <a:solidFill>
                  <a:srgbClr val="FFFFFF"/>
                </a:solidFill>
                <a:latin typeface="Arial" pitchFamily="34" charset="0"/>
                <a:ea typeface="Arial" pitchFamily="34" charset="-122"/>
                <a:cs typeface="Arial" pitchFamily="34" charset="-120"/>
              </a:rPr>
              <a:t>Priced at the middle of recent adjusted sales; room to negotiate</a:t>
            </a:r>
            <a:endParaRPr lang="en-US" sz="1100" dirty="0"/>
          </a:p>
        </p:txBody>
      </p:sp>
      <p:sp>
        <p:nvSpPr>
          <p:cNvPr id="22" name="Shape 20"/>
          <p:cNvSpPr/>
          <p:nvPr/>
        </p:nvSpPr>
        <p:spPr>
          <a:xfrm>
            <a:off x="6126480" y="1051560"/>
            <a:ext cx="2560320" cy="3017520"/>
          </a:xfrm>
          <a:prstGeom prst="roundRect">
            <a:avLst>
              <a:gd name="adj" fmla="val 2857"/>
            </a:avLst>
          </a:prstGeom>
          <a:solidFill>
            <a:srgbClr val="FBF2EE"/>
          </a:solidFill>
          <a:ln w="12700">
            <a:solidFill>
              <a:srgbClr val="FBF2EE"/>
            </a:solidFill>
            <a:prstDash val="solid"/>
          </a:ln>
        </p:spPr>
      </p:sp>
      <p:sp>
        <p:nvSpPr>
          <p:cNvPr id="23" name="Text 21"/>
          <p:cNvSpPr txBox="1"/>
          <p:nvPr/>
        </p:nvSpPr>
        <p:spPr>
          <a:xfrm>
            <a:off x="6327648" y="1435608"/>
            <a:ext cx="2157984" cy="548640"/>
          </a:xfrm>
          <a:prstGeom prst="rect">
            <a:avLst/>
          </a:prstGeom>
          <a:noFill/>
          <a:ln/>
        </p:spPr>
        <p:txBody>
          <a:bodyPr wrap="square" lIns="0" tIns="0" rIns="0" bIns="0" rtlCol="0" anchor="ctr"/>
          <a:lstStyle/>
          <a:p>
            <a:pPr indent="0" marL="0">
              <a:buNone/>
            </a:pPr>
            <a:r>
              <a:rPr lang="en-US" sz="3000" b="1" dirty="0">
                <a:solidFill>
                  <a:srgbClr val="C2410C"/>
                </a:solidFill>
                <a:latin typeface="Arial" pitchFamily="34" charset="0"/>
                <a:ea typeface="Arial" pitchFamily="34" charset="-122"/>
                <a:cs typeface="Arial" pitchFamily="34" charset="-120"/>
              </a:rPr>
              <a:t>$459,900</a:t>
            </a:r>
            <a:endParaRPr lang="en-US" sz="3000" dirty="0"/>
          </a:p>
        </p:txBody>
      </p:sp>
      <p:sp>
        <p:nvSpPr>
          <p:cNvPr id="24" name="Text 22"/>
          <p:cNvSpPr txBox="1"/>
          <p:nvPr/>
        </p:nvSpPr>
        <p:spPr>
          <a:xfrm>
            <a:off x="6327648" y="2075688"/>
            <a:ext cx="118037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Time to Contract</a:t>
            </a:r>
            <a:endParaRPr lang="en-US" sz="1100" dirty="0"/>
          </a:p>
        </p:txBody>
      </p:sp>
      <p:sp>
        <p:nvSpPr>
          <p:cNvPr id="25" name="Text 23"/>
          <p:cNvSpPr txBox="1"/>
          <p:nvPr/>
        </p:nvSpPr>
        <p:spPr>
          <a:xfrm>
            <a:off x="7599465" y="2075688"/>
            <a:ext cx="88616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1–3 weeks</a:t>
            </a:r>
            <a:endParaRPr lang="en-US" sz="1300" dirty="0"/>
          </a:p>
        </p:txBody>
      </p:sp>
      <p:sp>
        <p:nvSpPr>
          <p:cNvPr id="26" name="Text 24"/>
          <p:cNvSpPr txBox="1"/>
          <p:nvPr/>
        </p:nvSpPr>
        <p:spPr>
          <a:xfrm>
            <a:off x="6327648" y="2459736"/>
            <a:ext cx="1313962"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Expected Sale</a:t>
            </a:r>
            <a:endParaRPr lang="en-US" sz="1100" dirty="0"/>
          </a:p>
        </p:txBody>
      </p:sp>
      <p:sp>
        <p:nvSpPr>
          <p:cNvPr id="27" name="Text 25"/>
          <p:cNvSpPr txBox="1"/>
          <p:nvPr/>
        </p:nvSpPr>
        <p:spPr>
          <a:xfrm>
            <a:off x="7733050" y="2459736"/>
            <a:ext cx="752582"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$460,000</a:t>
            </a:r>
            <a:endParaRPr lang="en-US" sz="1300" dirty="0"/>
          </a:p>
        </p:txBody>
      </p:sp>
      <p:sp>
        <p:nvSpPr>
          <p:cNvPr id="28" name="Text 26"/>
          <p:cNvSpPr txBox="1"/>
          <p:nvPr/>
        </p:nvSpPr>
        <p:spPr>
          <a:xfrm>
            <a:off x="6327648" y="2843784"/>
            <a:ext cx="1504897" cy="347472"/>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Seller Credit Assumed</a:t>
            </a:r>
            <a:endParaRPr lang="en-US" sz="1100" dirty="0"/>
          </a:p>
        </p:txBody>
      </p:sp>
      <p:sp>
        <p:nvSpPr>
          <p:cNvPr id="29" name="Text 27"/>
          <p:cNvSpPr txBox="1"/>
          <p:nvPr/>
        </p:nvSpPr>
        <p:spPr>
          <a:xfrm>
            <a:off x="7923985" y="2843784"/>
            <a:ext cx="561647" cy="347472"/>
          </a:xfrm>
          <a:prstGeom prst="rect">
            <a:avLst/>
          </a:prstGeom>
          <a:noFill/>
          <a:ln/>
        </p:spPr>
        <p:txBody>
          <a:bodyPr wrap="square" lIns="0" tIns="0" rIns="0" bIns="0" rtlCol="0" anchor="ctr"/>
          <a:lstStyle/>
          <a:p>
            <a:pPr algn="r" indent="0" marL="0">
              <a:buNone/>
            </a:pPr>
            <a:r>
              <a:rPr lang="en-US" sz="1300" b="1" dirty="0">
                <a:solidFill>
                  <a:srgbClr val="1A1A1A"/>
                </a:solidFill>
                <a:latin typeface="Arial" pitchFamily="34" charset="0"/>
                <a:ea typeface="Arial" pitchFamily="34" charset="-122"/>
                <a:cs typeface="Arial" pitchFamily="34" charset="-120"/>
              </a:rPr>
              <a:t>$5,000</a:t>
            </a:r>
            <a:endParaRPr lang="en-US" sz="1300" dirty="0"/>
          </a:p>
        </p:txBody>
      </p:sp>
      <p:sp>
        <p:nvSpPr>
          <p:cNvPr id="30" name="Text 28"/>
          <p:cNvSpPr txBox="1"/>
          <p:nvPr/>
        </p:nvSpPr>
        <p:spPr>
          <a:xfrm>
            <a:off x="6327648" y="3291840"/>
            <a:ext cx="2157984" cy="685800"/>
          </a:xfrm>
          <a:prstGeom prst="rect">
            <a:avLst/>
          </a:prstGeom>
          <a:noFill/>
          <a:ln/>
        </p:spPr>
        <p:txBody>
          <a:bodyPr wrap="square" lIns="0" tIns="0" rIns="0" bIns="0" rtlCol="0" anchor="t"/>
          <a:lstStyle/>
          <a:p>
            <a:pPr indent="0" marL="0">
              <a:buNone/>
            </a:pPr>
            <a:r>
              <a:rPr lang="en-US" sz="1100" dirty="0">
                <a:solidFill>
                  <a:srgbClr val="1A1A1A"/>
                </a:solidFill>
                <a:latin typeface="Arial" pitchFamily="34" charset="0"/>
                <a:ea typeface="Arial" pitchFamily="34" charset="-122"/>
                <a:cs typeface="Arial" pitchFamily="34" charset="-120"/>
              </a:rPr>
              <a:t>Aims for competing offers; depends on them materializing</a:t>
            </a:r>
            <a:endParaRPr lang="en-US" sz="1100" dirty="0"/>
          </a:p>
        </p:txBody>
      </p:sp>
      <p:sp>
        <p:nvSpPr>
          <p:cNvPr id="31" name="Text 29"/>
          <p:cNvSpPr txBox="1"/>
          <p:nvPr/>
        </p:nvSpPr>
        <p:spPr>
          <a:xfrm>
            <a:off x="457200" y="4206240"/>
            <a:ext cx="8229600" cy="365760"/>
          </a:xfrm>
          <a:prstGeom prst="rect">
            <a:avLst/>
          </a:prstGeom>
          <a:noFill/>
          <a:ln/>
        </p:spPr>
        <p:txBody>
          <a:bodyPr wrap="square" lIns="0" tIns="0" rIns="0" bIns="0" rtlCol="0" anchor="ctr"/>
          <a:lstStyle/>
          <a:p>
            <a:pPr indent="0" marL="0">
              <a:buNone/>
            </a:pPr>
            <a:r>
              <a:rPr lang="en-US" sz="1400" b="1"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400" dirty="0"/>
          </a:p>
        </p:txBody>
      </p:sp>
      <p:sp>
        <p:nvSpPr>
          <p:cNvPr id="32" name="Text 30"/>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3" name="Text 31"/>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What You Walk Away With</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net before mortgage payoff</a:t>
            </a:r>
            <a:endParaRPr lang="en-US" sz="1300" dirty="0"/>
          </a:p>
        </p:txBody>
      </p:sp>
      <p:graphicFrame>
        <p:nvGraphicFramePr>
          <p:cNvPr id="4" name="Chart 0" descr=""/>
          <p:cNvGraphicFramePr/>
          <p:nvPr/>
        </p:nvGraphicFramePr>
        <p:xfrm>
          <a:off x="457200" y="1234440"/>
          <a:ext cx="5120640" cy="320040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5943600" y="1325880"/>
            <a:ext cx="2743200" cy="2926080"/>
          </a:xfrm>
          <a:prstGeom prst="roundRect">
            <a:avLst>
              <a:gd name="adj" fmla="val 2667"/>
            </a:avLst>
          </a:prstGeom>
          <a:solidFill>
            <a:srgbClr val="FBF2EE"/>
          </a:solidFill>
          <a:ln w="12700">
            <a:solidFill>
              <a:srgbClr val="FBF2EE"/>
            </a:solidFill>
            <a:prstDash val="solid"/>
          </a:ln>
        </p:spPr>
      </p:sp>
      <p:sp>
        <p:nvSpPr>
          <p:cNvPr id="6" name="Text 3"/>
          <p:cNvSpPr txBox="1"/>
          <p:nvPr/>
        </p:nvSpPr>
        <p:spPr>
          <a:xfrm>
            <a:off x="6172200" y="1508760"/>
            <a:ext cx="2286000" cy="548640"/>
          </a:xfrm>
          <a:prstGeom prst="rect">
            <a:avLst/>
          </a:prstGeom>
          <a:noFill/>
          <a:ln/>
        </p:spPr>
        <p:txBody>
          <a:bodyPr wrap="square" lIns="0" tIns="0" rIns="0" bIns="0" rtlCol="0" anchor="ctr"/>
          <a:lstStyle/>
          <a:p>
            <a:pPr indent="0" marL="0">
              <a:buNone/>
            </a:pPr>
            <a:r>
              <a:rPr lang="en-US" sz="3200" b="1" dirty="0">
                <a:solidFill>
                  <a:srgbClr val="C2410C"/>
                </a:solidFill>
                <a:latin typeface="Arial" pitchFamily="34" charset="0"/>
                <a:ea typeface="Arial" pitchFamily="34" charset="-122"/>
                <a:cs typeface="Arial" pitchFamily="34" charset="-120"/>
              </a:rPr>
              <a:t>$3,426</a:t>
            </a:r>
            <a:endParaRPr lang="en-US" sz="3200" dirty="0"/>
          </a:p>
        </p:txBody>
      </p:sp>
      <p:sp>
        <p:nvSpPr>
          <p:cNvPr id="7" name="Text 4"/>
          <p:cNvSpPr txBox="1"/>
          <p:nvPr/>
        </p:nvSpPr>
        <p:spPr>
          <a:xfrm>
            <a:off x="6172200" y="2057400"/>
            <a:ext cx="2286000" cy="457200"/>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Difference Between the Highest and Lowest Net</a:t>
            </a:r>
            <a:endParaRPr lang="en-US" sz="1100" dirty="0"/>
          </a:p>
        </p:txBody>
      </p:sp>
      <p:sp>
        <p:nvSpPr>
          <p:cNvPr id="8" name="Text 5"/>
          <p:cNvSpPr txBox="1"/>
          <p:nvPr/>
        </p:nvSpPr>
        <p:spPr>
          <a:xfrm>
            <a:off x="6172200" y="2651760"/>
            <a:ext cx="2286000" cy="1463040"/>
          </a:xfrm>
          <a:prstGeom prst="rect">
            <a:avLst/>
          </a:prstGeom>
          <a:noFill/>
          <a:ln/>
        </p:spPr>
        <p:txBody>
          <a:bodyPr wrap="square" lIns="0" tIns="0" rIns="0" bIns="0" rtlCol="0" anchor="t"/>
          <a:lstStyle/>
          <a:p>
            <a:pPr indent="0" marL="0">
              <a:buNone/>
            </a:pPr>
            <a:r>
              <a:rPr lang="en-US" sz="1300" dirty="0">
                <a:solidFill>
                  <a:srgbClr val="1A1A1A"/>
                </a:solidFill>
                <a:latin typeface="Arial" pitchFamily="34" charset="0"/>
                <a:ea typeface="Arial" pitchFamily="34" charset="-122"/>
                <a:cs typeface="Arial" pitchFamily="34" charset="-120"/>
              </a:rPr>
              <a:t>All three net within a few thousand dollars. The real choice is time and risk.</a:t>
            </a:r>
            <a:endParaRPr lang="en-US" sz="1300" dirty="0"/>
          </a:p>
        </p:txBody>
      </p:sp>
      <p:sp>
        <p:nvSpPr>
          <p:cNvPr id="9" name="Text 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10" name="Text 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How Buyers See Your Price</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Estimated monthly payment, conventional loan with 5% down</a:t>
            </a:r>
            <a:endParaRPr lang="en-US" sz="1300" dirty="0"/>
          </a:p>
        </p:txBody>
      </p:sp>
      <p:sp>
        <p:nvSpPr>
          <p:cNvPr id="4" name="Shape 2"/>
          <p:cNvSpPr/>
          <p:nvPr/>
        </p:nvSpPr>
        <p:spPr>
          <a:xfrm>
            <a:off x="457200" y="1325880"/>
            <a:ext cx="2560320" cy="1737360"/>
          </a:xfrm>
          <a:prstGeom prst="roundRect">
            <a:avLst>
              <a:gd name="adj" fmla="val 4211"/>
            </a:avLst>
          </a:prstGeom>
          <a:solidFill>
            <a:srgbClr val="FFFFFF"/>
          </a:solidFill>
          <a:ln w="12700">
            <a:solidFill>
              <a:srgbClr val="F8E8E2"/>
            </a:solidFill>
            <a:prstDash val="solid"/>
          </a:ln>
        </p:spPr>
      </p:sp>
      <p:sp>
        <p:nvSpPr>
          <p:cNvPr id="5" name="Text 3"/>
          <p:cNvSpPr txBox="1"/>
          <p:nvPr/>
        </p:nvSpPr>
        <p:spPr>
          <a:xfrm>
            <a:off x="65836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$479,900</a:t>
            </a:r>
            <a:endParaRPr lang="en-US" sz="1300" dirty="0"/>
          </a:p>
        </p:txBody>
      </p:sp>
      <p:sp>
        <p:nvSpPr>
          <p:cNvPr id="6" name="Text 4"/>
          <p:cNvSpPr txBox="1"/>
          <p:nvPr/>
        </p:nvSpPr>
        <p:spPr>
          <a:xfrm>
            <a:off x="65836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$4,228/mo</a:t>
            </a:r>
            <a:endParaRPr lang="en-US" sz="2800" dirty="0"/>
          </a:p>
        </p:txBody>
      </p:sp>
      <p:sp>
        <p:nvSpPr>
          <p:cNvPr id="7" name="Text 5"/>
          <p:cNvSpPr txBox="1"/>
          <p:nvPr/>
        </p:nvSpPr>
        <p:spPr>
          <a:xfrm>
            <a:off x="65836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$23,995 down (5%)</a:t>
            </a:r>
            <a:endParaRPr lang="en-US" sz="1100" dirty="0"/>
          </a:p>
        </p:txBody>
      </p:sp>
      <p:sp>
        <p:nvSpPr>
          <p:cNvPr id="8" name="Shape 6"/>
          <p:cNvSpPr/>
          <p:nvPr/>
        </p:nvSpPr>
        <p:spPr>
          <a:xfrm>
            <a:off x="3291840" y="1325880"/>
            <a:ext cx="2560320" cy="1737360"/>
          </a:xfrm>
          <a:prstGeom prst="roundRect">
            <a:avLst>
              <a:gd name="adj" fmla="val 4211"/>
            </a:avLst>
          </a:prstGeom>
          <a:solidFill>
            <a:srgbClr val="FBF2EE"/>
          </a:solidFill>
          <a:ln w="19050">
            <a:solidFill>
              <a:srgbClr val="C2410C"/>
            </a:solidFill>
            <a:prstDash val="solid"/>
          </a:ln>
        </p:spPr>
      </p:sp>
      <p:sp>
        <p:nvSpPr>
          <p:cNvPr id="9" name="Text 7"/>
          <p:cNvSpPr txBox="1"/>
          <p:nvPr/>
        </p:nvSpPr>
        <p:spPr>
          <a:xfrm>
            <a:off x="349300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$469,900</a:t>
            </a:r>
            <a:endParaRPr lang="en-US" sz="1300" dirty="0"/>
          </a:p>
        </p:txBody>
      </p:sp>
      <p:sp>
        <p:nvSpPr>
          <p:cNvPr id="10" name="Text 8"/>
          <p:cNvSpPr txBox="1"/>
          <p:nvPr/>
        </p:nvSpPr>
        <p:spPr>
          <a:xfrm>
            <a:off x="349300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$4,146/mo</a:t>
            </a:r>
            <a:endParaRPr lang="en-US" sz="2800" dirty="0"/>
          </a:p>
        </p:txBody>
      </p:sp>
      <p:sp>
        <p:nvSpPr>
          <p:cNvPr id="11" name="Text 9"/>
          <p:cNvSpPr txBox="1"/>
          <p:nvPr/>
        </p:nvSpPr>
        <p:spPr>
          <a:xfrm>
            <a:off x="349300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$23,495 down (5%)</a:t>
            </a:r>
            <a:endParaRPr lang="en-US" sz="1100" dirty="0"/>
          </a:p>
        </p:txBody>
      </p:sp>
      <p:sp>
        <p:nvSpPr>
          <p:cNvPr id="12" name="Shape 10"/>
          <p:cNvSpPr/>
          <p:nvPr/>
        </p:nvSpPr>
        <p:spPr>
          <a:xfrm>
            <a:off x="6126480" y="1325880"/>
            <a:ext cx="2560320" cy="1737360"/>
          </a:xfrm>
          <a:prstGeom prst="roundRect">
            <a:avLst>
              <a:gd name="adj" fmla="val 4211"/>
            </a:avLst>
          </a:prstGeom>
          <a:solidFill>
            <a:srgbClr val="FFFFFF"/>
          </a:solidFill>
          <a:ln w="12700">
            <a:solidFill>
              <a:srgbClr val="F8E8E2"/>
            </a:solidFill>
            <a:prstDash val="solid"/>
          </a:ln>
        </p:spPr>
      </p:sp>
      <p:sp>
        <p:nvSpPr>
          <p:cNvPr id="13" name="Text 11"/>
          <p:cNvSpPr txBox="1"/>
          <p:nvPr/>
        </p:nvSpPr>
        <p:spPr>
          <a:xfrm>
            <a:off x="6327648" y="1508760"/>
            <a:ext cx="2157984" cy="27432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List $459,900</a:t>
            </a:r>
            <a:endParaRPr lang="en-US" sz="1300" dirty="0"/>
          </a:p>
        </p:txBody>
      </p:sp>
      <p:sp>
        <p:nvSpPr>
          <p:cNvPr id="14" name="Text 12"/>
          <p:cNvSpPr txBox="1"/>
          <p:nvPr/>
        </p:nvSpPr>
        <p:spPr>
          <a:xfrm>
            <a:off x="6327648" y="1874520"/>
            <a:ext cx="2157984" cy="548640"/>
          </a:xfrm>
          <a:prstGeom prst="rect">
            <a:avLst/>
          </a:prstGeom>
          <a:noFill/>
          <a:ln/>
        </p:spPr>
        <p:txBody>
          <a:bodyPr wrap="square" lIns="0" tIns="0" rIns="0" bIns="0" rtlCol="0" anchor="ctr"/>
          <a:lstStyle/>
          <a:p>
            <a:pPr indent="0" marL="0">
              <a:buNone/>
            </a:pPr>
            <a:r>
              <a:rPr lang="en-US" sz="2800" b="1" dirty="0">
                <a:solidFill>
                  <a:srgbClr val="C2410C"/>
                </a:solidFill>
                <a:latin typeface="Arial" pitchFamily="34" charset="0"/>
                <a:ea typeface="Arial" pitchFamily="34" charset="-122"/>
                <a:cs typeface="Arial" pitchFamily="34" charset="-120"/>
              </a:rPr>
              <a:t>$4,064/mo</a:t>
            </a:r>
            <a:endParaRPr lang="en-US" sz="2800" dirty="0"/>
          </a:p>
        </p:txBody>
      </p:sp>
      <p:sp>
        <p:nvSpPr>
          <p:cNvPr id="15" name="Text 13"/>
          <p:cNvSpPr txBox="1"/>
          <p:nvPr/>
        </p:nvSpPr>
        <p:spPr>
          <a:xfrm>
            <a:off x="6327648" y="2514600"/>
            <a:ext cx="2157984" cy="274320"/>
          </a:xfrm>
          <a:prstGeom prst="rect">
            <a:avLst/>
          </a:prstGeom>
          <a:noFill/>
          <a:ln/>
        </p:spPr>
        <p:txBody>
          <a:bodyPr wrap="square" lIns="0" tIns="0" rIns="0" bIns="0" rtlCol="0" anchor="ctr"/>
          <a:lstStyle/>
          <a:p>
            <a:pPr indent="0" marL="0">
              <a:buNone/>
            </a:pPr>
            <a:r>
              <a:rPr lang="en-US" sz="1100" dirty="0">
                <a:solidFill>
                  <a:srgbClr val="5A6672"/>
                </a:solidFill>
                <a:latin typeface="Arial" pitchFamily="34" charset="0"/>
                <a:ea typeface="Arial" pitchFamily="34" charset="-122"/>
                <a:cs typeface="Arial" pitchFamily="34" charset="-120"/>
              </a:rPr>
              <a:t>$22,995 down (5%)</a:t>
            </a:r>
            <a:endParaRPr lang="en-US" sz="1100" dirty="0"/>
          </a:p>
        </p:txBody>
      </p:sp>
      <p:sp>
        <p:nvSpPr>
          <p:cNvPr id="16" name="Shape 14"/>
          <p:cNvSpPr/>
          <p:nvPr/>
        </p:nvSpPr>
        <p:spPr>
          <a:xfrm>
            <a:off x="457200" y="3429000"/>
            <a:ext cx="502920" cy="502920"/>
          </a:xfrm>
          <a:prstGeom prst="ellipse">
            <a:avLst/>
          </a:prstGeom>
          <a:solidFill>
            <a:srgbClr val="C2410C"/>
          </a:solidFill>
          <a:ln w="12700">
            <a:solidFill>
              <a:srgbClr val="C2410C"/>
            </a:solidFill>
            <a:prstDash val="solid"/>
          </a:ln>
        </p:spPr>
      </p:sp>
      <p:pic>
        <p:nvPicPr>
          <p:cNvPr id="17" name="Image 0" descr="preencoded.png">    </p:cNvPr>
          <p:cNvPicPr>
            <a:picLocks noChangeAspect="1"/>
          </p:cNvPicPr>
          <p:nvPr/>
        </p:nvPicPr>
        <p:blipFill>
          <a:blip r:embed="rId1"/>
          <a:stretch>
            <a:fillRect/>
          </a:stretch>
        </p:blipFill>
        <p:spPr>
          <a:xfrm>
            <a:off x="577901" y="3549701"/>
            <a:ext cx="261518" cy="261518"/>
          </a:xfrm>
          <a:prstGeom prst="rect">
            <a:avLst/>
          </a:prstGeom>
        </p:spPr>
      </p:pic>
      <p:sp>
        <p:nvSpPr>
          <p:cNvPr id="18" name="Text 15"/>
          <p:cNvSpPr txBox="1"/>
          <p:nvPr/>
        </p:nvSpPr>
        <p:spPr>
          <a:xfrm>
            <a:off x="1143000" y="3383280"/>
            <a:ext cx="7543800" cy="594360"/>
          </a:xfrm>
          <a:prstGeom prst="rect">
            <a:avLst/>
          </a:prstGeom>
          <a:noFill/>
          <a:ln/>
        </p:spPr>
        <p:txBody>
          <a:bodyPr wrap="square" lIns="0" tIns="0" rIns="0" bIns="0" rtlCol="0" anchor="ctr"/>
          <a:lstStyle/>
          <a:p>
            <a:pPr indent="0" marL="0">
              <a:buNone/>
            </a:pPr>
            <a:r>
              <a:rPr lang="en-US" sz="1500" b="1" dirty="0">
                <a:solidFill>
                  <a:srgbClr val="1A1A1A"/>
                </a:solidFill>
                <a:latin typeface="Arial" pitchFamily="34" charset="0"/>
                <a:ea typeface="Arial" pitchFamily="34" charset="-122"/>
                <a:cs typeface="Arial" pitchFamily="34" charset="-120"/>
              </a:rPr>
              <a:t>Buyers shop by payment. Every $10,000 is about $80 a month to them.</a:t>
            </a:r>
            <a:endParaRPr lang="en-US" sz="1500" dirty="0"/>
          </a:p>
        </p:txBody>
      </p:sp>
      <p:sp>
        <p:nvSpPr>
          <p:cNvPr id="19" name="Text 1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20" name="Text 1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Launch Plan</a:t>
            </a:r>
            <a:endParaRPr lang="en-US" sz="2600" dirty="0"/>
          </a:p>
        </p:txBody>
      </p:sp>
      <p:sp>
        <p:nvSpPr>
          <p:cNvPr id="3" name="Text 1"/>
          <p:cNvSpPr txBox="1"/>
          <p:nvPr/>
        </p:nvSpPr>
        <p:spPr>
          <a:xfrm>
            <a:off x="457200" y="841248"/>
            <a:ext cx="8229600" cy="329184"/>
          </a:xfrm>
          <a:prstGeom prst="rect">
            <a:avLst/>
          </a:prstGeom>
          <a:noFill/>
          <a:ln/>
        </p:spPr>
        <p:txBody>
          <a:bodyPr wrap="square" lIns="0" tIns="0" rIns="0" bIns="0" rtlCol="0" anchor="ctr"/>
          <a:lstStyle/>
          <a:p>
            <a:pPr indent="0" marL="0">
              <a:buNone/>
            </a:pPr>
            <a:r>
              <a:rPr lang="en-US" sz="1300" dirty="0">
                <a:solidFill>
                  <a:srgbClr val="5A6672"/>
                </a:solidFill>
                <a:latin typeface="Arial" pitchFamily="34" charset="0"/>
                <a:ea typeface="Arial" pitchFamily="34" charset="-122"/>
                <a:cs typeface="Arial" pitchFamily="34" charset="-120"/>
              </a:rPr>
              <a:t>Before we go live</a:t>
            </a:r>
            <a:endParaRPr lang="en-US" sz="1300" dirty="0"/>
          </a:p>
        </p:txBody>
      </p:sp>
      <p:sp>
        <p:nvSpPr>
          <p:cNvPr id="4" name="Shape 2"/>
          <p:cNvSpPr/>
          <p:nvPr/>
        </p:nvSpPr>
        <p:spPr>
          <a:xfrm>
            <a:off x="457200" y="1325880"/>
            <a:ext cx="2560320" cy="1280160"/>
          </a:xfrm>
          <a:prstGeom prst="roundRect">
            <a:avLst>
              <a:gd name="adj" fmla="val 5714"/>
            </a:avLst>
          </a:prstGeom>
          <a:solidFill>
            <a:srgbClr val="FBF2EE"/>
          </a:solidFill>
          <a:ln w="12700">
            <a:solidFill>
              <a:srgbClr val="FBF2EE"/>
            </a:solidFill>
            <a:prstDash val="solid"/>
          </a:ln>
        </p:spPr>
      </p:sp>
      <p:sp>
        <p:nvSpPr>
          <p:cNvPr id="5" name="Shape 3"/>
          <p:cNvSpPr/>
          <p:nvPr/>
        </p:nvSpPr>
        <p:spPr>
          <a:xfrm>
            <a:off x="621792" y="1508760"/>
            <a:ext cx="411480" cy="411480"/>
          </a:xfrm>
          <a:prstGeom prst="ellipse">
            <a:avLst/>
          </a:prstGeom>
          <a:solidFill>
            <a:srgbClr val="C2410C"/>
          </a:solidFill>
          <a:ln w="12700">
            <a:solidFill>
              <a:srgbClr val="C2410C"/>
            </a:solidFill>
            <a:prstDash val="solid"/>
          </a:ln>
        </p:spPr>
      </p:sp>
      <p:pic>
        <p:nvPicPr>
          <p:cNvPr id="6" name="Image 0" descr="preencoded.png">    </p:cNvPr>
          <p:cNvPicPr>
            <a:picLocks noChangeAspect="1"/>
          </p:cNvPicPr>
          <p:nvPr/>
        </p:nvPicPr>
        <p:blipFill>
          <a:blip r:embed="rId1"/>
          <a:stretch>
            <a:fillRect/>
          </a:stretch>
        </p:blipFill>
        <p:spPr>
          <a:xfrm>
            <a:off x="720547" y="1607515"/>
            <a:ext cx="213970" cy="213970"/>
          </a:xfrm>
          <a:prstGeom prst="rect">
            <a:avLst/>
          </a:prstGeom>
        </p:spPr>
      </p:pic>
      <p:sp>
        <p:nvSpPr>
          <p:cNvPr id="7" name="Text 4"/>
          <p:cNvSpPr txBox="1"/>
          <p:nvPr/>
        </p:nvSpPr>
        <p:spPr>
          <a:xfrm>
            <a:off x="114300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Document the Roof</a:t>
            </a:r>
            <a:endParaRPr lang="en-US" sz="1300" dirty="0"/>
          </a:p>
        </p:txBody>
      </p:sp>
      <p:sp>
        <p:nvSpPr>
          <p:cNvPr id="8" name="Text 5"/>
          <p:cNvSpPr txBox="1"/>
          <p:nvPr/>
        </p:nvSpPr>
        <p:spPr>
          <a:xfrm>
            <a:off x="64008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Permit and date, ready to share</a:t>
            </a:r>
            <a:endParaRPr lang="en-US" sz="1100" dirty="0"/>
          </a:p>
        </p:txBody>
      </p:sp>
      <p:sp>
        <p:nvSpPr>
          <p:cNvPr id="9" name="Shape 6"/>
          <p:cNvSpPr/>
          <p:nvPr/>
        </p:nvSpPr>
        <p:spPr>
          <a:xfrm>
            <a:off x="3291840" y="1325880"/>
            <a:ext cx="2560320" cy="1280160"/>
          </a:xfrm>
          <a:prstGeom prst="roundRect">
            <a:avLst>
              <a:gd name="adj" fmla="val 5714"/>
            </a:avLst>
          </a:prstGeom>
          <a:solidFill>
            <a:srgbClr val="FBF2EE"/>
          </a:solidFill>
          <a:ln w="12700">
            <a:solidFill>
              <a:srgbClr val="FBF2EE"/>
            </a:solidFill>
            <a:prstDash val="solid"/>
          </a:ln>
        </p:spPr>
      </p:sp>
      <p:sp>
        <p:nvSpPr>
          <p:cNvPr id="10" name="Shape 7"/>
          <p:cNvSpPr/>
          <p:nvPr/>
        </p:nvSpPr>
        <p:spPr>
          <a:xfrm>
            <a:off x="3456432" y="1508760"/>
            <a:ext cx="411480" cy="411480"/>
          </a:xfrm>
          <a:prstGeom prst="ellipse">
            <a:avLst/>
          </a:prstGeom>
          <a:solidFill>
            <a:srgbClr val="C2410C"/>
          </a:solidFill>
          <a:ln w="12700">
            <a:solidFill>
              <a:srgbClr val="C2410C"/>
            </a:solidFill>
            <a:prstDash val="solid"/>
          </a:ln>
        </p:spPr>
      </p:sp>
      <p:pic>
        <p:nvPicPr>
          <p:cNvPr id="11" name="Image 1" descr="preencoded.png">    </p:cNvPr>
          <p:cNvPicPr>
            <a:picLocks noChangeAspect="1"/>
          </p:cNvPicPr>
          <p:nvPr/>
        </p:nvPicPr>
        <p:blipFill>
          <a:blip r:embed="rId2"/>
          <a:stretch>
            <a:fillRect/>
          </a:stretch>
        </p:blipFill>
        <p:spPr>
          <a:xfrm>
            <a:off x="3555187" y="1607515"/>
            <a:ext cx="213970" cy="213970"/>
          </a:xfrm>
          <a:prstGeom prst="rect">
            <a:avLst/>
          </a:prstGeom>
        </p:spPr>
      </p:pic>
      <p:sp>
        <p:nvSpPr>
          <p:cNvPr id="12" name="Text 8"/>
          <p:cNvSpPr txBox="1"/>
          <p:nvPr/>
        </p:nvSpPr>
        <p:spPr>
          <a:xfrm>
            <a:off x="3977640" y="1481328"/>
            <a:ext cx="1737360" cy="457200"/>
          </a:xfrm>
          <a:prstGeom prst="rect">
            <a:avLst/>
          </a:prstGeom>
          <a:noFill/>
          <a:ln/>
        </p:spPr>
        <p:txBody>
          <a:bodyPr wrap="square" lIns="0" tIns="0" rIns="0" bIns="0" rtlCol="0" anchor="ctr"/>
          <a:lstStyle/>
          <a:p>
            <a:pPr indent="0" marL="0">
              <a:buNone/>
            </a:pPr>
            <a:r>
              <a:rPr lang="en-US" sz="1250" b="1" dirty="0">
                <a:solidFill>
                  <a:srgbClr val="1A1A1A"/>
                </a:solidFill>
                <a:latin typeface="Arial" pitchFamily="34" charset="0"/>
                <a:ea typeface="Arial" pitchFamily="34" charset="-122"/>
                <a:cs typeface="Arial" pitchFamily="34" charset="-120"/>
              </a:rPr>
              <a:t>Pre-Listing Inspection</a:t>
            </a:r>
            <a:endParaRPr lang="en-US" sz="1250" dirty="0"/>
          </a:p>
        </p:txBody>
      </p:sp>
      <p:sp>
        <p:nvSpPr>
          <p:cNvPr id="13" name="Text 9"/>
          <p:cNvSpPr txBox="1"/>
          <p:nvPr/>
        </p:nvSpPr>
        <p:spPr>
          <a:xfrm>
            <a:off x="347472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Plus 4-point and wind-mitigation reports</a:t>
            </a:r>
            <a:endParaRPr lang="en-US" sz="1100" dirty="0"/>
          </a:p>
        </p:txBody>
      </p:sp>
      <p:sp>
        <p:nvSpPr>
          <p:cNvPr id="14" name="Shape 10"/>
          <p:cNvSpPr/>
          <p:nvPr/>
        </p:nvSpPr>
        <p:spPr>
          <a:xfrm>
            <a:off x="6126480" y="1325880"/>
            <a:ext cx="2560320" cy="1280160"/>
          </a:xfrm>
          <a:prstGeom prst="roundRect">
            <a:avLst>
              <a:gd name="adj" fmla="val 5714"/>
            </a:avLst>
          </a:prstGeom>
          <a:solidFill>
            <a:srgbClr val="FBF2EE"/>
          </a:solidFill>
          <a:ln w="12700">
            <a:solidFill>
              <a:srgbClr val="FBF2EE"/>
            </a:solidFill>
            <a:prstDash val="solid"/>
          </a:ln>
        </p:spPr>
      </p:sp>
      <p:sp>
        <p:nvSpPr>
          <p:cNvPr id="15" name="Shape 11"/>
          <p:cNvSpPr/>
          <p:nvPr/>
        </p:nvSpPr>
        <p:spPr>
          <a:xfrm>
            <a:off x="6291072" y="1508760"/>
            <a:ext cx="411480" cy="411480"/>
          </a:xfrm>
          <a:prstGeom prst="ellipse">
            <a:avLst/>
          </a:prstGeom>
          <a:solidFill>
            <a:srgbClr val="C2410C"/>
          </a:solidFill>
          <a:ln w="12700">
            <a:solidFill>
              <a:srgbClr val="C2410C"/>
            </a:solidFill>
            <a:prstDash val="solid"/>
          </a:ln>
        </p:spPr>
      </p:sp>
      <p:pic>
        <p:nvPicPr>
          <p:cNvPr id="16" name="Image 2" descr="preencoded.png">    </p:cNvPr>
          <p:cNvPicPr>
            <a:picLocks noChangeAspect="1"/>
          </p:cNvPicPr>
          <p:nvPr/>
        </p:nvPicPr>
        <p:blipFill>
          <a:blip r:embed="rId3"/>
          <a:stretch>
            <a:fillRect/>
          </a:stretch>
        </p:blipFill>
        <p:spPr>
          <a:xfrm>
            <a:off x="6389827" y="1607515"/>
            <a:ext cx="213970" cy="213970"/>
          </a:xfrm>
          <a:prstGeom prst="rect">
            <a:avLst/>
          </a:prstGeom>
        </p:spPr>
      </p:pic>
      <p:sp>
        <p:nvSpPr>
          <p:cNvPr id="17" name="Text 12"/>
          <p:cNvSpPr txBox="1"/>
          <p:nvPr/>
        </p:nvSpPr>
        <p:spPr>
          <a:xfrm>
            <a:off x="6812280" y="148132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Gather Permits</a:t>
            </a:r>
            <a:endParaRPr lang="en-US" sz="1300" dirty="0"/>
          </a:p>
        </p:txBody>
      </p:sp>
      <p:sp>
        <p:nvSpPr>
          <p:cNvPr id="18" name="Text 13"/>
          <p:cNvSpPr txBox="1"/>
          <p:nvPr/>
        </p:nvSpPr>
        <p:spPr>
          <a:xfrm>
            <a:off x="6309360" y="205740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Kitchen, baths, electrical, plumbing</a:t>
            </a:r>
            <a:endParaRPr lang="en-US" sz="1100" dirty="0"/>
          </a:p>
        </p:txBody>
      </p:sp>
      <p:sp>
        <p:nvSpPr>
          <p:cNvPr id="19" name="Shape 14"/>
          <p:cNvSpPr/>
          <p:nvPr/>
        </p:nvSpPr>
        <p:spPr>
          <a:xfrm>
            <a:off x="457200" y="2834640"/>
            <a:ext cx="2560320" cy="1280160"/>
          </a:xfrm>
          <a:prstGeom prst="roundRect">
            <a:avLst>
              <a:gd name="adj" fmla="val 5714"/>
            </a:avLst>
          </a:prstGeom>
          <a:solidFill>
            <a:srgbClr val="FBF2EE"/>
          </a:solidFill>
          <a:ln w="12700">
            <a:solidFill>
              <a:srgbClr val="FBF2EE"/>
            </a:solidFill>
            <a:prstDash val="solid"/>
          </a:ln>
        </p:spPr>
      </p:sp>
      <p:sp>
        <p:nvSpPr>
          <p:cNvPr id="20" name="Shape 15"/>
          <p:cNvSpPr/>
          <p:nvPr/>
        </p:nvSpPr>
        <p:spPr>
          <a:xfrm>
            <a:off x="621792" y="3017520"/>
            <a:ext cx="411480" cy="411480"/>
          </a:xfrm>
          <a:prstGeom prst="ellipse">
            <a:avLst/>
          </a:prstGeom>
          <a:solidFill>
            <a:srgbClr val="C2410C"/>
          </a:solidFill>
          <a:ln w="12700">
            <a:solidFill>
              <a:srgbClr val="C2410C"/>
            </a:solidFill>
            <a:prstDash val="solid"/>
          </a:ln>
        </p:spPr>
      </p:sp>
      <p:pic>
        <p:nvPicPr>
          <p:cNvPr id="21" name="Image 3" descr="preencoded.png">    </p:cNvPr>
          <p:cNvPicPr>
            <a:picLocks noChangeAspect="1"/>
          </p:cNvPicPr>
          <p:nvPr/>
        </p:nvPicPr>
        <p:blipFill>
          <a:blip r:embed="rId4"/>
          <a:stretch>
            <a:fillRect/>
          </a:stretch>
        </p:blipFill>
        <p:spPr>
          <a:xfrm>
            <a:off x="720547" y="3116275"/>
            <a:ext cx="213970" cy="213970"/>
          </a:xfrm>
          <a:prstGeom prst="rect">
            <a:avLst/>
          </a:prstGeom>
        </p:spPr>
      </p:pic>
      <p:sp>
        <p:nvSpPr>
          <p:cNvPr id="22" name="Text 16"/>
          <p:cNvSpPr txBox="1"/>
          <p:nvPr/>
        </p:nvSpPr>
        <p:spPr>
          <a:xfrm>
            <a:off x="114300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Easy Showings</a:t>
            </a:r>
            <a:endParaRPr lang="en-US" sz="1300" dirty="0"/>
          </a:p>
        </p:txBody>
      </p:sp>
      <p:sp>
        <p:nvSpPr>
          <p:cNvPr id="23" name="Text 17"/>
          <p:cNvSpPr txBox="1"/>
          <p:nvPr/>
        </p:nvSpPr>
        <p:spPr>
          <a:xfrm>
            <a:off x="64008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Lockbox access with short notice</a:t>
            </a:r>
            <a:endParaRPr lang="en-US" sz="1100" dirty="0"/>
          </a:p>
        </p:txBody>
      </p:sp>
      <p:sp>
        <p:nvSpPr>
          <p:cNvPr id="24" name="Shape 18"/>
          <p:cNvSpPr/>
          <p:nvPr/>
        </p:nvSpPr>
        <p:spPr>
          <a:xfrm>
            <a:off x="3291840" y="2834640"/>
            <a:ext cx="2560320" cy="1280160"/>
          </a:xfrm>
          <a:prstGeom prst="roundRect">
            <a:avLst>
              <a:gd name="adj" fmla="val 5714"/>
            </a:avLst>
          </a:prstGeom>
          <a:solidFill>
            <a:srgbClr val="FBF2EE"/>
          </a:solidFill>
          <a:ln w="12700">
            <a:solidFill>
              <a:srgbClr val="FBF2EE"/>
            </a:solidFill>
            <a:prstDash val="solid"/>
          </a:ln>
        </p:spPr>
      </p:sp>
      <p:sp>
        <p:nvSpPr>
          <p:cNvPr id="25" name="Shape 19"/>
          <p:cNvSpPr/>
          <p:nvPr/>
        </p:nvSpPr>
        <p:spPr>
          <a:xfrm>
            <a:off x="3456432" y="3017520"/>
            <a:ext cx="411480" cy="411480"/>
          </a:xfrm>
          <a:prstGeom prst="ellipse">
            <a:avLst/>
          </a:prstGeom>
          <a:solidFill>
            <a:srgbClr val="C2410C"/>
          </a:solidFill>
          <a:ln w="12700">
            <a:solidFill>
              <a:srgbClr val="C2410C"/>
            </a:solidFill>
            <a:prstDash val="solid"/>
          </a:ln>
        </p:spPr>
      </p:sp>
      <p:pic>
        <p:nvPicPr>
          <p:cNvPr id="26" name="Image 4" descr="preencoded.png">    </p:cNvPr>
          <p:cNvPicPr>
            <a:picLocks noChangeAspect="1"/>
          </p:cNvPicPr>
          <p:nvPr/>
        </p:nvPicPr>
        <p:blipFill>
          <a:blip r:embed="rId5"/>
          <a:stretch>
            <a:fillRect/>
          </a:stretch>
        </p:blipFill>
        <p:spPr>
          <a:xfrm>
            <a:off x="3555187" y="3116275"/>
            <a:ext cx="213970" cy="213970"/>
          </a:xfrm>
          <a:prstGeom prst="rect">
            <a:avLst/>
          </a:prstGeom>
        </p:spPr>
      </p:pic>
      <p:sp>
        <p:nvSpPr>
          <p:cNvPr id="27" name="Text 20"/>
          <p:cNvSpPr txBox="1"/>
          <p:nvPr/>
        </p:nvSpPr>
        <p:spPr>
          <a:xfrm>
            <a:off x="397764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Seller-Credit Budget</a:t>
            </a:r>
            <a:endParaRPr lang="en-US" sz="1300" dirty="0"/>
          </a:p>
        </p:txBody>
      </p:sp>
      <p:sp>
        <p:nvSpPr>
          <p:cNvPr id="28" name="Text 21"/>
          <p:cNvSpPr txBox="1"/>
          <p:nvPr/>
        </p:nvSpPr>
        <p:spPr>
          <a:xfrm>
            <a:off x="347472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Decide it now, before offers arrive</a:t>
            </a:r>
            <a:endParaRPr lang="en-US" sz="1100" dirty="0"/>
          </a:p>
        </p:txBody>
      </p:sp>
      <p:sp>
        <p:nvSpPr>
          <p:cNvPr id="29" name="Shape 22"/>
          <p:cNvSpPr/>
          <p:nvPr/>
        </p:nvSpPr>
        <p:spPr>
          <a:xfrm>
            <a:off x="6126480" y="2834640"/>
            <a:ext cx="2560320" cy="1280160"/>
          </a:xfrm>
          <a:prstGeom prst="roundRect">
            <a:avLst>
              <a:gd name="adj" fmla="val 5714"/>
            </a:avLst>
          </a:prstGeom>
          <a:solidFill>
            <a:srgbClr val="FBF2EE"/>
          </a:solidFill>
          <a:ln w="12700">
            <a:solidFill>
              <a:srgbClr val="FBF2EE"/>
            </a:solidFill>
            <a:prstDash val="solid"/>
          </a:ln>
        </p:spPr>
      </p:sp>
      <p:sp>
        <p:nvSpPr>
          <p:cNvPr id="30" name="Shape 23"/>
          <p:cNvSpPr/>
          <p:nvPr/>
        </p:nvSpPr>
        <p:spPr>
          <a:xfrm>
            <a:off x="6291072" y="3017520"/>
            <a:ext cx="411480" cy="411480"/>
          </a:xfrm>
          <a:prstGeom prst="ellipse">
            <a:avLst/>
          </a:prstGeom>
          <a:solidFill>
            <a:srgbClr val="C2410C"/>
          </a:solidFill>
          <a:ln w="12700">
            <a:solidFill>
              <a:srgbClr val="C2410C"/>
            </a:solidFill>
            <a:prstDash val="solid"/>
          </a:ln>
        </p:spPr>
      </p:sp>
      <p:pic>
        <p:nvPicPr>
          <p:cNvPr id="31" name="Image 5" descr="preencoded.png">    </p:cNvPr>
          <p:cNvPicPr>
            <a:picLocks noChangeAspect="1"/>
          </p:cNvPicPr>
          <p:nvPr/>
        </p:nvPicPr>
        <p:blipFill>
          <a:blip r:embed="rId6"/>
          <a:stretch>
            <a:fillRect/>
          </a:stretch>
        </p:blipFill>
        <p:spPr>
          <a:xfrm>
            <a:off x="6389827" y="3116275"/>
            <a:ext cx="213970" cy="213970"/>
          </a:xfrm>
          <a:prstGeom prst="rect">
            <a:avLst/>
          </a:prstGeom>
        </p:spPr>
      </p:pic>
      <p:sp>
        <p:nvSpPr>
          <p:cNvPr id="32" name="Text 24"/>
          <p:cNvSpPr txBox="1"/>
          <p:nvPr/>
        </p:nvSpPr>
        <p:spPr>
          <a:xfrm>
            <a:off x="6812280" y="2990088"/>
            <a:ext cx="1737360" cy="457200"/>
          </a:xfrm>
          <a:prstGeom prst="rect">
            <a:avLst/>
          </a:prstGeom>
          <a:noFill/>
          <a:ln/>
        </p:spPr>
        <p:txBody>
          <a:bodyPr wrap="square" lIns="0" tIns="0" rIns="0" bIns="0" rtlCol="0" anchor="ctr"/>
          <a:lstStyle/>
          <a:p>
            <a:pPr indent="0" marL="0">
              <a:buNone/>
            </a:pPr>
            <a:r>
              <a:rPr lang="en-US" sz="1300" b="1" dirty="0">
                <a:solidFill>
                  <a:srgbClr val="1A1A1A"/>
                </a:solidFill>
                <a:latin typeface="Arial" pitchFamily="34" charset="0"/>
                <a:ea typeface="Arial" pitchFamily="34" charset="-122"/>
                <a:cs typeface="Arial" pitchFamily="34" charset="-120"/>
              </a:rPr>
              <a:t>3-Week Review</a:t>
            </a:r>
            <a:endParaRPr lang="en-US" sz="1300" dirty="0"/>
          </a:p>
        </p:txBody>
      </p:sp>
      <p:sp>
        <p:nvSpPr>
          <p:cNvPr id="33" name="Text 25"/>
          <p:cNvSpPr txBox="1"/>
          <p:nvPr/>
        </p:nvSpPr>
        <p:spPr>
          <a:xfrm>
            <a:off x="6309360" y="3566160"/>
            <a:ext cx="2194560" cy="475488"/>
          </a:xfrm>
          <a:prstGeom prst="rect">
            <a:avLst/>
          </a:prstGeom>
          <a:noFill/>
          <a:ln/>
        </p:spPr>
        <p:txBody>
          <a:bodyPr wrap="square" lIns="0" tIns="0" rIns="0" bIns="0" rtlCol="0" anchor="t"/>
          <a:lstStyle/>
          <a:p>
            <a:pPr indent="0" marL="0">
              <a:buNone/>
            </a:pPr>
            <a:r>
              <a:rPr lang="en-US" sz="1100" dirty="0">
                <a:solidFill>
                  <a:srgbClr val="5A6672"/>
                </a:solidFill>
                <a:latin typeface="Arial" pitchFamily="34" charset="0"/>
                <a:ea typeface="Arial" pitchFamily="34" charset="-122"/>
                <a:cs typeface="Arial" pitchFamily="34" charset="-120"/>
              </a:rPr>
              <a:t>Steady showings but no offer? Revisit the price</a:t>
            </a:r>
            <a:endParaRPr lang="en-US" sz="1100" dirty="0"/>
          </a:p>
        </p:txBody>
      </p:sp>
      <p:sp>
        <p:nvSpPr>
          <p:cNvPr id="34" name="Text 26"/>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35" name="Text 27"/>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B2400"/>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Next Steps</a:t>
            </a:r>
            <a:endParaRPr lang="en-US" sz="2600" dirty="0"/>
          </a:p>
        </p:txBody>
      </p:sp>
      <p:sp>
        <p:nvSpPr>
          <p:cNvPr id="3" name="Text 1"/>
          <p:cNvSpPr txBox="1"/>
          <p:nvPr/>
        </p:nvSpPr>
        <p:spPr>
          <a:xfrm>
            <a:off x="457200" y="1051560"/>
            <a:ext cx="393192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What We Need from You</a:t>
            </a:r>
            <a:endParaRPr lang="en-US" sz="1500" dirty="0"/>
          </a:p>
        </p:txBody>
      </p:sp>
      <p:sp>
        <p:nvSpPr>
          <p:cNvPr id="4" name="Text 2"/>
          <p:cNvSpPr txBox="1"/>
          <p:nvPr/>
        </p:nvSpPr>
        <p:spPr>
          <a:xfrm>
            <a:off x="457200" y="1463040"/>
            <a:ext cx="3931920" cy="28346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Roof permit and date, plus any 4-point or wind-mitigation report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Ages of AC, water heater, and pool equipment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Renovation permits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Anything known about leaks, claims, or repairs</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Your estimated mortgage payoff and target closing date</a:t>
            </a:r>
            <a:endParaRPr lang="en-US" sz="1250" dirty="0"/>
          </a:p>
        </p:txBody>
      </p:sp>
      <p:sp>
        <p:nvSpPr>
          <p:cNvPr id="5" name="Text 3"/>
          <p:cNvSpPr txBox="1"/>
          <p:nvPr/>
        </p:nvSpPr>
        <p:spPr>
          <a:xfrm>
            <a:off x="4937760" y="1051560"/>
            <a:ext cx="3749040" cy="320040"/>
          </a:xfrm>
          <a:prstGeom prst="rect">
            <a:avLst/>
          </a:prstGeom>
          <a:noFill/>
          <a:ln/>
        </p:spPr>
        <p:txBody>
          <a:bodyPr wrap="square" lIns="0" tIns="0" rIns="0" bIns="0" rtlCol="0" anchor="ctr"/>
          <a:lstStyle/>
          <a:p>
            <a:pPr indent="0" marL="0">
              <a:buNone/>
            </a:pPr>
            <a:r>
              <a:rPr lang="en-US" sz="1500" b="1" dirty="0">
                <a:solidFill>
                  <a:srgbClr val="F8E8E2"/>
                </a:solidFill>
                <a:latin typeface="Arial" pitchFamily="34" charset="0"/>
                <a:ea typeface="Arial" pitchFamily="34" charset="-122"/>
                <a:cs typeface="Arial" pitchFamily="34" charset="-120"/>
              </a:rPr>
              <a:t>Timeline to Go Live</a:t>
            </a:r>
            <a:endParaRPr lang="en-US" sz="1500" dirty="0"/>
          </a:p>
        </p:txBody>
      </p:sp>
      <p:sp>
        <p:nvSpPr>
          <p:cNvPr id="6" name="Shape 4"/>
          <p:cNvSpPr/>
          <p:nvPr/>
        </p:nvSpPr>
        <p:spPr>
          <a:xfrm>
            <a:off x="4937760" y="1508760"/>
            <a:ext cx="384048" cy="384048"/>
          </a:xfrm>
          <a:prstGeom prst="ellipse">
            <a:avLst/>
          </a:prstGeom>
          <a:solidFill>
            <a:srgbClr val="F8E8E2"/>
          </a:solidFill>
          <a:ln w="12700">
            <a:solidFill>
              <a:srgbClr val="F8E8E2"/>
            </a:solidFill>
            <a:prstDash val="solid"/>
          </a:ln>
        </p:spPr>
      </p:sp>
      <p:sp>
        <p:nvSpPr>
          <p:cNvPr id="7" name="Text 5"/>
          <p:cNvSpPr txBox="1"/>
          <p:nvPr/>
        </p:nvSpPr>
        <p:spPr>
          <a:xfrm>
            <a:off x="4937760" y="15087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1</a:t>
            </a:r>
            <a:endParaRPr lang="en-US" sz="1300" dirty="0"/>
          </a:p>
        </p:txBody>
      </p:sp>
      <p:sp>
        <p:nvSpPr>
          <p:cNvPr id="8" name="Text 6"/>
          <p:cNvSpPr txBox="1"/>
          <p:nvPr/>
        </p:nvSpPr>
        <p:spPr>
          <a:xfrm>
            <a:off x="5486400" y="14904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This Week</a:t>
            </a:r>
            <a:endParaRPr lang="en-US" sz="1200" dirty="0"/>
          </a:p>
        </p:txBody>
      </p:sp>
      <p:sp>
        <p:nvSpPr>
          <p:cNvPr id="9" name="Text 7"/>
          <p:cNvSpPr txBox="1"/>
          <p:nvPr/>
        </p:nvSpPr>
        <p:spPr>
          <a:xfrm>
            <a:off x="5486400" y="17099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Sign listing agreement; order inspections</a:t>
            </a:r>
            <a:endParaRPr lang="en-US" sz="1100" dirty="0"/>
          </a:p>
        </p:txBody>
      </p:sp>
      <p:sp>
        <p:nvSpPr>
          <p:cNvPr id="10" name="Shape 8"/>
          <p:cNvSpPr/>
          <p:nvPr/>
        </p:nvSpPr>
        <p:spPr>
          <a:xfrm>
            <a:off x="4937760" y="2194560"/>
            <a:ext cx="384048" cy="384048"/>
          </a:xfrm>
          <a:prstGeom prst="ellipse">
            <a:avLst/>
          </a:prstGeom>
          <a:solidFill>
            <a:srgbClr val="F8E8E2"/>
          </a:solidFill>
          <a:ln w="12700">
            <a:solidFill>
              <a:srgbClr val="F8E8E2"/>
            </a:solidFill>
            <a:prstDash val="solid"/>
          </a:ln>
        </p:spPr>
      </p:sp>
      <p:sp>
        <p:nvSpPr>
          <p:cNvPr id="11" name="Text 9"/>
          <p:cNvSpPr txBox="1"/>
          <p:nvPr/>
        </p:nvSpPr>
        <p:spPr>
          <a:xfrm>
            <a:off x="4937760" y="21945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2</a:t>
            </a:r>
            <a:endParaRPr lang="en-US" sz="1300" dirty="0"/>
          </a:p>
        </p:txBody>
      </p:sp>
      <p:sp>
        <p:nvSpPr>
          <p:cNvPr id="12" name="Text 10"/>
          <p:cNvSpPr txBox="1"/>
          <p:nvPr/>
        </p:nvSpPr>
        <p:spPr>
          <a:xfrm>
            <a:off x="5486400" y="21762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2</a:t>
            </a:r>
            <a:endParaRPr lang="en-US" sz="1200" dirty="0"/>
          </a:p>
        </p:txBody>
      </p:sp>
      <p:sp>
        <p:nvSpPr>
          <p:cNvPr id="13" name="Text 11"/>
          <p:cNvSpPr txBox="1"/>
          <p:nvPr/>
        </p:nvSpPr>
        <p:spPr>
          <a:xfrm>
            <a:off x="5486400" y="23957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Photos, documents, and pricing review</a:t>
            </a:r>
            <a:endParaRPr lang="en-US" sz="1100" dirty="0"/>
          </a:p>
        </p:txBody>
      </p:sp>
      <p:sp>
        <p:nvSpPr>
          <p:cNvPr id="14" name="Shape 12"/>
          <p:cNvSpPr/>
          <p:nvPr/>
        </p:nvSpPr>
        <p:spPr>
          <a:xfrm>
            <a:off x="4937760" y="2880360"/>
            <a:ext cx="384048" cy="384048"/>
          </a:xfrm>
          <a:prstGeom prst="ellipse">
            <a:avLst/>
          </a:prstGeom>
          <a:solidFill>
            <a:srgbClr val="F8E8E2"/>
          </a:solidFill>
          <a:ln w="12700">
            <a:solidFill>
              <a:srgbClr val="F8E8E2"/>
            </a:solidFill>
            <a:prstDash val="solid"/>
          </a:ln>
        </p:spPr>
      </p:sp>
      <p:sp>
        <p:nvSpPr>
          <p:cNvPr id="15" name="Text 13"/>
          <p:cNvSpPr txBox="1"/>
          <p:nvPr/>
        </p:nvSpPr>
        <p:spPr>
          <a:xfrm>
            <a:off x="4937760" y="28803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5486400" y="28620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3</a:t>
            </a:r>
            <a:endParaRPr lang="en-US" sz="1200" dirty="0"/>
          </a:p>
        </p:txBody>
      </p:sp>
      <p:sp>
        <p:nvSpPr>
          <p:cNvPr id="17" name="Text 15"/>
          <p:cNvSpPr txBox="1"/>
          <p:nvPr/>
        </p:nvSpPr>
        <p:spPr>
          <a:xfrm>
            <a:off x="5486400" y="30815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Go live at $469,900</a:t>
            </a:r>
            <a:endParaRPr lang="en-US" sz="1100" dirty="0"/>
          </a:p>
        </p:txBody>
      </p:sp>
      <p:sp>
        <p:nvSpPr>
          <p:cNvPr id="18" name="Shape 16"/>
          <p:cNvSpPr/>
          <p:nvPr/>
        </p:nvSpPr>
        <p:spPr>
          <a:xfrm>
            <a:off x="4937760" y="3566160"/>
            <a:ext cx="384048" cy="384048"/>
          </a:xfrm>
          <a:prstGeom prst="ellipse">
            <a:avLst/>
          </a:prstGeom>
          <a:solidFill>
            <a:srgbClr val="F8E8E2"/>
          </a:solidFill>
          <a:ln w="12700">
            <a:solidFill>
              <a:srgbClr val="F8E8E2"/>
            </a:solidFill>
            <a:prstDash val="solid"/>
          </a:ln>
        </p:spPr>
      </p:sp>
      <p:sp>
        <p:nvSpPr>
          <p:cNvPr id="19" name="Text 17"/>
          <p:cNvSpPr txBox="1"/>
          <p:nvPr/>
        </p:nvSpPr>
        <p:spPr>
          <a:xfrm>
            <a:off x="4937760" y="3566160"/>
            <a:ext cx="384048" cy="384048"/>
          </a:xfrm>
          <a:prstGeom prst="rect">
            <a:avLst/>
          </a:prstGeom>
          <a:noFill/>
          <a:ln/>
        </p:spPr>
        <p:txBody>
          <a:bodyPr wrap="square" lIns="0" tIns="0" rIns="0" bIns="0" rtlCol="0" anchor="ctr"/>
          <a:lstStyle/>
          <a:p>
            <a:pPr algn="ctr" indent="0" marL="0">
              <a:buNone/>
            </a:pPr>
            <a:r>
              <a:rPr lang="en-US" sz="1300" b="1" dirty="0">
                <a:solidFill>
                  <a:srgbClr val="7B2400"/>
                </a:solidFill>
                <a:latin typeface="Arial" pitchFamily="34" charset="0"/>
                <a:ea typeface="Arial" pitchFamily="34" charset="-122"/>
                <a:cs typeface="Arial" pitchFamily="34" charset="-120"/>
              </a:rPr>
              <a:t>4</a:t>
            </a:r>
            <a:endParaRPr lang="en-US" sz="1300" dirty="0"/>
          </a:p>
        </p:txBody>
      </p:sp>
      <p:sp>
        <p:nvSpPr>
          <p:cNvPr id="20" name="Text 18"/>
          <p:cNvSpPr txBox="1"/>
          <p:nvPr/>
        </p:nvSpPr>
        <p:spPr>
          <a:xfrm>
            <a:off x="5486400" y="3547872"/>
            <a:ext cx="3200400" cy="22860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Week 6</a:t>
            </a:r>
            <a:endParaRPr lang="en-US" sz="1200" dirty="0"/>
          </a:p>
        </p:txBody>
      </p:sp>
      <p:sp>
        <p:nvSpPr>
          <p:cNvPr id="21" name="Text 19"/>
          <p:cNvSpPr txBox="1"/>
          <p:nvPr/>
        </p:nvSpPr>
        <p:spPr>
          <a:xfrm>
            <a:off x="5486400" y="3767328"/>
            <a:ext cx="3200400" cy="384048"/>
          </a:xfrm>
          <a:prstGeom prst="rect">
            <a:avLst/>
          </a:prstGeom>
          <a:noFill/>
          <a:ln/>
        </p:spPr>
        <p:txBody>
          <a:bodyPr wrap="square" lIns="0" tIns="0" rIns="0" bIns="0" rtlCol="0" anchor="t"/>
          <a:lstStyle/>
          <a:p>
            <a:pPr indent="0" marL="0">
              <a:buNone/>
            </a:pPr>
            <a:r>
              <a:rPr lang="en-US" sz="1100" dirty="0">
                <a:solidFill>
                  <a:srgbClr val="F8E8E2"/>
                </a:solidFill>
                <a:latin typeface="Arial" pitchFamily="34" charset="0"/>
                <a:ea typeface="Arial" pitchFamily="34" charset="-122"/>
                <a:cs typeface="Arial" pitchFamily="34" charset="-120"/>
              </a:rPr>
              <a:t>Price review if no offer</a:t>
            </a:r>
            <a:endParaRPr lang="en-US" sz="1100" dirty="0"/>
          </a:p>
        </p:txBody>
      </p:sp>
      <p:sp>
        <p:nvSpPr>
          <p:cNvPr id="22" name="Text 20"/>
          <p:cNvSpPr txBox="1"/>
          <p:nvPr/>
        </p:nvSpPr>
        <p:spPr>
          <a:xfrm>
            <a:off x="457200" y="4732020"/>
            <a:ext cx="6400800" cy="274320"/>
          </a:xfrm>
          <a:prstGeom prst="rect">
            <a:avLst/>
          </a:prstGeom>
          <a:noFill/>
          <a:ln/>
        </p:spPr>
        <p:txBody>
          <a:bodyPr wrap="square" lIns="0" tIns="0" rIns="0" bIns="0" rtlCol="0" anchor="ctr"/>
          <a:lstStyle/>
          <a:p>
            <a:pPr indent="0" marL="0">
              <a:buNone/>
            </a:pPr>
            <a:r>
              <a:rPr lang="en-US" sz="1000" dirty="0">
                <a:solidFill>
                  <a:srgbClr val="F8E8E2"/>
                </a:solidFill>
                <a:latin typeface="Arial" pitchFamily="34" charset="0"/>
                <a:ea typeface="Arial" pitchFamily="34" charset="-122"/>
                <a:cs typeface="Arial" pitchFamily="34" charset="-120"/>
              </a:rPr>
              <a:t>Jordan Avery, REALTOR® · (407) 555-0142 · jordan@example.com</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Estimated Net Proceeds</a:t>
            </a:r>
            <a:endParaRPr lang="en-US" sz="2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Estimated at Closing</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$479,900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List $459,900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Expected Sale Price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$463,000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Listing Brokerage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Buyer's Agent Compensation (2.5%)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−$11,550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Documentary Stamp Tax on the Deed (0.70%)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−$3,241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−$3,234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−$3,220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Owner's Title Insurance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−$2,390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−$2,385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−$2,375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Title Company Fees (Estimate)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−$1,145</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Seller-Paid Buyer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Estimated Net Before Mortgage Payoff</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$423,074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$422,136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$425,260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Holding Costs Until Closing (Est.)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−$1,706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−$1,076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−$774</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Net After Holding Costs</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$421,368</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$421,060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$424,486</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BF2EE"/>
                    </a:solidFill>
                  </a:tcPr>
                </a:tc>
              </a:tr>
            </a:tbl>
          </a:graphicData>
        </a:graphic>
      </p:graphicFrame>
      <p:sp>
        <p:nvSpPr>
          <p:cNvPr id="4" name="Text 1"/>
          <p:cNvSpPr txBox="1"/>
          <p:nvPr/>
        </p:nvSpPr>
        <p:spPr>
          <a:xfrm>
            <a:off x="457200" y="4361688"/>
            <a:ext cx="8229600" cy="370332"/>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Estimates only. Not included: mortgage payoff, tax proration and repairs; the closing agent provides exact figures. Commissions are negotiable and not set by law.</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92608"/>
            <a:ext cx="8229600" cy="566928"/>
          </a:xfrm>
          <a:prstGeom prst="rect">
            <a:avLst/>
          </a:prstGeom>
          <a:noFill/>
          <a:ln/>
        </p:spPr>
        <p:txBody>
          <a:bodyPr wrap="square" lIns="0" tIns="0" rIns="0" bIns="0" rtlCol="0" anchor="t"/>
          <a:lstStyle/>
          <a:p>
            <a:pPr indent="0" marL="0">
              <a:buNone/>
            </a:pPr>
            <a:r>
              <a:rPr lang="en-US" sz="2600" b="1" dirty="0">
                <a:solidFill>
                  <a:srgbClr val="1A1A1A"/>
                </a:solidFill>
                <a:latin typeface="Arial" pitchFamily="34" charset="0"/>
                <a:ea typeface="Arial" pitchFamily="34" charset="-122"/>
                <a:cs typeface="Arial" pitchFamily="34" charset="-120"/>
              </a:rPr>
              <a:t>Appendix: Comparable Sales</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914400"/>
        </p:xfrm>
        <a:graphic>
          <a:graphicData uri="http://schemas.openxmlformats.org/drawingml/2006/table">
            <a:tbl>
              <a:tblPr/>
              <a:tblGrid>
                <a:gridCol w="3291840"/>
                <a:gridCol w="1645920"/>
                <a:gridCol w="1645920"/>
                <a:gridCol w="1645920"/>
              </a:tblGrid>
              <a:tr h="292608">
                <a:tc>
                  <a:txBody>
                    <a:bodyPr/>
                    <a:lstStyle/>
                    <a:p>
                      <a:pPr algn="l" indent="0" marL="0">
                        <a:buNone/>
                      </a:pPr>
                      <a:r>
                        <a:rPr lang="en-US" sz="1100" b="1" dirty="0">
                          <a:solidFill>
                            <a:srgbClr val="FFFFFF"/>
                          </a:solidFill>
                          <a:latin typeface="Arial" pitchFamily="34" charset="0"/>
                          <a:ea typeface="Arial" pitchFamily="34" charset="-122"/>
                          <a:cs typeface="Arial" pitchFamily="34" charset="-120"/>
                        </a:rPr>
                        <a:t>Sale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Sold For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Seller Paid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c>
                  <a:txBody>
                    <a:bodyPr/>
                    <a:lstStyle/>
                    <a:p>
                      <a:pPr algn="r" indent="0" marL="0">
                        <a:buNone/>
                      </a:pPr>
                      <a:r>
                        <a:rPr lang="en-US" sz="1100" b="1" dirty="0">
                          <a:solidFill>
                            <a:srgbClr val="FFFFFF"/>
                          </a:solidFill>
                          <a:latin typeface="Arial" pitchFamily="34" charset="0"/>
                          <a:ea typeface="Arial" pitchFamily="34" charset="-122"/>
                          <a:cs typeface="Arial" pitchFamily="34" charset="-120"/>
                        </a:rPr>
                        <a:t>Adjusted Value</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C2410C"/>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622 Fernwood Park Blvd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$505,500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$492,300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516 Tallow Ct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$495,000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$483,800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745 Little Heron Cir</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$427,000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$500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$469,800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602 Thrasher Ln</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$429,000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$12,000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$438,400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DF7F5"/>
                    </a:solidFill>
                  </a:tcPr>
                </a:tc>
              </a:tr>
              <a:tr h="292608">
                <a:tc>
                  <a:txBody>
                    <a:bodyPr/>
                    <a:lstStyle/>
                    <a:p>
                      <a:pPr algn="l" indent="0" marL="0">
                        <a:buNone/>
                      </a:pPr>
                      <a:r>
                        <a:rPr lang="en-US" sz="1100" dirty="0">
                          <a:solidFill>
                            <a:srgbClr val="1A1A1A"/>
                          </a:solidFill>
                          <a:latin typeface="Arial" pitchFamily="34" charset="0"/>
                          <a:ea typeface="Arial" pitchFamily="34" charset="-122"/>
                          <a:cs typeface="Arial" pitchFamily="34" charset="-120"/>
                        </a:rPr>
                        <a:t>621 Little Heron Rd</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$465,000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$13,071</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$436,200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FFFFF"/>
                    </a:solidFill>
                  </a:tcPr>
                </a:tc>
              </a:tr>
              <a:tr h="292608">
                <a:tc>
                  <a:txBody>
                    <a:bodyPr/>
                    <a:lstStyle/>
                    <a:p>
                      <a:pPr algn="l" indent="0" marL="0">
                        <a:buNone/>
                      </a:pPr>
                      <a:r>
                        <a:rPr lang="en-US" sz="1100" b="1" dirty="0">
                          <a:solidFill>
                            <a:srgbClr val="1A1A1A"/>
                          </a:solidFill>
                          <a:latin typeface="Arial" pitchFamily="34" charset="0"/>
                          <a:ea typeface="Arial" pitchFamily="34" charset="-122"/>
                          <a:cs typeface="Arial" pitchFamily="34" charset="-120"/>
                        </a:rPr>
                        <a:t>Your Home (Recommended List)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$469,900</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c>
                  <a:txBody>
                    <a:bodyPr/>
                    <a:lstStyle/>
                    <a:p>
                      <a:pPr algn="r" indent="0" marL="0">
                        <a:buNone/>
                      </a:pPr>
                      <a:r>
                        <a:rPr lang="en-US" sz="1100" b="1" dirty="0">
                          <a:solidFill>
                            <a:srgbClr val="1A1A1A"/>
                          </a:solidFill>
                          <a:latin typeface="Arial" pitchFamily="34" charset="0"/>
                          <a:ea typeface="Arial" pitchFamily="34" charset="-122"/>
                          <a:cs typeface="Arial" pitchFamily="34" charset="-120"/>
                        </a:rPr>
                        <a:t>Range $455K–$480K</a:t>
                      </a:r>
                      <a:endParaRPr lang="en-US" sz="1100" dirty="0">
                        <a:latin typeface="Arial" charset="0"/>
                        <a:ea typeface="Arial" charset="0"/>
                        <a:cs typeface="Arial" charset="0"/>
                      </a:endParaRPr>
                    </a:p>
                  </a:txBody>
                  <a:tcPr marL="54864" marR="54864" marT="18288" marB="18288" anchor="ctr">
                    <a:lnL w="6350" cap="flat" cmpd="sng" algn="ctr">
                      <a:solidFill>
                        <a:srgbClr val="F8E8E2"/>
                      </a:solidFill>
                      <a:prstDash val="solid"/>
                      <a:round/>
                      <a:headEnd type="none" w="med" len="med"/>
                      <a:tailEnd type="none" w="med" len="med"/>
                    </a:lnL>
                    <a:lnR w="6350" cap="flat" cmpd="sng" algn="ctr">
                      <a:solidFill>
                        <a:srgbClr val="F8E8E2"/>
                      </a:solidFill>
                      <a:prstDash val="solid"/>
                      <a:round/>
                      <a:headEnd type="none" w="med" len="med"/>
                      <a:tailEnd type="none" w="med" len="med"/>
                    </a:lnR>
                    <a:lnT w="6350" cap="flat" cmpd="sng" algn="ctr">
                      <a:solidFill>
                        <a:srgbClr val="F8E8E2"/>
                      </a:solidFill>
                      <a:prstDash val="solid"/>
                      <a:round/>
                      <a:headEnd type="none" w="med" len="med"/>
                      <a:tailEnd type="none" w="med" len="med"/>
                    </a:lnT>
                    <a:lnB w="6350" cap="flat" cmpd="sng" algn="ctr">
                      <a:solidFill>
                        <a:srgbClr val="F8E8E2"/>
                      </a:solidFill>
                      <a:prstDash val="solid"/>
                      <a:round/>
                      <a:headEnd type="none" w="med" len="med"/>
                      <a:tailEnd type="none" w="med" len="med"/>
                    </a:lnB>
                    <a:solidFill>
                      <a:srgbClr val="F8E8E2"/>
                    </a:solidFill>
                  </a:tcPr>
                </a:tc>
              </a:tr>
            </a:tbl>
          </a:graphicData>
        </a:graphic>
      </p:graphicFrame>
      <p:sp>
        <p:nvSpPr>
          <p:cNvPr id="4" name="Text 1"/>
          <p:cNvSpPr txBox="1"/>
          <p:nvPr/>
        </p:nvSpPr>
        <p:spPr>
          <a:xfrm>
            <a:off x="457200" y="3191256"/>
            <a:ext cx="8229600" cy="1540764"/>
          </a:xfrm>
          <a:prstGeom prst="rect">
            <a:avLst/>
          </a:prstGeom>
          <a:noFill/>
          <a:ln/>
        </p:spPr>
        <p:txBody>
          <a:bodyPr wrap="square" lIns="0" tIns="0" rIns="0" bIns="0" rtlCol="0" anchor="t"/>
          <a:lstStyle/>
          <a:p>
            <a:pPr indent="0" marL="0">
              <a:buNone/>
            </a:pPr>
            <a:r>
              <a:rPr lang="en-US" sz="1000" dirty="0">
                <a:solidFill>
                  <a:srgbClr val="5A6672"/>
                </a:solidFill>
                <a:latin typeface="Arial" pitchFamily="34" charset="0"/>
                <a:ea typeface="Arial" pitchFamily="34" charset="-122"/>
                <a:cs typeface="Arial" pitchFamily="34" charset="-120"/>
              </a:rPr>
              <a:t>A broker's opinion of value from comparable sales, not an appraisal, and not for lending. Sales data: Stellar MLS as of 2026-09-22. Deemed reliable but not guaranteed. Equal Housing Opportunity.</a:t>
            </a:r>
            <a:endParaRPr lang="en-US" sz="1000" dirty="0"/>
          </a:p>
        </p:txBody>
      </p:sp>
      <p:sp>
        <p:nvSpPr>
          <p:cNvPr id="6" name="Text 2"/>
          <p:cNvSpPr txBox="1"/>
          <p:nvPr/>
        </p:nvSpPr>
        <p:spPr>
          <a:xfrm>
            <a:off x="457200" y="4796028"/>
            <a:ext cx="6858000" cy="228600"/>
          </a:xfrm>
          <a:prstGeom prst="rect">
            <a:avLst/>
          </a:prstGeom>
          <a:noFill/>
          <a:ln/>
        </p:spPr>
        <p:txBody>
          <a:bodyPr wrap="square" lIns="0" tIns="0" rIns="0" bIns="0" rtlCol="0" anchor="ctr"/>
          <a:lstStyle/>
          <a:p>
            <a:pPr indent="0" marL="0">
              <a:buNone/>
            </a:pPr>
            <a:r>
              <a:rPr lang="en-US" sz="800" dirty="0">
                <a:solidFill>
                  <a:srgbClr val="5A6672"/>
                </a:solidFill>
                <a:latin typeface="Arial" pitchFamily="34" charset="0"/>
                <a:ea typeface="Arial" pitchFamily="34" charset="-122"/>
                <a:cs typeface="Arial" pitchFamily="34" charset="-120"/>
              </a:rPr>
              <a:t>SAMPLE DATA · 517 Larkwood Ave · Jordan Avery, REALTOR®, Sample Realty, LLC</a:t>
            </a:r>
            <a:endParaRPr lang="en-US" sz="800" dirty="0"/>
          </a:p>
        </p:txBody>
      </p:sp>
      <p:sp>
        <p:nvSpPr>
          <p:cNvPr id="7" name="Text 3"/>
          <p:cNvSpPr txBox="1"/>
          <p:nvPr/>
        </p:nvSpPr>
        <p:spPr>
          <a:xfrm>
            <a:off x="8229600" y="4796028"/>
            <a:ext cx="457200" cy="228600"/>
          </a:xfrm>
          <a:prstGeom prst="rect">
            <a:avLst/>
          </a:prstGeom>
          <a:noFill/>
          <a:ln/>
        </p:spPr>
        <p:txBody>
          <a:bodyPr wrap="square" lIns="0" tIns="0" rIns="0" bIns="0" rtlCol="0" anchor="ctr"/>
          <a:lstStyle/>
          <a:p>
            <a:pPr algn="r" indent="0" marL="0">
              <a:buNone/>
            </a:pPr>
            <a:r>
              <a:rPr lang="en-US" sz="800" dirty="0">
                <a:solidFill>
                  <a:srgbClr val="5A6672"/>
                </a:solidFill>
                <a:latin typeface="Arial" pitchFamily="34" charset="0"/>
                <a:ea typeface="Arial" pitchFamily="34" charset="-122"/>
                <a:cs typeface="Arial" pitchFamily="34" charset="-120"/>
              </a:rPr>
              <a:t>15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Pricing 517 Larkwood Ave</dc:title>
  <dc:subject>PptxGenJS Presentation</dc:subject>
  <dc:creator>Jordan Avery, REALTOR®</dc:creator>
  <cp:lastModifiedBy>Jordan Avery, REALTOR®</cp:lastModifiedBy>
  <cp:revision>1</cp:revision>
  <dcterms:created xsi:type="dcterms:W3CDTF">2026-09-26T12:29:50Z</dcterms:created>
  <dcterms:modified xsi:type="dcterms:W3CDTF">2026-09-26T12:29:50Z</dcterms:modified>
</cp:coreProperties>
</file>