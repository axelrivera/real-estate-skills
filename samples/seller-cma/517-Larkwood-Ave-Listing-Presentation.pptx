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Other Sales</c:v>
                </c:pt>
              </c:strCache>
            </c:strRef>
          </c:tx>
          <c:spPr>
            <a:solidFill>
              <a:srgbClr val="A3ADB6"/>
            </a:solidFill>
            <a:ln>
              <a:noFill/>
            </a:ln>
            <a:effectLst/>
          </c:spPr>
          <c:marker>
            <c:symbol val="circle"/>
            <c:size val="5"/>
            <c:spPr>
              <a:solidFill>
                <a:srgbClr val="DADEE2"/>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A3ADB6"/>
            </a:solidFill>
            <a:ln>
              <a:noFill/>
            </a:ln>
            <a:effectLst/>
          </c:spPr>
          <c:marker>
            <c:symbol val="circle"/>
            <c:size val="7"/>
            <c:spPr>
              <a:solidFill>
                <a:srgbClr val="A3ADB6"/>
              </a:solidFill>
              <a:ln w="15875">
                <a:solidFill>
                  <a:srgbClr val="A3ADB6"/>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A6672"/>
            </a:solidFill>
            <a:ln w="15875">
              <a:solidFill>
                <a:srgbClr val="5A6672"/>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353370.74537409266</c:v>
                </c:pt>
                <c:pt idx="42">
                  <c:v>361279.9692978465</c:v>
                </c:pt>
                <c:pt idx="43">
                  <c:v>369189.1932216004</c:v>
                </c:pt>
                <c:pt idx="44">
                  <c:v>377098.41714535427</c:v>
                </c:pt>
                <c:pt idx="45">
                  <c:v>385007.6410691081</c:v>
                </c:pt>
                <c:pt idx="46">
                  <c:v>392916.864992862</c:v>
                </c:pt>
                <c:pt idx="47">
                  <c:v>400826.0889166159</c:v>
                </c:pt>
                <c:pt idx="48">
                  <c:v>408735.31284036976</c:v>
                </c:pt>
                <c:pt idx="49">
                  <c:v>416644.53676412365</c:v>
                </c:pt>
                <c:pt idx="50">
                  <c:v>424553.7606878775</c:v>
                </c:pt>
                <c:pt idx="51">
                  <c:v>432462.9846116313</c:v>
                </c:pt>
                <c:pt idx="52">
                  <c:v>440372.2085353852</c:v>
                </c:pt>
                <c:pt idx="53">
                  <c:v>448281.4324591391</c:v>
                </c:pt>
                <c:pt idx="54">
                  <c:v>456190.656382893</c:v>
                </c:pt>
                <c:pt idx="55">
                  <c:v>464099.88030664687</c:v>
                </c:pt>
                <c:pt idx="56">
                  <c:v>472009.10423040076</c:v>
                </c:pt>
                <c:pt idx="57">
                  <c:v>479918.32815415465</c:v>
                </c:pt>
                <c:pt idx="58">
                  <c:v>487827.5520779085</c:v>
                </c:pt>
                <c:pt idx="59">
                  <c:v>495736.77600166237</c:v>
                </c:pt>
                <c:pt idx="60">
                  <c:v>503645.99992541614</c:v>
                </c:pt>
                <c:pt idx="61">
                  <c:v>511555.22384917</c:v>
                </c:pt>
                <c:pt idx="62">
                  <c:v>519464.4477729239</c:v>
                </c:pt>
                <c:pt idx="63">
                  <c:v>527373.6716966778</c:v>
                </c:pt>
                <c:pt idx="64">
                  <c:v>535282.8956204318</c:v>
                </c:pt>
                <c:pt idx="65">
                  <c:v>543192.1195441856</c:v>
                </c:pt>
                <c:pt idx="66">
                  <c:v>551101.3434679394</c:v>
                </c:pt>
                <c:pt idx="67">
                  <c:v>559010.5673916934</c:v>
                </c:pt>
                <c:pt idx="68">
                  <c:v>566919.7913154473</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4"/>
            <c:spPr>
              <a:solidFill>
                <a:srgbClr val="1A1A1A"/>
              </a:solidFill>
              <a:ln w="1270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420954</c:v>
                </c:pt>
                <c:pt idx="1">
                  <c:v>421060</c:v>
                </c:pt>
                <c:pt idx="2">
                  <c:v>424486</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 2.5% + 2.5% placeholder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Holding costs: about $530 a month (insurance and utilities; no loan interest, since no mortgage payoff was given; property tax is not included)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Estimates only. Not included: mortgage payoff, tax proration and repairs; the closing agent provides exact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Adjustments: about $75 per sq ft of size difference; $30,000–$45,000 for renovation level; $5,000–$10,000 for larger or better lots; 1–2% for market change since the sale; seller-paid costs subtracted. A broker's opinion of value from comparable sales, not an appraisal, and not for lending. Sales data: Stellar MLS as of 2026-09-22. Deemed reliable but not guaranteed. This comparative market analysis is an opinion of price, not an appraisal, and isn't for lending purposes. Payment, tax and cost figures are estimates only, not lending or tax advice. Equal Housing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41148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42900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A6672"/>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150" b="1" dirty="0">
                <a:solidFill>
                  <a:srgbClr val="1A1A1A"/>
                </a:solidFill>
                <a:latin typeface="Arial" pitchFamily="34" charset="0"/>
                <a:ea typeface="Arial" pitchFamily="34" charset="-122"/>
                <a:cs typeface="Arial" pitchFamily="34" charset="-120"/>
              </a:rPr>
              <a:t>Low-to-mid $460,000s</a:t>
            </a:r>
            <a:endParaRPr lang="en-US" sz="215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$436K–$492K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 – $480K</a:t>
            </a:r>
            <a:endParaRPr lang="en-US" sz="1800" dirty="0"/>
          </a:p>
        </p:txBody>
      </p:sp>
      <p:sp>
        <p:nvSpPr>
          <p:cNvPr id="26" name="Text 24"/>
          <p:cNvSpPr txBox="1"/>
          <p:nvPr/>
        </p:nvSpPr>
        <p:spPr>
          <a:xfrm>
            <a:off x="457200" y="4160520"/>
            <a:ext cx="8229600" cy="50292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Adjustments cover size, larger corner lot, market since the sale, documented recent systems, renovation, partial update vs. full renovation, larger canal lot and seller credits.</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805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949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3093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2237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138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155180"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347204" y="14904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766560"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58584" y="19476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69087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882896" y="28620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90288"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82312" y="33192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graphicFrame>
        <p:nvGraphicFramePr>
          <p:cNvPr id="3" name="Chart 0" descr=""/>
          <p:cNvGraphicFramePr/>
          <p:nvPr/>
        </p:nvGraphicFramePr>
        <p:xfrm>
          <a:off x="365760" y="868680"/>
          <a:ext cx="6537960" cy="39319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949440" y="1143000"/>
            <a:ext cx="45720" cy="3017520"/>
          </a:xfrm>
          <a:prstGeom prst="rect">
            <a:avLst/>
          </a:prstGeom>
          <a:solidFill>
            <a:srgbClr val="C2410C"/>
          </a:solidFill>
          <a:ln w="12700">
            <a:solidFill>
              <a:srgbClr val="C2410C"/>
            </a:solidFill>
            <a:prstDash val="solid"/>
          </a:ln>
        </p:spPr>
      </p:sp>
      <p:sp>
        <p:nvSpPr>
          <p:cNvPr id="5" name="Text 2"/>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At $469,900, yours sits among them without testing the ceiling.</a:t>
            </a:r>
            <a:endParaRPr lang="en-US" sz="1300" dirty="0"/>
          </a:p>
        </p:txBody>
      </p:sp>
      <p:sp>
        <p:nvSpPr>
          <p:cNvPr id="6" name="Text 3"/>
          <p:cNvSpPr txBox="1"/>
          <p:nvPr/>
        </p:nvSpPr>
        <p:spPr>
          <a:xfrm>
            <a:off x="7086600" y="2910840"/>
            <a:ext cx="1600200" cy="124968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Size alone predicts about $443K at your size. Your price is about $27K above the line.</a:t>
            </a:r>
            <a:endParaRPr lang="en-US" sz="1100" dirty="0"/>
          </a:p>
        </p:txBody>
      </p:sp>
      <p:sp>
        <p:nvSpPr>
          <p:cNvPr id="7" name="Text 4"/>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8" name="Text 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100%</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95.2%</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8</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~6.3%</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6.95%</a:t>
            </a:r>
            <a:endParaRPr lang="en-US" sz="2800" dirty="0"/>
          </a:p>
        </p:txBody>
      </p:sp>
      <p:sp>
        <p:nvSpPr>
          <p:cNvPr id="36" name="Text 30"/>
          <p:cNvSpPr txBox="1"/>
          <p:nvPr/>
        </p:nvSpPr>
        <p:spPr>
          <a:xfrm>
            <a:off x="457200" y="4005072"/>
            <a:ext cx="8229600" cy="54864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5029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301752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075688"/>
            <a:ext cx="1075809"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25617" y="2075688"/>
            <a:ext cx="990735"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2–4 months</a:t>
            </a:r>
            <a:endParaRPr lang="en-US" sz="1300" dirty="0"/>
          </a:p>
        </p:txBody>
      </p:sp>
      <p:sp>
        <p:nvSpPr>
          <p:cNvPr id="7" name="Text 5"/>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$463,000</a:t>
            </a:r>
            <a:endParaRPr lang="en-US" sz="1300" dirty="0"/>
          </a:p>
        </p:txBody>
      </p:sp>
      <p:sp>
        <p:nvSpPr>
          <p:cNvPr id="9" name="Text 7"/>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050" dirty="0">
                <a:solidFill>
                  <a:srgbClr val="5A6672"/>
                </a:solidFill>
                <a:latin typeface="Arial" pitchFamily="34" charset="0"/>
                <a:ea typeface="Arial" pitchFamily="34" charset="-122"/>
                <a:cs typeface="Arial" pitchFamily="34" charset="-120"/>
              </a:rPr>
              <a:t>Seller Credit Assumed</a:t>
            </a:r>
            <a:endParaRPr lang="en-US" sz="1050" dirty="0"/>
          </a:p>
        </p:txBody>
      </p:sp>
      <p:sp>
        <p:nvSpPr>
          <p:cNvPr id="10" name="Text 8"/>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301752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$462,000</a:t>
            </a:r>
            <a:endParaRPr lang="en-US" sz="1300" dirty="0"/>
          </a:p>
        </p:txBody>
      </p:sp>
      <p:sp>
        <p:nvSpPr>
          <p:cNvPr id="19" name="Text 17"/>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Seller Credit Assumed</a:t>
            </a:r>
            <a:endParaRPr lang="en-US" sz="1050" dirty="0"/>
          </a:p>
        </p:txBody>
      </p:sp>
      <p:sp>
        <p:nvSpPr>
          <p:cNvPr id="20" name="Text 18"/>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291840"/>
            <a:ext cx="2157984" cy="6858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301752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$460,000</a:t>
            </a:r>
            <a:endParaRPr lang="en-US" sz="1300" dirty="0"/>
          </a:p>
        </p:txBody>
      </p:sp>
      <p:sp>
        <p:nvSpPr>
          <p:cNvPr id="28" name="Text 26"/>
          <p:cNvSpPr txBox="1"/>
          <p:nvPr/>
        </p:nvSpPr>
        <p:spPr>
          <a:xfrm>
            <a:off x="6327648" y="2843784"/>
            <a:ext cx="150489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923985" y="2843784"/>
            <a:ext cx="56164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net before mortgage payoff, after holding costs</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$3,532</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$4,169/mo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$4,005/mo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383280"/>
            <a:ext cx="7543800" cy="59436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Pre-Listing Inspection</a:t>
            </a:r>
            <a:endParaRPr lang="en-US" sz="125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Easy Showings</a:t>
            </a:r>
            <a:endParaRPr lang="en-US" sz="130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Lockbox access with short notice</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3-Week Review</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$463,000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−$3,241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−$3,234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−$3,220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−$2,390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−$2,385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$423,074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$422,136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$425,260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−$2,120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$420,954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$421,060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$424,486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r>
            </a:tbl>
          </a:graphicData>
        </a:graphic>
      </p:graphicFrame>
      <p:sp>
        <p:nvSpPr>
          <p:cNvPr id="4" name="Text 1"/>
          <p:cNvSpPr txBox="1"/>
          <p:nvPr/>
        </p:nvSpPr>
        <p:spPr>
          <a:xfrm>
            <a:off x="457200" y="4361688"/>
            <a:ext cx="8229600" cy="370332"/>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Estimates only. Not included: mortgage payoff, tax proration and repairs; the closing agent provides exact figures. Commissions are negotiable and not set by law.</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r>
            </a:tbl>
          </a:graphicData>
        </a:graphic>
      </p:graphicFrame>
      <p:sp>
        <p:nvSpPr>
          <p:cNvPr id="4" name="Text 1"/>
          <p:cNvSpPr txBox="1"/>
          <p:nvPr/>
        </p:nvSpPr>
        <p:spPr>
          <a:xfrm>
            <a:off x="457200" y="3191256"/>
            <a:ext cx="8229600" cy="1540764"/>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A broker's opinion of value from comparable sales, not an appraisal, and not for lending. Sales data: Stellar MLS as of 2026-09-22. Deemed reliable but not guaranteed.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2026-09-30T05:30:15Z</dcterms:created>
  <dcterms:modified xsi:type="dcterms:W3CDTF">2026-09-30T05:30:15Z</dcterms:modified>
</cp:coreProperties>
</file>